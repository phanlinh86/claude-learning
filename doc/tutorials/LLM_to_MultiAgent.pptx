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5.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87" r:id="rId8"/>
    <p:sldId id="292" r:id="rId9"/>
    <p:sldId id="263" r:id="rId10"/>
    <p:sldId id="300" r:id="rId11"/>
    <p:sldId id="264" r:id="rId12"/>
    <p:sldId id="296" r:id="rId13"/>
    <p:sldId id="301" r:id="rId14"/>
    <p:sldId id="265" r:id="rId15"/>
    <p:sldId id="266" r:id="rId16"/>
    <p:sldId id="267" r:id="rId17"/>
    <p:sldId id="305" r:id="rId18"/>
    <p:sldId id="268" r:id="rId19"/>
    <p:sldId id="269" r:id="rId20"/>
    <p:sldId id="312" r:id="rId21"/>
    <p:sldId id="309" r:id="rId22"/>
    <p:sldId id="270" r:id="rId23"/>
    <p:sldId id="271" r:id="rId24"/>
    <p:sldId id="272" r:id="rId25"/>
    <p:sldId id="314" r:id="rId26"/>
    <p:sldId id="274" r:id="rId27"/>
    <p:sldId id="317"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8BDDB1B-45CE-FDBB-0E8C-CDD5C7F59D0E}">
          <p14:sldIdLst>
            <p14:sldId id="256"/>
            <p14:sldId id="257"/>
          </p14:sldIdLst>
        </p14:section>
        <p14:section name="Part 1 · How LLMs work" id="{24860643-61E4-8A1E-8E08-437313C8FB2F}">
          <p14:sldIdLst>
            <p14:sldId id="258"/>
            <p14:sldId id="259"/>
            <p14:sldId id="260"/>
            <p14:sldId id="261"/>
            <p14:sldId id="287"/>
            <p14:sldId id="292"/>
            <p14:sldId id="263"/>
            <p14:sldId id="300"/>
            <p14:sldId id="264"/>
            <p14:sldId id="296"/>
            <p14:sldId id="301"/>
            <p14:sldId id="265"/>
            <p14:sldId id="266"/>
            <p14:sldId id="267"/>
            <p14:sldId id="305"/>
            <p14:sldId id="268"/>
            <p14:sldId id="269"/>
            <p14:sldId id="312"/>
            <p14:sldId id="309"/>
          </p14:sldIdLst>
        </p14:section>
        <p14:section name="Part 2 · AI agents" id="{261D34C1-59E8-4BF7-7774-E5169E8CB366}">
          <p14:sldIdLst>
            <p14:sldId id="270"/>
            <p14:sldId id="271"/>
            <p14:sldId id="272"/>
            <p14:sldId id="314"/>
            <p14:sldId id="274"/>
            <p14:sldId id="317"/>
            <p14:sldId id="275"/>
            <p14:sldId id="276"/>
          </p14:sldIdLst>
        </p14:section>
        <p14:section name="Part 3 · Multi-agent systems" id="{D9DD4718-D340-EE8C-4EC9-B445D3D8A8C9}">
          <p14:sldIdLst>
            <p14:sldId id="277"/>
            <p14:sldId id="278"/>
            <p14:sldId id="279"/>
            <p14:sldId id="280"/>
            <p14:sldId id="281"/>
          </p14:sldIdLst>
        </p14:section>
        <p14:section name="Bonus · Using Claude well" id="{315B623A-F264-7B29-01FE-3DD3208FA5ED}">
          <p14:sldIdLst>
            <p14:sldId id="282"/>
            <p14:sldId id="283"/>
            <p14:sldId id="284"/>
            <p14:sldId id="285"/>
          </p14:sldIdLst>
        </p14:section>
        <p14:section name="Wrap-up" id="{DF77CFCA-C527-0D5B-77B1-554FC58B66FD}">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433"/>
                </a:solidFill>
                <a:latin typeface="+mn-lt"/>
              </a:defRPr>
            </a:pPr>
            <a:r>
              <a:rPr lang="en-US" sz="1400" b="0" i="0" u="none" strike="noStrike">
                <a:solidFill>
                  <a:srgbClr val="1F2433"/>
                </a:solidFill>
                <a:latin typeface="+mn-lt"/>
              </a:rPr>
              <a:t>Next-token probabilities (illustrative)</a:t>
            </a:r>
          </a:p>
        </c:rich>
      </c:tx>
      <c:overlay val="0"/>
    </c:title>
    <c:autoTitleDeleted val="0"/>
    <c:plotArea>
      <c:layout/>
      <c:barChart>
        <c:barDir val="bar"/>
        <c:grouping val="clustered"/>
        <c:varyColors val="0"/>
        <c:ser>
          <c:idx val="0"/>
          <c:order val="0"/>
          <c:tx>
            <c:strRef>
              <c:f>Sheet1!$B$1</c:f>
              <c:strCache>
                <c:ptCount val="1"/>
                <c:pt idx="0">
                  <c:v>Probability</c:v>
                </c:pt>
              </c:strCache>
            </c:strRef>
          </c:tx>
          <c:spPr>
            <a:solidFill>
              <a:srgbClr val="D97757"/>
            </a:solidFill>
            <a:effectLst/>
          </c:spPr>
          <c:invertIfNegative val="0"/>
          <c:dLbls>
            <c:numFmt formatCode="0%" sourceLinked="0"/>
            <c:spPr>
              <a:noFill/>
              <a:ln>
                <a:noFill/>
              </a:ln>
              <a:effectLst/>
            </c:spPr>
            <c:txPr>
              <a:bodyPr/>
              <a:lstStyle/>
              <a:p>
                <a:pPr>
                  <a:defRPr sz="1200" b="0" i="0" u="none" strike="noStrike">
                    <a:solidFill>
                      <a:srgbClr val="1F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mat</c:v>
                </c:pt>
                <c:pt idx="1">
                  <c:v>floor</c:v>
                </c:pt>
                <c:pt idx="2">
                  <c:v>sofa</c:v>
                </c:pt>
                <c:pt idx="3">
                  <c:v>bed</c:v>
                </c:pt>
                <c:pt idx="4">
                  <c:v>roof</c:v>
                </c:pt>
              </c:strCache>
            </c:strRef>
          </c:cat>
          <c:val>
            <c:numRef>
              <c:f>Sheet1!$B$2:$B$6</c:f>
              <c:numCache>
                <c:formatCode>General</c:formatCode>
                <c:ptCount val="5"/>
                <c:pt idx="0">
                  <c:v>0.42</c:v>
                </c:pt>
                <c:pt idx="1">
                  <c:v>0.18</c:v>
                </c:pt>
                <c:pt idx="2">
                  <c:v>0.12</c:v>
                </c:pt>
                <c:pt idx="3">
                  <c:v>0.08</c:v>
                </c:pt>
                <c:pt idx="4">
                  <c:v>0.05</c:v>
                </c:pt>
              </c:numCache>
            </c:numRef>
          </c:val>
          <c:extLst>
            <c:ext xmlns:c16="http://schemas.microsoft.com/office/drawing/2014/chart" uri="{C3380CC4-5D6E-409C-BE32-E72D297353CC}">
              <c16:uniqueId val="{00000000-BE52-43D9-9B6D-C4997DEA2010}"/>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0.5"/>
        </c:scaling>
        <c:delete val="1"/>
        <c:axPos val="t"/>
        <c:numFmt formatCode="0%"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433"/>
                </a:solidFill>
                <a:latin typeface="+mn-lt"/>
              </a:defRPr>
            </a:pPr>
            <a:r>
              <a:rPr lang="en-US" sz="1400" b="0" i="0" u="none" strike="noStrike">
                <a:solidFill>
                  <a:srgbClr val="1F2433"/>
                </a:solidFill>
                <a:latin typeface="+mn-lt"/>
              </a:rPr>
              <a:t>How much “it” attends to each word (illustrative)</a:t>
            </a:r>
          </a:p>
        </c:rich>
      </c:tx>
      <c:overlay val="0"/>
    </c:title>
    <c:autoTitleDeleted val="0"/>
    <c:plotArea>
      <c:layout/>
      <c:barChart>
        <c:barDir val="col"/>
        <c:grouping val="clustered"/>
        <c:varyColors val="0"/>
        <c:ser>
          <c:idx val="0"/>
          <c:order val="0"/>
          <c:tx>
            <c:strRef>
              <c:f>Sheet1!$B$1</c:f>
              <c:strCache>
                <c:ptCount val="1"/>
                <c:pt idx="0">
                  <c:v>Attention from “it”</c:v>
                </c:pt>
              </c:strCache>
            </c:strRef>
          </c:tx>
          <c:spPr>
            <a:solidFill>
              <a:srgbClr val="6C63FF"/>
            </a:solidFill>
            <a:effectLst/>
          </c:spPr>
          <c:invertIfNegative val="0"/>
          <c:dLbls>
            <c:numFmt formatCode="0%" sourceLinked="0"/>
            <c:spPr>
              <a:noFill/>
              <a:ln>
                <a:noFill/>
              </a:ln>
              <a:effectLst/>
            </c:spPr>
            <c:txPr>
              <a:bodyPr/>
              <a:lstStyle/>
              <a:p>
                <a:pPr>
                  <a:defRPr sz="1200" b="0" i="0" u="none" strike="noStrike">
                    <a:solidFill>
                      <a:srgbClr val="1F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The</c:v>
                </c:pt>
                <c:pt idx="1">
                  <c:v>animal</c:v>
                </c:pt>
                <c:pt idx="2">
                  <c:v>didn't</c:v>
                </c:pt>
                <c:pt idx="3">
                  <c:v>cross</c:v>
                </c:pt>
                <c:pt idx="4">
                  <c:v>the</c:v>
                </c:pt>
                <c:pt idx="5">
                  <c:v>street</c:v>
                </c:pt>
                <c:pt idx="6">
                  <c:v>because</c:v>
                </c:pt>
                <c:pt idx="7">
                  <c:v>was</c:v>
                </c:pt>
                <c:pt idx="8">
                  <c:v>tired</c:v>
                </c:pt>
              </c:strCache>
            </c:strRef>
          </c:cat>
          <c:val>
            <c:numRef>
              <c:f>Sheet1!$B$2:$B$10</c:f>
              <c:numCache>
                <c:formatCode>General</c:formatCode>
                <c:ptCount val="9"/>
                <c:pt idx="0">
                  <c:v>0.03</c:v>
                </c:pt>
                <c:pt idx="1">
                  <c:v>0.52</c:v>
                </c:pt>
                <c:pt idx="2">
                  <c:v>0.04</c:v>
                </c:pt>
                <c:pt idx="3">
                  <c:v>0.05</c:v>
                </c:pt>
                <c:pt idx="4">
                  <c:v>0.02</c:v>
                </c:pt>
                <c:pt idx="5">
                  <c:v>0.14000000000000001</c:v>
                </c:pt>
                <c:pt idx="6">
                  <c:v>0.06</c:v>
                </c:pt>
                <c:pt idx="7">
                  <c:v>0.05</c:v>
                </c:pt>
                <c:pt idx="8">
                  <c:v>0.09</c:v>
                </c:pt>
              </c:numCache>
            </c:numRef>
          </c:val>
          <c:extLst>
            <c:ext xmlns:c16="http://schemas.microsoft.com/office/drawing/2014/chart" uri="{C3380CC4-5D6E-409C-BE32-E72D297353CC}">
              <c16:uniqueId val="{00000000-5897-4F1C-B8BF-114AE12006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0.6"/>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433"/>
                </a:solidFill>
                <a:latin typeface="+mn-lt"/>
              </a:defRPr>
            </a:pPr>
            <a:r>
              <a:rPr lang="en-US" sz="1400" b="0" i="0" u="none" strike="noStrike">
                <a:solidFill>
                  <a:srgbClr val="1F2433"/>
                </a:solidFill>
                <a:latin typeface="+mn-lt"/>
              </a:rPr>
              <a:t>Same model, same prompt — different temperature</a:t>
            </a:r>
          </a:p>
        </c:rich>
      </c:tx>
      <c:overlay val="0"/>
    </c:title>
    <c:autoTitleDeleted val="0"/>
    <c:plotArea>
      <c:layout/>
      <c:barChart>
        <c:barDir val="col"/>
        <c:grouping val="clustered"/>
        <c:varyColors val="0"/>
        <c:ser>
          <c:idx val="0"/>
          <c:order val="0"/>
          <c:tx>
            <c:strRef>
              <c:f>Sheet1!$B$1</c:f>
              <c:strCache>
                <c:ptCount val="1"/>
                <c:pt idx="0">
                  <c:v>T = 0.3 (focused)</c:v>
                </c:pt>
              </c:strCache>
            </c:strRef>
          </c:tx>
          <c:spPr>
            <a:solidFill>
              <a:srgbClr val="1B1F3B"/>
            </a:solidFill>
            <a:effectLst/>
          </c:spPr>
          <c:invertIfNegative val="0"/>
          <c:cat>
            <c:strRef>
              <c:f>Sheet1!$A$2:$A$6</c:f>
              <c:strCache>
                <c:ptCount val="5"/>
                <c:pt idx="0">
                  <c:v>mat</c:v>
                </c:pt>
                <c:pt idx="1">
                  <c:v>floor</c:v>
                </c:pt>
                <c:pt idx="2">
                  <c:v>sofa</c:v>
                </c:pt>
                <c:pt idx="3">
                  <c:v>bed</c:v>
                </c:pt>
                <c:pt idx="4">
                  <c:v>roof</c:v>
                </c:pt>
              </c:strCache>
            </c:strRef>
          </c:cat>
          <c:val>
            <c:numRef>
              <c:f>Sheet1!$B$2:$B$6</c:f>
              <c:numCache>
                <c:formatCode>General</c:formatCode>
                <c:ptCount val="5"/>
                <c:pt idx="0">
                  <c:v>0.91400000000000003</c:v>
                </c:pt>
                <c:pt idx="1">
                  <c:v>6.4000000000000001E-2</c:v>
                </c:pt>
                <c:pt idx="2">
                  <c:v>1.7000000000000001E-2</c:v>
                </c:pt>
                <c:pt idx="3">
                  <c:v>4.0000000000000001E-3</c:v>
                </c:pt>
                <c:pt idx="4">
                  <c:v>1E-3</c:v>
                </c:pt>
              </c:numCache>
            </c:numRef>
          </c:val>
          <c:extLst>
            <c:ext xmlns:c16="http://schemas.microsoft.com/office/drawing/2014/chart" uri="{C3380CC4-5D6E-409C-BE32-E72D297353CC}">
              <c16:uniqueId val="{00000000-6350-44D4-BE52-3A221CC5B60F}"/>
            </c:ext>
          </c:extLst>
        </c:ser>
        <c:ser>
          <c:idx val="1"/>
          <c:order val="1"/>
          <c:tx>
            <c:strRef>
              <c:f>Sheet1!$C$1</c:f>
              <c:strCache>
                <c:ptCount val="1"/>
                <c:pt idx="0">
                  <c:v>T = 1.0 (balanced)</c:v>
                </c:pt>
              </c:strCache>
            </c:strRef>
          </c:tx>
          <c:spPr>
            <a:solidFill>
              <a:srgbClr val="D97757"/>
            </a:solidFill>
            <a:effectLst/>
          </c:spPr>
          <c:invertIfNegative val="0"/>
          <c:cat>
            <c:strRef>
              <c:f>Sheet1!$A$2:$A$6</c:f>
              <c:strCache>
                <c:ptCount val="5"/>
                <c:pt idx="0">
                  <c:v>mat</c:v>
                </c:pt>
                <c:pt idx="1">
                  <c:v>floor</c:v>
                </c:pt>
                <c:pt idx="2">
                  <c:v>sofa</c:v>
                </c:pt>
                <c:pt idx="3">
                  <c:v>bed</c:v>
                </c:pt>
                <c:pt idx="4">
                  <c:v>roof</c:v>
                </c:pt>
              </c:strCache>
            </c:strRef>
          </c:cat>
          <c:val>
            <c:numRef>
              <c:f>Sheet1!$C$2:$C$6</c:f>
              <c:numCache>
                <c:formatCode>General</c:formatCode>
                <c:ptCount val="5"/>
                <c:pt idx="0">
                  <c:v>0.48199999999999998</c:v>
                </c:pt>
                <c:pt idx="1">
                  <c:v>0.217</c:v>
                </c:pt>
                <c:pt idx="2">
                  <c:v>0.14499999999999999</c:v>
                </c:pt>
                <c:pt idx="3">
                  <c:v>9.7000000000000003E-2</c:v>
                </c:pt>
                <c:pt idx="4">
                  <c:v>5.8999999999999997E-2</c:v>
                </c:pt>
              </c:numCache>
            </c:numRef>
          </c:val>
          <c:extLst>
            <c:ext xmlns:c16="http://schemas.microsoft.com/office/drawing/2014/chart" uri="{C3380CC4-5D6E-409C-BE32-E72D297353CC}">
              <c16:uniqueId val="{00000001-6350-44D4-BE52-3A221CC5B60F}"/>
            </c:ext>
          </c:extLst>
        </c:ser>
        <c:ser>
          <c:idx val="2"/>
          <c:order val="2"/>
          <c:tx>
            <c:strRef>
              <c:f>Sheet1!$D$1</c:f>
              <c:strCache>
                <c:ptCount val="1"/>
                <c:pt idx="0">
                  <c:v>T = 2.0 (wild)</c:v>
                </c:pt>
              </c:strCache>
            </c:strRef>
          </c:tx>
          <c:spPr>
            <a:solidFill>
              <a:srgbClr val="E9B949"/>
            </a:solidFill>
            <a:effectLst/>
          </c:spPr>
          <c:invertIfNegative val="0"/>
          <c:cat>
            <c:strRef>
              <c:f>Sheet1!$A$2:$A$6</c:f>
              <c:strCache>
                <c:ptCount val="5"/>
                <c:pt idx="0">
                  <c:v>mat</c:v>
                </c:pt>
                <c:pt idx="1">
                  <c:v>floor</c:v>
                </c:pt>
                <c:pt idx="2">
                  <c:v>sofa</c:v>
                </c:pt>
                <c:pt idx="3">
                  <c:v>bed</c:v>
                </c:pt>
                <c:pt idx="4">
                  <c:v>roof</c:v>
                </c:pt>
              </c:strCache>
            </c:strRef>
          </c:cat>
          <c:val>
            <c:numRef>
              <c:f>Sheet1!$D$2:$D$6</c:f>
              <c:numCache>
                <c:formatCode>General</c:formatCode>
                <c:ptCount val="5"/>
                <c:pt idx="0">
                  <c:v>0.33100000000000002</c:v>
                </c:pt>
                <c:pt idx="1">
                  <c:v>0.222</c:v>
                </c:pt>
                <c:pt idx="2">
                  <c:v>0.182</c:v>
                </c:pt>
                <c:pt idx="3">
                  <c:v>0.14899999999999999</c:v>
                </c:pt>
                <c:pt idx="4">
                  <c:v>0.11600000000000001</c:v>
                </c:pt>
              </c:numCache>
            </c:numRef>
          </c:val>
          <c:extLst>
            <c:ext xmlns:c16="http://schemas.microsoft.com/office/drawing/2014/chart" uri="{C3380CC4-5D6E-409C-BE32-E72D297353CC}">
              <c16:uniqueId val="{00000002-6350-44D4-BE52-3A221CC5B60F}"/>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9525" cap="flat">
              <a:solidFill>
                <a:srgbClr val="DADDE8"/>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17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B61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433"/>
                </a:solidFill>
                <a:latin typeface="+mn-lt"/>
              </a:defRPr>
            </a:pPr>
            <a:r>
              <a:rPr lang="en-US" sz="1400" b="0" i="0" u="none" strike="noStrike">
                <a:solidFill>
                  <a:srgbClr val="1F2433"/>
                </a:solidFill>
                <a:latin typeface="+mn-lt"/>
              </a:rPr>
              <a:t>Memory to hold a 70B-parameter model's weights</a:t>
            </a:r>
          </a:p>
        </c:rich>
      </c:tx>
      <c:overlay val="0"/>
    </c:title>
    <c:autoTitleDeleted val="0"/>
    <c:plotArea>
      <c:layout/>
      <c:barChart>
        <c:barDir val="col"/>
        <c:grouping val="clustered"/>
        <c:varyColors val="0"/>
        <c:ser>
          <c:idx val="0"/>
          <c:order val="0"/>
          <c:tx>
            <c:strRef>
              <c:f>Sheet1!$B$1</c:f>
              <c:strCache>
                <c:ptCount val="1"/>
                <c:pt idx="0">
                  <c:v>GB</c:v>
                </c:pt>
              </c:strCache>
            </c:strRef>
          </c:tx>
          <c:spPr>
            <a:solidFill>
              <a:srgbClr val="1B1F3B"/>
            </a:solidFill>
            <a:effectLst/>
          </c:spPr>
          <c:invertIfNegative val="0"/>
          <c:dPt>
            <c:idx val="0"/>
            <c:invertIfNegative val="0"/>
            <c:bubble3D val="0"/>
            <c:spPr>
              <a:solidFill>
                <a:srgbClr val="1B1F3B"/>
              </a:solidFill>
              <a:effectLst/>
            </c:spPr>
            <c:extLst>
              <c:ext xmlns:c16="http://schemas.microsoft.com/office/drawing/2014/chart" uri="{C3380CC4-5D6E-409C-BE32-E72D297353CC}">
                <c16:uniqueId val="{00000001-A508-4698-B379-E6569F47CB93}"/>
              </c:ext>
            </c:extLst>
          </c:dPt>
          <c:dPt>
            <c:idx val="1"/>
            <c:invertIfNegative val="0"/>
            <c:bubble3D val="0"/>
            <c:spPr>
              <a:solidFill>
                <a:srgbClr val="6C63FF"/>
              </a:solidFill>
              <a:effectLst/>
            </c:spPr>
            <c:extLst>
              <c:ext xmlns:c16="http://schemas.microsoft.com/office/drawing/2014/chart" uri="{C3380CC4-5D6E-409C-BE32-E72D297353CC}">
                <c16:uniqueId val="{00000003-A508-4698-B379-E6569F47CB93}"/>
              </c:ext>
            </c:extLst>
          </c:dPt>
          <c:dPt>
            <c:idx val="2"/>
            <c:invertIfNegative val="0"/>
            <c:bubble3D val="0"/>
            <c:spPr>
              <a:solidFill>
                <a:srgbClr val="2A9D8F"/>
              </a:solidFill>
              <a:effectLst/>
            </c:spPr>
            <c:extLst>
              <c:ext xmlns:c16="http://schemas.microsoft.com/office/drawing/2014/chart" uri="{C3380CC4-5D6E-409C-BE32-E72D297353CC}">
                <c16:uniqueId val="{00000005-A508-4698-B379-E6569F47CB93}"/>
              </c:ext>
            </c:extLst>
          </c:dPt>
          <c:dPt>
            <c:idx val="3"/>
            <c:invertIfNegative val="0"/>
            <c:bubble3D val="0"/>
            <c:spPr>
              <a:solidFill>
                <a:srgbClr val="D97757"/>
              </a:solidFill>
              <a:effectLst/>
            </c:spPr>
            <c:extLst>
              <c:ext xmlns:c16="http://schemas.microsoft.com/office/drawing/2014/chart" uri="{C3380CC4-5D6E-409C-BE32-E72D297353CC}">
                <c16:uniqueId val="{00000007-A508-4698-B379-E6569F47CB93}"/>
              </c:ext>
            </c:extLst>
          </c:dPt>
          <c:dLbls>
            <c:numFmt formatCode="0&quot; GB&quot;" sourceLinked="0"/>
            <c:spPr>
              <a:noFill/>
              <a:ln>
                <a:noFill/>
              </a:ln>
              <a:effectLst/>
            </c:spPr>
            <c:txPr>
              <a:bodyPr/>
              <a:lstStyle/>
              <a:p>
                <a:pPr>
                  <a:defRPr sz="1200" b="0" i="0" u="none" strike="noStrike">
                    <a:solidFill>
                      <a:srgbClr val="1F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FP32 (32-bit)</c:v>
                </c:pt>
                <c:pt idx="1">
                  <c:v>FP16 / BF16</c:v>
                </c:pt>
                <c:pt idx="2">
                  <c:v>INT8</c:v>
                </c:pt>
                <c:pt idx="3">
                  <c:v>INT4</c:v>
                </c:pt>
              </c:strCache>
            </c:strRef>
          </c:cat>
          <c:val>
            <c:numRef>
              <c:f>Sheet1!$B$2:$B$5</c:f>
              <c:numCache>
                <c:formatCode>General</c:formatCode>
                <c:ptCount val="4"/>
                <c:pt idx="0">
                  <c:v>280</c:v>
                </c:pt>
                <c:pt idx="1">
                  <c:v>140</c:v>
                </c:pt>
                <c:pt idx="2">
                  <c:v>70</c:v>
                </c:pt>
                <c:pt idx="3">
                  <c:v>35</c:v>
                </c:pt>
              </c:numCache>
            </c:numRef>
          </c:val>
          <c:extLst>
            <c:ext xmlns:c16="http://schemas.microsoft.com/office/drawing/2014/chart" uri="{C3380CC4-5D6E-409C-BE32-E72D297353CC}">
              <c16:uniqueId val="{00000008-A508-4698-B379-E6569F47CB9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32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433"/>
                </a:solidFill>
                <a:latin typeface="+mn-lt"/>
              </a:defRPr>
            </a:pPr>
            <a:r>
              <a:rPr lang="en-US" sz="1400" b="0" i="0" u="none" strike="noStrike">
                <a:solidFill>
                  <a:srgbClr val="1F2433"/>
                </a:solidFill>
                <a:latin typeface="+mn-lt"/>
              </a:rPr>
              <a:t>Token use vs. a normal chat</a:t>
            </a:r>
          </a:p>
        </c:rich>
      </c:tx>
      <c:overlay val="0"/>
    </c:title>
    <c:autoTitleDeleted val="0"/>
    <c:plotArea>
      <c:layout/>
      <c:barChart>
        <c:barDir val="col"/>
        <c:grouping val="clustered"/>
        <c:varyColors val="0"/>
        <c:ser>
          <c:idx val="0"/>
          <c:order val="0"/>
          <c:tx>
            <c:strRef>
              <c:f>Sheet1!$B$1</c:f>
              <c:strCache>
                <c:ptCount val="1"/>
                <c:pt idx="0">
                  <c:v>Relative tokens</c:v>
                </c:pt>
              </c:strCache>
            </c:strRef>
          </c:tx>
          <c:spPr>
            <a:solidFill>
              <a:srgbClr val="8A90A6"/>
            </a:solidFill>
            <a:effectLst/>
          </c:spPr>
          <c:invertIfNegative val="0"/>
          <c:dPt>
            <c:idx val="0"/>
            <c:invertIfNegative val="0"/>
            <c:bubble3D val="0"/>
            <c:extLst>
              <c:ext xmlns:c16="http://schemas.microsoft.com/office/drawing/2014/chart" uri="{C3380CC4-5D6E-409C-BE32-E72D297353CC}">
                <c16:uniqueId val="{00000001-08B5-45CD-BE0C-7F2669362FBC}"/>
              </c:ext>
            </c:extLst>
          </c:dPt>
          <c:dPt>
            <c:idx val="1"/>
            <c:invertIfNegative val="0"/>
            <c:bubble3D val="0"/>
            <c:spPr>
              <a:solidFill>
                <a:srgbClr val="2A9D8F"/>
              </a:solidFill>
              <a:effectLst/>
            </c:spPr>
            <c:extLst>
              <c:ext xmlns:c16="http://schemas.microsoft.com/office/drawing/2014/chart" uri="{C3380CC4-5D6E-409C-BE32-E72D297353CC}">
                <c16:uniqueId val="{00000003-08B5-45CD-BE0C-7F2669362FBC}"/>
              </c:ext>
            </c:extLst>
          </c:dPt>
          <c:dPt>
            <c:idx val="2"/>
            <c:invertIfNegative val="0"/>
            <c:bubble3D val="0"/>
            <c:spPr>
              <a:solidFill>
                <a:srgbClr val="6C63FF"/>
              </a:solidFill>
              <a:effectLst/>
            </c:spPr>
            <c:extLst>
              <c:ext xmlns:c16="http://schemas.microsoft.com/office/drawing/2014/chart" uri="{C3380CC4-5D6E-409C-BE32-E72D297353CC}">
                <c16:uniqueId val="{00000005-08B5-45CD-BE0C-7F2669362FBC}"/>
              </c:ext>
            </c:extLst>
          </c:dPt>
          <c:dLbls>
            <c:numFmt formatCode="0&quot;×&quot;" sourceLinked="0"/>
            <c:spPr>
              <a:noFill/>
              <a:ln>
                <a:noFill/>
              </a:ln>
              <a:effectLst/>
            </c:spPr>
            <c:txPr>
              <a:bodyPr/>
              <a:lstStyle/>
              <a:p>
                <a:pPr>
                  <a:defRPr sz="1200" b="0" i="0" u="none" strike="noStrike">
                    <a:solidFill>
                      <a:srgbClr val="1F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c:v>
                </c:pt>
                <c:pt idx="1">
                  <c:v>Single agent</c:v>
                </c:pt>
                <c:pt idx="2">
                  <c:v>Multi-agent</c:v>
                </c:pt>
              </c:strCache>
            </c:strRef>
          </c:cat>
          <c:val>
            <c:numRef>
              <c:f>Sheet1!$B$2:$B$4</c:f>
              <c:numCache>
                <c:formatCode>General</c:formatCode>
                <c:ptCount val="3"/>
                <c:pt idx="0">
                  <c:v>1</c:v>
                </c:pt>
                <c:pt idx="1">
                  <c:v>4</c:v>
                </c:pt>
                <c:pt idx="2">
                  <c:v>15</c:v>
                </c:pt>
              </c:numCache>
            </c:numRef>
          </c:val>
          <c:extLst>
            <c:ext xmlns:c16="http://schemas.microsoft.com/office/drawing/2014/chart" uri="{C3380CC4-5D6E-409C-BE32-E72D297353CC}">
              <c16:uniqueId val="{00000006-08B5-45CD-BE0C-7F2669362F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178"/>
                </a:solidFill>
                <a:latin typeface="+mn-lt"/>
              </a:defRPr>
            </a:pPr>
            <a:endParaRPr lang="en-US"/>
          </a:p>
        </c:txPr>
        <c:crossAx val="2094734552"/>
        <c:crosses val="autoZero"/>
        <c:auto val="1"/>
        <c:lblAlgn val="ctr"/>
        <c:lblOffset val="100"/>
        <c:noMultiLvlLbl val="1"/>
      </c:catAx>
      <c:valAx>
        <c:axId val="2094734552"/>
        <c:scaling>
          <c:orientation val="minMax"/>
          <c:max val="1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3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from the smallest unit an LLM sees (a token) all the way up to teams of AI agents working together. The chips at the bottom show how the title itself might be split into tokens.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builds the mental model of what an LLM actually is. Part 2 shows how wrapping an LLM in a loop with tools turns it into an agent. Part 3 combines several agents. The bonus section connects everything to practical use of Claude.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idea: a large language model takes text in and outputs a probability distribution over what the next token could be. Generation is just repeating this step. Everything else — chat, coding, agents — is built on top of this loop.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are the currency of LLMs. The tokenizer (often Byte-Pair Encoding) learns frequent chunks of text. Rule of thumb for English: about 4 characters or three-quarters of a word per token. Pricing, rate limits and the context window are measured in tokens, so this matters in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tokenization, each token ID is looked up in an embedding table, giving a vector. Distances and directions in this space encode meaning. The same idea powers semantic search, which we will use later for retrieval-augmented generation.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transformer, introduced in 2017, stacks the same block many times: self-attention followed by a feed-forward network. Attention mixes information between tokens; the feed-forward layers process each token. Because it is highly parallel, it scales well on GPUs, which is why every frontier LLM uses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lets the model resolve references like 'it'. Each token produces a query, key and value vector. The query of 'it' is compared with every key; the best match is 'animal', so most of the value mixed into 'it' comes from 'animal'. Real models run many attention heads in parallel, each learning different relationships.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gives raw capability. Supervised fine-tuning teaches the format of being an assistant. Alignment with human or AI feedback teaches preferences such as honesty and avoiding harm. Anthropic's Constitutional AI uses a written set of principles to generate AI feedback.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gives raw capability. Supervised fine-tuning teaches the format of being an assistant. Alignment with human or AI feedback teaches preferences such as honesty and avoiding harm. Anthropic's Constitutional AI uses a written set of principles to generate AI feedback.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outputs scores (logits). Temperature divides them before the softmax. Low temperature sharpens the distribution so the top token dominates; high temperature flattens it. The chart is computed from the same five logits at three temperatures.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window is the most practical concept for everyday use. The model is stateless: whatever is not in the window on this call does not exist for the model. Context engineering — choosing what goes into the window — is a core skill for both prompting and building agents.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weight is a number. Storing it in fewer bits — 8 or 4 instead of 16 or 32 — shrinks the model in proportion. Quantized models lose a little accuracy but become dramatically cheaper to run, which is why most locally-run open models are 4-bit or 8-bit. Hosted models like Claude are run by the provider, so you don't manage this yourself.</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LLM failures follow from what we've learned: it predicts plausible tokens, it is frozen at training time, and it sees tokens rather than characters. Notice that every fix gives the model a tool or more context — which leads directly to retrieval and agents.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combines embeddings and the context window. Documents are split into chunks and embedded ahead of time. At question time, we embed the question, fetch the nearest chunks and put them in the prompt. Claude Projects, file uploads and web search are all forms of giving the model the right context.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2.</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not a different kind of model. It is the same LLM placed in a loop where its outputs can trigger actions, and the results of those actions come back as new input. The four ingredients are the model, tools, memory and the loop itself.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often called ReAct (reason + act). The model reasons about what to do, emits a tool call, the harness runs it, and the result is appended to the context. The loop ends when the model decides the goal is satisfied or a step limit is hit.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use, or function calling, is the mechanism behind every agent. The developer describes tools with a name, a description and a JSON schema. The model decides when to call one and with which arguments. The application executes it and feeds back the result. MCP standardizes how tools are exposed so they can be reused across apps; in Claude these appear as connectors.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model itself is stateless, memory has to be engineered. Short-term memory is the context window. Long-term memory is anything stored outside and retrieved later. Procedural memory is reusable instructions — for Claude, that includes Project instructions and Skills.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come from Anthropic's 'Building effective agents' article. The first three are predictable workflows with fixed paths. Orchestrator-workers and evaluator-optimizer add more model-driven control. True agents let the model choose its own path entirely.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is jumping straight to a complex agent. Each step up the ladder adds power but also cost, latency and unpredictability. Anthropic's guidance is to find the simplest solution that works and add complexity only when it clearly improves results.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3.</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Anthropic Engineering, 'How we built our multi-agent research system' (June 2025). Agents used about 4x more tokens than chat interactions, and multi-agent systems about 15x more. The multi-agent setup (Claude Opus 4 lead with Claude Sonnet 4 subagents) outperformed single-agent Claude Opus 4 by 90.2% on their internal research evaluation.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Orchestrator-workers is the most widely used pattern today — it is how Claude's Research feature and Claude Code subagents work. Pipelines are simple and predictable. Peer networks are flexible but the hardest to control and debug.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architecture Anthropic described for Claude's Research feature: a lead agent plans, spins up subagents in parallel, each explores with its own context window, and the lead synthesizes. A separate citation step attaches sources. Delegation quality — clear objectives, output formats and boundaries for each subagent — was the biggest lever.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systems fail in predictable ways. Most fixes come down to the same principle as good management: clear briefs, shared written artifacts, checks on quality, budgets and sign-off before irreversible decisions.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bonus section.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directly to the concepts: specificity and context fill the context window with what matters; examples steer next-token prediction; structure helps attention find the right parts; asking for reasoning gives the model room to work before committing. See Anthropic's prompt engineering guide at docs.claude.com.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the theory to the product. Since your Project here is about learning to use Claude, a good exercise is to try one row per day: add a doc to a Project, turn on a connector, create a skill, and so on. Feature names change over time, so check support.claude.com for the current details.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reference you can keep next to you while learning.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further reading: Anthropic, 'Building effective agents' (anthropic.com/research/building-effective-agents); Anthropic Engineering, 'How we built our multi-agent research system' (anthropic.com/engineering/multi-agent-research-system); Vaswani et al., 'Attention Is All You Need' (2017); Anthropic prompt engineering guide (docs.claude.com).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463040"/>
          </a:xfrm>
          <a:prstGeom prst="rect">
            <a:avLst/>
          </a:prstGeom>
          <a:noFill/>
          <a:ln/>
        </p:spPr>
        <p:txBody>
          <a:bodyPr wrap="square" rtlCol="0"/>
          <a:lstStyle>
            <a:lvl1pPr marL="0" indent="0" algn="l">
              <a:buNone/>
              <a:defRPr lang="en-US" sz="48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800" dirty="0"/>
          </a:p>
        </p:txBody>
      </p:sp>
      <p:sp>
        <p:nvSpPr>
          <p:cNvPr id="3" name="Text 0"/>
          <p:cNvSpPr>
            <a:spLocks noGrp="1"/>
          </p:cNvSpPr>
          <p:nvPr>
            <p:ph type="body" idx="101" hasCustomPrompt="1"/>
          </p:nvPr>
        </p:nvSpPr>
        <p:spPr>
          <a:xfrm>
            <a:off x="731520" y="3429000"/>
            <a:ext cx="10698480" cy="822960"/>
          </a:xfrm>
          <a:prstGeom prst="rect">
            <a:avLst/>
          </a:prstGeom>
          <a:noFill/>
          <a:ln/>
        </p:spPr>
        <p:txBody>
          <a:bodyPr wrap="square" rtlCol="0"/>
          <a:lstStyle>
            <a:lvl1pPr marL="0" indent="0" algn="l">
              <a:buNone/>
              <a:defRPr lang="en-US" sz="2000" dirty="0">
                <a:solidFill>
                  <a:schemeClr val="bg2"/>
                </a:solidFill>
                <a:latin typeface="Calibri" pitchFamily="34" charset="0"/>
                <a:ea typeface="Calibri" pitchFamily="34" charset="-122"/>
                <a:cs typeface="Calibri" pitchFamily="34" charset="-120"/>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7315200" cy="457200"/>
          </a:xfrm>
          <a:prstGeom prst="rect">
            <a:avLst/>
          </a:prstGeom>
          <a:noFill/>
          <a:ln/>
        </p:spPr>
        <p:txBody>
          <a:bodyPr wrap="square" rtlCol="0"/>
          <a:lstStyle>
            <a:lvl1pPr marL="0" indent="0">
              <a:buNone/>
              <a:defRPr lang="en-US" sz="1600" b="1" kern="0" spc="400" dirty="0">
                <a:solidFill>
                  <a:schemeClr val="accent1"/>
                </a:solidFill>
                <a:latin typeface="Calibri" pitchFamily="34" charset="0"/>
                <a:ea typeface="Calibri" pitchFamily="34" charset="-122"/>
                <a:cs typeface="Calibri" pitchFamily="34" charset="-120"/>
              </a:defRPr>
            </a:lvl1pPr>
          </a:lstStyle>
          <a:p>
            <a:pPr marL="0" indent="0">
              <a:buNone/>
            </a:pPr>
            <a:endParaRPr lang="en-US" sz="1600" dirty="0"/>
          </a:p>
        </p:txBody>
      </p:sp>
      <p:sp>
        <p:nvSpPr>
          <p:cNvPr id="3" name="Text 0"/>
          <p:cNvSpPr>
            <a:spLocks noGrp="1"/>
          </p:cNvSpPr>
          <p:nvPr>
            <p:ph type="title" idx="101" hasCustomPrompt="1"/>
          </p:nvPr>
        </p:nvSpPr>
        <p:spPr>
          <a:xfrm>
            <a:off x="731520" y="2331720"/>
            <a:ext cx="7498080" cy="12801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731520" y="3703320"/>
            <a:ext cx="6949440" cy="1280160"/>
          </a:xfrm>
          <a:prstGeom prst="rect">
            <a:avLst/>
          </a:prstGeom>
          <a:noFill/>
          <a:ln/>
        </p:spPr>
        <p:txBody>
          <a:bodyPr wrap="square" rtlCol="0"/>
          <a:lstStyle>
            <a:lvl1pPr marL="0" indent="0" algn="l">
              <a:buNone/>
              <a:defRPr lang="en-US" sz="1800" dirty="0">
                <a:solidFill>
                  <a:schemeClr val="bg2"/>
                </a:solidFill>
                <a:latin typeface="Calibri" pitchFamily="34" charset="0"/>
                <a:ea typeface="Calibri" pitchFamily="34" charset="-122"/>
                <a:cs typeface="Calibri" pitchFamily="34" charset="-120"/>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From Tokens to Teams of Agents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chart" Target="../charts/chart5.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463040"/>
          </a:xfrm>
          <a:prstGeom prst="rect">
            <a:avLst/>
          </a:prstGeom>
          <a:noFill/>
          <a:ln/>
        </p:spPr>
        <p:txBody>
          <a:bodyPr wrap="square" lIns="0" tIns="0" rIns="0" bIns="0" rtlCol="0" anchor="b"/>
          <a:lstStyle/>
          <a:p>
            <a:pPr marL="0" indent="0" algn="l">
              <a:buNone/>
            </a:pPr>
            <a:r>
              <a:rPr lang="en-US" sz="4800" b="1" dirty="0">
                <a:solidFill>
                  <a:schemeClr val="bg1"/>
                </a:solidFill>
                <a:latin typeface="Cambria" pitchFamily="34" charset="0"/>
                <a:ea typeface="Cambria" pitchFamily="34" charset="-122"/>
                <a:cs typeface="Cambria" pitchFamily="34" charset="-120"/>
              </a:rPr>
              <a:t>From Tokens to Teams of Agents</a:t>
            </a:r>
            <a:endParaRPr lang="en-US" sz="4800" dirty="0"/>
          </a:p>
        </p:txBody>
      </p:sp>
      <p:sp>
        <p:nvSpPr>
          <p:cNvPr id="3" name="Text 0"/>
          <p:cNvSpPr>
            <a:spLocks noGrp="1"/>
          </p:cNvSpPr>
          <p:nvPr>
            <p:ph type="body" idx="101" hasCustomPrompt="1"/>
          </p:nvPr>
        </p:nvSpPr>
        <p:spPr>
          <a:xfrm>
            <a:off x="731520" y="3429000"/>
            <a:ext cx="10698480" cy="822960"/>
          </a:xfrm>
          <a:prstGeom prst="rect">
            <a:avLst/>
          </a:prstGeom>
          <a:noFill/>
          <a:ln/>
        </p:spPr>
        <p:txBody>
          <a:bodyPr wrap="square" lIns="0" tIns="0" rIns="0" bIns="0" rtlCol="0" anchor="t"/>
          <a:lstStyle/>
          <a:p>
            <a:pPr marL="0" indent="0" algn="l">
              <a:buNone/>
            </a:pPr>
            <a:r>
              <a:rPr lang="en-US" sz="2000" dirty="0">
                <a:solidFill>
                  <a:schemeClr val="bg2"/>
                </a:solidFill>
                <a:latin typeface="Calibri" pitchFamily="34" charset="0"/>
                <a:ea typeface="Calibri" pitchFamily="34" charset="-122"/>
                <a:cs typeface="Calibri" pitchFamily="34" charset="-120"/>
              </a:rPr>
              <a:t>A visual guide to LLMs, AI agents and multi-agent systems</a:t>
            </a:r>
            <a:endParaRPr lang="en-US" sz="2000" dirty="0"/>
          </a:p>
        </p:txBody>
      </p:sp>
      <p:sp>
        <p:nvSpPr>
          <p:cNvPr id="4" name="card-1"/>
          <p:cNvSpPr/>
          <p:nvPr/>
        </p:nvSpPr>
        <p:spPr>
          <a:xfrm>
            <a:off x="731520" y="4846320"/>
            <a:ext cx="786384" cy="502920"/>
          </a:xfrm>
          <a:prstGeom prst="roundRect">
            <a:avLst>
              <a:gd name="adj" fmla="val 18182"/>
            </a:avLst>
          </a:prstGeom>
          <a:solidFill>
            <a:schemeClr val="accent1"/>
          </a:solidFill>
          <a:ln w="9525">
            <a:solidFill>
              <a:schemeClr val="accent1"/>
            </a:solidFill>
            <a:prstDash val="solid"/>
          </a:ln>
        </p:spPr>
        <p:txBody>
          <a:bodyPr/>
          <a:lstStyle/>
          <a:p>
            <a:endParaRPr lang="en-US"/>
          </a:p>
        </p:txBody>
      </p:sp>
      <p:sp>
        <p:nvSpPr>
          <p:cNvPr id="5" name="text-2"/>
          <p:cNvSpPr txBox="1"/>
          <p:nvPr/>
        </p:nvSpPr>
        <p:spPr>
          <a:xfrm>
            <a:off x="731520" y="4846320"/>
            <a:ext cx="786384" cy="502920"/>
          </a:xfrm>
          <a:prstGeom prst="rect">
            <a:avLst/>
          </a:prstGeom>
          <a:noFill/>
          <a:ln/>
        </p:spPr>
        <p:txBody>
          <a:bodyPr wrap="square" lIns="0" tIns="0" rIns="0" bIns="0" rtlCol="0" anchor="ctr"/>
          <a:lstStyle/>
          <a:p>
            <a:pPr marL="0" indent="0" algn="ctr">
              <a:buNone/>
            </a:pPr>
            <a:r>
              <a:rPr lang="en-US" sz="1500" b="1" dirty="0">
                <a:solidFill>
                  <a:schemeClr val="tx2"/>
                </a:solidFill>
              </a:rPr>
              <a:t>From</a:t>
            </a:r>
            <a:endParaRPr lang="en-US" sz="1500" dirty="0"/>
          </a:p>
        </p:txBody>
      </p:sp>
      <p:sp>
        <p:nvSpPr>
          <p:cNvPr id="6" name="card-3"/>
          <p:cNvSpPr/>
          <p:nvPr/>
        </p:nvSpPr>
        <p:spPr>
          <a:xfrm>
            <a:off x="1609344" y="4846320"/>
            <a:ext cx="1170432"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7" name="text-4"/>
          <p:cNvSpPr txBox="1"/>
          <p:nvPr/>
        </p:nvSpPr>
        <p:spPr>
          <a:xfrm>
            <a:off x="1609344" y="4846320"/>
            <a:ext cx="1170432" cy="502920"/>
          </a:xfrm>
          <a:prstGeom prst="rect">
            <a:avLst/>
          </a:prstGeom>
          <a:noFill/>
          <a:ln/>
        </p:spPr>
        <p:txBody>
          <a:bodyPr wrap="square" lIns="0" tIns="0" rIns="0" bIns="0" rtlCol="0" anchor="ctr"/>
          <a:lstStyle/>
          <a:p>
            <a:pPr marL="0" indent="0" algn="ctr">
              <a:buNone/>
            </a:pPr>
            <a:r>
              <a:rPr lang="en-US" sz="1500" b="1" dirty="0">
                <a:solidFill>
                  <a:schemeClr val="tx2"/>
                </a:solidFill>
              </a:rPr>
              <a:t>␣tokens</a:t>
            </a:r>
            <a:endParaRPr lang="en-US" sz="1500" dirty="0"/>
          </a:p>
        </p:txBody>
      </p:sp>
      <p:sp>
        <p:nvSpPr>
          <p:cNvPr id="8" name="card-5"/>
          <p:cNvSpPr/>
          <p:nvPr/>
        </p:nvSpPr>
        <p:spPr>
          <a:xfrm>
            <a:off x="2871216" y="4846320"/>
            <a:ext cx="658368"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9" name="text-6"/>
          <p:cNvSpPr txBox="1"/>
          <p:nvPr/>
        </p:nvSpPr>
        <p:spPr>
          <a:xfrm>
            <a:off x="2871216" y="4846320"/>
            <a:ext cx="658368" cy="502920"/>
          </a:xfrm>
          <a:prstGeom prst="rect">
            <a:avLst/>
          </a:prstGeom>
          <a:noFill/>
          <a:ln/>
        </p:spPr>
        <p:txBody>
          <a:bodyPr wrap="square" lIns="0" tIns="0" rIns="0" bIns="0" rtlCol="0" anchor="ctr"/>
          <a:lstStyle/>
          <a:p>
            <a:pPr marL="0" indent="0" algn="ctr">
              <a:buNone/>
            </a:pPr>
            <a:r>
              <a:rPr lang="en-US" sz="1500" b="1" dirty="0">
                <a:solidFill>
                  <a:schemeClr val="tx2"/>
                </a:solidFill>
              </a:rPr>
              <a:t>␣to</a:t>
            </a:r>
            <a:endParaRPr lang="en-US" sz="1500" dirty="0"/>
          </a:p>
        </p:txBody>
      </p:sp>
      <p:sp>
        <p:nvSpPr>
          <p:cNvPr id="10" name="card-7"/>
          <p:cNvSpPr/>
          <p:nvPr/>
        </p:nvSpPr>
        <p:spPr>
          <a:xfrm>
            <a:off x="3621024" y="4846320"/>
            <a:ext cx="1042416" cy="502920"/>
          </a:xfrm>
          <a:prstGeom prst="roundRect">
            <a:avLst>
              <a:gd name="adj" fmla="val 18182"/>
            </a:avLst>
          </a:prstGeom>
          <a:solidFill>
            <a:schemeClr val="accent4"/>
          </a:solidFill>
          <a:ln w="9525">
            <a:solidFill>
              <a:schemeClr val="accent4"/>
            </a:solidFill>
            <a:prstDash val="solid"/>
          </a:ln>
        </p:spPr>
        <p:txBody>
          <a:bodyPr/>
          <a:lstStyle/>
          <a:p>
            <a:endParaRPr lang="en-US"/>
          </a:p>
        </p:txBody>
      </p:sp>
      <p:sp>
        <p:nvSpPr>
          <p:cNvPr id="11" name="text-8"/>
          <p:cNvSpPr txBox="1"/>
          <p:nvPr/>
        </p:nvSpPr>
        <p:spPr>
          <a:xfrm>
            <a:off x="3621024" y="4846320"/>
            <a:ext cx="1042416" cy="502920"/>
          </a:xfrm>
          <a:prstGeom prst="rect">
            <a:avLst/>
          </a:prstGeom>
          <a:noFill/>
          <a:ln/>
        </p:spPr>
        <p:txBody>
          <a:bodyPr wrap="square" lIns="0" tIns="0" rIns="0" bIns="0" rtlCol="0" anchor="ctr"/>
          <a:lstStyle/>
          <a:p>
            <a:pPr marL="0" indent="0" algn="ctr">
              <a:buNone/>
            </a:pPr>
            <a:r>
              <a:rPr lang="en-US" sz="1500" b="1" dirty="0">
                <a:solidFill>
                  <a:schemeClr val="tx2"/>
                </a:solidFill>
              </a:rPr>
              <a:t>␣teams</a:t>
            </a:r>
            <a:endParaRPr lang="en-US" sz="1500" dirty="0"/>
          </a:p>
        </p:txBody>
      </p:sp>
      <p:sp>
        <p:nvSpPr>
          <p:cNvPr id="12" name="card-9"/>
          <p:cNvSpPr/>
          <p:nvPr/>
        </p:nvSpPr>
        <p:spPr>
          <a:xfrm>
            <a:off x="4754880" y="4846320"/>
            <a:ext cx="658368" cy="502920"/>
          </a:xfrm>
          <a:prstGeom prst="roundRect">
            <a:avLst>
              <a:gd name="adj" fmla="val 18182"/>
            </a:avLst>
          </a:prstGeom>
          <a:solidFill>
            <a:schemeClr val="accent1"/>
          </a:solidFill>
          <a:ln w="9525">
            <a:solidFill>
              <a:schemeClr val="accent1"/>
            </a:solidFill>
            <a:prstDash val="solid"/>
          </a:ln>
        </p:spPr>
        <p:txBody>
          <a:bodyPr/>
          <a:lstStyle/>
          <a:p>
            <a:endParaRPr lang="en-US"/>
          </a:p>
        </p:txBody>
      </p:sp>
      <p:sp>
        <p:nvSpPr>
          <p:cNvPr id="13" name="text-10"/>
          <p:cNvSpPr txBox="1"/>
          <p:nvPr/>
        </p:nvSpPr>
        <p:spPr>
          <a:xfrm>
            <a:off x="4754880" y="4846320"/>
            <a:ext cx="658368" cy="502920"/>
          </a:xfrm>
          <a:prstGeom prst="rect">
            <a:avLst/>
          </a:prstGeom>
          <a:noFill/>
          <a:ln/>
        </p:spPr>
        <p:txBody>
          <a:bodyPr wrap="square" lIns="0" tIns="0" rIns="0" bIns="0" rtlCol="0" anchor="ctr"/>
          <a:lstStyle/>
          <a:p>
            <a:pPr marL="0" indent="0" algn="ctr">
              <a:buNone/>
            </a:pPr>
            <a:r>
              <a:rPr lang="en-US" sz="1500" b="1" dirty="0">
                <a:solidFill>
                  <a:schemeClr val="tx2"/>
                </a:solidFill>
              </a:rPr>
              <a:t>␣of</a:t>
            </a:r>
            <a:endParaRPr lang="en-US" sz="1500" dirty="0"/>
          </a:p>
        </p:txBody>
      </p:sp>
      <p:sp>
        <p:nvSpPr>
          <p:cNvPr id="14" name="card-11"/>
          <p:cNvSpPr/>
          <p:nvPr/>
        </p:nvSpPr>
        <p:spPr>
          <a:xfrm>
            <a:off x="5504688" y="4846320"/>
            <a:ext cx="1170432"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15" name="text-12"/>
          <p:cNvSpPr txBox="1"/>
          <p:nvPr/>
        </p:nvSpPr>
        <p:spPr>
          <a:xfrm>
            <a:off x="5504688" y="4846320"/>
            <a:ext cx="1170432" cy="502920"/>
          </a:xfrm>
          <a:prstGeom prst="rect">
            <a:avLst/>
          </a:prstGeom>
          <a:noFill/>
          <a:ln/>
        </p:spPr>
        <p:txBody>
          <a:bodyPr wrap="square" lIns="0" tIns="0" rIns="0" bIns="0" rtlCol="0" anchor="ctr"/>
          <a:lstStyle/>
          <a:p>
            <a:pPr marL="0" indent="0" algn="ctr">
              <a:buNone/>
            </a:pPr>
            <a:r>
              <a:rPr lang="en-US" sz="1500" b="1" dirty="0">
                <a:solidFill>
                  <a:schemeClr val="tx2"/>
                </a:solidFill>
              </a:rPr>
              <a:t>␣agents</a:t>
            </a:r>
            <a:endParaRPr lang="en-US" sz="1500" dirty="0"/>
          </a:p>
        </p:txBody>
      </p:sp>
      <p:sp>
        <p:nvSpPr>
          <p:cNvPr id="16" name="card-13"/>
          <p:cNvSpPr/>
          <p:nvPr/>
        </p:nvSpPr>
        <p:spPr>
          <a:xfrm>
            <a:off x="6766560" y="4846320"/>
            <a:ext cx="402336" cy="502920"/>
          </a:xfrm>
          <a:prstGeom prst="roundRect">
            <a:avLst>
              <a:gd name="adj" fmla="val 22727"/>
            </a:avLst>
          </a:prstGeom>
          <a:solidFill>
            <a:schemeClr val="accent3"/>
          </a:solidFill>
          <a:ln w="9525">
            <a:solidFill>
              <a:schemeClr val="accent3"/>
            </a:solidFill>
            <a:prstDash val="solid"/>
          </a:ln>
        </p:spPr>
        <p:txBody>
          <a:bodyPr/>
          <a:lstStyle/>
          <a:p>
            <a:endParaRPr lang="en-US"/>
          </a:p>
        </p:txBody>
      </p:sp>
      <p:sp>
        <p:nvSpPr>
          <p:cNvPr id="17" name="text-14"/>
          <p:cNvSpPr txBox="1"/>
          <p:nvPr/>
        </p:nvSpPr>
        <p:spPr>
          <a:xfrm>
            <a:off x="6766560" y="4846320"/>
            <a:ext cx="402336" cy="502920"/>
          </a:xfrm>
          <a:prstGeom prst="rect">
            <a:avLst/>
          </a:prstGeom>
          <a:noFill/>
          <a:ln/>
        </p:spPr>
        <p:txBody>
          <a:bodyPr wrap="square" lIns="0" tIns="0" rIns="0" bIns="0" rtlCol="0" anchor="ctr"/>
          <a:lstStyle/>
          <a:p>
            <a:pPr marL="0" indent="0" algn="ctr">
              <a:buNone/>
            </a:pPr>
            <a:r>
              <a:rPr lang="en-US" sz="1500" b="1" dirty="0">
                <a:solidFill>
                  <a:schemeClr val="tx2"/>
                </a:solidFill>
              </a:rPr>
              <a:t>…</a:t>
            </a:r>
            <a:endParaRPr lang="en-US" sz="1500" dirty="0"/>
          </a:p>
        </p:txBody>
      </p:sp>
      <p:sp>
        <p:nvSpPr>
          <p:cNvPr id="18" name="text-15"/>
          <p:cNvSpPr txBox="1"/>
          <p:nvPr/>
        </p:nvSpPr>
        <p:spPr>
          <a:xfrm>
            <a:off x="731520" y="5532120"/>
            <a:ext cx="8229600" cy="365760"/>
          </a:xfrm>
          <a:prstGeom prst="rect">
            <a:avLst/>
          </a:prstGeom>
          <a:noFill/>
          <a:ln/>
        </p:spPr>
        <p:txBody>
          <a:bodyPr wrap="square" lIns="0" tIns="0" rIns="0" bIns="0" rtlCol="0" anchor="t"/>
          <a:lstStyle/>
          <a:p>
            <a:pPr marL="0" indent="0" algn="l">
              <a:buNone/>
            </a:pPr>
            <a:r>
              <a:rPr lang="en-US" sz="1300" i="1" dirty="0">
                <a:solidFill>
                  <a:schemeClr val="accent5"/>
                </a:solidFill>
              </a:rPr>
              <a:t>Each chip is one token. By the end of this deck you'll know why that matters.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journey in four parts</a:t>
            </a:r>
            <a:endParaRPr lang="en-US" sz="3400" dirty="0"/>
          </a:p>
        </p:txBody>
      </p:sp>
      <p:sp>
        <p:nvSpPr>
          <p:cNvPr id="3" name="card-16"/>
          <p:cNvSpPr/>
          <p:nvPr/>
        </p:nvSpPr>
        <p:spPr>
          <a:xfrm>
            <a:off x="548640" y="1463040"/>
            <a:ext cx="2560320" cy="4480560"/>
          </a:xfrm>
          <a:prstGeom prst="roundRect">
            <a:avLst>
              <a:gd name="adj" fmla="val 3571"/>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icon-bg-17"/>
          <p:cNvSpPr/>
          <p:nvPr/>
        </p:nvSpPr>
        <p:spPr>
          <a:xfrm>
            <a:off x="822960" y="1783080"/>
            <a:ext cx="822960" cy="822960"/>
          </a:xfrm>
          <a:prstGeom prst="ellipse">
            <a:avLst/>
          </a:prstGeom>
          <a:solidFill>
            <a:srgbClr val="D97757"/>
          </a:solidFill>
          <a:ln w="12700">
            <a:solidFill>
              <a:srgbClr val="D97757"/>
            </a:solidFill>
            <a:prstDash val="solid"/>
          </a:ln>
        </p:spPr>
        <p:txBody>
          <a:bodyPr/>
          <a:lstStyle/>
          <a:p>
            <a:endParaRPr lang="en-US"/>
          </a:p>
        </p:txBody>
      </p:sp>
      <p:pic>
        <p:nvPicPr>
          <p:cNvPr id="5" name="icon-18" descr="icon"/>
          <p:cNvPicPr>
            <a:picLocks noChangeAspect="1"/>
          </p:cNvPicPr>
          <p:nvPr/>
        </p:nvPicPr>
        <p:blipFill>
          <a:blip r:embed="rId3"/>
          <a:stretch>
            <a:fillRect/>
          </a:stretch>
        </p:blipFill>
        <p:spPr>
          <a:xfrm>
            <a:off x="1028700" y="1988820"/>
            <a:ext cx="411480" cy="411480"/>
          </a:xfrm>
          <a:prstGeom prst="rect">
            <a:avLst/>
          </a:prstGeom>
        </p:spPr>
      </p:pic>
      <p:sp>
        <p:nvSpPr>
          <p:cNvPr id="6" name="text-19"/>
          <p:cNvSpPr txBox="1"/>
          <p:nvPr/>
        </p:nvSpPr>
        <p:spPr>
          <a:xfrm>
            <a:off x="822960" y="2834640"/>
            <a:ext cx="2011680" cy="320040"/>
          </a:xfrm>
          <a:prstGeom prst="rect">
            <a:avLst/>
          </a:prstGeom>
          <a:noFill/>
          <a:ln/>
        </p:spPr>
        <p:txBody>
          <a:bodyPr wrap="square" lIns="0" tIns="0" rIns="0" bIns="0" rtlCol="0" anchor="t"/>
          <a:lstStyle/>
          <a:p>
            <a:pPr marL="0" indent="0" algn="l">
              <a:buNone/>
            </a:pPr>
            <a:r>
              <a:rPr lang="en-US" sz="1200" b="1" kern="0" spc="300" dirty="0">
                <a:solidFill>
                  <a:schemeClr val="accent1"/>
                </a:solidFill>
              </a:rPr>
              <a:t>PART 1</a:t>
            </a:r>
            <a:endParaRPr lang="en-US" sz="1200" dirty="0"/>
          </a:p>
        </p:txBody>
      </p:sp>
      <p:sp>
        <p:nvSpPr>
          <p:cNvPr id="7" name="text-20"/>
          <p:cNvSpPr txBox="1"/>
          <p:nvPr/>
        </p:nvSpPr>
        <p:spPr>
          <a:xfrm>
            <a:off x="822960" y="3154680"/>
            <a:ext cx="2103120" cy="731520"/>
          </a:xfrm>
          <a:prstGeom prst="rect">
            <a:avLst/>
          </a:prstGeom>
          <a:noFill/>
          <a:ln/>
        </p:spPr>
        <p:txBody>
          <a:bodyPr wrap="square" lIns="0" tIns="0" rIns="0" bIns="0" rtlCol="0" anchor="t"/>
          <a:lstStyle/>
          <a:p>
            <a:pPr marL="0" indent="0" algn="l">
              <a:buNone/>
            </a:pPr>
            <a:r>
              <a:rPr lang="en-US" sz="2100" b="1" dirty="0">
                <a:solidFill>
                  <a:schemeClr val="tx2"/>
                </a:solidFill>
                <a:latin typeface="Cambria" pitchFamily="34" charset="0"/>
                <a:ea typeface="Cambria" pitchFamily="34" charset="-122"/>
                <a:cs typeface="Cambria" pitchFamily="34" charset="-120"/>
              </a:rPr>
              <a:t>How LLMs work</a:t>
            </a:r>
            <a:endParaRPr lang="en-US" sz="2100" dirty="0"/>
          </a:p>
        </p:txBody>
      </p:sp>
      <p:sp>
        <p:nvSpPr>
          <p:cNvPr id="8" name="text-21"/>
          <p:cNvSpPr txBox="1"/>
          <p:nvPr/>
        </p:nvSpPr>
        <p:spPr>
          <a:xfrm>
            <a:off x="822960" y="3977640"/>
            <a:ext cx="2057400" cy="1737360"/>
          </a:xfrm>
          <a:prstGeom prst="rect">
            <a:avLst/>
          </a:prstGeom>
          <a:noFill/>
          <a:ln/>
        </p:spPr>
        <p:txBody>
          <a:bodyPr wrap="square" lIns="0" tIns="0" rIns="0" bIns="0" rtlCol="0" anchor="t"/>
          <a:lstStyle/>
          <a:p>
            <a:pPr marL="0" indent="0" algn="l">
              <a:buNone/>
            </a:pPr>
            <a:r>
              <a:rPr lang="en-US" sz="1400" dirty="0">
                <a:solidFill>
                  <a:schemeClr val="tx1"/>
                </a:solidFill>
              </a:rPr>
              <a:t>Tokens, embeddings, transformers, attention, training, sampling, context, quantization, RAG</a:t>
            </a:r>
            <a:endParaRPr lang="en-US" sz="1400" dirty="0"/>
          </a:p>
        </p:txBody>
      </p:sp>
      <p:sp>
        <p:nvSpPr>
          <p:cNvPr id="9" name="card-22"/>
          <p:cNvSpPr/>
          <p:nvPr/>
        </p:nvSpPr>
        <p:spPr>
          <a:xfrm>
            <a:off x="3383280" y="1463040"/>
            <a:ext cx="2560320" cy="4480560"/>
          </a:xfrm>
          <a:prstGeom prst="roundRect">
            <a:avLst>
              <a:gd name="adj" fmla="val 3571"/>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0" name="icon-bg-23"/>
          <p:cNvSpPr/>
          <p:nvPr/>
        </p:nvSpPr>
        <p:spPr>
          <a:xfrm>
            <a:off x="3657600" y="1783080"/>
            <a:ext cx="822960" cy="822960"/>
          </a:xfrm>
          <a:prstGeom prst="ellipse">
            <a:avLst/>
          </a:prstGeom>
          <a:solidFill>
            <a:srgbClr val="2A9D8F"/>
          </a:solidFill>
          <a:ln w="12700">
            <a:solidFill>
              <a:srgbClr val="2A9D8F"/>
            </a:solidFill>
            <a:prstDash val="solid"/>
          </a:ln>
        </p:spPr>
        <p:txBody>
          <a:bodyPr/>
          <a:lstStyle/>
          <a:p>
            <a:endParaRPr lang="en-US"/>
          </a:p>
        </p:txBody>
      </p:sp>
      <p:pic>
        <p:nvPicPr>
          <p:cNvPr id="11" name="icon-24" descr="icon"/>
          <p:cNvPicPr>
            <a:picLocks noChangeAspect="1"/>
          </p:cNvPicPr>
          <p:nvPr/>
        </p:nvPicPr>
        <p:blipFill>
          <a:blip r:embed="rId4"/>
          <a:stretch>
            <a:fillRect/>
          </a:stretch>
        </p:blipFill>
        <p:spPr>
          <a:xfrm>
            <a:off x="3863340" y="1988820"/>
            <a:ext cx="411480" cy="411480"/>
          </a:xfrm>
          <a:prstGeom prst="rect">
            <a:avLst/>
          </a:prstGeom>
        </p:spPr>
      </p:pic>
      <p:sp>
        <p:nvSpPr>
          <p:cNvPr id="12" name="text-25"/>
          <p:cNvSpPr txBox="1"/>
          <p:nvPr/>
        </p:nvSpPr>
        <p:spPr>
          <a:xfrm>
            <a:off x="3657600" y="2834640"/>
            <a:ext cx="2011680" cy="320040"/>
          </a:xfrm>
          <a:prstGeom prst="rect">
            <a:avLst/>
          </a:prstGeom>
          <a:noFill/>
          <a:ln/>
        </p:spPr>
        <p:txBody>
          <a:bodyPr wrap="square" lIns="0" tIns="0" rIns="0" bIns="0" rtlCol="0" anchor="t"/>
          <a:lstStyle/>
          <a:p>
            <a:pPr marL="0" indent="0" algn="l">
              <a:buNone/>
            </a:pPr>
            <a:r>
              <a:rPr lang="en-US" sz="1200" b="1" kern="0" spc="300" dirty="0">
                <a:solidFill>
                  <a:schemeClr val="accent2"/>
                </a:solidFill>
              </a:rPr>
              <a:t>PART 2</a:t>
            </a:r>
            <a:endParaRPr lang="en-US" sz="1200" dirty="0"/>
          </a:p>
        </p:txBody>
      </p:sp>
      <p:sp>
        <p:nvSpPr>
          <p:cNvPr id="13" name="text-26"/>
          <p:cNvSpPr txBox="1"/>
          <p:nvPr/>
        </p:nvSpPr>
        <p:spPr>
          <a:xfrm>
            <a:off x="3657600" y="3154680"/>
            <a:ext cx="2103120" cy="731520"/>
          </a:xfrm>
          <a:prstGeom prst="rect">
            <a:avLst/>
          </a:prstGeom>
          <a:noFill/>
          <a:ln/>
        </p:spPr>
        <p:txBody>
          <a:bodyPr wrap="square" lIns="0" tIns="0" rIns="0" bIns="0" rtlCol="0" anchor="t"/>
          <a:lstStyle/>
          <a:p>
            <a:pPr marL="0" indent="0" algn="l">
              <a:buNone/>
            </a:pPr>
            <a:r>
              <a:rPr lang="en-US" sz="2100" b="1" dirty="0">
                <a:solidFill>
                  <a:schemeClr val="tx2"/>
                </a:solidFill>
                <a:latin typeface="Cambria" pitchFamily="34" charset="0"/>
                <a:ea typeface="Cambria" pitchFamily="34" charset="-122"/>
                <a:cs typeface="Cambria" pitchFamily="34" charset="-120"/>
              </a:rPr>
              <a:t>AI agents</a:t>
            </a:r>
            <a:endParaRPr lang="en-US" sz="2100" dirty="0"/>
          </a:p>
        </p:txBody>
      </p:sp>
      <p:sp>
        <p:nvSpPr>
          <p:cNvPr id="14" name="text-27"/>
          <p:cNvSpPr txBox="1"/>
          <p:nvPr/>
        </p:nvSpPr>
        <p:spPr>
          <a:xfrm>
            <a:off x="3657600" y="3977640"/>
            <a:ext cx="2057400" cy="1737360"/>
          </a:xfrm>
          <a:prstGeom prst="rect">
            <a:avLst/>
          </a:prstGeom>
          <a:noFill/>
          <a:ln/>
        </p:spPr>
        <p:txBody>
          <a:bodyPr wrap="square" lIns="0" tIns="0" rIns="0" bIns="0" rtlCol="0" anchor="t"/>
          <a:lstStyle/>
          <a:p>
            <a:pPr marL="0" indent="0" algn="l">
              <a:buNone/>
            </a:pPr>
            <a:r>
              <a:rPr lang="en-US" sz="1400" dirty="0">
                <a:solidFill>
                  <a:schemeClr val="tx1"/>
                </a:solidFill>
              </a:rPr>
              <a:t>The agent loop, tool calling, MCP, memory, workflow patterns</a:t>
            </a:r>
            <a:endParaRPr lang="en-US" sz="1400" dirty="0"/>
          </a:p>
        </p:txBody>
      </p:sp>
      <p:sp>
        <p:nvSpPr>
          <p:cNvPr id="15" name="card-28"/>
          <p:cNvSpPr/>
          <p:nvPr/>
        </p:nvSpPr>
        <p:spPr>
          <a:xfrm>
            <a:off x="6217920" y="1463040"/>
            <a:ext cx="2560320" cy="4480560"/>
          </a:xfrm>
          <a:prstGeom prst="roundRect">
            <a:avLst>
              <a:gd name="adj" fmla="val 3571"/>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6" name="icon-bg-29"/>
          <p:cNvSpPr/>
          <p:nvPr/>
        </p:nvSpPr>
        <p:spPr>
          <a:xfrm>
            <a:off x="6492240" y="1783080"/>
            <a:ext cx="822960" cy="822960"/>
          </a:xfrm>
          <a:prstGeom prst="ellipse">
            <a:avLst/>
          </a:prstGeom>
          <a:solidFill>
            <a:srgbClr val="6C63FF"/>
          </a:solidFill>
          <a:ln w="12700">
            <a:solidFill>
              <a:srgbClr val="6C63FF"/>
            </a:solidFill>
            <a:prstDash val="solid"/>
          </a:ln>
        </p:spPr>
        <p:txBody>
          <a:bodyPr/>
          <a:lstStyle/>
          <a:p>
            <a:endParaRPr lang="en-US"/>
          </a:p>
        </p:txBody>
      </p:sp>
      <p:pic>
        <p:nvPicPr>
          <p:cNvPr id="17" name="icon-30" descr="icon"/>
          <p:cNvPicPr>
            <a:picLocks noChangeAspect="1"/>
          </p:cNvPicPr>
          <p:nvPr/>
        </p:nvPicPr>
        <p:blipFill>
          <a:blip r:embed="rId5"/>
          <a:stretch>
            <a:fillRect/>
          </a:stretch>
        </p:blipFill>
        <p:spPr>
          <a:xfrm>
            <a:off x="6697980" y="1988820"/>
            <a:ext cx="411480" cy="411480"/>
          </a:xfrm>
          <a:prstGeom prst="rect">
            <a:avLst/>
          </a:prstGeom>
        </p:spPr>
      </p:pic>
      <p:sp>
        <p:nvSpPr>
          <p:cNvPr id="18" name="text-31"/>
          <p:cNvSpPr txBox="1"/>
          <p:nvPr/>
        </p:nvSpPr>
        <p:spPr>
          <a:xfrm>
            <a:off x="6492240" y="2834640"/>
            <a:ext cx="2011680" cy="320040"/>
          </a:xfrm>
          <a:prstGeom prst="rect">
            <a:avLst/>
          </a:prstGeom>
          <a:noFill/>
          <a:ln/>
        </p:spPr>
        <p:txBody>
          <a:bodyPr wrap="square" lIns="0" tIns="0" rIns="0" bIns="0" rtlCol="0" anchor="t"/>
          <a:lstStyle/>
          <a:p>
            <a:pPr marL="0" indent="0" algn="l">
              <a:buNone/>
            </a:pPr>
            <a:r>
              <a:rPr lang="en-US" sz="1200" b="1" kern="0" spc="300" dirty="0">
                <a:solidFill>
                  <a:schemeClr val="accent3"/>
                </a:solidFill>
              </a:rPr>
              <a:t>PART 3</a:t>
            </a:r>
            <a:endParaRPr lang="en-US" sz="1200" dirty="0"/>
          </a:p>
        </p:txBody>
      </p:sp>
      <p:sp>
        <p:nvSpPr>
          <p:cNvPr id="19" name="text-32"/>
          <p:cNvSpPr txBox="1"/>
          <p:nvPr/>
        </p:nvSpPr>
        <p:spPr>
          <a:xfrm>
            <a:off x="6492240" y="3154680"/>
            <a:ext cx="2103120" cy="731520"/>
          </a:xfrm>
          <a:prstGeom prst="rect">
            <a:avLst/>
          </a:prstGeom>
          <a:noFill/>
          <a:ln/>
        </p:spPr>
        <p:txBody>
          <a:bodyPr wrap="square" lIns="0" tIns="0" rIns="0" bIns="0" rtlCol="0" anchor="t"/>
          <a:lstStyle/>
          <a:p>
            <a:pPr marL="0" indent="0" algn="l">
              <a:buNone/>
            </a:pPr>
            <a:r>
              <a:rPr lang="en-US" sz="2100" b="1" dirty="0">
                <a:solidFill>
                  <a:schemeClr val="tx2"/>
                </a:solidFill>
                <a:latin typeface="Cambria" pitchFamily="34" charset="0"/>
                <a:ea typeface="Cambria" pitchFamily="34" charset="-122"/>
                <a:cs typeface="Cambria" pitchFamily="34" charset="-120"/>
              </a:rPr>
              <a:t>Multi-agent systems</a:t>
            </a:r>
            <a:endParaRPr lang="en-US" sz="2100" dirty="0"/>
          </a:p>
        </p:txBody>
      </p:sp>
      <p:sp>
        <p:nvSpPr>
          <p:cNvPr id="20" name="text-33"/>
          <p:cNvSpPr txBox="1"/>
          <p:nvPr/>
        </p:nvSpPr>
        <p:spPr>
          <a:xfrm>
            <a:off x="6492240" y="3977640"/>
            <a:ext cx="2057400" cy="1737360"/>
          </a:xfrm>
          <a:prstGeom prst="rect">
            <a:avLst/>
          </a:prstGeom>
          <a:noFill/>
          <a:ln/>
        </p:spPr>
        <p:txBody>
          <a:bodyPr wrap="square" lIns="0" tIns="0" rIns="0" bIns="0" rtlCol="0" anchor="t"/>
          <a:lstStyle/>
          <a:p>
            <a:pPr marL="0" indent="0" algn="l">
              <a:buNone/>
            </a:pPr>
            <a:r>
              <a:rPr lang="en-US" sz="1400" dirty="0">
                <a:solidFill>
                  <a:schemeClr val="tx1"/>
                </a:solidFill>
              </a:rPr>
              <a:t>Why split the work, architectures, a worked example, pitfalls</a:t>
            </a:r>
            <a:endParaRPr lang="en-US" sz="1400" dirty="0"/>
          </a:p>
        </p:txBody>
      </p:sp>
      <p:sp>
        <p:nvSpPr>
          <p:cNvPr id="21" name="card-34"/>
          <p:cNvSpPr/>
          <p:nvPr/>
        </p:nvSpPr>
        <p:spPr>
          <a:xfrm>
            <a:off x="9052560" y="1463040"/>
            <a:ext cx="2560320" cy="4480560"/>
          </a:xfrm>
          <a:prstGeom prst="roundRect">
            <a:avLst>
              <a:gd name="adj" fmla="val 3571"/>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2" name="icon-bg-35"/>
          <p:cNvSpPr/>
          <p:nvPr/>
        </p:nvSpPr>
        <p:spPr>
          <a:xfrm>
            <a:off x="9326880" y="1783080"/>
            <a:ext cx="822960" cy="822960"/>
          </a:xfrm>
          <a:prstGeom prst="ellipse">
            <a:avLst/>
          </a:prstGeom>
          <a:solidFill>
            <a:srgbClr val="E9B949"/>
          </a:solidFill>
          <a:ln w="12700">
            <a:solidFill>
              <a:srgbClr val="E9B949"/>
            </a:solidFill>
            <a:prstDash val="solid"/>
          </a:ln>
        </p:spPr>
        <p:txBody>
          <a:bodyPr/>
          <a:lstStyle/>
          <a:p>
            <a:endParaRPr lang="en-US"/>
          </a:p>
        </p:txBody>
      </p:sp>
      <p:pic>
        <p:nvPicPr>
          <p:cNvPr id="23" name="icon-36" descr="icon"/>
          <p:cNvPicPr>
            <a:picLocks noChangeAspect="1"/>
          </p:cNvPicPr>
          <p:nvPr/>
        </p:nvPicPr>
        <p:blipFill>
          <a:blip r:embed="rId6"/>
          <a:stretch>
            <a:fillRect/>
          </a:stretch>
        </p:blipFill>
        <p:spPr>
          <a:xfrm>
            <a:off x="9532620" y="1988820"/>
            <a:ext cx="411480" cy="411480"/>
          </a:xfrm>
          <a:prstGeom prst="rect">
            <a:avLst/>
          </a:prstGeom>
        </p:spPr>
      </p:pic>
      <p:sp>
        <p:nvSpPr>
          <p:cNvPr id="24" name="text-37"/>
          <p:cNvSpPr txBox="1"/>
          <p:nvPr/>
        </p:nvSpPr>
        <p:spPr>
          <a:xfrm>
            <a:off x="9326880" y="2834640"/>
            <a:ext cx="2011680" cy="320040"/>
          </a:xfrm>
          <a:prstGeom prst="rect">
            <a:avLst/>
          </a:prstGeom>
          <a:noFill/>
          <a:ln/>
        </p:spPr>
        <p:txBody>
          <a:bodyPr wrap="square" lIns="0" tIns="0" rIns="0" bIns="0" rtlCol="0" anchor="t"/>
          <a:lstStyle/>
          <a:p>
            <a:pPr marL="0" indent="0" algn="l">
              <a:buNone/>
            </a:pPr>
            <a:r>
              <a:rPr lang="en-US" sz="1200" b="1" kern="0" spc="300" dirty="0">
                <a:solidFill>
                  <a:schemeClr val="accent4"/>
                </a:solidFill>
              </a:rPr>
              <a:t>BONUS</a:t>
            </a:r>
            <a:endParaRPr lang="en-US" sz="1200" dirty="0"/>
          </a:p>
        </p:txBody>
      </p:sp>
      <p:sp>
        <p:nvSpPr>
          <p:cNvPr id="25" name="text-38"/>
          <p:cNvSpPr txBox="1"/>
          <p:nvPr/>
        </p:nvSpPr>
        <p:spPr>
          <a:xfrm>
            <a:off x="9326880" y="3154680"/>
            <a:ext cx="2103120" cy="731520"/>
          </a:xfrm>
          <a:prstGeom prst="rect">
            <a:avLst/>
          </a:prstGeom>
          <a:noFill/>
          <a:ln/>
        </p:spPr>
        <p:txBody>
          <a:bodyPr wrap="square" lIns="0" tIns="0" rIns="0" bIns="0" rtlCol="0" anchor="t"/>
          <a:lstStyle/>
          <a:p>
            <a:pPr marL="0" indent="0" algn="l">
              <a:buNone/>
            </a:pPr>
            <a:r>
              <a:rPr lang="en-US" sz="2100" b="1" dirty="0">
                <a:solidFill>
                  <a:schemeClr val="tx2"/>
                </a:solidFill>
                <a:latin typeface="Cambria" pitchFamily="34" charset="0"/>
                <a:ea typeface="Cambria" pitchFamily="34" charset="-122"/>
                <a:cs typeface="Cambria" pitchFamily="34" charset="-120"/>
              </a:rPr>
              <a:t>Using Claude well</a:t>
            </a:r>
            <a:endParaRPr lang="en-US" sz="2100" dirty="0"/>
          </a:p>
        </p:txBody>
      </p:sp>
      <p:sp>
        <p:nvSpPr>
          <p:cNvPr id="26" name="text-39"/>
          <p:cNvSpPr txBox="1"/>
          <p:nvPr/>
        </p:nvSpPr>
        <p:spPr>
          <a:xfrm>
            <a:off x="9326880" y="3977640"/>
            <a:ext cx="2057400" cy="1737360"/>
          </a:xfrm>
          <a:prstGeom prst="rect">
            <a:avLst/>
          </a:prstGeom>
          <a:noFill/>
          <a:ln/>
        </p:spPr>
        <p:txBody>
          <a:bodyPr wrap="square" lIns="0" tIns="0" rIns="0" bIns="0" rtlCol="0" anchor="t"/>
          <a:lstStyle/>
          <a:p>
            <a:pPr marL="0" indent="0" algn="l">
              <a:buNone/>
            </a:pPr>
            <a:r>
              <a:rPr lang="en-US" sz="1400" dirty="0">
                <a:solidFill>
                  <a:schemeClr val="tx1"/>
                </a:solidFill>
              </a:rPr>
              <a:t>Prompting tips, how the concepts map to Claude features, glossary, next steps</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7315200" cy="457200"/>
          </a:xfrm>
          <a:prstGeom prst="rect">
            <a:avLst/>
          </a:prstGeom>
          <a:noFill/>
          <a:ln/>
        </p:spPr>
        <p:txBody>
          <a:bodyPr wrap="square" lIns="0" tIns="0" rIns="0" bIns="0" rtlCol="0"/>
          <a:lstStyle/>
          <a:p>
            <a:pPr marL="0" indent="0">
              <a:buNone/>
            </a:pPr>
            <a:r>
              <a:rPr lang="en-US" sz="1600" b="1" kern="0" spc="400" dirty="0">
                <a:solidFill>
                  <a:schemeClr val="accent1"/>
                </a:solidFill>
                <a:latin typeface="Calibri" pitchFamily="34" charset="0"/>
                <a:ea typeface="Calibri" pitchFamily="34" charset="-122"/>
                <a:cs typeface="Calibri" pitchFamily="34" charset="-120"/>
              </a:rPr>
              <a:t>PART 1</a:t>
            </a:r>
            <a:endParaRPr lang="en-US" sz="1600" dirty="0"/>
          </a:p>
        </p:txBody>
      </p:sp>
      <p:sp>
        <p:nvSpPr>
          <p:cNvPr id="3" name="Text 0"/>
          <p:cNvSpPr>
            <a:spLocks noGrp="1"/>
          </p:cNvSpPr>
          <p:nvPr>
            <p:ph type="title" idx="101" hasCustomPrompt="1"/>
          </p:nvPr>
        </p:nvSpPr>
        <p:spPr>
          <a:xfrm>
            <a:off x="731520" y="2331720"/>
            <a:ext cx="7498080" cy="128016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How LLMs work</a:t>
            </a:r>
            <a:endParaRPr lang="en-US" sz="4400" dirty="0"/>
          </a:p>
        </p:txBody>
      </p:sp>
      <p:sp>
        <p:nvSpPr>
          <p:cNvPr id="4" name="Text 0"/>
          <p:cNvSpPr>
            <a:spLocks noGrp="1"/>
          </p:cNvSpPr>
          <p:nvPr>
            <p:ph type="body" idx="102" hasCustomPrompt="1"/>
          </p:nvPr>
        </p:nvSpPr>
        <p:spPr>
          <a:xfrm>
            <a:off x="731520" y="3703320"/>
            <a:ext cx="6949440" cy="1280160"/>
          </a:xfrm>
          <a:prstGeom prst="rect">
            <a:avLst/>
          </a:prstGeom>
          <a:noFill/>
          <a:ln/>
        </p:spPr>
        <p:txBody>
          <a:bodyPr wrap="square" lIns="0" tIns="0" rIns="0" bIns="0" rtlCol="0" anchor="t"/>
          <a:lstStyle/>
          <a:p>
            <a:pPr marL="0" indent="0" algn="l">
              <a:buNone/>
            </a:pPr>
            <a:r>
              <a:rPr lang="en-US" sz="1800" dirty="0">
                <a:solidFill>
                  <a:schemeClr val="bg2"/>
                </a:solidFill>
                <a:latin typeface="Calibri" pitchFamily="34" charset="0"/>
                <a:ea typeface="Calibri" pitchFamily="34" charset="-122"/>
                <a:cs typeface="Calibri" pitchFamily="34" charset="-120"/>
              </a:rPr>
              <a:t>From raw text to a model that can predict the next word — and why that simple trick is so powerful.</a:t>
            </a:r>
            <a:endParaRPr lang="en-US" sz="1800" dirty="0"/>
          </a:p>
        </p:txBody>
      </p:sp>
      <p:sp>
        <p:nvSpPr>
          <p:cNvPr id="5" name="card-40"/>
          <p:cNvSpPr/>
          <p:nvPr/>
        </p:nvSpPr>
        <p:spPr>
          <a:xfrm>
            <a:off x="8595360" y="1554480"/>
            <a:ext cx="557784" cy="502920"/>
          </a:xfrm>
          <a:prstGeom prst="roundRect">
            <a:avLst>
              <a:gd name="adj" fmla="val 18182"/>
            </a:avLst>
          </a:prstGeom>
          <a:solidFill>
            <a:schemeClr val="accent1"/>
          </a:solidFill>
          <a:ln w="9525">
            <a:solidFill>
              <a:schemeClr val="accent1"/>
            </a:solidFill>
            <a:prstDash val="solid"/>
          </a:ln>
        </p:spPr>
        <p:txBody>
          <a:bodyPr/>
          <a:lstStyle/>
          <a:p>
            <a:endParaRPr lang="en-US"/>
          </a:p>
        </p:txBody>
      </p:sp>
      <p:sp>
        <p:nvSpPr>
          <p:cNvPr id="6" name="text-41"/>
          <p:cNvSpPr txBox="1"/>
          <p:nvPr/>
        </p:nvSpPr>
        <p:spPr>
          <a:xfrm>
            <a:off x="8595360" y="1554480"/>
            <a:ext cx="557784" cy="502920"/>
          </a:xfrm>
          <a:prstGeom prst="rect">
            <a:avLst/>
          </a:prstGeom>
          <a:noFill/>
          <a:ln/>
        </p:spPr>
        <p:txBody>
          <a:bodyPr wrap="square" lIns="0" tIns="0" rIns="0" bIns="0" rtlCol="0" anchor="ctr"/>
          <a:lstStyle/>
          <a:p>
            <a:pPr marL="0" indent="0" algn="ctr">
              <a:buNone/>
            </a:pPr>
            <a:r>
              <a:rPr lang="en-US" sz="1400" b="1" dirty="0">
                <a:solidFill>
                  <a:schemeClr val="tx2"/>
                </a:solidFill>
              </a:rPr>
              <a:t>The</a:t>
            </a:r>
            <a:endParaRPr lang="en-US" sz="1400" dirty="0"/>
          </a:p>
        </p:txBody>
      </p:sp>
      <p:sp>
        <p:nvSpPr>
          <p:cNvPr id="7" name="card-42"/>
          <p:cNvSpPr/>
          <p:nvPr/>
        </p:nvSpPr>
        <p:spPr>
          <a:xfrm>
            <a:off x="9262872" y="1554480"/>
            <a:ext cx="676656"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8" name="text-43"/>
          <p:cNvSpPr txBox="1"/>
          <p:nvPr/>
        </p:nvSpPr>
        <p:spPr>
          <a:xfrm>
            <a:off x="9262872" y="1554480"/>
            <a:ext cx="676656" cy="502920"/>
          </a:xfrm>
          <a:prstGeom prst="rect">
            <a:avLst/>
          </a:prstGeom>
          <a:noFill/>
          <a:ln/>
        </p:spPr>
        <p:txBody>
          <a:bodyPr wrap="square" lIns="0" tIns="0" rIns="0" bIns="0" rtlCol="0" anchor="ctr"/>
          <a:lstStyle/>
          <a:p>
            <a:pPr marL="0" indent="0" algn="ctr">
              <a:buNone/>
            </a:pPr>
            <a:r>
              <a:rPr lang="en-US" sz="1400" b="1" dirty="0">
                <a:solidFill>
                  <a:schemeClr val="tx2"/>
                </a:solidFill>
              </a:rPr>
              <a:t> cat</a:t>
            </a:r>
            <a:endParaRPr lang="en-US" sz="1400" dirty="0"/>
          </a:p>
        </p:txBody>
      </p:sp>
      <p:sp>
        <p:nvSpPr>
          <p:cNvPr id="9" name="card-44"/>
          <p:cNvSpPr/>
          <p:nvPr/>
        </p:nvSpPr>
        <p:spPr>
          <a:xfrm>
            <a:off x="8915400" y="2240280"/>
            <a:ext cx="676656"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10" name="text-45"/>
          <p:cNvSpPr txBox="1"/>
          <p:nvPr/>
        </p:nvSpPr>
        <p:spPr>
          <a:xfrm>
            <a:off x="8915400" y="2240280"/>
            <a:ext cx="676656" cy="502920"/>
          </a:xfrm>
          <a:prstGeom prst="rect">
            <a:avLst/>
          </a:prstGeom>
          <a:noFill/>
          <a:ln/>
        </p:spPr>
        <p:txBody>
          <a:bodyPr wrap="square" lIns="0" tIns="0" rIns="0" bIns="0" rtlCol="0" anchor="ctr"/>
          <a:lstStyle/>
          <a:p>
            <a:pPr marL="0" indent="0" algn="ctr">
              <a:buNone/>
            </a:pPr>
            <a:r>
              <a:rPr lang="en-US" sz="1400" b="1" dirty="0">
                <a:solidFill>
                  <a:schemeClr val="tx2"/>
                </a:solidFill>
              </a:rPr>
              <a:t> sat</a:t>
            </a:r>
            <a:endParaRPr lang="en-US" sz="1400" dirty="0"/>
          </a:p>
        </p:txBody>
      </p:sp>
      <p:sp>
        <p:nvSpPr>
          <p:cNvPr id="11" name="card-46"/>
          <p:cNvSpPr/>
          <p:nvPr/>
        </p:nvSpPr>
        <p:spPr>
          <a:xfrm>
            <a:off x="9701784" y="2240280"/>
            <a:ext cx="557784"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2" name="text-47"/>
          <p:cNvSpPr txBox="1"/>
          <p:nvPr/>
        </p:nvSpPr>
        <p:spPr>
          <a:xfrm>
            <a:off x="9701784" y="2240280"/>
            <a:ext cx="557784" cy="502920"/>
          </a:xfrm>
          <a:prstGeom prst="rect">
            <a:avLst/>
          </a:prstGeom>
          <a:noFill/>
          <a:ln/>
        </p:spPr>
        <p:txBody>
          <a:bodyPr wrap="square" lIns="0" tIns="0" rIns="0" bIns="0" rtlCol="0" anchor="ctr"/>
          <a:lstStyle/>
          <a:p>
            <a:pPr marL="0" indent="0" algn="ctr">
              <a:buNone/>
            </a:pPr>
            <a:r>
              <a:rPr lang="en-US" sz="1400" b="1" dirty="0">
                <a:solidFill>
                  <a:schemeClr val="tx2"/>
                </a:solidFill>
              </a:rPr>
              <a:t> on</a:t>
            </a:r>
            <a:endParaRPr lang="en-US" sz="1400" dirty="0"/>
          </a:p>
        </p:txBody>
      </p:sp>
      <p:sp>
        <p:nvSpPr>
          <p:cNvPr id="13" name="card-48"/>
          <p:cNvSpPr/>
          <p:nvPr/>
        </p:nvSpPr>
        <p:spPr>
          <a:xfrm>
            <a:off x="10369296" y="2240280"/>
            <a:ext cx="676656" cy="502920"/>
          </a:xfrm>
          <a:prstGeom prst="roundRect">
            <a:avLst>
              <a:gd name="adj" fmla="val 18182"/>
            </a:avLst>
          </a:prstGeom>
          <a:solidFill>
            <a:schemeClr val="accent4"/>
          </a:solidFill>
          <a:ln w="9525">
            <a:solidFill>
              <a:schemeClr val="accent4"/>
            </a:solidFill>
            <a:prstDash val="solid"/>
          </a:ln>
        </p:spPr>
        <p:txBody>
          <a:bodyPr/>
          <a:lstStyle/>
          <a:p>
            <a:endParaRPr lang="en-US"/>
          </a:p>
        </p:txBody>
      </p:sp>
      <p:sp>
        <p:nvSpPr>
          <p:cNvPr id="14" name="text-49"/>
          <p:cNvSpPr txBox="1"/>
          <p:nvPr/>
        </p:nvSpPr>
        <p:spPr>
          <a:xfrm>
            <a:off x="10369296" y="2240280"/>
            <a:ext cx="676656" cy="502920"/>
          </a:xfrm>
          <a:prstGeom prst="rect">
            <a:avLst/>
          </a:prstGeom>
          <a:noFill/>
          <a:ln/>
        </p:spPr>
        <p:txBody>
          <a:bodyPr wrap="square" lIns="0" tIns="0" rIns="0" bIns="0" rtlCol="0" anchor="ctr"/>
          <a:lstStyle/>
          <a:p>
            <a:pPr marL="0" indent="0" algn="ctr">
              <a:buNone/>
            </a:pPr>
            <a:r>
              <a:rPr lang="en-US" sz="1400" b="1" dirty="0">
                <a:solidFill>
                  <a:schemeClr val="tx2"/>
                </a:solidFill>
              </a:rPr>
              <a:t> the</a:t>
            </a:r>
            <a:endParaRPr lang="en-US" sz="1400" dirty="0"/>
          </a:p>
        </p:txBody>
      </p:sp>
      <p:sp>
        <p:nvSpPr>
          <p:cNvPr id="15" name="card-50"/>
          <p:cNvSpPr/>
          <p:nvPr/>
        </p:nvSpPr>
        <p:spPr>
          <a:xfrm>
            <a:off x="8595360" y="2926080"/>
            <a:ext cx="676656"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6" name="text-51"/>
          <p:cNvSpPr txBox="1"/>
          <p:nvPr/>
        </p:nvSpPr>
        <p:spPr>
          <a:xfrm>
            <a:off x="8595360" y="2926080"/>
            <a:ext cx="676656" cy="502920"/>
          </a:xfrm>
          <a:prstGeom prst="rect">
            <a:avLst/>
          </a:prstGeom>
          <a:noFill/>
          <a:ln/>
        </p:spPr>
        <p:txBody>
          <a:bodyPr wrap="square" lIns="0" tIns="0" rIns="0" bIns="0" rtlCol="0" anchor="ctr"/>
          <a:lstStyle/>
          <a:p>
            <a:pPr marL="0" indent="0" algn="ctr">
              <a:buNone/>
            </a:pPr>
            <a:r>
              <a:rPr lang="en-US" sz="1400" b="1" dirty="0">
                <a:solidFill>
                  <a:schemeClr val="tx2"/>
                </a:solidFill>
              </a:rPr>
              <a:t> mat</a:t>
            </a:r>
            <a:endParaRPr lang="en-US" sz="1400" dirty="0"/>
          </a:p>
        </p:txBody>
      </p:sp>
      <p:sp>
        <p:nvSpPr>
          <p:cNvPr id="17" name="card-52"/>
          <p:cNvSpPr/>
          <p:nvPr/>
        </p:nvSpPr>
        <p:spPr>
          <a:xfrm>
            <a:off x="9381744" y="2926080"/>
            <a:ext cx="320040" cy="502920"/>
          </a:xfrm>
          <a:prstGeom prst="roundRect">
            <a:avLst>
              <a:gd name="adj" fmla="val 28571"/>
            </a:avLst>
          </a:prstGeom>
          <a:solidFill>
            <a:schemeClr val="accent4"/>
          </a:solidFill>
          <a:ln w="9525">
            <a:solidFill>
              <a:schemeClr val="accent4"/>
            </a:solidFill>
            <a:prstDash val="solid"/>
          </a:ln>
        </p:spPr>
        <p:txBody>
          <a:bodyPr/>
          <a:lstStyle/>
          <a:p>
            <a:endParaRPr lang="en-US"/>
          </a:p>
        </p:txBody>
      </p:sp>
      <p:sp>
        <p:nvSpPr>
          <p:cNvPr id="18" name="text-53"/>
          <p:cNvSpPr txBox="1"/>
          <p:nvPr/>
        </p:nvSpPr>
        <p:spPr>
          <a:xfrm>
            <a:off x="9381744" y="2926080"/>
            <a:ext cx="320040" cy="502920"/>
          </a:xfrm>
          <a:prstGeom prst="rect">
            <a:avLst/>
          </a:prstGeom>
          <a:noFill/>
          <a:ln/>
        </p:spPr>
        <p:txBody>
          <a:bodyPr wrap="square" lIns="0" tIns="0" rIns="0" bIns="0" rtlCol="0" anchor="ctr"/>
          <a:lstStyle/>
          <a:p>
            <a:pPr marL="0" indent="0" algn="ctr">
              <a:buNone/>
            </a:pPr>
            <a:r>
              <a:rPr lang="en-US" sz="1400" b="1" dirty="0">
                <a:solidFill>
                  <a:schemeClr val="tx2"/>
                </a:solidFill>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An LLM is a next-token predictor</a:t>
            </a:r>
            <a:endParaRPr lang="en-US" sz="3400" dirty="0"/>
          </a:p>
        </p:txBody>
      </p:sp>
      <p:sp>
        <p:nvSpPr>
          <p:cNvPr id="3" name="card-54"/>
          <p:cNvSpPr/>
          <p:nvPr/>
        </p:nvSpPr>
        <p:spPr>
          <a:xfrm>
            <a:off x="548640" y="1828800"/>
            <a:ext cx="2926080" cy="822960"/>
          </a:xfrm>
          <a:prstGeom prst="roundRect">
            <a:avLst>
              <a:gd name="adj" fmla="val 11111"/>
            </a:avLst>
          </a:prstGeom>
          <a:solidFill>
            <a:schemeClr val="bg2"/>
          </a:solidFill>
          <a:ln w="9525">
            <a:solidFill>
              <a:schemeClr val="bg2"/>
            </a:solidFill>
            <a:prstDash val="solid"/>
          </a:ln>
        </p:spPr>
        <p:txBody>
          <a:bodyPr/>
          <a:lstStyle/>
          <a:p>
            <a:endParaRPr lang="en-US"/>
          </a:p>
        </p:txBody>
      </p:sp>
      <p:sp>
        <p:nvSpPr>
          <p:cNvPr id="4" name="text-55"/>
          <p:cNvSpPr txBox="1"/>
          <p:nvPr/>
        </p:nvSpPr>
        <p:spPr>
          <a:xfrm>
            <a:off x="548640" y="1828800"/>
            <a:ext cx="2926080" cy="822960"/>
          </a:xfrm>
          <a:prstGeom prst="rect">
            <a:avLst/>
          </a:prstGeom>
          <a:noFill/>
          <a:ln/>
        </p:spPr>
        <p:txBody>
          <a:bodyPr wrap="square" lIns="0" tIns="0" rIns="0" bIns="0" rtlCol="0" anchor="ctr"/>
          <a:lstStyle/>
          <a:p>
            <a:pPr marL="0" indent="0" algn="ctr">
              <a:buNone/>
            </a:pPr>
            <a:r>
              <a:rPr lang="en-US" sz="1600" b="1" dirty="0">
                <a:solidFill>
                  <a:schemeClr val="tx2"/>
                </a:solidFill>
              </a:rPr>
              <a:t>“The cat sat on the …”</a:t>
            </a:r>
            <a:endParaRPr lang="en-US" sz="1600" dirty="0"/>
          </a:p>
        </p:txBody>
      </p:sp>
      <p:sp>
        <p:nvSpPr>
          <p:cNvPr id="5" name="arrow-56"/>
          <p:cNvSpPr/>
          <p:nvPr/>
        </p:nvSpPr>
        <p:spPr>
          <a:xfrm>
            <a:off x="3520440" y="2240280"/>
            <a:ext cx="594360" cy="914"/>
          </a:xfrm>
          <a:prstGeom prst="line">
            <a:avLst/>
          </a:prstGeom>
          <a:noFill/>
          <a:ln w="25400">
            <a:solidFill>
              <a:schemeClr val="accent5"/>
            </a:solidFill>
            <a:prstDash val="solid"/>
            <a:tailEnd type="triangle"/>
          </a:ln>
        </p:spPr>
        <p:txBody>
          <a:bodyPr/>
          <a:lstStyle/>
          <a:p>
            <a:endParaRPr lang="en-US"/>
          </a:p>
        </p:txBody>
      </p:sp>
      <p:sp>
        <p:nvSpPr>
          <p:cNvPr id="6" name="icon-bg-57"/>
          <p:cNvSpPr/>
          <p:nvPr/>
        </p:nvSpPr>
        <p:spPr>
          <a:xfrm>
            <a:off x="4206240" y="1783080"/>
            <a:ext cx="914400" cy="914400"/>
          </a:xfrm>
          <a:prstGeom prst="ellipse">
            <a:avLst/>
          </a:prstGeom>
          <a:solidFill>
            <a:srgbClr val="1B1F3B"/>
          </a:solidFill>
          <a:ln w="12700">
            <a:solidFill>
              <a:srgbClr val="1B1F3B"/>
            </a:solidFill>
            <a:prstDash val="solid"/>
          </a:ln>
        </p:spPr>
        <p:txBody>
          <a:bodyPr/>
          <a:lstStyle/>
          <a:p>
            <a:endParaRPr lang="en-US"/>
          </a:p>
        </p:txBody>
      </p:sp>
      <p:pic>
        <p:nvPicPr>
          <p:cNvPr id="7" name="icon-58" descr="icon"/>
          <p:cNvPicPr>
            <a:picLocks noChangeAspect="1"/>
          </p:cNvPicPr>
          <p:nvPr/>
        </p:nvPicPr>
        <p:blipFill>
          <a:blip r:embed="rId3"/>
          <a:stretch>
            <a:fillRect/>
          </a:stretch>
        </p:blipFill>
        <p:spPr>
          <a:xfrm>
            <a:off x="4434840" y="2011680"/>
            <a:ext cx="457200" cy="457200"/>
          </a:xfrm>
          <a:prstGeom prst="rect">
            <a:avLst/>
          </a:prstGeom>
        </p:spPr>
      </p:pic>
      <p:sp>
        <p:nvSpPr>
          <p:cNvPr id="8" name="text-59"/>
          <p:cNvSpPr txBox="1"/>
          <p:nvPr/>
        </p:nvSpPr>
        <p:spPr>
          <a:xfrm>
            <a:off x="3977640" y="2743200"/>
            <a:ext cx="1371600" cy="320040"/>
          </a:xfrm>
          <a:prstGeom prst="rect">
            <a:avLst/>
          </a:prstGeom>
          <a:noFill/>
          <a:ln/>
        </p:spPr>
        <p:txBody>
          <a:bodyPr wrap="square" lIns="0" tIns="0" rIns="0" bIns="0" rtlCol="0" anchor="t"/>
          <a:lstStyle/>
          <a:p>
            <a:pPr marL="0" indent="0" algn="ctr">
              <a:buNone/>
            </a:pPr>
            <a:r>
              <a:rPr lang="en-US" sz="1400" b="1" dirty="0">
                <a:solidFill>
                  <a:schemeClr val="tx2"/>
                </a:solidFill>
              </a:rPr>
              <a:t>LLM</a:t>
            </a:r>
            <a:endParaRPr lang="en-US" sz="1400" dirty="0"/>
          </a:p>
        </p:txBody>
      </p:sp>
      <p:sp>
        <p:nvSpPr>
          <p:cNvPr id="9" name="arrow-60"/>
          <p:cNvSpPr/>
          <p:nvPr/>
        </p:nvSpPr>
        <p:spPr>
          <a:xfrm>
            <a:off x="5212080" y="2240280"/>
            <a:ext cx="594360" cy="914"/>
          </a:xfrm>
          <a:prstGeom prst="line">
            <a:avLst/>
          </a:prstGeom>
          <a:noFill/>
          <a:ln w="25400">
            <a:solidFill>
              <a:schemeClr val="accent5"/>
            </a:solidFill>
            <a:prstDash val="solid"/>
            <a:tailEnd type="triangle"/>
          </a:ln>
        </p:spPr>
        <p:txBody>
          <a:bodyPr/>
          <a:lstStyle/>
          <a:p>
            <a:endParaRPr lang="en-US"/>
          </a:p>
        </p:txBody>
      </p:sp>
      <p:graphicFrame>
        <p:nvGraphicFramePr>
          <p:cNvPr id="10" name="Chart 0"/>
          <p:cNvGraphicFramePr/>
          <p:nvPr/>
        </p:nvGraphicFramePr>
        <p:xfrm>
          <a:off x="5852160" y="1325880"/>
          <a:ext cx="576072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1" name="card-61"/>
          <p:cNvSpPr/>
          <p:nvPr/>
        </p:nvSpPr>
        <p:spPr>
          <a:xfrm>
            <a:off x="548640" y="4572000"/>
            <a:ext cx="11064240" cy="1463040"/>
          </a:xfrm>
          <a:prstGeom prst="roundRect">
            <a:avLst>
              <a:gd name="adj" fmla="val 6250"/>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2" name="icon-bg-62"/>
          <p:cNvSpPr/>
          <p:nvPr/>
        </p:nvSpPr>
        <p:spPr>
          <a:xfrm>
            <a:off x="822960" y="4892040"/>
            <a:ext cx="822960" cy="822960"/>
          </a:xfrm>
          <a:prstGeom prst="ellipse">
            <a:avLst/>
          </a:prstGeom>
          <a:solidFill>
            <a:srgbClr val="D97757"/>
          </a:solidFill>
          <a:ln w="12700">
            <a:solidFill>
              <a:srgbClr val="D97757"/>
            </a:solidFill>
            <a:prstDash val="solid"/>
          </a:ln>
        </p:spPr>
        <p:txBody>
          <a:bodyPr/>
          <a:lstStyle/>
          <a:p>
            <a:endParaRPr lang="en-US"/>
          </a:p>
        </p:txBody>
      </p:sp>
      <p:pic>
        <p:nvPicPr>
          <p:cNvPr id="13" name="icon-63" descr="icon"/>
          <p:cNvPicPr>
            <a:picLocks noChangeAspect="1"/>
          </p:cNvPicPr>
          <p:nvPr/>
        </p:nvPicPr>
        <p:blipFill>
          <a:blip r:embed="rId5"/>
          <a:stretch>
            <a:fillRect/>
          </a:stretch>
        </p:blipFill>
        <p:spPr>
          <a:xfrm>
            <a:off x="1028700" y="5097780"/>
            <a:ext cx="411480" cy="411480"/>
          </a:xfrm>
          <a:prstGeom prst="rect">
            <a:avLst/>
          </a:prstGeom>
        </p:spPr>
      </p:pic>
      <p:sp>
        <p:nvSpPr>
          <p:cNvPr id="14" name="text-64"/>
          <p:cNvSpPr txBox="1"/>
          <p:nvPr/>
        </p:nvSpPr>
        <p:spPr>
          <a:xfrm>
            <a:off x="1920240" y="4800600"/>
            <a:ext cx="9144000" cy="365760"/>
          </a:xfrm>
          <a:prstGeom prst="rect">
            <a:avLst/>
          </a:prstGeom>
          <a:noFill/>
          <a:ln/>
        </p:spPr>
        <p:txBody>
          <a:bodyPr wrap="square" lIns="0" tIns="0" rIns="0" bIns="0" rtlCol="0" anchor="t"/>
          <a:lstStyle/>
          <a:p>
            <a:pPr marL="0" indent="0" algn="l">
              <a:buNone/>
            </a:pPr>
            <a:r>
              <a:rPr lang="en-US" sz="1800" b="1" dirty="0">
                <a:solidFill>
                  <a:schemeClr val="tx2"/>
                </a:solidFill>
              </a:rPr>
              <a:t>Autoregressive generation</a:t>
            </a:r>
            <a:endParaRPr lang="en-US" sz="1800" dirty="0"/>
          </a:p>
        </p:txBody>
      </p:sp>
      <p:sp>
        <p:nvSpPr>
          <p:cNvPr id="15" name="text-65"/>
          <p:cNvSpPr txBox="1"/>
          <p:nvPr/>
        </p:nvSpPr>
        <p:spPr>
          <a:xfrm>
            <a:off x="1920240" y="5166360"/>
            <a:ext cx="9418320" cy="822960"/>
          </a:xfrm>
          <a:prstGeom prst="rect">
            <a:avLst/>
          </a:prstGeom>
          <a:noFill/>
          <a:ln/>
        </p:spPr>
        <p:txBody>
          <a:bodyPr wrap="square" lIns="0" tIns="0" rIns="0" bIns="0" rtlCol="0" anchor="t"/>
          <a:lstStyle/>
          <a:p>
            <a:pPr marL="0" indent="0" algn="l">
              <a:buNone/>
            </a:pPr>
            <a:r>
              <a:rPr lang="en-US" sz="1400" dirty="0">
                <a:solidFill>
                  <a:schemeClr val="tx1"/>
                </a:solidFill>
              </a:rPr>
              <a:t>Pick a token (e.g. “mat”) → append it to the text → predict again. Every answer, essay or line of code is produced one token at a time. Trained on trillions of tokens, this “autocomplete” learns grammar, facts, reasoning patterns and style.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Tokens: the units an LLM reads and writes</a:t>
            </a:r>
            <a:endParaRPr lang="en-US" sz="3400" dirty="0"/>
          </a:p>
        </p:txBody>
      </p:sp>
      <p:sp>
        <p:nvSpPr>
          <p:cNvPr id="3" name="text-66"/>
          <p:cNvSpPr txBox="1"/>
          <p:nvPr/>
        </p:nvSpPr>
        <p:spPr>
          <a:xfrm>
            <a:off x="548640" y="1280160"/>
            <a:ext cx="10972800" cy="365760"/>
          </a:xfrm>
          <a:prstGeom prst="rect">
            <a:avLst/>
          </a:prstGeom>
          <a:noFill/>
          <a:ln/>
        </p:spPr>
        <p:txBody>
          <a:bodyPr wrap="square" lIns="0" tIns="0" rIns="0" bIns="0" rtlCol="0" anchor="t"/>
          <a:lstStyle/>
          <a:p>
            <a:pPr marL="0" indent="0" algn="l">
              <a:buNone/>
            </a:pPr>
            <a:r>
              <a:rPr lang="en-US" sz="1600" dirty="0">
                <a:solidFill>
                  <a:schemeClr val="tx1"/>
                </a:solidFill>
              </a:rPr>
              <a:t>Text is split into sub-word pieces, and each piece maps to an ID in the model's vocabulary</a:t>
            </a:r>
            <a:endParaRPr lang="en-US" sz="1600" dirty="0"/>
          </a:p>
        </p:txBody>
      </p:sp>
      <p:sp>
        <p:nvSpPr>
          <p:cNvPr id="4" name="text-67"/>
          <p:cNvSpPr txBox="1"/>
          <p:nvPr/>
        </p:nvSpPr>
        <p:spPr>
          <a:xfrm>
            <a:off x="548640" y="1828800"/>
            <a:ext cx="5486400" cy="365760"/>
          </a:xfrm>
          <a:prstGeom prst="rect">
            <a:avLst/>
          </a:prstGeom>
          <a:noFill/>
          <a:ln/>
        </p:spPr>
        <p:txBody>
          <a:bodyPr wrap="square" lIns="0" tIns="0" rIns="0" bIns="0" rtlCol="0" anchor="t"/>
          <a:lstStyle/>
          <a:p>
            <a:pPr marL="0" indent="0" algn="l">
              <a:buNone/>
            </a:pPr>
            <a:r>
              <a:rPr lang="en-US" sz="1600" i="1" dirty="0">
                <a:solidFill>
                  <a:schemeClr val="accent5"/>
                </a:solidFill>
              </a:rPr>
              <a:t>“Tokenization isn't magic!”</a:t>
            </a:r>
            <a:endParaRPr lang="en-US" sz="1600" dirty="0"/>
          </a:p>
        </p:txBody>
      </p:sp>
      <p:sp>
        <p:nvSpPr>
          <p:cNvPr id="5" name="card-68"/>
          <p:cNvSpPr/>
          <p:nvPr/>
        </p:nvSpPr>
        <p:spPr>
          <a:xfrm>
            <a:off x="548640" y="2331720"/>
            <a:ext cx="1097280" cy="640080"/>
          </a:xfrm>
          <a:prstGeom prst="roundRect">
            <a:avLst>
              <a:gd name="adj" fmla="val 14286"/>
            </a:avLst>
          </a:prstGeom>
          <a:solidFill>
            <a:schemeClr val="accent1"/>
          </a:solidFill>
          <a:ln w="9525">
            <a:solidFill>
              <a:schemeClr val="accent1"/>
            </a:solidFill>
            <a:prstDash val="solid"/>
          </a:ln>
        </p:spPr>
        <p:txBody>
          <a:bodyPr/>
          <a:lstStyle/>
          <a:p>
            <a:endParaRPr lang="en-US"/>
          </a:p>
        </p:txBody>
      </p:sp>
      <p:sp>
        <p:nvSpPr>
          <p:cNvPr id="6" name="text-69"/>
          <p:cNvSpPr txBox="1"/>
          <p:nvPr/>
        </p:nvSpPr>
        <p:spPr>
          <a:xfrm>
            <a:off x="548640" y="2331720"/>
            <a:ext cx="1097280" cy="640080"/>
          </a:xfrm>
          <a:prstGeom prst="rect">
            <a:avLst/>
          </a:prstGeom>
          <a:noFill/>
          <a:ln/>
        </p:spPr>
        <p:txBody>
          <a:bodyPr wrap="square" lIns="0" tIns="0" rIns="0" bIns="0" rtlCol="0" anchor="ctr"/>
          <a:lstStyle/>
          <a:p>
            <a:pPr marL="0" indent="0" algn="ctr">
              <a:buNone/>
            </a:pPr>
            <a:r>
              <a:rPr lang="en-US" sz="1700" b="1" dirty="0">
                <a:solidFill>
                  <a:schemeClr val="tx2"/>
                </a:solidFill>
              </a:rPr>
              <a:t>Token</a:t>
            </a:r>
            <a:endParaRPr lang="en-US" sz="1700" dirty="0"/>
          </a:p>
        </p:txBody>
      </p:sp>
      <p:sp>
        <p:nvSpPr>
          <p:cNvPr id="7" name="text-70"/>
          <p:cNvSpPr txBox="1"/>
          <p:nvPr/>
        </p:nvSpPr>
        <p:spPr>
          <a:xfrm>
            <a:off x="548640" y="3035808"/>
            <a:ext cx="1097280" cy="274320"/>
          </a:xfrm>
          <a:prstGeom prst="rect">
            <a:avLst/>
          </a:prstGeom>
          <a:noFill/>
          <a:ln/>
        </p:spPr>
        <p:txBody>
          <a:bodyPr wrap="square" lIns="0" tIns="0" rIns="0" bIns="0" rtlCol="0" anchor="t"/>
          <a:lstStyle/>
          <a:p>
            <a:pPr marL="0" indent="0" algn="ctr">
              <a:buNone/>
            </a:pPr>
            <a:r>
              <a:rPr lang="en-US" sz="1200" dirty="0">
                <a:solidFill>
                  <a:schemeClr val="accent5"/>
                </a:solidFill>
              </a:rPr>
              <a:t>5963</a:t>
            </a:r>
            <a:endParaRPr lang="en-US" sz="1200" dirty="0"/>
          </a:p>
        </p:txBody>
      </p:sp>
      <p:sp>
        <p:nvSpPr>
          <p:cNvPr id="8" name="card-71"/>
          <p:cNvSpPr/>
          <p:nvPr/>
        </p:nvSpPr>
        <p:spPr>
          <a:xfrm>
            <a:off x="1755648" y="2331720"/>
            <a:ext cx="1371600" cy="640080"/>
          </a:xfrm>
          <a:prstGeom prst="roundRect">
            <a:avLst>
              <a:gd name="adj" fmla="val 14286"/>
            </a:avLst>
          </a:prstGeom>
          <a:solidFill>
            <a:schemeClr val="accent2"/>
          </a:solidFill>
          <a:ln w="9525">
            <a:solidFill>
              <a:schemeClr val="accent2"/>
            </a:solidFill>
            <a:prstDash val="solid"/>
          </a:ln>
        </p:spPr>
        <p:txBody>
          <a:bodyPr/>
          <a:lstStyle/>
          <a:p>
            <a:endParaRPr lang="en-US"/>
          </a:p>
        </p:txBody>
      </p:sp>
      <p:sp>
        <p:nvSpPr>
          <p:cNvPr id="9" name="text-72"/>
          <p:cNvSpPr txBox="1"/>
          <p:nvPr/>
        </p:nvSpPr>
        <p:spPr>
          <a:xfrm>
            <a:off x="1755648" y="2331720"/>
            <a:ext cx="1371600" cy="640080"/>
          </a:xfrm>
          <a:prstGeom prst="rect">
            <a:avLst/>
          </a:prstGeom>
          <a:noFill/>
          <a:ln/>
        </p:spPr>
        <p:txBody>
          <a:bodyPr wrap="square" lIns="0" tIns="0" rIns="0" bIns="0" rtlCol="0" anchor="ctr"/>
          <a:lstStyle/>
          <a:p>
            <a:pPr marL="0" indent="0" algn="ctr">
              <a:buNone/>
            </a:pPr>
            <a:r>
              <a:rPr lang="en-US" sz="1700" b="1" dirty="0">
                <a:solidFill>
                  <a:schemeClr val="tx2"/>
                </a:solidFill>
              </a:rPr>
              <a:t>ization</a:t>
            </a:r>
            <a:endParaRPr lang="en-US" sz="1700" dirty="0"/>
          </a:p>
        </p:txBody>
      </p:sp>
      <p:sp>
        <p:nvSpPr>
          <p:cNvPr id="10" name="text-73"/>
          <p:cNvSpPr txBox="1"/>
          <p:nvPr/>
        </p:nvSpPr>
        <p:spPr>
          <a:xfrm>
            <a:off x="1755648" y="3035808"/>
            <a:ext cx="1371600" cy="274320"/>
          </a:xfrm>
          <a:prstGeom prst="rect">
            <a:avLst/>
          </a:prstGeom>
          <a:noFill/>
          <a:ln/>
        </p:spPr>
        <p:txBody>
          <a:bodyPr wrap="square" lIns="0" tIns="0" rIns="0" bIns="0" rtlCol="0" anchor="t"/>
          <a:lstStyle/>
          <a:p>
            <a:pPr marL="0" indent="0" algn="ctr">
              <a:buNone/>
            </a:pPr>
            <a:r>
              <a:rPr lang="en-US" sz="1200" dirty="0">
                <a:solidFill>
                  <a:schemeClr val="accent5"/>
                </a:solidFill>
              </a:rPr>
              <a:t>2065</a:t>
            </a:r>
            <a:endParaRPr lang="en-US" sz="1200" dirty="0"/>
          </a:p>
        </p:txBody>
      </p:sp>
      <p:sp>
        <p:nvSpPr>
          <p:cNvPr id="11" name="card-74"/>
          <p:cNvSpPr/>
          <p:nvPr/>
        </p:nvSpPr>
        <p:spPr>
          <a:xfrm>
            <a:off x="3236976" y="2331720"/>
            <a:ext cx="960120" cy="640080"/>
          </a:xfrm>
          <a:prstGeom prst="roundRect">
            <a:avLst>
              <a:gd name="adj" fmla="val 14286"/>
            </a:avLst>
          </a:prstGeom>
          <a:solidFill>
            <a:schemeClr val="accent3"/>
          </a:solidFill>
          <a:ln w="9525">
            <a:solidFill>
              <a:schemeClr val="accent3"/>
            </a:solidFill>
            <a:prstDash val="solid"/>
          </a:ln>
        </p:spPr>
        <p:txBody>
          <a:bodyPr/>
          <a:lstStyle/>
          <a:p>
            <a:endParaRPr lang="en-US"/>
          </a:p>
        </p:txBody>
      </p:sp>
      <p:sp>
        <p:nvSpPr>
          <p:cNvPr id="12" name="text-75"/>
          <p:cNvSpPr txBox="1"/>
          <p:nvPr/>
        </p:nvSpPr>
        <p:spPr>
          <a:xfrm>
            <a:off x="3236976" y="2331720"/>
            <a:ext cx="960120" cy="640080"/>
          </a:xfrm>
          <a:prstGeom prst="rect">
            <a:avLst/>
          </a:prstGeom>
          <a:noFill/>
          <a:ln/>
        </p:spPr>
        <p:txBody>
          <a:bodyPr wrap="square" lIns="0" tIns="0" rIns="0" bIns="0" rtlCol="0" anchor="ctr"/>
          <a:lstStyle/>
          <a:p>
            <a:pPr marL="0" indent="0" algn="ctr">
              <a:buNone/>
            </a:pPr>
            <a:r>
              <a:rPr lang="en-US" sz="1700" b="1" dirty="0">
                <a:solidFill>
                  <a:schemeClr val="tx2"/>
                </a:solidFill>
              </a:rPr>
              <a:t>␣isn</a:t>
            </a:r>
            <a:endParaRPr lang="en-US" sz="1700" dirty="0"/>
          </a:p>
        </p:txBody>
      </p:sp>
      <p:sp>
        <p:nvSpPr>
          <p:cNvPr id="13" name="text-76"/>
          <p:cNvSpPr txBox="1"/>
          <p:nvPr/>
        </p:nvSpPr>
        <p:spPr>
          <a:xfrm>
            <a:off x="3236976" y="3035808"/>
            <a:ext cx="960120" cy="274320"/>
          </a:xfrm>
          <a:prstGeom prst="rect">
            <a:avLst/>
          </a:prstGeom>
          <a:noFill/>
          <a:ln/>
        </p:spPr>
        <p:txBody>
          <a:bodyPr wrap="square" lIns="0" tIns="0" rIns="0" bIns="0" rtlCol="0" anchor="t"/>
          <a:lstStyle/>
          <a:p>
            <a:pPr marL="0" indent="0" algn="ctr">
              <a:buNone/>
            </a:pPr>
            <a:r>
              <a:rPr lang="en-US" sz="1200" dirty="0">
                <a:solidFill>
                  <a:schemeClr val="accent5"/>
                </a:solidFill>
              </a:rPr>
              <a:t>3180</a:t>
            </a:r>
            <a:endParaRPr lang="en-US" sz="1200" dirty="0"/>
          </a:p>
        </p:txBody>
      </p:sp>
      <p:sp>
        <p:nvSpPr>
          <p:cNvPr id="14" name="card-77"/>
          <p:cNvSpPr/>
          <p:nvPr/>
        </p:nvSpPr>
        <p:spPr>
          <a:xfrm>
            <a:off x="4306824" y="2331720"/>
            <a:ext cx="685800" cy="640080"/>
          </a:xfrm>
          <a:prstGeom prst="roundRect">
            <a:avLst>
              <a:gd name="adj" fmla="val 14286"/>
            </a:avLst>
          </a:prstGeom>
          <a:solidFill>
            <a:schemeClr val="accent4"/>
          </a:solidFill>
          <a:ln w="9525">
            <a:solidFill>
              <a:schemeClr val="accent4"/>
            </a:solidFill>
            <a:prstDash val="solid"/>
          </a:ln>
        </p:spPr>
        <p:txBody>
          <a:bodyPr/>
          <a:lstStyle/>
          <a:p>
            <a:endParaRPr lang="en-US"/>
          </a:p>
        </p:txBody>
      </p:sp>
      <p:sp>
        <p:nvSpPr>
          <p:cNvPr id="15" name="text-78"/>
          <p:cNvSpPr txBox="1"/>
          <p:nvPr/>
        </p:nvSpPr>
        <p:spPr>
          <a:xfrm>
            <a:off x="4306824" y="2331720"/>
            <a:ext cx="685800" cy="640080"/>
          </a:xfrm>
          <a:prstGeom prst="rect">
            <a:avLst/>
          </a:prstGeom>
          <a:noFill/>
          <a:ln/>
        </p:spPr>
        <p:txBody>
          <a:bodyPr wrap="square" lIns="0" tIns="0" rIns="0" bIns="0" rtlCol="0" anchor="ctr"/>
          <a:lstStyle/>
          <a:p>
            <a:pPr marL="0" indent="0" algn="ctr">
              <a:buNone/>
            </a:pPr>
            <a:r>
              <a:rPr lang="en-US" sz="1700" b="1" dirty="0">
                <a:solidFill>
                  <a:schemeClr val="tx2"/>
                </a:solidFill>
              </a:rPr>
              <a:t>'t</a:t>
            </a:r>
            <a:endParaRPr lang="en-US" sz="1700" dirty="0"/>
          </a:p>
        </p:txBody>
      </p:sp>
      <p:sp>
        <p:nvSpPr>
          <p:cNvPr id="16" name="text-79"/>
          <p:cNvSpPr txBox="1"/>
          <p:nvPr/>
        </p:nvSpPr>
        <p:spPr>
          <a:xfrm>
            <a:off x="4306824" y="3035808"/>
            <a:ext cx="685800" cy="274320"/>
          </a:xfrm>
          <a:prstGeom prst="rect">
            <a:avLst/>
          </a:prstGeom>
          <a:noFill/>
          <a:ln/>
        </p:spPr>
        <p:txBody>
          <a:bodyPr wrap="square" lIns="0" tIns="0" rIns="0" bIns="0" rtlCol="0" anchor="t"/>
          <a:lstStyle/>
          <a:p>
            <a:pPr marL="0" indent="0" algn="ctr">
              <a:buNone/>
            </a:pPr>
            <a:r>
              <a:rPr lang="en-US" sz="1200" dirty="0">
                <a:solidFill>
                  <a:schemeClr val="accent5"/>
                </a:solidFill>
              </a:rPr>
              <a:t>956</a:t>
            </a:r>
            <a:endParaRPr lang="en-US" sz="1200" dirty="0"/>
          </a:p>
        </p:txBody>
      </p:sp>
      <p:sp>
        <p:nvSpPr>
          <p:cNvPr id="17" name="card-80"/>
          <p:cNvSpPr/>
          <p:nvPr/>
        </p:nvSpPr>
        <p:spPr>
          <a:xfrm>
            <a:off x="5102352" y="2331720"/>
            <a:ext cx="1234440" cy="640080"/>
          </a:xfrm>
          <a:prstGeom prst="roundRect">
            <a:avLst>
              <a:gd name="adj" fmla="val 14286"/>
            </a:avLst>
          </a:prstGeom>
          <a:solidFill>
            <a:schemeClr val="accent1"/>
          </a:solidFill>
          <a:ln w="9525">
            <a:solidFill>
              <a:schemeClr val="accent1"/>
            </a:solidFill>
            <a:prstDash val="solid"/>
          </a:ln>
        </p:spPr>
        <p:txBody>
          <a:bodyPr/>
          <a:lstStyle/>
          <a:p>
            <a:endParaRPr lang="en-US"/>
          </a:p>
        </p:txBody>
      </p:sp>
      <p:sp>
        <p:nvSpPr>
          <p:cNvPr id="18" name="text-81"/>
          <p:cNvSpPr txBox="1"/>
          <p:nvPr/>
        </p:nvSpPr>
        <p:spPr>
          <a:xfrm>
            <a:off x="5102352" y="2331720"/>
            <a:ext cx="1234440" cy="640080"/>
          </a:xfrm>
          <a:prstGeom prst="rect">
            <a:avLst/>
          </a:prstGeom>
          <a:noFill/>
          <a:ln/>
        </p:spPr>
        <p:txBody>
          <a:bodyPr wrap="square" lIns="0" tIns="0" rIns="0" bIns="0" rtlCol="0" anchor="ctr"/>
          <a:lstStyle/>
          <a:p>
            <a:pPr marL="0" indent="0" algn="ctr">
              <a:buNone/>
            </a:pPr>
            <a:r>
              <a:rPr lang="en-US" sz="1700" b="1" dirty="0">
                <a:solidFill>
                  <a:schemeClr val="tx2"/>
                </a:solidFill>
              </a:rPr>
              <a:t>␣magic</a:t>
            </a:r>
            <a:endParaRPr lang="en-US" sz="1700" dirty="0"/>
          </a:p>
        </p:txBody>
      </p:sp>
      <p:sp>
        <p:nvSpPr>
          <p:cNvPr id="19" name="text-82"/>
          <p:cNvSpPr txBox="1"/>
          <p:nvPr/>
        </p:nvSpPr>
        <p:spPr>
          <a:xfrm>
            <a:off x="5102352" y="3035808"/>
            <a:ext cx="1234440" cy="274320"/>
          </a:xfrm>
          <a:prstGeom prst="rect">
            <a:avLst/>
          </a:prstGeom>
          <a:noFill/>
          <a:ln/>
        </p:spPr>
        <p:txBody>
          <a:bodyPr wrap="square" lIns="0" tIns="0" rIns="0" bIns="0" rtlCol="0" anchor="t"/>
          <a:lstStyle/>
          <a:p>
            <a:pPr marL="0" indent="0" algn="ctr">
              <a:buNone/>
            </a:pPr>
            <a:r>
              <a:rPr lang="en-US" sz="1200" dirty="0">
                <a:solidFill>
                  <a:schemeClr val="accent5"/>
                </a:solidFill>
              </a:rPr>
              <a:t>11204</a:t>
            </a:r>
            <a:endParaRPr lang="en-US" sz="1200" dirty="0"/>
          </a:p>
        </p:txBody>
      </p:sp>
      <p:sp>
        <p:nvSpPr>
          <p:cNvPr id="20" name="card-83"/>
          <p:cNvSpPr/>
          <p:nvPr/>
        </p:nvSpPr>
        <p:spPr>
          <a:xfrm>
            <a:off x="6446520" y="2331720"/>
            <a:ext cx="548640" cy="64008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21" name="text-84"/>
          <p:cNvSpPr txBox="1"/>
          <p:nvPr/>
        </p:nvSpPr>
        <p:spPr>
          <a:xfrm>
            <a:off x="6446520" y="2331720"/>
            <a:ext cx="548640" cy="640080"/>
          </a:xfrm>
          <a:prstGeom prst="rect">
            <a:avLst/>
          </a:prstGeom>
          <a:noFill/>
          <a:ln/>
        </p:spPr>
        <p:txBody>
          <a:bodyPr wrap="square" lIns="0" tIns="0" rIns="0" bIns="0" rtlCol="0" anchor="ctr"/>
          <a:lstStyle/>
          <a:p>
            <a:pPr marL="0" indent="0" algn="ctr">
              <a:buNone/>
            </a:pPr>
            <a:r>
              <a:rPr lang="en-US" sz="1700" b="1" dirty="0">
                <a:solidFill>
                  <a:schemeClr val="tx2"/>
                </a:solidFill>
              </a:rPr>
              <a:t>!</a:t>
            </a:r>
            <a:endParaRPr lang="en-US" sz="1700" dirty="0"/>
          </a:p>
        </p:txBody>
      </p:sp>
      <p:sp>
        <p:nvSpPr>
          <p:cNvPr id="22" name="text-85"/>
          <p:cNvSpPr txBox="1"/>
          <p:nvPr/>
        </p:nvSpPr>
        <p:spPr>
          <a:xfrm>
            <a:off x="6446520" y="3035808"/>
            <a:ext cx="548640" cy="274320"/>
          </a:xfrm>
          <a:prstGeom prst="rect">
            <a:avLst/>
          </a:prstGeom>
          <a:noFill/>
          <a:ln/>
        </p:spPr>
        <p:txBody>
          <a:bodyPr wrap="square" lIns="0" tIns="0" rIns="0" bIns="0" rtlCol="0" anchor="t"/>
          <a:lstStyle/>
          <a:p>
            <a:pPr marL="0" indent="0" algn="ctr">
              <a:buNone/>
            </a:pPr>
            <a:r>
              <a:rPr lang="en-US" sz="1200" dirty="0">
                <a:solidFill>
                  <a:schemeClr val="accent5"/>
                </a:solidFill>
              </a:rPr>
              <a:t>0</a:t>
            </a:r>
            <a:endParaRPr lang="en-US" sz="1200" dirty="0"/>
          </a:p>
        </p:txBody>
      </p:sp>
      <p:sp>
        <p:nvSpPr>
          <p:cNvPr id="23" name="text-86"/>
          <p:cNvSpPr txBox="1"/>
          <p:nvPr/>
        </p:nvSpPr>
        <p:spPr>
          <a:xfrm>
            <a:off x="548640" y="3383280"/>
            <a:ext cx="5943600" cy="274320"/>
          </a:xfrm>
          <a:prstGeom prst="rect">
            <a:avLst/>
          </a:prstGeom>
          <a:noFill/>
          <a:ln/>
        </p:spPr>
        <p:txBody>
          <a:bodyPr wrap="square" lIns="0" tIns="0" rIns="0" bIns="0" rtlCol="0" anchor="t"/>
          <a:lstStyle/>
          <a:p>
            <a:pPr marL="0" indent="0" algn="l">
              <a:buNone/>
            </a:pPr>
            <a:r>
              <a:rPr lang="en-US" sz="1100" dirty="0">
                <a:solidFill>
                  <a:schemeClr val="accent5"/>
                </a:solidFill>
              </a:rPr>
              <a:t>6 tokens · IDs are illustrative · ␣ = a space</a:t>
            </a:r>
            <a:endParaRPr lang="en-US" sz="1100" dirty="0"/>
          </a:p>
        </p:txBody>
      </p:sp>
      <p:sp>
        <p:nvSpPr>
          <p:cNvPr id="24" name="text-87"/>
          <p:cNvSpPr txBox="1"/>
          <p:nvPr/>
        </p:nvSpPr>
        <p:spPr>
          <a:xfrm>
            <a:off x="548640" y="4023360"/>
            <a:ext cx="6035040" cy="1828800"/>
          </a:xfrm>
          <a:prstGeom prst="rect">
            <a:avLst/>
          </a:prstGeom>
          <a:noFill/>
          <a:ln/>
        </p:spPr>
        <p:txBody>
          <a:bodyPr wrap="square" lIns="0" tIns="0" rIns="0" bIns="0" rtlCol="0" anchor="t"/>
          <a:lstStyle/>
          <a:p>
            <a:pPr marL="203200" indent="-203200" algn="l">
              <a:spcAft>
                <a:spcPts val="600"/>
              </a:spcAft>
              <a:buSzPct val="100000"/>
              <a:buChar char="•"/>
            </a:pPr>
            <a:r>
              <a:rPr lang="en-US" sz="1500" dirty="0">
                <a:solidFill>
                  <a:schemeClr val="tx1"/>
                </a:solidFill>
              </a:rPr>
              <a:t>Common words are one token; rare words split into pieces</a:t>
            </a:r>
            <a:endParaRPr lang="en-US" sz="1500" dirty="0"/>
          </a:p>
          <a:p>
            <a:pPr marL="203200" indent="-203200" algn="l">
              <a:spcAft>
                <a:spcPts val="600"/>
              </a:spcAft>
              <a:buSzPct val="100000"/>
              <a:buChar char="•"/>
            </a:pPr>
            <a:r>
              <a:rPr lang="en-US" sz="1500" dirty="0">
                <a:solidFill>
                  <a:schemeClr val="tx1"/>
                </a:solidFill>
              </a:rPr>
              <a:t>Non-English text (e.g. Vietnamese) often needs more tokens per word</a:t>
            </a:r>
            <a:endParaRPr lang="en-US" sz="1500" dirty="0"/>
          </a:p>
          <a:p>
            <a:pPr marL="203200" indent="-203200" algn="l">
              <a:spcAft>
                <a:spcPts val="600"/>
              </a:spcAft>
              <a:buSzPct val="100000"/>
              <a:buChar char="•"/>
            </a:pPr>
            <a:r>
              <a:rPr lang="en-US" sz="1500" dirty="0">
                <a:solidFill>
                  <a:schemeClr val="tx1"/>
                </a:solidFill>
              </a:rPr>
              <a:t>Models “see” tokens, not letters — why counting letters can be hard</a:t>
            </a:r>
            <a:endParaRPr lang="en-US" sz="1500" dirty="0"/>
          </a:p>
        </p:txBody>
      </p:sp>
      <p:sp>
        <p:nvSpPr>
          <p:cNvPr id="25" name="card-88"/>
          <p:cNvSpPr/>
          <p:nvPr/>
        </p:nvSpPr>
        <p:spPr>
          <a:xfrm>
            <a:off x="7223760" y="1783080"/>
            <a:ext cx="4389120" cy="1234440"/>
          </a:xfrm>
          <a:prstGeom prst="roundRect">
            <a:avLst>
              <a:gd name="adj" fmla="val 740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6" name="text-89"/>
          <p:cNvSpPr txBox="1"/>
          <p:nvPr/>
        </p:nvSpPr>
        <p:spPr>
          <a:xfrm>
            <a:off x="7452360" y="1783080"/>
            <a:ext cx="1737360" cy="123444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 4</a:t>
            </a:r>
            <a:endParaRPr lang="en-US" sz="3600" dirty="0"/>
          </a:p>
        </p:txBody>
      </p:sp>
      <p:sp>
        <p:nvSpPr>
          <p:cNvPr id="27" name="text-90"/>
          <p:cNvSpPr txBox="1"/>
          <p:nvPr/>
        </p:nvSpPr>
        <p:spPr>
          <a:xfrm>
            <a:off x="9235440" y="1783080"/>
            <a:ext cx="2240280" cy="1234440"/>
          </a:xfrm>
          <a:prstGeom prst="rect">
            <a:avLst/>
          </a:prstGeom>
          <a:noFill/>
          <a:ln/>
        </p:spPr>
        <p:txBody>
          <a:bodyPr wrap="square" lIns="0" tIns="0" rIns="0" bIns="0" rtlCol="0" anchor="ctr"/>
          <a:lstStyle/>
          <a:p>
            <a:pPr marL="0" indent="0" algn="l">
              <a:buNone/>
            </a:pPr>
            <a:r>
              <a:rPr lang="en-US" sz="1400" dirty="0">
                <a:solidFill>
                  <a:schemeClr val="tx1"/>
                </a:solidFill>
              </a:rPr>
              <a:t>characters per token in English</a:t>
            </a:r>
            <a:endParaRPr lang="en-US" sz="1400" dirty="0"/>
          </a:p>
        </p:txBody>
      </p:sp>
      <p:sp>
        <p:nvSpPr>
          <p:cNvPr id="28" name="card-91"/>
          <p:cNvSpPr/>
          <p:nvPr/>
        </p:nvSpPr>
        <p:spPr>
          <a:xfrm>
            <a:off x="7223760" y="3246120"/>
            <a:ext cx="4389120" cy="1234440"/>
          </a:xfrm>
          <a:prstGeom prst="roundRect">
            <a:avLst>
              <a:gd name="adj" fmla="val 740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9" name="text-92"/>
          <p:cNvSpPr txBox="1"/>
          <p:nvPr/>
        </p:nvSpPr>
        <p:spPr>
          <a:xfrm>
            <a:off x="7452360" y="3246120"/>
            <a:ext cx="1737360" cy="123444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 750</a:t>
            </a:r>
            <a:endParaRPr lang="en-US" sz="3600" dirty="0"/>
          </a:p>
        </p:txBody>
      </p:sp>
      <p:sp>
        <p:nvSpPr>
          <p:cNvPr id="30" name="text-93"/>
          <p:cNvSpPr txBox="1"/>
          <p:nvPr/>
        </p:nvSpPr>
        <p:spPr>
          <a:xfrm>
            <a:off x="9235440" y="3246120"/>
            <a:ext cx="2240280" cy="1234440"/>
          </a:xfrm>
          <a:prstGeom prst="rect">
            <a:avLst/>
          </a:prstGeom>
          <a:noFill/>
          <a:ln/>
        </p:spPr>
        <p:txBody>
          <a:bodyPr wrap="square" lIns="0" tIns="0" rIns="0" bIns="0" rtlCol="0" anchor="ctr"/>
          <a:lstStyle/>
          <a:p>
            <a:pPr marL="0" indent="0" algn="l">
              <a:buNone/>
            </a:pPr>
            <a:r>
              <a:rPr lang="en-US" sz="1400" dirty="0">
                <a:solidFill>
                  <a:schemeClr val="tx1"/>
                </a:solidFill>
              </a:rPr>
              <a:t>words ≈ 1,000 tokens</a:t>
            </a:r>
            <a:endParaRPr lang="en-US" sz="1400" dirty="0"/>
          </a:p>
        </p:txBody>
      </p:sp>
      <p:sp>
        <p:nvSpPr>
          <p:cNvPr id="31" name="card-94"/>
          <p:cNvSpPr/>
          <p:nvPr/>
        </p:nvSpPr>
        <p:spPr>
          <a:xfrm>
            <a:off x="7223760" y="4709160"/>
            <a:ext cx="4389120" cy="1234440"/>
          </a:xfrm>
          <a:prstGeom prst="roundRect">
            <a:avLst>
              <a:gd name="adj" fmla="val 740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32" name="text-95"/>
          <p:cNvSpPr txBox="1"/>
          <p:nvPr/>
        </p:nvSpPr>
        <p:spPr>
          <a:xfrm>
            <a:off x="7452360" y="4709160"/>
            <a:ext cx="1737360" cy="1234440"/>
          </a:xfrm>
          <a:prstGeom prst="rect">
            <a:avLst/>
          </a:prstGeom>
          <a:noFill/>
          <a:ln/>
        </p:spPr>
        <p:txBody>
          <a:bodyPr wrap="square" lIns="0" tIns="0" rIns="0" bIns="0" rtlCol="0" anchor="ctr"/>
          <a:lstStyle/>
          <a:p>
            <a:pPr marL="0" indent="0" algn="l">
              <a:buNone/>
            </a:pPr>
            <a:r>
              <a:rPr lang="en-US" sz="3600" b="1" dirty="0">
                <a:solidFill>
                  <a:schemeClr val="accent1"/>
                </a:solidFill>
                <a:latin typeface="Cambria" pitchFamily="34" charset="0"/>
                <a:ea typeface="Cambria" pitchFamily="34" charset="-122"/>
                <a:cs typeface="Cambria" pitchFamily="34" charset="-120"/>
              </a:rPr>
              <a:t>$ / ⏱</a:t>
            </a:r>
            <a:endParaRPr lang="en-US" sz="3600" dirty="0"/>
          </a:p>
        </p:txBody>
      </p:sp>
      <p:sp>
        <p:nvSpPr>
          <p:cNvPr id="33" name="text-96"/>
          <p:cNvSpPr txBox="1"/>
          <p:nvPr/>
        </p:nvSpPr>
        <p:spPr>
          <a:xfrm>
            <a:off x="9235440" y="4709160"/>
            <a:ext cx="2240280" cy="1234440"/>
          </a:xfrm>
          <a:prstGeom prst="rect">
            <a:avLst/>
          </a:prstGeom>
          <a:noFill/>
          <a:ln/>
        </p:spPr>
        <p:txBody>
          <a:bodyPr wrap="square" lIns="0" tIns="0" rIns="0" bIns="0" rtlCol="0" anchor="ctr"/>
          <a:lstStyle/>
          <a:p>
            <a:pPr marL="0" indent="0" algn="l">
              <a:buNone/>
            </a:pPr>
            <a:r>
              <a:rPr lang="en-US" sz="1400" dirty="0">
                <a:solidFill>
                  <a:schemeClr val="tx1"/>
                </a:solidFill>
              </a:rPr>
              <a:t>price, speed and context limits are all counted in tokens</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Embeddings: meaning as coordinates</a:t>
            </a:r>
            <a:endParaRPr lang="en-US" sz="3400" dirty="0"/>
          </a:p>
        </p:txBody>
      </p:sp>
      <p:sp>
        <p:nvSpPr>
          <p:cNvPr id="3" name="card-97"/>
          <p:cNvSpPr/>
          <p:nvPr/>
        </p:nvSpPr>
        <p:spPr>
          <a:xfrm>
            <a:off x="548640" y="1371600"/>
            <a:ext cx="6035040" cy="4754880"/>
          </a:xfrm>
          <a:prstGeom prst="roundRect">
            <a:avLst>
              <a:gd name="adj" fmla="val 1923"/>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text-98"/>
          <p:cNvSpPr txBox="1"/>
          <p:nvPr/>
        </p:nvSpPr>
        <p:spPr>
          <a:xfrm>
            <a:off x="777240" y="1508760"/>
            <a:ext cx="5669280" cy="320040"/>
          </a:xfrm>
          <a:prstGeom prst="rect">
            <a:avLst/>
          </a:prstGeom>
          <a:noFill/>
          <a:ln/>
        </p:spPr>
        <p:txBody>
          <a:bodyPr wrap="square" lIns="0" tIns="0" rIns="0" bIns="0" rtlCol="0" anchor="t"/>
          <a:lstStyle/>
          <a:p>
            <a:pPr marL="0" indent="0" algn="l">
              <a:buNone/>
            </a:pPr>
            <a:r>
              <a:rPr lang="en-US" sz="1200" i="1" dirty="0">
                <a:solidFill>
                  <a:schemeClr val="accent5"/>
                </a:solidFill>
              </a:rPr>
              <a:t>A 2-D sketch of embedding space (real models use thousands of dimensions)</a:t>
            </a:r>
            <a:endParaRPr lang="en-US" sz="1200" dirty="0"/>
          </a:p>
        </p:txBody>
      </p:sp>
      <p:sp>
        <p:nvSpPr>
          <p:cNvPr id="5" name="dot-99"/>
          <p:cNvSpPr/>
          <p:nvPr/>
        </p:nvSpPr>
        <p:spPr>
          <a:xfrm>
            <a:off x="1179576" y="4379976"/>
            <a:ext cx="201168" cy="201168"/>
          </a:xfrm>
          <a:prstGeom prst="ellipse">
            <a:avLst/>
          </a:prstGeom>
          <a:solidFill>
            <a:srgbClr val="2A9D8F"/>
          </a:solidFill>
          <a:ln w="12700">
            <a:solidFill>
              <a:srgbClr val="2A9D8F"/>
            </a:solidFill>
            <a:prstDash val="solid"/>
          </a:ln>
        </p:spPr>
        <p:txBody>
          <a:bodyPr/>
          <a:lstStyle/>
          <a:p>
            <a:endParaRPr lang="en-US"/>
          </a:p>
        </p:txBody>
      </p:sp>
      <p:sp>
        <p:nvSpPr>
          <p:cNvPr id="6" name="text-100"/>
          <p:cNvSpPr txBox="1"/>
          <p:nvPr/>
        </p:nvSpPr>
        <p:spPr>
          <a:xfrm>
            <a:off x="1417320" y="432511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man</a:t>
            </a:r>
            <a:endParaRPr lang="en-US" sz="1300" dirty="0"/>
          </a:p>
        </p:txBody>
      </p:sp>
      <p:sp>
        <p:nvSpPr>
          <p:cNvPr id="7" name="dot-101"/>
          <p:cNvSpPr/>
          <p:nvPr/>
        </p:nvSpPr>
        <p:spPr>
          <a:xfrm>
            <a:off x="1179576" y="2642616"/>
            <a:ext cx="201168" cy="201168"/>
          </a:xfrm>
          <a:prstGeom prst="ellipse">
            <a:avLst/>
          </a:prstGeom>
          <a:solidFill>
            <a:srgbClr val="2A9D8F"/>
          </a:solidFill>
          <a:ln w="12700">
            <a:solidFill>
              <a:srgbClr val="2A9D8F"/>
            </a:solidFill>
            <a:prstDash val="solid"/>
          </a:ln>
        </p:spPr>
        <p:txBody>
          <a:bodyPr/>
          <a:lstStyle/>
          <a:p>
            <a:endParaRPr lang="en-US"/>
          </a:p>
        </p:txBody>
      </p:sp>
      <p:sp>
        <p:nvSpPr>
          <p:cNvPr id="8" name="text-102"/>
          <p:cNvSpPr txBox="1"/>
          <p:nvPr/>
        </p:nvSpPr>
        <p:spPr>
          <a:xfrm>
            <a:off x="1417320" y="258775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woman</a:t>
            </a:r>
            <a:endParaRPr lang="en-US" sz="1300" dirty="0"/>
          </a:p>
        </p:txBody>
      </p:sp>
      <p:sp>
        <p:nvSpPr>
          <p:cNvPr id="9" name="dot-103"/>
          <p:cNvSpPr/>
          <p:nvPr/>
        </p:nvSpPr>
        <p:spPr>
          <a:xfrm>
            <a:off x="2916936" y="4379976"/>
            <a:ext cx="201168" cy="201168"/>
          </a:xfrm>
          <a:prstGeom prst="ellipse">
            <a:avLst/>
          </a:prstGeom>
          <a:solidFill>
            <a:srgbClr val="6C63FF"/>
          </a:solidFill>
          <a:ln w="12700">
            <a:solidFill>
              <a:srgbClr val="6C63FF"/>
            </a:solidFill>
            <a:prstDash val="solid"/>
          </a:ln>
        </p:spPr>
        <p:txBody>
          <a:bodyPr/>
          <a:lstStyle/>
          <a:p>
            <a:endParaRPr lang="en-US"/>
          </a:p>
        </p:txBody>
      </p:sp>
      <p:sp>
        <p:nvSpPr>
          <p:cNvPr id="10" name="text-104"/>
          <p:cNvSpPr txBox="1"/>
          <p:nvPr/>
        </p:nvSpPr>
        <p:spPr>
          <a:xfrm>
            <a:off x="3154680" y="432511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king</a:t>
            </a:r>
            <a:endParaRPr lang="en-US" sz="1300" dirty="0"/>
          </a:p>
        </p:txBody>
      </p:sp>
      <p:sp>
        <p:nvSpPr>
          <p:cNvPr id="11" name="dot-105"/>
          <p:cNvSpPr/>
          <p:nvPr/>
        </p:nvSpPr>
        <p:spPr>
          <a:xfrm>
            <a:off x="2916936" y="2642616"/>
            <a:ext cx="201168" cy="201168"/>
          </a:xfrm>
          <a:prstGeom prst="ellipse">
            <a:avLst/>
          </a:prstGeom>
          <a:solidFill>
            <a:srgbClr val="6C63FF"/>
          </a:solidFill>
          <a:ln w="12700">
            <a:solidFill>
              <a:srgbClr val="6C63FF"/>
            </a:solidFill>
            <a:prstDash val="solid"/>
          </a:ln>
        </p:spPr>
        <p:txBody>
          <a:bodyPr/>
          <a:lstStyle/>
          <a:p>
            <a:endParaRPr lang="en-US"/>
          </a:p>
        </p:txBody>
      </p:sp>
      <p:sp>
        <p:nvSpPr>
          <p:cNvPr id="12" name="text-106"/>
          <p:cNvSpPr txBox="1"/>
          <p:nvPr/>
        </p:nvSpPr>
        <p:spPr>
          <a:xfrm>
            <a:off x="3154680" y="258775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queen</a:t>
            </a:r>
            <a:endParaRPr lang="en-US" sz="1300" dirty="0"/>
          </a:p>
        </p:txBody>
      </p:sp>
      <p:sp>
        <p:nvSpPr>
          <p:cNvPr id="13" name="dot-107"/>
          <p:cNvSpPr/>
          <p:nvPr/>
        </p:nvSpPr>
        <p:spPr>
          <a:xfrm>
            <a:off x="5020056" y="2002536"/>
            <a:ext cx="201168" cy="201168"/>
          </a:xfrm>
          <a:prstGeom prst="ellipse">
            <a:avLst/>
          </a:prstGeom>
          <a:solidFill>
            <a:srgbClr val="D97757"/>
          </a:solidFill>
          <a:ln w="12700">
            <a:solidFill>
              <a:srgbClr val="D97757"/>
            </a:solidFill>
            <a:prstDash val="solid"/>
          </a:ln>
        </p:spPr>
        <p:txBody>
          <a:bodyPr/>
          <a:lstStyle/>
          <a:p>
            <a:endParaRPr lang="en-US"/>
          </a:p>
        </p:txBody>
      </p:sp>
      <p:sp>
        <p:nvSpPr>
          <p:cNvPr id="14" name="text-108"/>
          <p:cNvSpPr txBox="1"/>
          <p:nvPr/>
        </p:nvSpPr>
        <p:spPr>
          <a:xfrm>
            <a:off x="5257800" y="194767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apple</a:t>
            </a:r>
            <a:endParaRPr lang="en-US" sz="1300" dirty="0"/>
          </a:p>
        </p:txBody>
      </p:sp>
      <p:sp>
        <p:nvSpPr>
          <p:cNvPr id="15" name="dot-109"/>
          <p:cNvSpPr/>
          <p:nvPr/>
        </p:nvSpPr>
        <p:spPr>
          <a:xfrm>
            <a:off x="5385816" y="2551176"/>
            <a:ext cx="201168" cy="201168"/>
          </a:xfrm>
          <a:prstGeom prst="ellipse">
            <a:avLst/>
          </a:prstGeom>
          <a:solidFill>
            <a:srgbClr val="D97757"/>
          </a:solidFill>
          <a:ln w="12700">
            <a:solidFill>
              <a:srgbClr val="D97757"/>
            </a:solidFill>
            <a:prstDash val="solid"/>
          </a:ln>
        </p:spPr>
        <p:txBody>
          <a:bodyPr/>
          <a:lstStyle/>
          <a:p>
            <a:endParaRPr lang="en-US"/>
          </a:p>
        </p:txBody>
      </p:sp>
      <p:sp>
        <p:nvSpPr>
          <p:cNvPr id="16" name="text-110"/>
          <p:cNvSpPr txBox="1"/>
          <p:nvPr/>
        </p:nvSpPr>
        <p:spPr>
          <a:xfrm>
            <a:off x="5623560" y="249631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banana</a:t>
            </a:r>
            <a:endParaRPr lang="en-US" sz="1300" dirty="0"/>
          </a:p>
        </p:txBody>
      </p:sp>
      <p:sp>
        <p:nvSpPr>
          <p:cNvPr id="17" name="dot-111"/>
          <p:cNvSpPr/>
          <p:nvPr/>
        </p:nvSpPr>
        <p:spPr>
          <a:xfrm>
            <a:off x="4745736" y="2825496"/>
            <a:ext cx="201168" cy="201168"/>
          </a:xfrm>
          <a:prstGeom prst="ellipse">
            <a:avLst/>
          </a:prstGeom>
          <a:solidFill>
            <a:srgbClr val="D97757"/>
          </a:solidFill>
          <a:ln w="12700">
            <a:solidFill>
              <a:srgbClr val="D97757"/>
            </a:solidFill>
            <a:prstDash val="solid"/>
          </a:ln>
        </p:spPr>
        <p:txBody>
          <a:bodyPr/>
          <a:lstStyle/>
          <a:p>
            <a:endParaRPr lang="en-US"/>
          </a:p>
        </p:txBody>
      </p:sp>
      <p:sp>
        <p:nvSpPr>
          <p:cNvPr id="18" name="text-112"/>
          <p:cNvSpPr txBox="1"/>
          <p:nvPr/>
        </p:nvSpPr>
        <p:spPr>
          <a:xfrm>
            <a:off x="4983480" y="277063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mango</a:t>
            </a:r>
            <a:endParaRPr lang="en-US" sz="1300" dirty="0"/>
          </a:p>
        </p:txBody>
      </p:sp>
      <p:sp>
        <p:nvSpPr>
          <p:cNvPr id="19" name="dot-113"/>
          <p:cNvSpPr/>
          <p:nvPr/>
        </p:nvSpPr>
        <p:spPr>
          <a:xfrm>
            <a:off x="4837176" y="4745736"/>
            <a:ext cx="201168" cy="201168"/>
          </a:xfrm>
          <a:prstGeom prst="ellipse">
            <a:avLst/>
          </a:prstGeom>
          <a:solidFill>
            <a:srgbClr val="E9B949"/>
          </a:solidFill>
          <a:ln w="12700">
            <a:solidFill>
              <a:srgbClr val="E9B949"/>
            </a:solidFill>
            <a:prstDash val="solid"/>
          </a:ln>
        </p:spPr>
        <p:txBody>
          <a:bodyPr/>
          <a:lstStyle/>
          <a:p>
            <a:endParaRPr lang="en-US"/>
          </a:p>
        </p:txBody>
      </p:sp>
      <p:sp>
        <p:nvSpPr>
          <p:cNvPr id="20" name="text-114"/>
          <p:cNvSpPr txBox="1"/>
          <p:nvPr/>
        </p:nvSpPr>
        <p:spPr>
          <a:xfrm>
            <a:off x="5074920" y="469087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car</a:t>
            </a:r>
            <a:endParaRPr lang="en-US" sz="1300" dirty="0"/>
          </a:p>
        </p:txBody>
      </p:sp>
      <p:sp>
        <p:nvSpPr>
          <p:cNvPr id="21" name="dot-115"/>
          <p:cNvSpPr/>
          <p:nvPr/>
        </p:nvSpPr>
        <p:spPr>
          <a:xfrm>
            <a:off x="5477256" y="5111496"/>
            <a:ext cx="201168" cy="201168"/>
          </a:xfrm>
          <a:prstGeom prst="ellipse">
            <a:avLst/>
          </a:prstGeom>
          <a:solidFill>
            <a:srgbClr val="E9B949"/>
          </a:solidFill>
          <a:ln w="12700">
            <a:solidFill>
              <a:srgbClr val="E9B949"/>
            </a:solidFill>
            <a:prstDash val="solid"/>
          </a:ln>
        </p:spPr>
        <p:txBody>
          <a:bodyPr/>
          <a:lstStyle/>
          <a:p>
            <a:endParaRPr lang="en-US"/>
          </a:p>
        </p:txBody>
      </p:sp>
      <p:sp>
        <p:nvSpPr>
          <p:cNvPr id="22" name="text-116"/>
          <p:cNvSpPr txBox="1"/>
          <p:nvPr/>
        </p:nvSpPr>
        <p:spPr>
          <a:xfrm>
            <a:off x="5715000" y="505663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truck</a:t>
            </a:r>
            <a:endParaRPr lang="en-US" sz="1300" dirty="0"/>
          </a:p>
        </p:txBody>
      </p:sp>
      <p:sp>
        <p:nvSpPr>
          <p:cNvPr id="23" name="dot-117"/>
          <p:cNvSpPr/>
          <p:nvPr/>
        </p:nvSpPr>
        <p:spPr>
          <a:xfrm>
            <a:off x="5202936" y="4379976"/>
            <a:ext cx="201168" cy="201168"/>
          </a:xfrm>
          <a:prstGeom prst="ellipse">
            <a:avLst/>
          </a:prstGeom>
          <a:solidFill>
            <a:srgbClr val="E9B949"/>
          </a:solidFill>
          <a:ln w="12700">
            <a:solidFill>
              <a:srgbClr val="E9B949"/>
            </a:solidFill>
            <a:prstDash val="solid"/>
          </a:ln>
        </p:spPr>
        <p:txBody>
          <a:bodyPr/>
          <a:lstStyle/>
          <a:p>
            <a:endParaRPr lang="en-US"/>
          </a:p>
        </p:txBody>
      </p:sp>
      <p:sp>
        <p:nvSpPr>
          <p:cNvPr id="24" name="text-118"/>
          <p:cNvSpPr txBox="1"/>
          <p:nvPr/>
        </p:nvSpPr>
        <p:spPr>
          <a:xfrm>
            <a:off x="5440680" y="4325112"/>
            <a:ext cx="914400" cy="310896"/>
          </a:xfrm>
          <a:prstGeom prst="rect">
            <a:avLst/>
          </a:prstGeom>
          <a:noFill/>
          <a:ln/>
        </p:spPr>
        <p:txBody>
          <a:bodyPr wrap="square" lIns="0" tIns="0" rIns="0" bIns="0" rtlCol="0" anchor="ctr"/>
          <a:lstStyle/>
          <a:p>
            <a:pPr marL="0" indent="0" algn="l">
              <a:buNone/>
            </a:pPr>
            <a:r>
              <a:rPr lang="en-US" sz="1300" b="1" dirty="0">
                <a:solidFill>
                  <a:schemeClr val="tx2"/>
                </a:solidFill>
              </a:rPr>
              <a:t>bus</a:t>
            </a:r>
            <a:endParaRPr lang="en-US" sz="1300" dirty="0"/>
          </a:p>
        </p:txBody>
      </p:sp>
      <p:sp>
        <p:nvSpPr>
          <p:cNvPr id="25" name="arrow-119"/>
          <p:cNvSpPr/>
          <p:nvPr/>
        </p:nvSpPr>
        <p:spPr>
          <a:xfrm flipV="1">
            <a:off x="1280160" y="2907792"/>
            <a:ext cx="914" cy="1435608"/>
          </a:xfrm>
          <a:prstGeom prst="line">
            <a:avLst/>
          </a:prstGeom>
          <a:noFill/>
          <a:ln w="22225">
            <a:solidFill>
              <a:schemeClr val="accent3"/>
            </a:solidFill>
            <a:prstDash val="solid"/>
            <a:tailEnd type="triangle"/>
          </a:ln>
        </p:spPr>
        <p:txBody>
          <a:bodyPr/>
          <a:lstStyle/>
          <a:p>
            <a:endParaRPr lang="en-US"/>
          </a:p>
        </p:txBody>
      </p:sp>
      <p:sp>
        <p:nvSpPr>
          <p:cNvPr id="26" name="arrow-120"/>
          <p:cNvSpPr/>
          <p:nvPr/>
        </p:nvSpPr>
        <p:spPr>
          <a:xfrm flipV="1">
            <a:off x="3017520" y="2907792"/>
            <a:ext cx="914" cy="1435608"/>
          </a:xfrm>
          <a:prstGeom prst="line">
            <a:avLst/>
          </a:prstGeom>
          <a:noFill/>
          <a:ln w="22225">
            <a:solidFill>
              <a:schemeClr val="accent3"/>
            </a:solidFill>
            <a:prstDash val="solid"/>
            <a:tailEnd type="triangle"/>
          </a:ln>
        </p:spPr>
        <p:txBody>
          <a:bodyPr/>
          <a:lstStyle/>
          <a:p>
            <a:endParaRPr lang="en-US"/>
          </a:p>
        </p:txBody>
      </p:sp>
      <p:sp>
        <p:nvSpPr>
          <p:cNvPr id="27" name="text-121"/>
          <p:cNvSpPr txBox="1"/>
          <p:nvPr/>
        </p:nvSpPr>
        <p:spPr>
          <a:xfrm>
            <a:off x="1417320" y="3429000"/>
            <a:ext cx="1554480" cy="457200"/>
          </a:xfrm>
          <a:prstGeom prst="rect">
            <a:avLst/>
          </a:prstGeom>
          <a:noFill/>
          <a:ln/>
        </p:spPr>
        <p:txBody>
          <a:bodyPr wrap="square" lIns="0" tIns="0" rIns="0" bIns="0" rtlCol="0" anchor="t"/>
          <a:lstStyle/>
          <a:p>
            <a:pPr marL="0" indent="0" algn="l">
              <a:buNone/>
            </a:pPr>
            <a:r>
              <a:rPr lang="en-US" sz="1100" i="1" dirty="0">
                <a:solidFill>
                  <a:schemeClr val="accent3"/>
                </a:solidFill>
              </a:rPr>
              <a:t>same “gender” direction</a:t>
            </a:r>
            <a:endParaRPr lang="en-US" sz="1100" dirty="0"/>
          </a:p>
        </p:txBody>
      </p:sp>
      <p:sp>
        <p:nvSpPr>
          <p:cNvPr id="28" name="text-122"/>
          <p:cNvSpPr txBox="1"/>
          <p:nvPr/>
        </p:nvSpPr>
        <p:spPr>
          <a:xfrm>
            <a:off x="4663440" y="1783080"/>
            <a:ext cx="914400" cy="274320"/>
          </a:xfrm>
          <a:prstGeom prst="rect">
            <a:avLst/>
          </a:prstGeom>
          <a:noFill/>
          <a:ln/>
        </p:spPr>
        <p:txBody>
          <a:bodyPr wrap="square" lIns="0" tIns="0" rIns="0" bIns="0" rtlCol="0" anchor="t"/>
          <a:lstStyle/>
          <a:p>
            <a:pPr marL="0" indent="0" algn="l">
              <a:buNone/>
            </a:pPr>
            <a:r>
              <a:rPr lang="en-US" sz="1100" i="1" dirty="0">
                <a:solidFill>
                  <a:schemeClr val="accent1"/>
                </a:solidFill>
              </a:rPr>
              <a:t>fruit</a:t>
            </a:r>
            <a:endParaRPr lang="en-US" sz="1100" dirty="0"/>
          </a:p>
        </p:txBody>
      </p:sp>
      <p:sp>
        <p:nvSpPr>
          <p:cNvPr id="29" name="text-123"/>
          <p:cNvSpPr txBox="1"/>
          <p:nvPr/>
        </p:nvSpPr>
        <p:spPr>
          <a:xfrm>
            <a:off x="4480560" y="5532120"/>
            <a:ext cx="1097280" cy="274320"/>
          </a:xfrm>
          <a:prstGeom prst="rect">
            <a:avLst/>
          </a:prstGeom>
          <a:noFill/>
          <a:ln/>
        </p:spPr>
        <p:txBody>
          <a:bodyPr wrap="square" lIns="0" tIns="0" rIns="0" bIns="0" rtlCol="0" anchor="t"/>
          <a:lstStyle/>
          <a:p>
            <a:pPr marL="0" indent="0" algn="l">
              <a:buNone/>
            </a:pPr>
            <a:r>
              <a:rPr lang="en-US" sz="1100" i="1" dirty="0">
                <a:solidFill>
                  <a:schemeClr val="accent4"/>
                </a:solidFill>
              </a:rPr>
              <a:t>vehicles</a:t>
            </a:r>
            <a:endParaRPr lang="en-US" sz="1100" dirty="0"/>
          </a:p>
        </p:txBody>
      </p:sp>
      <p:sp>
        <p:nvSpPr>
          <p:cNvPr id="30" name="text-124"/>
          <p:cNvSpPr txBox="1"/>
          <p:nvPr/>
        </p:nvSpPr>
        <p:spPr>
          <a:xfrm>
            <a:off x="7040880" y="1463040"/>
            <a:ext cx="4572000" cy="731520"/>
          </a:xfrm>
          <a:prstGeom prst="rect">
            <a:avLst/>
          </a:prstGeom>
          <a:noFill/>
          <a:ln/>
        </p:spPr>
        <p:txBody>
          <a:bodyPr wrap="square" lIns="0" tIns="0" rIns="0" bIns="0" rtlCol="0" anchor="t"/>
          <a:lstStyle/>
          <a:p>
            <a:pPr marL="0" indent="0" algn="l">
              <a:buNone/>
            </a:pPr>
            <a:r>
              <a:rPr lang="en-US" sz="2000" b="1" dirty="0">
                <a:solidFill>
                  <a:schemeClr val="tx2"/>
                </a:solidFill>
                <a:latin typeface="Cambria" pitchFamily="34" charset="0"/>
                <a:ea typeface="Cambria" pitchFamily="34" charset="-122"/>
                <a:cs typeface="Cambria" pitchFamily="34" charset="-120"/>
              </a:rPr>
              <a:t>Each token ID becomes a long list of numbers (a vector)</a:t>
            </a:r>
            <a:endParaRPr lang="en-US" sz="2000" dirty="0"/>
          </a:p>
        </p:txBody>
      </p:sp>
      <p:sp>
        <p:nvSpPr>
          <p:cNvPr id="31" name="text-125"/>
          <p:cNvSpPr txBox="1"/>
          <p:nvPr/>
        </p:nvSpPr>
        <p:spPr>
          <a:xfrm>
            <a:off x="7040880" y="2377440"/>
            <a:ext cx="4572000" cy="3474720"/>
          </a:xfrm>
          <a:prstGeom prst="rect">
            <a:avLst/>
          </a:prstGeom>
          <a:noFill/>
          <a:ln/>
        </p:spPr>
        <p:txBody>
          <a:bodyPr wrap="square" lIns="0" tIns="0" rIns="0" bIns="0" rtlCol="0" anchor="t"/>
          <a:lstStyle/>
          <a:p>
            <a:pPr marL="203200" indent="-203200" algn="l">
              <a:spcAft>
                <a:spcPts val="600"/>
              </a:spcAft>
              <a:buSzPct val="100000"/>
              <a:buChar char="•"/>
            </a:pPr>
            <a:r>
              <a:rPr lang="en-US" sz="1500" dirty="0">
                <a:solidFill>
                  <a:schemeClr val="tx1"/>
                </a:solidFill>
              </a:rPr>
              <a:t>Similar meanings land close together</a:t>
            </a:r>
            <a:endParaRPr lang="en-US" sz="1500" dirty="0"/>
          </a:p>
          <a:p>
            <a:pPr marL="203200" indent="-203200" algn="l">
              <a:spcAft>
                <a:spcPts val="600"/>
              </a:spcAft>
              <a:buSzPct val="100000"/>
              <a:buChar char="•"/>
            </a:pPr>
            <a:r>
              <a:rPr lang="en-US" sz="1500" dirty="0">
                <a:solidFill>
                  <a:schemeClr val="tx1"/>
                </a:solidFill>
              </a:rPr>
              <a:t>Directions carry relationships: king − man + woman ≈ queen</a:t>
            </a:r>
            <a:endParaRPr lang="en-US" sz="1500" dirty="0"/>
          </a:p>
          <a:p>
            <a:pPr marL="203200" indent="-203200" algn="l">
              <a:spcAft>
                <a:spcPts val="600"/>
              </a:spcAft>
              <a:buSzPct val="100000"/>
              <a:buChar char="•"/>
            </a:pPr>
            <a:r>
              <a:rPr lang="en-US" sz="1500" dirty="0">
                <a:solidFill>
                  <a:schemeClr val="tx1"/>
                </a:solidFill>
              </a:rPr>
              <a:t>Embeddings are learned during training, not hand-written</a:t>
            </a:r>
            <a:endParaRPr lang="en-US" sz="1500" dirty="0"/>
          </a:p>
          <a:p>
            <a:pPr marL="203200" indent="-203200" algn="l">
              <a:spcAft>
                <a:spcPts val="600"/>
              </a:spcAft>
              <a:buSzPct val="100000"/>
              <a:buChar char="•"/>
            </a:pPr>
            <a:r>
              <a:rPr lang="en-US" sz="1500" dirty="0">
                <a:solidFill>
                  <a:schemeClr val="tx1"/>
                </a:solidFill>
              </a:rPr>
              <a:t>Also used for semantic search: find documents whose vectors are close to your question (→ RAG)</a:t>
            </a:r>
            <a:endParaRPr lang="en-US" sz="15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transformer: the engine inside every LLM</a:t>
            </a:r>
            <a:endParaRPr lang="en-US" sz="3400" dirty="0"/>
          </a:p>
        </p:txBody>
      </p:sp>
      <p:sp>
        <p:nvSpPr>
          <p:cNvPr id="3" name="card-126"/>
          <p:cNvSpPr/>
          <p:nvPr/>
        </p:nvSpPr>
        <p:spPr>
          <a:xfrm>
            <a:off x="822960" y="1325880"/>
            <a:ext cx="4206240" cy="939800"/>
          </a:xfrm>
          <a:prstGeom prst="roundRect">
            <a:avLst>
              <a:gd name="adj" fmla="val 18182"/>
            </a:avLst>
          </a:prstGeom>
          <a:solidFill>
            <a:schemeClr val="bg2"/>
          </a:solidFill>
          <a:ln w="9525">
            <a:solidFill>
              <a:schemeClr val="bg2"/>
            </a:solidFill>
            <a:prstDash val="solid"/>
          </a:ln>
        </p:spPr>
        <p:txBody>
          <a:bodyPr/>
          <a:lstStyle/>
          <a:p>
            <a:endParaRPr lang="en-US"/>
          </a:p>
        </p:txBody>
      </p:sp>
      <p:sp>
        <p:nvSpPr>
          <p:cNvPr id="4" name="text-127"/>
          <p:cNvSpPr txBox="1"/>
          <p:nvPr/>
        </p:nvSpPr>
        <p:spPr>
          <a:xfrm>
            <a:off x="822960" y="1325880"/>
            <a:ext cx="4206240" cy="355600"/>
          </a:xfrm>
          <a:prstGeom prst="rect">
            <a:avLst/>
          </a:prstGeom>
          <a:noFill/>
          <a:ln/>
        </p:spPr>
        <p:txBody>
          <a:bodyPr wrap="square" lIns="0" tIns="0" rIns="0" bIns="0" rtlCol="0" anchor="ctr"/>
          <a:lstStyle/>
          <a:p>
            <a:pPr marL="0" indent="0" algn="ctr">
              <a:buNone/>
            </a:pPr>
            <a:r>
              <a:rPr lang="en-US" sz="1400" b="1" dirty="0">
                <a:solidFill>
                  <a:schemeClr val="tx2"/>
                </a:solidFill>
              </a:rPr>
              <a:t>Input tokens</a:t>
            </a:r>
            <a:endParaRPr lang="en-US" sz="1400" dirty="0"/>
          </a:p>
        </p:txBody>
      </p:sp>
      <p:sp>
        <p:nvSpPr>
          <p:cNvPr id="200" name="token-chip-1"/>
          <p:cNvSpPr/>
          <p:nvPr/>
        </p:nvSpPr>
        <p:spPr>
          <a:xfrm>
            <a:off x="958850" y="1752600"/>
            <a:ext cx="622300" cy="330200"/>
          </a:xfrm>
          <a:prstGeom prst="roundRect">
            <a:avLst>
              <a:gd name="adj" fmla="val 20000"/>
            </a:avLst>
          </a:prstGeom>
          <a:solidFill>
            <a:srgbClr val="F7DDD3"/>
          </a:solidFill>
          <a:ln>
            <a:noFill/>
          </a:ln>
        </p:spPr>
        <p:txBody>
          <a:bodyPr wrap="none" lIns="0" tIns="0" rIns="0" bIns="0" anchor="ctr"/>
          <a:lstStyle/>
          <a:p>
            <a:pPr algn="ctr">
              <a:buNone/>
            </a:pPr>
            <a:r>
              <a:rPr lang="en-US" sz="1400" dirty="0">
                <a:solidFill>
                  <a:schemeClr val="tx2"/>
                </a:solidFill>
              </a:rPr>
              <a:t>Token</a:t>
            </a:r>
          </a:p>
        </p:txBody>
      </p:sp>
      <p:sp>
        <p:nvSpPr>
          <p:cNvPr id="201" name="token-chip-2"/>
          <p:cNvSpPr/>
          <p:nvPr/>
        </p:nvSpPr>
        <p:spPr>
          <a:xfrm>
            <a:off x="1657350" y="1752600"/>
            <a:ext cx="800100" cy="330200"/>
          </a:xfrm>
          <a:prstGeom prst="roundRect">
            <a:avLst>
              <a:gd name="adj" fmla="val 20000"/>
            </a:avLst>
          </a:prstGeom>
          <a:solidFill>
            <a:srgbClr val="DEDCFF"/>
          </a:solidFill>
          <a:ln>
            <a:noFill/>
          </a:ln>
        </p:spPr>
        <p:txBody>
          <a:bodyPr wrap="none" lIns="0" tIns="0" rIns="0" bIns="0" anchor="ctr"/>
          <a:lstStyle/>
          <a:p>
            <a:pPr algn="ctr">
              <a:buNone/>
            </a:pPr>
            <a:r>
              <a:rPr lang="en-US" sz="1400" dirty="0">
                <a:solidFill>
                  <a:schemeClr val="tx2"/>
                </a:solidFill>
              </a:rPr>
              <a:t>ization</a:t>
            </a:r>
          </a:p>
        </p:txBody>
      </p:sp>
      <p:sp>
        <p:nvSpPr>
          <p:cNvPr id="202" name="token-chip-3"/>
          <p:cNvSpPr/>
          <p:nvPr/>
        </p:nvSpPr>
        <p:spPr>
          <a:xfrm>
            <a:off x="2533650" y="1752600"/>
            <a:ext cx="444500" cy="330200"/>
          </a:xfrm>
          <a:prstGeom prst="roundRect">
            <a:avLst>
              <a:gd name="adj" fmla="val 20000"/>
            </a:avLst>
          </a:prstGeom>
          <a:solidFill>
            <a:srgbClr val="F7DDD3"/>
          </a:solidFill>
          <a:ln>
            <a:noFill/>
          </a:ln>
        </p:spPr>
        <p:txBody>
          <a:bodyPr wrap="none" lIns="0" tIns="0" rIns="0" bIns="0" anchor="ctr"/>
          <a:lstStyle/>
          <a:p>
            <a:pPr algn="ctr">
              <a:buNone/>
            </a:pPr>
            <a:r>
              <a:rPr lang="en-US" sz="1400" dirty="0">
                <a:solidFill>
                  <a:schemeClr val="tx2"/>
                </a:solidFill>
              </a:rPr>
              <a:t>␣is</a:t>
            </a:r>
          </a:p>
        </p:txBody>
      </p:sp>
      <p:sp>
        <p:nvSpPr>
          <p:cNvPr id="203" name="token-chip-4"/>
          <p:cNvSpPr/>
          <p:nvPr/>
        </p:nvSpPr>
        <p:spPr>
          <a:xfrm>
            <a:off x="3054350" y="1752600"/>
            <a:ext cx="444500" cy="330200"/>
          </a:xfrm>
          <a:prstGeom prst="roundRect">
            <a:avLst>
              <a:gd name="adj" fmla="val 20000"/>
            </a:avLst>
          </a:prstGeom>
          <a:solidFill>
            <a:srgbClr val="DEDCFF"/>
          </a:solidFill>
          <a:ln>
            <a:noFill/>
          </a:ln>
        </p:spPr>
        <p:txBody>
          <a:bodyPr wrap="none" lIns="0" tIns="0" rIns="0" bIns="0" anchor="ctr"/>
          <a:lstStyle/>
          <a:p>
            <a:pPr algn="ctr">
              <a:buNone/>
            </a:pPr>
            <a:r>
              <a:rPr lang="en-US" sz="1400" dirty="0">
                <a:solidFill>
                  <a:schemeClr val="tx2"/>
                </a:solidFill>
              </a:rPr>
              <a:t>␣un</a:t>
            </a:r>
          </a:p>
        </p:txBody>
      </p:sp>
      <p:sp>
        <p:nvSpPr>
          <p:cNvPr id="204" name="token-chip-5"/>
          <p:cNvSpPr/>
          <p:nvPr/>
        </p:nvSpPr>
        <p:spPr>
          <a:xfrm>
            <a:off x="3575050" y="1752600"/>
            <a:ext cx="711200" cy="330200"/>
          </a:xfrm>
          <a:prstGeom prst="roundRect">
            <a:avLst>
              <a:gd name="adj" fmla="val 20000"/>
            </a:avLst>
          </a:prstGeom>
          <a:solidFill>
            <a:srgbClr val="F7DDD3"/>
          </a:solidFill>
          <a:ln>
            <a:noFill/>
          </a:ln>
        </p:spPr>
        <p:txBody>
          <a:bodyPr wrap="none" lIns="0" tIns="0" rIns="0" bIns="0" anchor="ctr"/>
          <a:lstStyle/>
          <a:p>
            <a:pPr algn="ctr">
              <a:buNone/>
            </a:pPr>
            <a:r>
              <a:rPr lang="en-US" sz="1400" dirty="0">
                <a:solidFill>
                  <a:schemeClr val="tx2"/>
                </a:solidFill>
              </a:rPr>
              <a:t>believ</a:t>
            </a:r>
          </a:p>
        </p:txBody>
      </p:sp>
      <p:sp>
        <p:nvSpPr>
          <p:cNvPr id="205" name="token-chip-6"/>
          <p:cNvSpPr/>
          <p:nvPr/>
        </p:nvSpPr>
        <p:spPr>
          <a:xfrm>
            <a:off x="4362450" y="1752600"/>
            <a:ext cx="533400" cy="330200"/>
          </a:xfrm>
          <a:prstGeom prst="roundRect">
            <a:avLst>
              <a:gd name="adj" fmla="val 20000"/>
            </a:avLst>
          </a:prstGeom>
          <a:solidFill>
            <a:srgbClr val="DEDCFF"/>
          </a:solidFill>
          <a:ln>
            <a:noFill/>
          </a:ln>
        </p:spPr>
        <p:txBody>
          <a:bodyPr wrap="none" lIns="0" tIns="0" rIns="0" bIns="0" anchor="ctr"/>
          <a:lstStyle/>
          <a:p>
            <a:pPr algn="ctr">
              <a:buNone/>
            </a:pPr>
            <a:r>
              <a:rPr lang="en-US" sz="1400" dirty="0">
                <a:solidFill>
                  <a:schemeClr val="tx2"/>
                </a:solidFill>
              </a:rPr>
              <a:t>able</a:t>
            </a:r>
          </a:p>
        </p:txBody>
      </p:sp>
      <p:sp>
        <p:nvSpPr>
          <p:cNvPr id="5" name="card-128"/>
          <p:cNvSpPr/>
          <p:nvPr/>
        </p:nvSpPr>
        <p:spPr>
          <a:xfrm>
            <a:off x="822960" y="2489200"/>
            <a:ext cx="4206240" cy="502920"/>
          </a:xfrm>
          <a:prstGeom prst="roundRect">
            <a:avLst>
              <a:gd name="adj" fmla="val 18182"/>
            </a:avLst>
          </a:prstGeom>
          <a:solidFill>
            <a:schemeClr val="bg2"/>
          </a:solidFill>
          <a:ln w="9525">
            <a:solidFill>
              <a:schemeClr val="bg2"/>
            </a:solidFill>
            <a:prstDash val="solid"/>
          </a:ln>
        </p:spPr>
        <p:txBody>
          <a:bodyPr/>
          <a:lstStyle/>
          <a:p>
            <a:endParaRPr lang="en-US"/>
          </a:p>
        </p:txBody>
      </p:sp>
      <p:sp>
        <p:nvSpPr>
          <p:cNvPr id="6" name="text-129"/>
          <p:cNvSpPr txBox="1"/>
          <p:nvPr/>
        </p:nvSpPr>
        <p:spPr>
          <a:xfrm>
            <a:off x="822960" y="2489200"/>
            <a:ext cx="4206240" cy="502920"/>
          </a:xfrm>
          <a:prstGeom prst="rect">
            <a:avLst/>
          </a:prstGeom>
          <a:noFill/>
          <a:ln/>
        </p:spPr>
        <p:txBody>
          <a:bodyPr wrap="square" lIns="0" tIns="0" rIns="0" bIns="0" rtlCol="0" anchor="ctr"/>
          <a:lstStyle/>
          <a:p>
            <a:pPr marL="0" indent="0" algn="ctr">
              <a:buNone/>
            </a:pPr>
            <a:r>
              <a:rPr lang="en-US" sz="1400" b="1" dirty="0">
                <a:solidFill>
                  <a:schemeClr val="tx2"/>
                </a:solidFill>
              </a:rPr>
              <a:t>Token embeddings + position</a:t>
            </a:r>
            <a:endParaRPr lang="en-US" sz="1400" dirty="0"/>
          </a:p>
        </p:txBody>
      </p:sp>
      <p:sp>
        <p:nvSpPr>
          <p:cNvPr id="7" name="arrow-130"/>
          <p:cNvSpPr/>
          <p:nvPr/>
        </p:nvSpPr>
        <p:spPr>
          <a:xfrm>
            <a:off x="2926080" y="2260600"/>
            <a:ext cx="914" cy="228600"/>
          </a:xfrm>
          <a:prstGeom prst="line">
            <a:avLst/>
          </a:prstGeom>
          <a:noFill/>
          <a:ln w="25400">
            <a:solidFill>
              <a:schemeClr val="accent5"/>
            </a:solidFill>
            <a:prstDash val="solid"/>
            <a:tailEnd type="triangle"/>
          </a:ln>
        </p:spPr>
        <p:txBody>
          <a:bodyPr/>
          <a:lstStyle/>
          <a:p>
            <a:endParaRPr lang="en-US"/>
          </a:p>
        </p:txBody>
      </p:sp>
      <p:sp>
        <p:nvSpPr>
          <p:cNvPr id="8" name="arrow-131"/>
          <p:cNvSpPr/>
          <p:nvPr/>
        </p:nvSpPr>
        <p:spPr>
          <a:xfrm>
            <a:off x="2926080" y="2992120"/>
            <a:ext cx="914" cy="274320"/>
          </a:xfrm>
          <a:prstGeom prst="line">
            <a:avLst/>
          </a:prstGeom>
          <a:noFill/>
          <a:ln w="25400">
            <a:solidFill>
              <a:schemeClr val="accent5"/>
            </a:solidFill>
            <a:prstDash val="solid"/>
            <a:tailEnd type="triangle"/>
          </a:ln>
        </p:spPr>
        <p:txBody>
          <a:bodyPr/>
          <a:lstStyle/>
          <a:p>
            <a:endParaRPr lang="en-US"/>
          </a:p>
        </p:txBody>
      </p:sp>
      <p:sp>
        <p:nvSpPr>
          <p:cNvPr id="9" name="card-132"/>
          <p:cNvSpPr/>
          <p:nvPr/>
        </p:nvSpPr>
        <p:spPr>
          <a:xfrm>
            <a:off x="685800" y="3266440"/>
            <a:ext cx="4480560" cy="1874520"/>
          </a:xfrm>
          <a:prstGeom prst="roundRect">
            <a:avLst>
              <a:gd name="adj" fmla="val 4878"/>
            </a:avLst>
          </a:prstGeom>
          <a:solidFill>
            <a:schemeClr val="tx2"/>
          </a:solidFill>
          <a:ln w="9525">
            <a:solidFill>
              <a:schemeClr val="tx2"/>
            </a:solidFill>
            <a:prstDash val="solid"/>
          </a:ln>
        </p:spPr>
        <p:txBody>
          <a:bodyPr/>
          <a:lstStyle/>
          <a:p>
            <a:endParaRPr lang="en-US"/>
          </a:p>
        </p:txBody>
      </p:sp>
      <p:sp>
        <p:nvSpPr>
          <p:cNvPr id="10" name="card-133"/>
          <p:cNvSpPr/>
          <p:nvPr/>
        </p:nvSpPr>
        <p:spPr>
          <a:xfrm>
            <a:off x="960120" y="3449320"/>
            <a:ext cx="3931920" cy="548640"/>
          </a:xfrm>
          <a:prstGeom prst="roundRect">
            <a:avLst>
              <a:gd name="adj" fmla="val 16667"/>
            </a:avLst>
          </a:prstGeom>
          <a:solidFill>
            <a:schemeClr val="accent1"/>
          </a:solidFill>
          <a:ln w="9525">
            <a:solidFill>
              <a:schemeClr val="accent1"/>
            </a:solidFill>
            <a:prstDash val="solid"/>
          </a:ln>
        </p:spPr>
        <p:txBody>
          <a:bodyPr/>
          <a:lstStyle/>
          <a:p>
            <a:endParaRPr lang="en-US"/>
          </a:p>
        </p:txBody>
      </p:sp>
      <p:sp>
        <p:nvSpPr>
          <p:cNvPr id="11" name="text-134"/>
          <p:cNvSpPr txBox="1"/>
          <p:nvPr/>
        </p:nvSpPr>
        <p:spPr>
          <a:xfrm>
            <a:off x="960120" y="3449320"/>
            <a:ext cx="3931920" cy="548640"/>
          </a:xfrm>
          <a:prstGeom prst="rect">
            <a:avLst/>
          </a:prstGeom>
          <a:noFill/>
          <a:ln/>
        </p:spPr>
        <p:txBody>
          <a:bodyPr wrap="square" lIns="0" tIns="0" rIns="0" bIns="0" rtlCol="0" anchor="ctr"/>
          <a:lstStyle/>
          <a:p>
            <a:pPr marL="0" indent="0" algn="ctr">
              <a:buNone/>
            </a:pPr>
            <a:r>
              <a:rPr lang="en-US" sz="1400" b="1" dirty="0">
                <a:solidFill>
                  <a:schemeClr val="tx2"/>
                </a:solidFill>
              </a:rPr>
              <a:t>Self-attention</a:t>
            </a:r>
            <a:endParaRPr lang="en-US" sz="1400" dirty="0"/>
          </a:p>
        </p:txBody>
      </p:sp>
      <p:sp>
        <p:nvSpPr>
          <p:cNvPr id="12" name="arrow-135"/>
          <p:cNvSpPr/>
          <p:nvPr/>
        </p:nvSpPr>
        <p:spPr>
          <a:xfrm>
            <a:off x="2926080" y="3997960"/>
            <a:ext cx="914" cy="274320"/>
          </a:xfrm>
          <a:prstGeom prst="line">
            <a:avLst/>
          </a:prstGeom>
          <a:noFill/>
          <a:ln w="25400">
            <a:solidFill>
              <a:schemeClr val="bg1"/>
            </a:solidFill>
            <a:prstDash val="solid"/>
            <a:tailEnd type="triangle"/>
          </a:ln>
        </p:spPr>
        <p:txBody>
          <a:bodyPr/>
          <a:lstStyle/>
          <a:p>
            <a:endParaRPr lang="en-US"/>
          </a:p>
        </p:txBody>
      </p:sp>
      <p:sp>
        <p:nvSpPr>
          <p:cNvPr id="13" name="card-136"/>
          <p:cNvSpPr/>
          <p:nvPr/>
        </p:nvSpPr>
        <p:spPr>
          <a:xfrm>
            <a:off x="960120" y="4272280"/>
            <a:ext cx="3931920" cy="54864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14" name="text-137"/>
          <p:cNvSpPr txBox="1"/>
          <p:nvPr/>
        </p:nvSpPr>
        <p:spPr>
          <a:xfrm>
            <a:off x="960120" y="4272280"/>
            <a:ext cx="3931920" cy="548640"/>
          </a:xfrm>
          <a:prstGeom prst="rect">
            <a:avLst/>
          </a:prstGeom>
          <a:noFill/>
          <a:ln/>
        </p:spPr>
        <p:txBody>
          <a:bodyPr wrap="square" lIns="0" tIns="0" rIns="0" bIns="0" rtlCol="0" anchor="ctr"/>
          <a:lstStyle/>
          <a:p>
            <a:pPr marL="0" indent="0" algn="ctr">
              <a:buNone/>
            </a:pPr>
            <a:r>
              <a:rPr lang="en-US" sz="1400" b="1" dirty="0">
                <a:solidFill>
                  <a:schemeClr val="bg1"/>
                </a:solidFill>
              </a:rPr>
              <a:t>Feed-forward network</a:t>
            </a:r>
            <a:endParaRPr lang="en-US" sz="1400" dirty="0"/>
          </a:p>
        </p:txBody>
      </p:sp>
      <p:sp>
        <p:nvSpPr>
          <p:cNvPr id="15" name="text-138"/>
          <p:cNvSpPr txBox="1"/>
          <p:nvPr/>
        </p:nvSpPr>
        <p:spPr>
          <a:xfrm>
            <a:off x="5303520" y="3952240"/>
            <a:ext cx="1188720" cy="457200"/>
          </a:xfrm>
          <a:prstGeom prst="rect">
            <a:avLst/>
          </a:prstGeom>
          <a:noFill/>
          <a:ln/>
        </p:spPr>
        <p:txBody>
          <a:bodyPr wrap="square" lIns="0" tIns="0" rIns="0" bIns="0" rtlCol="0" anchor="ctr"/>
          <a:lstStyle/>
          <a:p>
            <a:pPr marL="0" indent="0" algn="l">
              <a:buNone/>
            </a:pPr>
            <a:r>
              <a:rPr lang="en-US" sz="1800" b="1" dirty="0">
                <a:solidFill>
                  <a:schemeClr val="accent3"/>
                </a:solidFill>
              </a:rPr>
              <a:t>× N layers</a:t>
            </a:r>
            <a:endParaRPr lang="en-US" sz="1800" dirty="0"/>
          </a:p>
        </p:txBody>
      </p:sp>
      <p:sp>
        <p:nvSpPr>
          <p:cNvPr id="16" name="arrow-139"/>
          <p:cNvSpPr/>
          <p:nvPr/>
        </p:nvSpPr>
        <p:spPr>
          <a:xfrm>
            <a:off x="2926080" y="5140960"/>
            <a:ext cx="914" cy="274320"/>
          </a:xfrm>
          <a:prstGeom prst="line">
            <a:avLst/>
          </a:prstGeom>
          <a:noFill/>
          <a:ln w="25400">
            <a:solidFill>
              <a:schemeClr val="accent5"/>
            </a:solidFill>
            <a:prstDash val="solid"/>
            <a:tailEnd type="triangle"/>
          </a:ln>
        </p:spPr>
        <p:txBody>
          <a:bodyPr/>
          <a:lstStyle/>
          <a:p>
            <a:endParaRPr lang="en-US"/>
          </a:p>
        </p:txBody>
      </p:sp>
      <p:sp>
        <p:nvSpPr>
          <p:cNvPr id="17" name="card-140"/>
          <p:cNvSpPr/>
          <p:nvPr/>
        </p:nvSpPr>
        <p:spPr>
          <a:xfrm>
            <a:off x="822960" y="5415280"/>
            <a:ext cx="4206240" cy="502920"/>
          </a:xfrm>
          <a:prstGeom prst="roundRect">
            <a:avLst>
              <a:gd name="adj" fmla="val 18182"/>
            </a:avLst>
          </a:prstGeom>
          <a:solidFill>
            <a:schemeClr val="bg2"/>
          </a:solidFill>
          <a:ln w="9525">
            <a:solidFill>
              <a:schemeClr val="bg2"/>
            </a:solidFill>
            <a:prstDash val="solid"/>
          </a:ln>
        </p:spPr>
        <p:txBody>
          <a:bodyPr/>
          <a:lstStyle/>
          <a:p>
            <a:endParaRPr lang="en-US"/>
          </a:p>
        </p:txBody>
      </p:sp>
      <p:sp>
        <p:nvSpPr>
          <p:cNvPr id="18" name="text-141"/>
          <p:cNvSpPr txBox="1"/>
          <p:nvPr/>
        </p:nvSpPr>
        <p:spPr>
          <a:xfrm>
            <a:off x="822960" y="5415280"/>
            <a:ext cx="4206240" cy="502920"/>
          </a:xfrm>
          <a:prstGeom prst="rect">
            <a:avLst/>
          </a:prstGeom>
          <a:noFill/>
          <a:ln/>
        </p:spPr>
        <p:txBody>
          <a:bodyPr wrap="square" lIns="0" tIns="0" rIns="0" bIns="0" rtlCol="0" anchor="ctr"/>
          <a:lstStyle/>
          <a:p>
            <a:pPr marL="0" indent="0" algn="ctr">
              <a:buNone/>
            </a:pPr>
            <a:r>
              <a:rPr lang="en-US" sz="1400" b="1" dirty="0">
                <a:solidFill>
                  <a:schemeClr val="tx2"/>
                </a:solidFill>
              </a:rPr>
              <a:t>Probabilities for the next token</a:t>
            </a:r>
            <a:endParaRPr lang="en-US" sz="1400" dirty="0"/>
          </a:p>
        </p:txBody>
      </p:sp>
      <p:sp>
        <p:nvSpPr>
          <p:cNvPr id="19" name="text-142"/>
          <p:cNvSpPr txBox="1"/>
          <p:nvPr/>
        </p:nvSpPr>
        <p:spPr>
          <a:xfrm>
            <a:off x="822960" y="6004560"/>
            <a:ext cx="4206240" cy="320040"/>
          </a:xfrm>
          <a:prstGeom prst="rect">
            <a:avLst/>
          </a:prstGeom>
          <a:noFill/>
          <a:ln/>
        </p:spPr>
        <p:txBody>
          <a:bodyPr wrap="square" lIns="0" tIns="0" rIns="0" bIns="0" rtlCol="0" anchor="t"/>
          <a:lstStyle/>
          <a:p>
            <a:pPr marL="0" indent="0" algn="ctr">
              <a:buNone/>
            </a:pPr>
            <a:r>
              <a:rPr lang="en-US" sz="1100" i="1" dirty="0">
                <a:solidFill>
                  <a:schemeClr val="accent5"/>
                </a:solidFill>
              </a:rPr>
              <a:t>e.g. 32–120+ layers in large models</a:t>
            </a:r>
            <a:endParaRPr lang="en-US" sz="1100" dirty="0"/>
          </a:p>
        </p:txBody>
      </p:sp>
      <p:sp>
        <p:nvSpPr>
          <p:cNvPr id="20" name="dot-143"/>
          <p:cNvSpPr/>
          <p:nvPr/>
        </p:nvSpPr>
        <p:spPr>
          <a:xfrm>
            <a:off x="6583680" y="1399032"/>
            <a:ext cx="292608" cy="292608"/>
          </a:xfrm>
          <a:prstGeom prst="ellipse">
            <a:avLst/>
          </a:prstGeom>
          <a:solidFill>
            <a:srgbClr val="D97757"/>
          </a:solidFill>
          <a:ln w="12700">
            <a:solidFill>
              <a:srgbClr val="D97757"/>
            </a:solidFill>
            <a:prstDash val="solid"/>
          </a:ln>
        </p:spPr>
        <p:txBody>
          <a:bodyPr/>
          <a:lstStyle/>
          <a:p>
            <a:endParaRPr lang="en-US"/>
          </a:p>
        </p:txBody>
      </p:sp>
      <p:sp>
        <p:nvSpPr>
          <p:cNvPr id="21" name="text-144"/>
          <p:cNvSpPr txBox="1"/>
          <p:nvPr/>
        </p:nvSpPr>
        <p:spPr>
          <a:xfrm>
            <a:off x="7040880" y="1325880"/>
            <a:ext cx="4572000" cy="365760"/>
          </a:xfrm>
          <a:prstGeom prst="rect">
            <a:avLst/>
          </a:prstGeom>
          <a:noFill/>
          <a:ln/>
        </p:spPr>
        <p:txBody>
          <a:bodyPr wrap="square" lIns="0" tIns="0" rIns="0" bIns="0" rtlCol="0" anchor="t"/>
          <a:lstStyle/>
          <a:p>
            <a:pPr marL="0" indent="0" algn="l">
              <a:buNone/>
            </a:pPr>
            <a:r>
              <a:rPr lang="en-US" sz="1700" b="1" dirty="0">
                <a:solidFill>
                  <a:schemeClr val="tx2"/>
                </a:solidFill>
              </a:rPr>
              <a:t>Self-attention</a:t>
            </a:r>
            <a:endParaRPr lang="en-US" sz="1700" dirty="0"/>
          </a:p>
        </p:txBody>
      </p:sp>
      <p:sp>
        <p:nvSpPr>
          <p:cNvPr id="22" name="text-145"/>
          <p:cNvSpPr txBox="1"/>
          <p:nvPr/>
        </p:nvSpPr>
        <p:spPr>
          <a:xfrm>
            <a:off x="7040880" y="1691640"/>
            <a:ext cx="4572000" cy="777240"/>
          </a:xfrm>
          <a:prstGeom prst="rect">
            <a:avLst/>
          </a:prstGeom>
          <a:noFill/>
          <a:ln/>
        </p:spPr>
        <p:txBody>
          <a:bodyPr wrap="square" lIns="0" tIns="0" rIns="0" bIns="0" rtlCol="0" anchor="t"/>
          <a:lstStyle/>
          <a:p>
            <a:pPr marL="0" indent="0" algn="l">
              <a:buNone/>
            </a:pPr>
            <a:r>
              <a:rPr lang="en-US" sz="1400" dirty="0">
                <a:solidFill>
                  <a:schemeClr val="tx1"/>
                </a:solidFill>
              </a:rPr>
              <a:t>Every token looks at every other token and decides which ones matter for its meaning. This is how context flows.</a:t>
            </a:r>
            <a:endParaRPr lang="en-US" sz="1400" dirty="0"/>
          </a:p>
        </p:txBody>
      </p:sp>
      <p:sp>
        <p:nvSpPr>
          <p:cNvPr id="23" name="dot-146"/>
          <p:cNvSpPr/>
          <p:nvPr/>
        </p:nvSpPr>
        <p:spPr>
          <a:xfrm>
            <a:off x="6583680" y="2587752"/>
            <a:ext cx="292608" cy="292608"/>
          </a:xfrm>
          <a:prstGeom prst="ellipse">
            <a:avLst/>
          </a:prstGeom>
          <a:solidFill>
            <a:srgbClr val="2A9D8F"/>
          </a:solidFill>
          <a:ln w="12700">
            <a:solidFill>
              <a:srgbClr val="2A9D8F"/>
            </a:solidFill>
            <a:prstDash val="solid"/>
          </a:ln>
        </p:spPr>
        <p:txBody>
          <a:bodyPr/>
          <a:lstStyle/>
          <a:p>
            <a:endParaRPr lang="en-US"/>
          </a:p>
        </p:txBody>
      </p:sp>
      <p:sp>
        <p:nvSpPr>
          <p:cNvPr id="24" name="text-147"/>
          <p:cNvSpPr txBox="1"/>
          <p:nvPr/>
        </p:nvSpPr>
        <p:spPr>
          <a:xfrm>
            <a:off x="7040880" y="2514600"/>
            <a:ext cx="4572000" cy="365760"/>
          </a:xfrm>
          <a:prstGeom prst="rect">
            <a:avLst/>
          </a:prstGeom>
          <a:noFill/>
          <a:ln/>
        </p:spPr>
        <p:txBody>
          <a:bodyPr wrap="square" lIns="0" tIns="0" rIns="0" bIns="0" rtlCol="0" anchor="t"/>
          <a:lstStyle/>
          <a:p>
            <a:pPr marL="0" indent="0" algn="l">
              <a:buNone/>
            </a:pPr>
            <a:r>
              <a:rPr lang="en-US" sz="1700" b="1" dirty="0">
                <a:solidFill>
                  <a:schemeClr val="tx2"/>
                </a:solidFill>
              </a:rPr>
              <a:t>Feed-forward</a:t>
            </a:r>
            <a:endParaRPr lang="en-US" sz="1700" dirty="0"/>
          </a:p>
        </p:txBody>
      </p:sp>
      <p:sp>
        <p:nvSpPr>
          <p:cNvPr id="25" name="text-148"/>
          <p:cNvSpPr txBox="1"/>
          <p:nvPr/>
        </p:nvSpPr>
        <p:spPr>
          <a:xfrm>
            <a:off x="7040880" y="2880360"/>
            <a:ext cx="4572000" cy="777240"/>
          </a:xfrm>
          <a:prstGeom prst="rect">
            <a:avLst/>
          </a:prstGeom>
          <a:noFill/>
          <a:ln/>
        </p:spPr>
        <p:txBody>
          <a:bodyPr wrap="square" lIns="0" tIns="0" rIns="0" bIns="0" rtlCol="0" anchor="t"/>
          <a:lstStyle/>
          <a:p>
            <a:pPr marL="0" indent="0" algn="l">
              <a:buNone/>
            </a:pPr>
            <a:r>
              <a:rPr lang="en-US" sz="1400" dirty="0">
                <a:solidFill>
                  <a:schemeClr val="tx1"/>
                </a:solidFill>
              </a:rPr>
              <a:t>Each token's vector is transformed independently — where much of the model's stored knowledge lives.</a:t>
            </a:r>
            <a:endParaRPr lang="en-US" sz="1400" dirty="0"/>
          </a:p>
        </p:txBody>
      </p:sp>
      <p:sp>
        <p:nvSpPr>
          <p:cNvPr id="26" name="dot-149"/>
          <p:cNvSpPr/>
          <p:nvPr/>
        </p:nvSpPr>
        <p:spPr>
          <a:xfrm>
            <a:off x="6583680" y="3776472"/>
            <a:ext cx="292608" cy="292608"/>
          </a:xfrm>
          <a:prstGeom prst="ellipse">
            <a:avLst/>
          </a:prstGeom>
          <a:solidFill>
            <a:srgbClr val="6C63FF"/>
          </a:solidFill>
          <a:ln w="12700">
            <a:solidFill>
              <a:srgbClr val="6C63FF"/>
            </a:solidFill>
            <a:prstDash val="solid"/>
          </a:ln>
        </p:spPr>
        <p:txBody>
          <a:bodyPr/>
          <a:lstStyle/>
          <a:p>
            <a:endParaRPr lang="en-US"/>
          </a:p>
        </p:txBody>
      </p:sp>
      <p:sp>
        <p:nvSpPr>
          <p:cNvPr id="27" name="text-150"/>
          <p:cNvSpPr txBox="1"/>
          <p:nvPr/>
        </p:nvSpPr>
        <p:spPr>
          <a:xfrm>
            <a:off x="7040880" y="3703320"/>
            <a:ext cx="4572000" cy="365760"/>
          </a:xfrm>
          <a:prstGeom prst="rect">
            <a:avLst/>
          </a:prstGeom>
          <a:noFill/>
          <a:ln/>
        </p:spPr>
        <p:txBody>
          <a:bodyPr wrap="square" lIns="0" tIns="0" rIns="0" bIns="0" rtlCol="0" anchor="t"/>
          <a:lstStyle/>
          <a:p>
            <a:pPr marL="0" indent="0" algn="l">
              <a:buNone/>
            </a:pPr>
            <a:r>
              <a:rPr lang="en-US" sz="1700" b="1" dirty="0">
                <a:solidFill>
                  <a:schemeClr val="tx2"/>
                </a:solidFill>
              </a:rPr>
              <a:t>Stacking layers</a:t>
            </a:r>
            <a:endParaRPr lang="en-US" sz="1700" dirty="0"/>
          </a:p>
        </p:txBody>
      </p:sp>
      <p:sp>
        <p:nvSpPr>
          <p:cNvPr id="28" name="text-151"/>
          <p:cNvSpPr txBox="1"/>
          <p:nvPr/>
        </p:nvSpPr>
        <p:spPr>
          <a:xfrm>
            <a:off x="7040880" y="4069080"/>
            <a:ext cx="4572000" cy="777240"/>
          </a:xfrm>
          <a:prstGeom prst="rect">
            <a:avLst/>
          </a:prstGeom>
          <a:noFill/>
          <a:ln/>
        </p:spPr>
        <p:txBody>
          <a:bodyPr wrap="square" lIns="0" tIns="0" rIns="0" bIns="0" rtlCol="0" anchor="t"/>
          <a:lstStyle/>
          <a:p>
            <a:pPr marL="0" indent="0" algn="l">
              <a:buNone/>
            </a:pPr>
            <a:r>
              <a:rPr lang="en-US" sz="1400" dirty="0">
                <a:solidFill>
                  <a:schemeClr val="tx1"/>
                </a:solidFill>
              </a:rPr>
              <a:t>Early layers capture syntax; deeper layers capture meaning, facts and reasoning patterns.</a:t>
            </a:r>
            <a:endParaRPr lang="en-US" sz="1400" dirty="0"/>
          </a:p>
        </p:txBody>
      </p:sp>
      <p:sp>
        <p:nvSpPr>
          <p:cNvPr id="29" name="dot-152"/>
          <p:cNvSpPr/>
          <p:nvPr/>
        </p:nvSpPr>
        <p:spPr>
          <a:xfrm>
            <a:off x="6583680" y="4965192"/>
            <a:ext cx="292608" cy="292608"/>
          </a:xfrm>
          <a:prstGeom prst="ellipse">
            <a:avLst/>
          </a:prstGeom>
          <a:solidFill>
            <a:srgbClr val="E9B949"/>
          </a:solidFill>
          <a:ln w="12700">
            <a:solidFill>
              <a:srgbClr val="E9B949"/>
            </a:solidFill>
            <a:prstDash val="solid"/>
          </a:ln>
        </p:spPr>
        <p:txBody>
          <a:bodyPr/>
          <a:lstStyle/>
          <a:p>
            <a:endParaRPr lang="en-US"/>
          </a:p>
        </p:txBody>
      </p:sp>
      <p:sp>
        <p:nvSpPr>
          <p:cNvPr id="30" name="text-153"/>
          <p:cNvSpPr txBox="1"/>
          <p:nvPr/>
        </p:nvSpPr>
        <p:spPr>
          <a:xfrm>
            <a:off x="7040880" y="4892040"/>
            <a:ext cx="4572000" cy="365760"/>
          </a:xfrm>
          <a:prstGeom prst="rect">
            <a:avLst/>
          </a:prstGeom>
          <a:noFill/>
          <a:ln/>
        </p:spPr>
        <p:txBody>
          <a:bodyPr wrap="square" lIns="0" tIns="0" rIns="0" bIns="0" rtlCol="0" anchor="t"/>
          <a:lstStyle/>
          <a:p>
            <a:pPr marL="0" indent="0" algn="l">
              <a:buNone/>
            </a:pPr>
            <a:r>
              <a:rPr lang="en-US" sz="1700" b="1" dirty="0">
                <a:solidFill>
                  <a:schemeClr val="tx2"/>
                </a:solidFill>
              </a:rPr>
              <a:t>Parallel training</a:t>
            </a:r>
            <a:endParaRPr lang="en-US" sz="1700" dirty="0"/>
          </a:p>
        </p:txBody>
      </p:sp>
      <p:sp>
        <p:nvSpPr>
          <p:cNvPr id="31" name="text-154"/>
          <p:cNvSpPr txBox="1"/>
          <p:nvPr/>
        </p:nvSpPr>
        <p:spPr>
          <a:xfrm>
            <a:off x="7040880" y="5257800"/>
            <a:ext cx="4572000" cy="777240"/>
          </a:xfrm>
          <a:prstGeom prst="rect">
            <a:avLst/>
          </a:prstGeom>
          <a:noFill/>
          <a:ln/>
        </p:spPr>
        <p:txBody>
          <a:bodyPr wrap="square" lIns="0" tIns="0" rIns="0" bIns="0" rtlCol="0" anchor="t"/>
          <a:lstStyle/>
          <a:p>
            <a:pPr marL="0" indent="0" algn="l">
              <a:buNone/>
            </a:pPr>
            <a:r>
              <a:rPr lang="en-US" sz="1400" dirty="0">
                <a:solidFill>
                  <a:schemeClr val="tx1"/>
                </a:solidFill>
              </a:rPr>
              <a:t>Unlike older RNNs, all positions are processed at once on GPUs — the key to scaling. (“Attention Is All You Need”, 2017)</a:t>
            </a:r>
            <a:endParaRPr lang="en-US" sz="14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7</a:t>
            </a:fld>
            <a:endParaRPr lang="en-US"/>
          </a:p>
        </p:txBody>
      </p:sp>
    </p:spTree>
    <p:extLst>
      <p:ext uri="{BB962C8B-B14F-4D97-AF65-F5344CB8AC3E}">
        <p14:creationId xmlns:p14="http://schemas.microsoft.com/office/powerpoint/2010/main" val="4055843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541F-876A-48CA-E0C0-5B7EB2D36A34}"/>
              </a:ext>
            </a:extLst>
          </p:cNvPr>
          <p:cNvSpPr>
            <a:spLocks noGrp="1"/>
          </p:cNvSpPr>
          <p:nvPr>
            <p:ph type="title" idx="100"/>
          </p:nvPr>
        </p:nvSpPr>
        <p:spPr/>
        <p:txBody>
          <a:bodyPr/>
          <a:lstStyle/>
          <a:p>
            <a:r>
              <a:rPr lang="en-US" dirty="0"/>
              <a:t>Layers run in sequence, tokens run in parallel</a:t>
            </a:r>
          </a:p>
        </p:txBody>
      </p:sp>
      <p:sp>
        <p:nvSpPr>
          <p:cNvPr id="10" name="slab0-front"/>
          <p:cNvSpPr/>
          <p:nvPr/>
        </p:nvSpPr>
        <p:spPr>
          <a:xfrm>
            <a:off x="635000" y="5689600"/>
            <a:ext cx="3810000" cy="177800"/>
          </a:xfrm>
          <a:custGeom>
            <a:avLst/>
            <a:gdLst/>
            <a:ahLst/>
            <a:cxnLst/>
            <a:rect l="0" t="0" r="r" b="b"/>
            <a:pathLst>
              <a:path w="3810000" h="177800">
                <a:moveTo>
                  <a:pt x="0" y="0"/>
                </a:moveTo>
                <a:lnTo>
                  <a:pt x="3810000" y="0"/>
                </a:lnTo>
                <a:lnTo>
                  <a:pt x="3810000" y="177800"/>
                </a:lnTo>
                <a:lnTo>
                  <a:pt x="0" y="177800"/>
                </a:lnTo>
                <a:close/>
              </a:path>
            </a:pathLst>
          </a:custGeom>
          <a:solidFill>
            <a:srgbClr val="1B1F3B"/>
          </a:solidFill>
          <a:ln>
            <a:noFill/>
          </a:ln>
        </p:spPr>
        <p:txBody>
          <a:bodyPr/>
          <a:lstStyle/>
          <a:p>
            <a:endParaRPr lang="en-US"/>
          </a:p>
        </p:txBody>
      </p:sp>
      <p:sp>
        <p:nvSpPr>
          <p:cNvPr id="11" name="slab0-side"/>
          <p:cNvSpPr/>
          <p:nvPr/>
        </p:nvSpPr>
        <p:spPr>
          <a:xfrm>
            <a:off x="4445000" y="5257800"/>
            <a:ext cx="711200" cy="609600"/>
          </a:xfrm>
          <a:custGeom>
            <a:avLst/>
            <a:gdLst/>
            <a:ahLst/>
            <a:cxnLst/>
            <a:rect l="0" t="0" r="r" b="b"/>
            <a:pathLst>
              <a:path w="711200" h="609600">
                <a:moveTo>
                  <a:pt x="0" y="431800"/>
                </a:moveTo>
                <a:lnTo>
                  <a:pt x="711200" y="0"/>
                </a:lnTo>
                <a:lnTo>
                  <a:pt x="711200" y="177800"/>
                </a:lnTo>
                <a:lnTo>
                  <a:pt x="0" y="609600"/>
                </a:lnTo>
                <a:close/>
              </a:path>
            </a:pathLst>
          </a:custGeom>
          <a:solidFill>
            <a:srgbClr val="2B3058"/>
          </a:solidFill>
          <a:ln>
            <a:noFill/>
          </a:ln>
        </p:spPr>
        <p:txBody>
          <a:bodyPr/>
          <a:lstStyle/>
          <a:p>
            <a:endParaRPr lang="en-US"/>
          </a:p>
        </p:txBody>
      </p:sp>
      <p:sp>
        <p:nvSpPr>
          <p:cNvPr id="12" name="slab0-top"/>
          <p:cNvSpPr/>
          <p:nvPr/>
        </p:nvSpPr>
        <p:spPr>
          <a:xfrm>
            <a:off x="635000" y="5257800"/>
            <a:ext cx="4521200" cy="431800"/>
          </a:xfrm>
          <a:custGeom>
            <a:avLst/>
            <a:gdLst/>
            <a:ahLst/>
            <a:cxnLst/>
            <a:rect l="0" t="0" r="r" b="b"/>
            <a:pathLst>
              <a:path w="4521200" h="431800">
                <a:moveTo>
                  <a:pt x="0" y="431800"/>
                </a:moveTo>
                <a:lnTo>
                  <a:pt x="3810000" y="431800"/>
                </a:lnTo>
                <a:lnTo>
                  <a:pt x="4521200" y="0"/>
                </a:lnTo>
                <a:lnTo>
                  <a:pt x="711200" y="0"/>
                </a:lnTo>
                <a:close/>
              </a:path>
            </a:pathLst>
          </a:custGeom>
          <a:solidFill>
            <a:srgbClr val="3D4373"/>
          </a:solidFill>
          <a:ln>
            <a:noFill/>
          </a:ln>
        </p:spPr>
        <p:txBody>
          <a:bodyPr/>
          <a:lstStyle/>
          <a:p>
            <a:endParaRPr lang="en-US"/>
          </a:p>
        </p:txBody>
      </p:sp>
      <p:sp>
        <p:nvSpPr>
          <p:cNvPr id="13" name="slab0-tok0"/>
          <p:cNvSpPr/>
          <p:nvPr/>
        </p:nvSpPr>
        <p:spPr>
          <a:xfrm>
            <a:off x="939800" y="5365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14" name="slab0-tok1"/>
          <p:cNvSpPr/>
          <p:nvPr/>
        </p:nvSpPr>
        <p:spPr>
          <a:xfrm>
            <a:off x="1549400" y="5365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15" name="slab0-tok2"/>
          <p:cNvSpPr/>
          <p:nvPr/>
        </p:nvSpPr>
        <p:spPr>
          <a:xfrm>
            <a:off x="2159000" y="5365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16" name="slab0-tok3"/>
          <p:cNvSpPr/>
          <p:nvPr/>
        </p:nvSpPr>
        <p:spPr>
          <a:xfrm>
            <a:off x="2768600" y="5365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17" name="slab0-tok4"/>
          <p:cNvSpPr/>
          <p:nvPr/>
        </p:nvSpPr>
        <p:spPr>
          <a:xfrm>
            <a:off x="3378200" y="5365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18" name="slab0-tok5"/>
          <p:cNvSpPr/>
          <p:nvPr/>
        </p:nvSpPr>
        <p:spPr>
          <a:xfrm>
            <a:off x="3987800" y="5365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19" name="slab0-label"/>
          <p:cNvSpPr txBox="1"/>
          <p:nvPr/>
        </p:nvSpPr>
        <p:spPr>
          <a:xfrm>
            <a:off x="5359400" y="5308600"/>
            <a:ext cx="2540000" cy="558800"/>
          </a:xfrm>
          <a:prstGeom prst="rect">
            <a:avLst/>
          </a:prstGeom>
          <a:noFill/>
        </p:spPr>
        <p:txBody>
          <a:bodyPr wrap="square" lIns="0" tIns="0" rIns="0" bIns="0" anchor="t">
            <a:noAutofit/>
          </a:bodyPr>
          <a:lstStyle/>
          <a:p>
            <a:pPr marL="0" indent="0" algn="l">
              <a:spcBef>
                <a:spcPts val="0"/>
              </a:spcBef>
              <a:buNone/>
            </a:pPr>
            <a:r>
              <a:rPr lang="en-US" sz="1400" b="1" dirty="0">
                <a:solidFill>
                  <a:srgbClr val="1B1F3B"/>
                </a:solidFill>
              </a:rPr>
              <a:t>Layer 1</a:t>
            </a:r>
          </a:p>
          <a:p>
            <a:pPr marL="0" indent="0" algn="l">
              <a:spcBef>
                <a:spcPts val="0"/>
              </a:spcBef>
              <a:buNone/>
            </a:pPr>
            <a:r>
              <a:rPr lang="en-US" sz="1300" dirty="0">
                <a:solidFill>
                  <a:srgbClr val="5A6075"/>
                </a:solidFill>
              </a:rPr>
              <a:t>Syntax: word pieces, grammar</a:t>
            </a:r>
          </a:p>
        </p:txBody>
      </p:sp>
      <p:sp>
        <p:nvSpPr>
          <p:cNvPr id="20" name="slab1-front"/>
          <p:cNvSpPr/>
          <p:nvPr/>
        </p:nvSpPr>
        <p:spPr>
          <a:xfrm>
            <a:off x="635000" y="4546600"/>
            <a:ext cx="3810000" cy="177800"/>
          </a:xfrm>
          <a:custGeom>
            <a:avLst/>
            <a:gdLst/>
            <a:ahLst/>
            <a:cxnLst/>
            <a:rect l="0" t="0" r="r" b="b"/>
            <a:pathLst>
              <a:path w="3810000" h="177800">
                <a:moveTo>
                  <a:pt x="0" y="0"/>
                </a:moveTo>
                <a:lnTo>
                  <a:pt x="3810000" y="0"/>
                </a:lnTo>
                <a:lnTo>
                  <a:pt x="3810000" y="177800"/>
                </a:lnTo>
                <a:lnTo>
                  <a:pt x="0" y="177800"/>
                </a:lnTo>
                <a:close/>
              </a:path>
            </a:pathLst>
          </a:custGeom>
          <a:solidFill>
            <a:srgbClr val="1B1F3B"/>
          </a:solidFill>
          <a:ln>
            <a:noFill/>
          </a:ln>
        </p:spPr>
        <p:txBody>
          <a:bodyPr/>
          <a:lstStyle/>
          <a:p>
            <a:endParaRPr lang="en-US"/>
          </a:p>
        </p:txBody>
      </p:sp>
      <p:sp>
        <p:nvSpPr>
          <p:cNvPr id="21" name="slab1-side"/>
          <p:cNvSpPr/>
          <p:nvPr/>
        </p:nvSpPr>
        <p:spPr>
          <a:xfrm>
            <a:off x="4445000" y="4114800"/>
            <a:ext cx="711200" cy="609600"/>
          </a:xfrm>
          <a:custGeom>
            <a:avLst/>
            <a:gdLst/>
            <a:ahLst/>
            <a:cxnLst/>
            <a:rect l="0" t="0" r="r" b="b"/>
            <a:pathLst>
              <a:path w="711200" h="609600">
                <a:moveTo>
                  <a:pt x="0" y="431800"/>
                </a:moveTo>
                <a:lnTo>
                  <a:pt x="711200" y="0"/>
                </a:lnTo>
                <a:lnTo>
                  <a:pt x="711200" y="177800"/>
                </a:lnTo>
                <a:lnTo>
                  <a:pt x="0" y="609600"/>
                </a:lnTo>
                <a:close/>
              </a:path>
            </a:pathLst>
          </a:custGeom>
          <a:solidFill>
            <a:srgbClr val="2B3058"/>
          </a:solidFill>
          <a:ln>
            <a:noFill/>
          </a:ln>
        </p:spPr>
        <p:txBody>
          <a:bodyPr/>
          <a:lstStyle/>
          <a:p>
            <a:endParaRPr lang="en-US"/>
          </a:p>
        </p:txBody>
      </p:sp>
      <p:sp>
        <p:nvSpPr>
          <p:cNvPr id="22" name="slab1-top"/>
          <p:cNvSpPr/>
          <p:nvPr/>
        </p:nvSpPr>
        <p:spPr>
          <a:xfrm>
            <a:off x="635000" y="4114800"/>
            <a:ext cx="4521200" cy="431800"/>
          </a:xfrm>
          <a:custGeom>
            <a:avLst/>
            <a:gdLst/>
            <a:ahLst/>
            <a:cxnLst/>
            <a:rect l="0" t="0" r="r" b="b"/>
            <a:pathLst>
              <a:path w="4521200" h="431800">
                <a:moveTo>
                  <a:pt x="0" y="431800"/>
                </a:moveTo>
                <a:lnTo>
                  <a:pt x="3810000" y="431800"/>
                </a:lnTo>
                <a:lnTo>
                  <a:pt x="4521200" y="0"/>
                </a:lnTo>
                <a:lnTo>
                  <a:pt x="711200" y="0"/>
                </a:lnTo>
                <a:close/>
              </a:path>
            </a:pathLst>
          </a:custGeom>
          <a:solidFill>
            <a:srgbClr val="3D4373"/>
          </a:solidFill>
          <a:ln>
            <a:noFill/>
          </a:ln>
        </p:spPr>
        <p:txBody>
          <a:bodyPr/>
          <a:lstStyle/>
          <a:p>
            <a:endParaRPr lang="en-US"/>
          </a:p>
        </p:txBody>
      </p:sp>
      <p:sp>
        <p:nvSpPr>
          <p:cNvPr id="23" name="slab1-tok0"/>
          <p:cNvSpPr/>
          <p:nvPr/>
        </p:nvSpPr>
        <p:spPr>
          <a:xfrm>
            <a:off x="939800" y="4222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24" name="slab1-tok1"/>
          <p:cNvSpPr/>
          <p:nvPr/>
        </p:nvSpPr>
        <p:spPr>
          <a:xfrm>
            <a:off x="1549400" y="4222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25" name="slab1-tok2"/>
          <p:cNvSpPr/>
          <p:nvPr/>
        </p:nvSpPr>
        <p:spPr>
          <a:xfrm>
            <a:off x="2159000" y="4222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26" name="slab1-tok3"/>
          <p:cNvSpPr/>
          <p:nvPr/>
        </p:nvSpPr>
        <p:spPr>
          <a:xfrm>
            <a:off x="2768600" y="4222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27" name="slab1-tok4"/>
          <p:cNvSpPr/>
          <p:nvPr/>
        </p:nvSpPr>
        <p:spPr>
          <a:xfrm>
            <a:off x="3378200" y="4222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28" name="slab1-tok5"/>
          <p:cNvSpPr/>
          <p:nvPr/>
        </p:nvSpPr>
        <p:spPr>
          <a:xfrm>
            <a:off x="3987800" y="4222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29" name="slab1-label"/>
          <p:cNvSpPr txBox="1"/>
          <p:nvPr/>
        </p:nvSpPr>
        <p:spPr>
          <a:xfrm>
            <a:off x="5359400" y="4165600"/>
            <a:ext cx="2540000" cy="558800"/>
          </a:xfrm>
          <a:prstGeom prst="rect">
            <a:avLst/>
          </a:prstGeom>
          <a:noFill/>
        </p:spPr>
        <p:txBody>
          <a:bodyPr wrap="square" lIns="0" tIns="0" rIns="0" bIns="0" anchor="t">
            <a:noAutofit/>
          </a:bodyPr>
          <a:lstStyle/>
          <a:p>
            <a:pPr marL="0" indent="0" algn="l">
              <a:spcBef>
                <a:spcPts val="0"/>
              </a:spcBef>
              <a:buNone/>
            </a:pPr>
            <a:r>
              <a:rPr lang="en-US" sz="1400" b="1" dirty="0">
                <a:solidFill>
                  <a:srgbClr val="1B1F3B"/>
                </a:solidFill>
              </a:rPr>
              <a:t>Layer 2</a:t>
            </a:r>
          </a:p>
          <a:p>
            <a:pPr marL="0" indent="0" algn="l">
              <a:spcBef>
                <a:spcPts val="0"/>
              </a:spcBef>
              <a:buNone/>
            </a:pPr>
            <a:r>
              <a:rPr lang="en-US" sz="1300" dirty="0">
                <a:solidFill>
                  <a:srgbClr val="5A6075"/>
                </a:solidFill>
              </a:rPr>
              <a:t>Phrases: which words go together</a:t>
            </a:r>
          </a:p>
        </p:txBody>
      </p:sp>
      <p:sp>
        <p:nvSpPr>
          <p:cNvPr id="30" name="slab2-front"/>
          <p:cNvSpPr/>
          <p:nvPr/>
        </p:nvSpPr>
        <p:spPr>
          <a:xfrm>
            <a:off x="635000" y="3403600"/>
            <a:ext cx="3810000" cy="177800"/>
          </a:xfrm>
          <a:custGeom>
            <a:avLst/>
            <a:gdLst/>
            <a:ahLst/>
            <a:cxnLst/>
            <a:rect l="0" t="0" r="r" b="b"/>
            <a:pathLst>
              <a:path w="3810000" h="177800">
                <a:moveTo>
                  <a:pt x="0" y="0"/>
                </a:moveTo>
                <a:lnTo>
                  <a:pt x="3810000" y="0"/>
                </a:lnTo>
                <a:lnTo>
                  <a:pt x="3810000" y="177800"/>
                </a:lnTo>
                <a:lnTo>
                  <a:pt x="0" y="177800"/>
                </a:lnTo>
                <a:close/>
              </a:path>
            </a:pathLst>
          </a:custGeom>
          <a:solidFill>
            <a:srgbClr val="1B1F3B"/>
          </a:solidFill>
          <a:ln>
            <a:noFill/>
          </a:ln>
        </p:spPr>
        <p:txBody>
          <a:bodyPr/>
          <a:lstStyle/>
          <a:p>
            <a:endParaRPr lang="en-US"/>
          </a:p>
        </p:txBody>
      </p:sp>
      <p:sp>
        <p:nvSpPr>
          <p:cNvPr id="31" name="slab2-side"/>
          <p:cNvSpPr/>
          <p:nvPr/>
        </p:nvSpPr>
        <p:spPr>
          <a:xfrm>
            <a:off x="4445000" y="2971800"/>
            <a:ext cx="711200" cy="609600"/>
          </a:xfrm>
          <a:custGeom>
            <a:avLst/>
            <a:gdLst/>
            <a:ahLst/>
            <a:cxnLst/>
            <a:rect l="0" t="0" r="r" b="b"/>
            <a:pathLst>
              <a:path w="711200" h="609600">
                <a:moveTo>
                  <a:pt x="0" y="431800"/>
                </a:moveTo>
                <a:lnTo>
                  <a:pt x="711200" y="0"/>
                </a:lnTo>
                <a:lnTo>
                  <a:pt x="711200" y="177800"/>
                </a:lnTo>
                <a:lnTo>
                  <a:pt x="0" y="609600"/>
                </a:lnTo>
                <a:close/>
              </a:path>
            </a:pathLst>
          </a:custGeom>
          <a:solidFill>
            <a:srgbClr val="2B3058"/>
          </a:solidFill>
          <a:ln>
            <a:noFill/>
          </a:ln>
        </p:spPr>
        <p:txBody>
          <a:bodyPr/>
          <a:lstStyle/>
          <a:p>
            <a:endParaRPr lang="en-US"/>
          </a:p>
        </p:txBody>
      </p:sp>
      <p:sp>
        <p:nvSpPr>
          <p:cNvPr id="32" name="slab2-top"/>
          <p:cNvSpPr/>
          <p:nvPr/>
        </p:nvSpPr>
        <p:spPr>
          <a:xfrm>
            <a:off x="635000" y="2971800"/>
            <a:ext cx="4521200" cy="431800"/>
          </a:xfrm>
          <a:custGeom>
            <a:avLst/>
            <a:gdLst/>
            <a:ahLst/>
            <a:cxnLst/>
            <a:rect l="0" t="0" r="r" b="b"/>
            <a:pathLst>
              <a:path w="4521200" h="431800">
                <a:moveTo>
                  <a:pt x="0" y="431800"/>
                </a:moveTo>
                <a:lnTo>
                  <a:pt x="3810000" y="431800"/>
                </a:lnTo>
                <a:lnTo>
                  <a:pt x="4521200" y="0"/>
                </a:lnTo>
                <a:lnTo>
                  <a:pt x="711200" y="0"/>
                </a:lnTo>
                <a:close/>
              </a:path>
            </a:pathLst>
          </a:custGeom>
          <a:solidFill>
            <a:srgbClr val="3D4373"/>
          </a:solidFill>
          <a:ln>
            <a:noFill/>
          </a:ln>
        </p:spPr>
        <p:txBody>
          <a:bodyPr/>
          <a:lstStyle/>
          <a:p>
            <a:endParaRPr lang="en-US"/>
          </a:p>
        </p:txBody>
      </p:sp>
      <p:sp>
        <p:nvSpPr>
          <p:cNvPr id="33" name="slab2-tok0"/>
          <p:cNvSpPr/>
          <p:nvPr/>
        </p:nvSpPr>
        <p:spPr>
          <a:xfrm>
            <a:off x="939800" y="3079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34" name="slab2-tok1"/>
          <p:cNvSpPr/>
          <p:nvPr/>
        </p:nvSpPr>
        <p:spPr>
          <a:xfrm>
            <a:off x="1549400" y="3079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35" name="slab2-tok2"/>
          <p:cNvSpPr/>
          <p:nvPr/>
        </p:nvSpPr>
        <p:spPr>
          <a:xfrm>
            <a:off x="2159000" y="3079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36" name="slab2-tok3"/>
          <p:cNvSpPr/>
          <p:nvPr/>
        </p:nvSpPr>
        <p:spPr>
          <a:xfrm>
            <a:off x="2768600" y="3079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37" name="slab2-tok4"/>
          <p:cNvSpPr/>
          <p:nvPr/>
        </p:nvSpPr>
        <p:spPr>
          <a:xfrm>
            <a:off x="3378200" y="3079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38" name="slab2-tok5"/>
          <p:cNvSpPr/>
          <p:nvPr/>
        </p:nvSpPr>
        <p:spPr>
          <a:xfrm>
            <a:off x="3987800" y="30797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39" name="slab2-label"/>
          <p:cNvSpPr txBox="1"/>
          <p:nvPr/>
        </p:nvSpPr>
        <p:spPr>
          <a:xfrm>
            <a:off x="5359400" y="3022600"/>
            <a:ext cx="2540000" cy="558800"/>
          </a:xfrm>
          <a:prstGeom prst="rect">
            <a:avLst/>
          </a:prstGeom>
          <a:noFill/>
        </p:spPr>
        <p:txBody>
          <a:bodyPr wrap="square" lIns="0" tIns="0" rIns="0" bIns="0" anchor="t">
            <a:noAutofit/>
          </a:bodyPr>
          <a:lstStyle/>
          <a:p>
            <a:pPr marL="0" indent="0" algn="l">
              <a:spcBef>
                <a:spcPts val="0"/>
              </a:spcBef>
              <a:buNone/>
            </a:pPr>
            <a:r>
              <a:rPr lang="en-US" sz="1400" b="1" dirty="0">
                <a:solidFill>
                  <a:srgbClr val="1B1F3B"/>
                </a:solidFill>
              </a:rPr>
              <a:t>Layer 3</a:t>
            </a:r>
          </a:p>
          <a:p>
            <a:pPr marL="0" indent="0" algn="l">
              <a:spcBef>
                <a:spcPts val="0"/>
              </a:spcBef>
              <a:buNone/>
            </a:pPr>
            <a:r>
              <a:rPr lang="en-US" sz="1300" dirty="0">
                <a:solidFill>
                  <a:srgbClr val="5A6075"/>
                </a:solidFill>
              </a:rPr>
              <a:t>Meaning: who did what to whom</a:t>
            </a:r>
          </a:p>
        </p:txBody>
      </p:sp>
      <p:sp>
        <p:nvSpPr>
          <p:cNvPr id="40" name="slab3-front"/>
          <p:cNvSpPr/>
          <p:nvPr/>
        </p:nvSpPr>
        <p:spPr>
          <a:xfrm>
            <a:off x="635000" y="1727200"/>
            <a:ext cx="3810000" cy="177800"/>
          </a:xfrm>
          <a:custGeom>
            <a:avLst/>
            <a:gdLst/>
            <a:ahLst/>
            <a:cxnLst/>
            <a:rect l="0" t="0" r="r" b="b"/>
            <a:pathLst>
              <a:path w="3810000" h="177800">
                <a:moveTo>
                  <a:pt x="0" y="0"/>
                </a:moveTo>
                <a:lnTo>
                  <a:pt x="3810000" y="0"/>
                </a:lnTo>
                <a:lnTo>
                  <a:pt x="3810000" y="177800"/>
                </a:lnTo>
                <a:lnTo>
                  <a:pt x="0" y="177800"/>
                </a:lnTo>
                <a:close/>
              </a:path>
            </a:pathLst>
          </a:custGeom>
          <a:solidFill>
            <a:srgbClr val="1B1F3B"/>
          </a:solidFill>
          <a:ln>
            <a:noFill/>
          </a:ln>
        </p:spPr>
        <p:txBody>
          <a:bodyPr/>
          <a:lstStyle/>
          <a:p>
            <a:endParaRPr lang="en-US"/>
          </a:p>
        </p:txBody>
      </p:sp>
      <p:sp>
        <p:nvSpPr>
          <p:cNvPr id="41" name="slab3-side"/>
          <p:cNvSpPr/>
          <p:nvPr/>
        </p:nvSpPr>
        <p:spPr>
          <a:xfrm>
            <a:off x="4445000" y="1295400"/>
            <a:ext cx="711200" cy="609600"/>
          </a:xfrm>
          <a:custGeom>
            <a:avLst/>
            <a:gdLst/>
            <a:ahLst/>
            <a:cxnLst/>
            <a:rect l="0" t="0" r="r" b="b"/>
            <a:pathLst>
              <a:path w="711200" h="609600">
                <a:moveTo>
                  <a:pt x="0" y="431800"/>
                </a:moveTo>
                <a:lnTo>
                  <a:pt x="711200" y="0"/>
                </a:lnTo>
                <a:lnTo>
                  <a:pt x="711200" y="177800"/>
                </a:lnTo>
                <a:lnTo>
                  <a:pt x="0" y="609600"/>
                </a:lnTo>
                <a:close/>
              </a:path>
            </a:pathLst>
          </a:custGeom>
          <a:solidFill>
            <a:srgbClr val="2B3058"/>
          </a:solidFill>
          <a:ln>
            <a:noFill/>
          </a:ln>
        </p:spPr>
        <p:txBody>
          <a:bodyPr/>
          <a:lstStyle/>
          <a:p>
            <a:endParaRPr lang="en-US"/>
          </a:p>
        </p:txBody>
      </p:sp>
      <p:sp>
        <p:nvSpPr>
          <p:cNvPr id="42" name="slab3-top"/>
          <p:cNvSpPr/>
          <p:nvPr/>
        </p:nvSpPr>
        <p:spPr>
          <a:xfrm>
            <a:off x="635000" y="1295400"/>
            <a:ext cx="4521200" cy="431800"/>
          </a:xfrm>
          <a:custGeom>
            <a:avLst/>
            <a:gdLst/>
            <a:ahLst/>
            <a:cxnLst/>
            <a:rect l="0" t="0" r="r" b="b"/>
            <a:pathLst>
              <a:path w="4521200" h="431800">
                <a:moveTo>
                  <a:pt x="0" y="431800"/>
                </a:moveTo>
                <a:lnTo>
                  <a:pt x="3810000" y="431800"/>
                </a:lnTo>
                <a:lnTo>
                  <a:pt x="4521200" y="0"/>
                </a:lnTo>
                <a:lnTo>
                  <a:pt x="711200" y="0"/>
                </a:lnTo>
                <a:close/>
              </a:path>
            </a:pathLst>
          </a:custGeom>
          <a:solidFill>
            <a:srgbClr val="3D4373"/>
          </a:solidFill>
          <a:ln>
            <a:noFill/>
          </a:ln>
        </p:spPr>
        <p:txBody>
          <a:bodyPr/>
          <a:lstStyle/>
          <a:p>
            <a:endParaRPr lang="en-US"/>
          </a:p>
        </p:txBody>
      </p:sp>
      <p:sp>
        <p:nvSpPr>
          <p:cNvPr id="43" name="slab3-tok0"/>
          <p:cNvSpPr/>
          <p:nvPr/>
        </p:nvSpPr>
        <p:spPr>
          <a:xfrm>
            <a:off x="939800" y="14033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44" name="slab3-tok1"/>
          <p:cNvSpPr/>
          <p:nvPr/>
        </p:nvSpPr>
        <p:spPr>
          <a:xfrm>
            <a:off x="1549400" y="14033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45" name="slab3-tok2"/>
          <p:cNvSpPr/>
          <p:nvPr/>
        </p:nvSpPr>
        <p:spPr>
          <a:xfrm>
            <a:off x="2159000" y="14033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46" name="slab3-tok3"/>
          <p:cNvSpPr/>
          <p:nvPr/>
        </p:nvSpPr>
        <p:spPr>
          <a:xfrm>
            <a:off x="2768600" y="14033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47" name="slab3-tok4"/>
          <p:cNvSpPr/>
          <p:nvPr/>
        </p:nvSpPr>
        <p:spPr>
          <a:xfrm>
            <a:off x="3378200" y="14033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F7DDD3"/>
          </a:solidFill>
          <a:ln>
            <a:noFill/>
          </a:ln>
        </p:spPr>
        <p:txBody>
          <a:bodyPr/>
          <a:lstStyle/>
          <a:p>
            <a:endParaRPr lang="en-US"/>
          </a:p>
        </p:txBody>
      </p:sp>
      <p:sp>
        <p:nvSpPr>
          <p:cNvPr id="48" name="slab3-tok5"/>
          <p:cNvSpPr/>
          <p:nvPr/>
        </p:nvSpPr>
        <p:spPr>
          <a:xfrm>
            <a:off x="3987800" y="1403350"/>
            <a:ext cx="863600" cy="215900"/>
          </a:xfrm>
          <a:custGeom>
            <a:avLst/>
            <a:gdLst/>
            <a:ahLst/>
            <a:cxnLst/>
            <a:rect l="0" t="0" r="r" b="b"/>
            <a:pathLst>
              <a:path w="863600" h="215900">
                <a:moveTo>
                  <a:pt x="0" y="215900"/>
                </a:moveTo>
                <a:lnTo>
                  <a:pt x="508000" y="215900"/>
                </a:lnTo>
                <a:lnTo>
                  <a:pt x="863600" y="0"/>
                </a:lnTo>
                <a:lnTo>
                  <a:pt x="355600" y="0"/>
                </a:lnTo>
                <a:close/>
              </a:path>
            </a:pathLst>
          </a:custGeom>
          <a:solidFill>
            <a:srgbClr val="DEDCFF"/>
          </a:solidFill>
          <a:ln>
            <a:noFill/>
          </a:ln>
        </p:spPr>
        <p:txBody>
          <a:bodyPr/>
          <a:lstStyle/>
          <a:p>
            <a:endParaRPr lang="en-US"/>
          </a:p>
        </p:txBody>
      </p:sp>
      <p:sp>
        <p:nvSpPr>
          <p:cNvPr id="49" name="slab3-label"/>
          <p:cNvSpPr txBox="1"/>
          <p:nvPr/>
        </p:nvSpPr>
        <p:spPr>
          <a:xfrm>
            <a:off x="5359400" y="1346200"/>
            <a:ext cx="2540000" cy="558800"/>
          </a:xfrm>
          <a:prstGeom prst="rect">
            <a:avLst/>
          </a:prstGeom>
          <a:noFill/>
        </p:spPr>
        <p:txBody>
          <a:bodyPr wrap="square" lIns="0" tIns="0" rIns="0" bIns="0" anchor="t">
            <a:noAutofit/>
          </a:bodyPr>
          <a:lstStyle/>
          <a:p>
            <a:pPr marL="0" indent="0" algn="l">
              <a:spcBef>
                <a:spcPts val="0"/>
              </a:spcBef>
              <a:buNone/>
            </a:pPr>
            <a:r>
              <a:rPr lang="en-US" sz="1400" b="1" dirty="0">
                <a:solidFill>
                  <a:srgbClr val="1B1F3B"/>
                </a:solidFill>
              </a:rPr>
              <a:t>Layer N</a:t>
            </a:r>
          </a:p>
          <a:p>
            <a:pPr marL="0" indent="0" algn="l">
              <a:spcBef>
                <a:spcPts val="0"/>
              </a:spcBef>
              <a:buNone/>
            </a:pPr>
            <a:r>
              <a:rPr lang="en-US" sz="1300" dirty="0">
                <a:solidFill>
                  <a:srgbClr val="5A6075"/>
                </a:solidFill>
              </a:rPr>
              <a:t>Facts and reasoning patterns</a:t>
            </a:r>
          </a:p>
        </p:txBody>
      </p:sp>
      <p:cxnSp>
        <p:nvCxnSpPr>
          <p:cNvPr id="50" name="flow0-0"/>
          <p:cNvCxnSpPr/>
          <p:nvPr/>
        </p:nvCxnSpPr>
        <p:spPr>
          <a:xfrm flipV="1">
            <a:off x="1371600" y="4800600"/>
            <a:ext cx="0" cy="838200"/>
          </a:xfrm>
          <a:prstGeom prst="line">
            <a:avLst/>
          </a:prstGeom>
          <a:ln w="19050">
            <a:solidFill>
              <a:srgbClr val="D97757"/>
            </a:solidFill>
            <a:tailEnd type="triangle" w="med" len="med"/>
          </a:ln>
        </p:spPr>
      </p:cxnSp>
      <p:cxnSp>
        <p:nvCxnSpPr>
          <p:cNvPr id="51" name="flow0-1"/>
          <p:cNvCxnSpPr/>
          <p:nvPr/>
        </p:nvCxnSpPr>
        <p:spPr>
          <a:xfrm flipV="1">
            <a:off x="1981200" y="4800600"/>
            <a:ext cx="0" cy="838200"/>
          </a:xfrm>
          <a:prstGeom prst="line">
            <a:avLst/>
          </a:prstGeom>
          <a:ln w="19050">
            <a:solidFill>
              <a:srgbClr val="D97757"/>
            </a:solidFill>
            <a:tailEnd type="triangle" w="med" len="med"/>
          </a:ln>
        </p:spPr>
      </p:cxnSp>
      <p:cxnSp>
        <p:nvCxnSpPr>
          <p:cNvPr id="52" name="flow0-2"/>
          <p:cNvCxnSpPr/>
          <p:nvPr/>
        </p:nvCxnSpPr>
        <p:spPr>
          <a:xfrm flipV="1">
            <a:off x="2590800" y="4800600"/>
            <a:ext cx="0" cy="838200"/>
          </a:xfrm>
          <a:prstGeom prst="line">
            <a:avLst/>
          </a:prstGeom>
          <a:ln w="19050">
            <a:solidFill>
              <a:srgbClr val="D97757"/>
            </a:solidFill>
            <a:tailEnd type="triangle" w="med" len="med"/>
          </a:ln>
        </p:spPr>
      </p:cxnSp>
      <p:cxnSp>
        <p:nvCxnSpPr>
          <p:cNvPr id="53" name="flow0-3"/>
          <p:cNvCxnSpPr/>
          <p:nvPr/>
        </p:nvCxnSpPr>
        <p:spPr>
          <a:xfrm flipV="1">
            <a:off x="3200400" y="4800600"/>
            <a:ext cx="0" cy="838200"/>
          </a:xfrm>
          <a:prstGeom prst="line">
            <a:avLst/>
          </a:prstGeom>
          <a:ln w="19050">
            <a:solidFill>
              <a:srgbClr val="D97757"/>
            </a:solidFill>
            <a:tailEnd type="triangle" w="med" len="med"/>
          </a:ln>
        </p:spPr>
      </p:cxnSp>
      <p:cxnSp>
        <p:nvCxnSpPr>
          <p:cNvPr id="54" name="flow0-4"/>
          <p:cNvCxnSpPr/>
          <p:nvPr/>
        </p:nvCxnSpPr>
        <p:spPr>
          <a:xfrm flipV="1">
            <a:off x="3810000" y="4800600"/>
            <a:ext cx="0" cy="838200"/>
          </a:xfrm>
          <a:prstGeom prst="line">
            <a:avLst/>
          </a:prstGeom>
          <a:ln w="19050">
            <a:solidFill>
              <a:srgbClr val="D97757"/>
            </a:solidFill>
            <a:tailEnd type="triangle" w="med" len="med"/>
          </a:ln>
        </p:spPr>
      </p:cxnSp>
      <p:cxnSp>
        <p:nvCxnSpPr>
          <p:cNvPr id="55" name="flow0-5"/>
          <p:cNvCxnSpPr/>
          <p:nvPr/>
        </p:nvCxnSpPr>
        <p:spPr>
          <a:xfrm flipV="1">
            <a:off x="4419600" y="4800600"/>
            <a:ext cx="0" cy="838200"/>
          </a:xfrm>
          <a:prstGeom prst="line">
            <a:avLst/>
          </a:prstGeom>
          <a:ln w="19050">
            <a:solidFill>
              <a:srgbClr val="D97757"/>
            </a:solidFill>
            <a:tailEnd type="triangle" w="med" len="med"/>
          </a:ln>
        </p:spPr>
      </p:cxnSp>
      <p:cxnSp>
        <p:nvCxnSpPr>
          <p:cNvPr id="56" name="flow1-0"/>
          <p:cNvCxnSpPr/>
          <p:nvPr/>
        </p:nvCxnSpPr>
        <p:spPr>
          <a:xfrm flipV="1">
            <a:off x="1371600" y="3657600"/>
            <a:ext cx="0" cy="838200"/>
          </a:xfrm>
          <a:prstGeom prst="line">
            <a:avLst/>
          </a:prstGeom>
          <a:ln w="19050">
            <a:solidFill>
              <a:srgbClr val="D97757"/>
            </a:solidFill>
            <a:tailEnd type="triangle" w="med" len="med"/>
          </a:ln>
        </p:spPr>
      </p:cxnSp>
      <p:cxnSp>
        <p:nvCxnSpPr>
          <p:cNvPr id="57" name="flow1-1"/>
          <p:cNvCxnSpPr/>
          <p:nvPr/>
        </p:nvCxnSpPr>
        <p:spPr>
          <a:xfrm flipV="1">
            <a:off x="1981200" y="3657600"/>
            <a:ext cx="0" cy="838200"/>
          </a:xfrm>
          <a:prstGeom prst="line">
            <a:avLst/>
          </a:prstGeom>
          <a:ln w="19050">
            <a:solidFill>
              <a:srgbClr val="D97757"/>
            </a:solidFill>
            <a:tailEnd type="triangle" w="med" len="med"/>
          </a:ln>
        </p:spPr>
      </p:cxnSp>
      <p:cxnSp>
        <p:nvCxnSpPr>
          <p:cNvPr id="58" name="flow1-2"/>
          <p:cNvCxnSpPr/>
          <p:nvPr/>
        </p:nvCxnSpPr>
        <p:spPr>
          <a:xfrm flipV="1">
            <a:off x="2590800" y="3657600"/>
            <a:ext cx="0" cy="838200"/>
          </a:xfrm>
          <a:prstGeom prst="line">
            <a:avLst/>
          </a:prstGeom>
          <a:ln w="19050">
            <a:solidFill>
              <a:srgbClr val="D97757"/>
            </a:solidFill>
            <a:tailEnd type="triangle" w="med" len="med"/>
          </a:ln>
        </p:spPr>
      </p:cxnSp>
      <p:cxnSp>
        <p:nvCxnSpPr>
          <p:cNvPr id="59" name="flow1-3"/>
          <p:cNvCxnSpPr/>
          <p:nvPr/>
        </p:nvCxnSpPr>
        <p:spPr>
          <a:xfrm flipV="1">
            <a:off x="3200400" y="3657600"/>
            <a:ext cx="0" cy="838200"/>
          </a:xfrm>
          <a:prstGeom prst="line">
            <a:avLst/>
          </a:prstGeom>
          <a:ln w="19050">
            <a:solidFill>
              <a:srgbClr val="D97757"/>
            </a:solidFill>
            <a:tailEnd type="triangle" w="med" len="med"/>
          </a:ln>
        </p:spPr>
      </p:cxnSp>
      <p:cxnSp>
        <p:nvCxnSpPr>
          <p:cNvPr id="60" name="flow1-4"/>
          <p:cNvCxnSpPr/>
          <p:nvPr/>
        </p:nvCxnSpPr>
        <p:spPr>
          <a:xfrm flipV="1">
            <a:off x="3810000" y="3657600"/>
            <a:ext cx="0" cy="838200"/>
          </a:xfrm>
          <a:prstGeom prst="line">
            <a:avLst/>
          </a:prstGeom>
          <a:ln w="19050">
            <a:solidFill>
              <a:srgbClr val="D97757"/>
            </a:solidFill>
            <a:tailEnd type="triangle" w="med" len="med"/>
          </a:ln>
        </p:spPr>
      </p:cxnSp>
      <p:cxnSp>
        <p:nvCxnSpPr>
          <p:cNvPr id="61" name="flow1-5"/>
          <p:cNvCxnSpPr/>
          <p:nvPr/>
        </p:nvCxnSpPr>
        <p:spPr>
          <a:xfrm flipV="1">
            <a:off x="4419600" y="3657600"/>
            <a:ext cx="0" cy="838200"/>
          </a:xfrm>
          <a:prstGeom prst="line">
            <a:avLst/>
          </a:prstGeom>
          <a:ln w="19050">
            <a:solidFill>
              <a:srgbClr val="D97757"/>
            </a:solidFill>
            <a:tailEnd type="triangle" w="med" len="med"/>
          </a:ln>
        </p:spPr>
      </p:cxnSp>
      <p:cxnSp>
        <p:nvCxnSpPr>
          <p:cNvPr id="62" name="flow2-0"/>
          <p:cNvCxnSpPr/>
          <p:nvPr/>
        </p:nvCxnSpPr>
        <p:spPr>
          <a:xfrm flipV="1">
            <a:off x="1371600" y="2006600"/>
            <a:ext cx="0" cy="1346200"/>
          </a:xfrm>
          <a:prstGeom prst="line">
            <a:avLst/>
          </a:prstGeom>
          <a:ln w="15875">
            <a:solidFill>
              <a:srgbClr val="D97757"/>
            </a:solidFill>
            <a:prstDash val="dash"/>
            <a:tailEnd type="triangle" w="med" len="med"/>
          </a:ln>
        </p:spPr>
      </p:cxnSp>
      <p:cxnSp>
        <p:nvCxnSpPr>
          <p:cNvPr id="63" name="flow2-1"/>
          <p:cNvCxnSpPr/>
          <p:nvPr/>
        </p:nvCxnSpPr>
        <p:spPr>
          <a:xfrm flipV="1">
            <a:off x="1981200" y="2006600"/>
            <a:ext cx="0" cy="1346200"/>
          </a:xfrm>
          <a:prstGeom prst="line">
            <a:avLst/>
          </a:prstGeom>
          <a:ln w="15875">
            <a:solidFill>
              <a:srgbClr val="D97757"/>
            </a:solidFill>
            <a:prstDash val="dash"/>
            <a:tailEnd type="triangle" w="med" len="med"/>
          </a:ln>
        </p:spPr>
      </p:cxnSp>
      <p:cxnSp>
        <p:nvCxnSpPr>
          <p:cNvPr id="64" name="flow2-2"/>
          <p:cNvCxnSpPr/>
          <p:nvPr/>
        </p:nvCxnSpPr>
        <p:spPr>
          <a:xfrm flipV="1">
            <a:off x="2590800" y="2006600"/>
            <a:ext cx="0" cy="1346200"/>
          </a:xfrm>
          <a:prstGeom prst="line">
            <a:avLst/>
          </a:prstGeom>
          <a:ln w="15875">
            <a:solidFill>
              <a:srgbClr val="D97757"/>
            </a:solidFill>
            <a:prstDash val="dash"/>
            <a:tailEnd type="triangle" w="med" len="med"/>
          </a:ln>
        </p:spPr>
      </p:cxnSp>
      <p:cxnSp>
        <p:nvCxnSpPr>
          <p:cNvPr id="65" name="flow2-3"/>
          <p:cNvCxnSpPr/>
          <p:nvPr/>
        </p:nvCxnSpPr>
        <p:spPr>
          <a:xfrm flipV="1">
            <a:off x="3200400" y="2006600"/>
            <a:ext cx="0" cy="1346200"/>
          </a:xfrm>
          <a:prstGeom prst="line">
            <a:avLst/>
          </a:prstGeom>
          <a:ln w="15875">
            <a:solidFill>
              <a:srgbClr val="D97757"/>
            </a:solidFill>
            <a:prstDash val="dash"/>
            <a:tailEnd type="triangle" w="med" len="med"/>
          </a:ln>
        </p:spPr>
      </p:cxnSp>
      <p:cxnSp>
        <p:nvCxnSpPr>
          <p:cNvPr id="66" name="flow2-4"/>
          <p:cNvCxnSpPr/>
          <p:nvPr/>
        </p:nvCxnSpPr>
        <p:spPr>
          <a:xfrm flipV="1">
            <a:off x="3810000" y="2006600"/>
            <a:ext cx="0" cy="1346200"/>
          </a:xfrm>
          <a:prstGeom prst="line">
            <a:avLst/>
          </a:prstGeom>
          <a:ln w="15875">
            <a:solidFill>
              <a:srgbClr val="D97757"/>
            </a:solidFill>
            <a:prstDash val="dash"/>
            <a:tailEnd type="triangle" w="med" len="med"/>
          </a:ln>
        </p:spPr>
      </p:cxnSp>
      <p:cxnSp>
        <p:nvCxnSpPr>
          <p:cNvPr id="67" name="flow2-5"/>
          <p:cNvCxnSpPr/>
          <p:nvPr/>
        </p:nvCxnSpPr>
        <p:spPr>
          <a:xfrm flipV="1">
            <a:off x="4419600" y="2006600"/>
            <a:ext cx="0" cy="1346200"/>
          </a:xfrm>
          <a:prstGeom prst="line">
            <a:avLst/>
          </a:prstGeom>
          <a:ln w="15875">
            <a:solidFill>
              <a:srgbClr val="D97757"/>
            </a:solidFill>
            <a:prstDash val="dash"/>
            <a:tailEnd type="triangle" w="med" len="med"/>
          </a:ln>
        </p:spPr>
      </p:cxnSp>
      <p:sp>
        <p:nvSpPr>
          <p:cNvPr id="68" name="dots"/>
          <p:cNvSpPr txBox="1"/>
          <p:nvPr/>
        </p:nvSpPr>
        <p:spPr>
          <a:xfrm>
            <a:off x="5359400" y="2362200"/>
            <a:ext cx="2540000" cy="381000"/>
          </a:xfrm>
          <a:prstGeom prst="rect">
            <a:avLst/>
          </a:prstGeom>
          <a:noFill/>
        </p:spPr>
        <p:txBody>
          <a:bodyPr wrap="square" lIns="0" tIns="0" rIns="0" bIns="0" anchor="ctr">
            <a:noAutofit/>
          </a:bodyPr>
          <a:lstStyle/>
          <a:p>
            <a:pPr marL="0" indent="0" algn="l">
              <a:spcBef>
                <a:spcPts val="0"/>
              </a:spcBef>
              <a:buNone/>
            </a:pPr>
            <a:r>
              <a:rPr lang="en-US" sz="1300" i="1" dirty="0">
                <a:solidFill>
                  <a:srgbClr val="5A6075"/>
                </a:solidFill>
              </a:rPr>
              <a:t>⋮  32–120+ layers in large models</a:t>
            </a:r>
          </a:p>
        </p:txBody>
      </p:sp>
      <p:sp>
        <p:nvSpPr>
          <p:cNvPr id="69" name="input-caption"/>
          <p:cNvSpPr txBox="1"/>
          <p:nvPr/>
        </p:nvSpPr>
        <p:spPr>
          <a:xfrm>
            <a:off x="635000" y="5969000"/>
            <a:ext cx="4521200" cy="254000"/>
          </a:xfrm>
          <a:prstGeom prst="rect">
            <a:avLst/>
          </a:prstGeom>
          <a:noFill/>
        </p:spPr>
        <p:txBody>
          <a:bodyPr wrap="square" lIns="0" tIns="0" rIns="0" bIns="0" anchor="t">
            <a:noAutofit/>
          </a:bodyPr>
          <a:lstStyle/>
          <a:p>
            <a:pPr marL="0" indent="0" algn="l">
              <a:spcBef>
                <a:spcPts val="0"/>
              </a:spcBef>
              <a:buNone/>
            </a:pPr>
            <a:r>
              <a:rPr lang="en-US" sz="1200" i="1" dirty="0">
                <a:solidFill>
                  <a:srgbClr val="5A6075"/>
                </a:solidFill>
              </a:rPr>
              <a:t>Input: “Tokenization is unbelievable” → 6 tokens enter Layer 1 together</a:t>
            </a:r>
          </a:p>
        </p:txBody>
      </p:sp>
      <p:sp>
        <p:nvSpPr>
          <p:cNvPr id="70" name="panel-head"/>
          <p:cNvSpPr txBox="1"/>
          <p:nvPr/>
        </p:nvSpPr>
        <p:spPr>
          <a:xfrm>
            <a:off x="8255000" y="1320800"/>
            <a:ext cx="3365500" cy="304800"/>
          </a:xfrm>
          <a:prstGeom prst="rect">
            <a:avLst/>
          </a:prstGeom>
          <a:noFill/>
        </p:spPr>
        <p:txBody>
          <a:bodyPr wrap="square" lIns="0" tIns="0" rIns="0" bIns="0" anchor="t">
            <a:noAutofit/>
          </a:bodyPr>
          <a:lstStyle/>
          <a:p>
            <a:pPr marL="0" indent="0" algn="l">
              <a:spcBef>
                <a:spcPts val="0"/>
              </a:spcBef>
              <a:buNone/>
            </a:pPr>
            <a:r>
              <a:rPr lang="en-US" sz="1600" b="1" dirty="0">
                <a:solidFill>
                  <a:srgbClr val="1B1F3B"/>
                </a:solidFill>
              </a:rPr>
              <a:t>Why transformers train fast</a:t>
            </a:r>
          </a:p>
        </p:txBody>
      </p:sp>
      <p:sp>
        <p:nvSpPr>
          <p:cNvPr id="71" name="rnn-label"/>
          <p:cNvSpPr txBox="1"/>
          <p:nvPr/>
        </p:nvSpPr>
        <p:spPr>
          <a:xfrm>
            <a:off x="8255000" y="1778000"/>
            <a:ext cx="3365500" cy="508000"/>
          </a:xfrm>
          <a:prstGeom prst="rect">
            <a:avLst/>
          </a:prstGeom>
          <a:noFill/>
        </p:spPr>
        <p:txBody>
          <a:bodyPr wrap="square" lIns="0" tIns="0" rIns="0" bIns="0" anchor="t">
            <a:noAutofit/>
          </a:bodyPr>
          <a:lstStyle/>
          <a:p>
            <a:pPr marL="0" indent="0" algn="l">
              <a:spcBef>
                <a:spcPts val="0"/>
              </a:spcBef>
              <a:buNone/>
            </a:pPr>
            <a:r>
              <a:rPr lang="en-US" sz="1400" b="1" dirty="0">
                <a:solidFill>
                  <a:srgbClr val="5A6075"/>
                </a:solidFill>
              </a:rPr>
              <a:t>Older RNN: one token after another</a:t>
            </a:r>
          </a:p>
          <a:p>
            <a:pPr marL="0" indent="0" algn="l">
              <a:spcBef>
                <a:spcPts val="0"/>
              </a:spcBef>
              <a:buNone/>
            </a:pPr>
            <a:r>
              <a:rPr lang="en-US" sz="1300" dirty="0">
                <a:solidFill>
                  <a:srgbClr val="5A6075"/>
                </a:solidFill>
              </a:rPr>
              <a:t>6 tokens = 6 steps in a row</a:t>
            </a:r>
          </a:p>
        </p:txBody>
      </p:sp>
      <p:sp>
        <p:nvSpPr>
          <p:cNvPr id="72" name="rnn-0"/>
          <p:cNvSpPr/>
          <p:nvPr/>
        </p:nvSpPr>
        <p:spPr>
          <a:xfrm>
            <a:off x="8255000" y="2413000"/>
            <a:ext cx="431800" cy="330200"/>
          </a:xfrm>
          <a:prstGeom prst="roundRect">
            <a:avLst>
              <a:gd name="adj" fmla="val 20000"/>
            </a:avLst>
          </a:prstGeom>
          <a:solidFill>
            <a:srgbClr val="E3E5EC"/>
          </a:solidFill>
          <a:ln>
            <a:noFill/>
          </a:ln>
        </p:spPr>
        <p:txBody>
          <a:bodyPr wrap="none" lIns="0" tIns="0" rIns="0" bIns="0" anchor="ctr"/>
          <a:lstStyle/>
          <a:p>
            <a:pPr algn="ctr">
              <a:buNone/>
            </a:pPr>
            <a:r>
              <a:rPr lang="en-US" sz="1300" dirty="0">
                <a:solidFill>
                  <a:srgbClr val="5A6075"/>
                </a:solidFill>
              </a:rPr>
              <a:t>t1</a:t>
            </a:r>
          </a:p>
        </p:txBody>
      </p:sp>
      <p:cxnSp>
        <p:nvCxnSpPr>
          <p:cNvPr id="73" name="rnn-a0"/>
          <p:cNvCxnSpPr/>
          <p:nvPr/>
        </p:nvCxnSpPr>
        <p:spPr>
          <a:xfrm>
            <a:off x="8699500" y="2578100"/>
            <a:ext cx="127000" cy="0"/>
          </a:xfrm>
          <a:prstGeom prst="line">
            <a:avLst/>
          </a:prstGeom>
          <a:ln w="15875">
            <a:solidFill>
              <a:srgbClr val="8A90A6"/>
            </a:solidFill>
            <a:tailEnd type="triangle" w="med" len="med"/>
          </a:ln>
        </p:spPr>
      </p:cxnSp>
      <p:sp>
        <p:nvSpPr>
          <p:cNvPr id="74" name="rnn-1"/>
          <p:cNvSpPr/>
          <p:nvPr/>
        </p:nvSpPr>
        <p:spPr>
          <a:xfrm>
            <a:off x="8839200" y="2413000"/>
            <a:ext cx="431800" cy="330200"/>
          </a:xfrm>
          <a:prstGeom prst="roundRect">
            <a:avLst>
              <a:gd name="adj" fmla="val 20000"/>
            </a:avLst>
          </a:prstGeom>
          <a:solidFill>
            <a:srgbClr val="E3E5EC"/>
          </a:solidFill>
          <a:ln>
            <a:noFill/>
          </a:ln>
        </p:spPr>
        <p:txBody>
          <a:bodyPr wrap="none" lIns="0" tIns="0" rIns="0" bIns="0" anchor="ctr"/>
          <a:lstStyle/>
          <a:p>
            <a:pPr algn="ctr">
              <a:buNone/>
            </a:pPr>
            <a:r>
              <a:rPr lang="en-US" sz="1300" dirty="0">
                <a:solidFill>
                  <a:srgbClr val="5A6075"/>
                </a:solidFill>
              </a:rPr>
              <a:t>t2</a:t>
            </a:r>
          </a:p>
        </p:txBody>
      </p:sp>
      <p:cxnSp>
        <p:nvCxnSpPr>
          <p:cNvPr id="75" name="rnn-a1"/>
          <p:cNvCxnSpPr/>
          <p:nvPr/>
        </p:nvCxnSpPr>
        <p:spPr>
          <a:xfrm>
            <a:off x="9283700" y="2578100"/>
            <a:ext cx="127000" cy="0"/>
          </a:xfrm>
          <a:prstGeom prst="line">
            <a:avLst/>
          </a:prstGeom>
          <a:ln w="15875">
            <a:solidFill>
              <a:srgbClr val="8A90A6"/>
            </a:solidFill>
            <a:tailEnd type="triangle" w="med" len="med"/>
          </a:ln>
        </p:spPr>
      </p:cxnSp>
      <p:sp>
        <p:nvSpPr>
          <p:cNvPr id="76" name="rnn-2"/>
          <p:cNvSpPr/>
          <p:nvPr/>
        </p:nvSpPr>
        <p:spPr>
          <a:xfrm>
            <a:off x="9423400" y="2413000"/>
            <a:ext cx="431800" cy="330200"/>
          </a:xfrm>
          <a:prstGeom prst="roundRect">
            <a:avLst>
              <a:gd name="adj" fmla="val 20000"/>
            </a:avLst>
          </a:prstGeom>
          <a:solidFill>
            <a:srgbClr val="E3E5EC"/>
          </a:solidFill>
          <a:ln>
            <a:noFill/>
          </a:ln>
        </p:spPr>
        <p:txBody>
          <a:bodyPr wrap="none" lIns="0" tIns="0" rIns="0" bIns="0" anchor="ctr"/>
          <a:lstStyle/>
          <a:p>
            <a:pPr algn="ctr">
              <a:buNone/>
            </a:pPr>
            <a:r>
              <a:rPr lang="en-US" sz="1300" dirty="0">
                <a:solidFill>
                  <a:srgbClr val="5A6075"/>
                </a:solidFill>
              </a:rPr>
              <a:t>t3</a:t>
            </a:r>
          </a:p>
        </p:txBody>
      </p:sp>
      <p:cxnSp>
        <p:nvCxnSpPr>
          <p:cNvPr id="77" name="rnn-a2"/>
          <p:cNvCxnSpPr/>
          <p:nvPr/>
        </p:nvCxnSpPr>
        <p:spPr>
          <a:xfrm>
            <a:off x="9867900" y="2578100"/>
            <a:ext cx="127000" cy="0"/>
          </a:xfrm>
          <a:prstGeom prst="line">
            <a:avLst/>
          </a:prstGeom>
          <a:ln w="15875">
            <a:solidFill>
              <a:srgbClr val="8A90A6"/>
            </a:solidFill>
            <a:tailEnd type="triangle" w="med" len="med"/>
          </a:ln>
        </p:spPr>
      </p:cxnSp>
      <p:sp>
        <p:nvSpPr>
          <p:cNvPr id="78" name="rnn-3"/>
          <p:cNvSpPr/>
          <p:nvPr/>
        </p:nvSpPr>
        <p:spPr>
          <a:xfrm>
            <a:off x="10007600" y="2413000"/>
            <a:ext cx="431800" cy="330200"/>
          </a:xfrm>
          <a:prstGeom prst="roundRect">
            <a:avLst>
              <a:gd name="adj" fmla="val 20000"/>
            </a:avLst>
          </a:prstGeom>
          <a:solidFill>
            <a:srgbClr val="E3E5EC"/>
          </a:solidFill>
          <a:ln>
            <a:noFill/>
          </a:ln>
        </p:spPr>
        <p:txBody>
          <a:bodyPr wrap="none" lIns="0" tIns="0" rIns="0" bIns="0" anchor="ctr"/>
          <a:lstStyle/>
          <a:p>
            <a:pPr algn="ctr">
              <a:buNone/>
            </a:pPr>
            <a:r>
              <a:rPr lang="en-US" sz="1300" dirty="0">
                <a:solidFill>
                  <a:srgbClr val="5A6075"/>
                </a:solidFill>
              </a:rPr>
              <a:t>t4</a:t>
            </a:r>
          </a:p>
        </p:txBody>
      </p:sp>
      <p:cxnSp>
        <p:nvCxnSpPr>
          <p:cNvPr id="79" name="rnn-a3"/>
          <p:cNvCxnSpPr/>
          <p:nvPr/>
        </p:nvCxnSpPr>
        <p:spPr>
          <a:xfrm>
            <a:off x="10452100" y="2578100"/>
            <a:ext cx="127000" cy="0"/>
          </a:xfrm>
          <a:prstGeom prst="line">
            <a:avLst/>
          </a:prstGeom>
          <a:ln w="15875">
            <a:solidFill>
              <a:srgbClr val="8A90A6"/>
            </a:solidFill>
            <a:tailEnd type="triangle" w="med" len="med"/>
          </a:ln>
        </p:spPr>
      </p:cxnSp>
      <p:sp>
        <p:nvSpPr>
          <p:cNvPr id="80" name="rnn-4"/>
          <p:cNvSpPr/>
          <p:nvPr/>
        </p:nvSpPr>
        <p:spPr>
          <a:xfrm>
            <a:off x="10591800" y="2413000"/>
            <a:ext cx="431800" cy="330200"/>
          </a:xfrm>
          <a:prstGeom prst="roundRect">
            <a:avLst>
              <a:gd name="adj" fmla="val 20000"/>
            </a:avLst>
          </a:prstGeom>
          <a:solidFill>
            <a:srgbClr val="E3E5EC"/>
          </a:solidFill>
          <a:ln>
            <a:noFill/>
          </a:ln>
        </p:spPr>
        <p:txBody>
          <a:bodyPr wrap="none" lIns="0" tIns="0" rIns="0" bIns="0" anchor="ctr"/>
          <a:lstStyle/>
          <a:p>
            <a:pPr algn="ctr">
              <a:buNone/>
            </a:pPr>
            <a:r>
              <a:rPr lang="en-US" sz="1300" dirty="0">
                <a:solidFill>
                  <a:srgbClr val="5A6075"/>
                </a:solidFill>
              </a:rPr>
              <a:t>t5</a:t>
            </a:r>
          </a:p>
        </p:txBody>
      </p:sp>
      <p:cxnSp>
        <p:nvCxnSpPr>
          <p:cNvPr id="81" name="rnn-a4"/>
          <p:cNvCxnSpPr/>
          <p:nvPr/>
        </p:nvCxnSpPr>
        <p:spPr>
          <a:xfrm>
            <a:off x="11036300" y="2578100"/>
            <a:ext cx="127000" cy="0"/>
          </a:xfrm>
          <a:prstGeom prst="line">
            <a:avLst/>
          </a:prstGeom>
          <a:ln w="15875">
            <a:solidFill>
              <a:srgbClr val="8A90A6"/>
            </a:solidFill>
            <a:tailEnd type="triangle" w="med" len="med"/>
          </a:ln>
        </p:spPr>
      </p:cxnSp>
      <p:sp>
        <p:nvSpPr>
          <p:cNvPr id="82" name="rnn-5"/>
          <p:cNvSpPr/>
          <p:nvPr/>
        </p:nvSpPr>
        <p:spPr>
          <a:xfrm>
            <a:off x="11176000" y="2413000"/>
            <a:ext cx="431800" cy="330200"/>
          </a:xfrm>
          <a:prstGeom prst="roundRect">
            <a:avLst>
              <a:gd name="adj" fmla="val 20000"/>
            </a:avLst>
          </a:prstGeom>
          <a:solidFill>
            <a:srgbClr val="E3E5EC"/>
          </a:solidFill>
          <a:ln>
            <a:noFill/>
          </a:ln>
        </p:spPr>
        <p:txBody>
          <a:bodyPr wrap="none" lIns="0" tIns="0" rIns="0" bIns="0" anchor="ctr"/>
          <a:lstStyle/>
          <a:p>
            <a:pPr algn="ctr">
              <a:buNone/>
            </a:pPr>
            <a:r>
              <a:rPr lang="en-US" sz="1300" dirty="0">
                <a:solidFill>
                  <a:srgbClr val="5A6075"/>
                </a:solidFill>
              </a:rPr>
              <a:t>t6</a:t>
            </a:r>
          </a:p>
        </p:txBody>
      </p:sp>
      <p:sp>
        <p:nvSpPr>
          <p:cNvPr id="83" name="rnn-steps"/>
          <p:cNvSpPr txBox="1"/>
          <p:nvPr/>
        </p:nvSpPr>
        <p:spPr>
          <a:xfrm>
            <a:off x="8255000" y="2819400"/>
            <a:ext cx="3365500" cy="228600"/>
          </a:xfrm>
          <a:prstGeom prst="rect">
            <a:avLst/>
          </a:prstGeom>
          <a:noFill/>
        </p:spPr>
        <p:txBody>
          <a:bodyPr wrap="square" lIns="0" tIns="0" rIns="0" bIns="0" anchor="t">
            <a:noAutofit/>
          </a:bodyPr>
          <a:lstStyle/>
          <a:p>
            <a:pPr marL="0" indent="0" algn="l">
              <a:spcBef>
                <a:spcPts val="0"/>
              </a:spcBef>
              <a:buNone/>
            </a:pPr>
            <a:r>
              <a:rPr lang="en-US" sz="1200" dirty="0">
                <a:solidFill>
                  <a:srgbClr val="5A6075"/>
                </a:solidFill>
              </a:rPr>
              <a:t>step 1 → 2 → 3 → 4 → 5 → 6</a:t>
            </a:r>
          </a:p>
        </p:txBody>
      </p:sp>
      <p:cxnSp>
        <p:nvCxnSpPr>
          <p:cNvPr id="84" name="divider"/>
          <p:cNvCxnSpPr/>
          <p:nvPr/>
        </p:nvCxnSpPr>
        <p:spPr>
          <a:xfrm>
            <a:off x="8255000" y="3200400"/>
            <a:ext cx="3365500" cy="0"/>
          </a:xfrm>
          <a:prstGeom prst="line">
            <a:avLst/>
          </a:prstGeom>
          <a:ln w="9525">
            <a:solidFill>
              <a:srgbClr val="E0E0E0"/>
            </a:solidFill>
          </a:ln>
        </p:spPr>
      </p:cxnSp>
      <p:sp>
        <p:nvSpPr>
          <p:cNvPr id="85" name="tf-label"/>
          <p:cNvSpPr txBox="1"/>
          <p:nvPr/>
        </p:nvSpPr>
        <p:spPr>
          <a:xfrm>
            <a:off x="8255000" y="3378200"/>
            <a:ext cx="3365500" cy="508000"/>
          </a:xfrm>
          <a:prstGeom prst="rect">
            <a:avLst/>
          </a:prstGeom>
          <a:noFill/>
        </p:spPr>
        <p:txBody>
          <a:bodyPr wrap="square" lIns="0" tIns="0" rIns="0" bIns="0" anchor="t">
            <a:noAutofit/>
          </a:bodyPr>
          <a:lstStyle/>
          <a:p>
            <a:pPr marL="0" indent="0" algn="l">
              <a:spcBef>
                <a:spcPts val="0"/>
              </a:spcBef>
              <a:buNone/>
            </a:pPr>
            <a:r>
              <a:rPr lang="en-US" sz="1400" b="1" dirty="0">
                <a:solidFill>
                  <a:srgbClr val="D97757"/>
                </a:solidFill>
              </a:rPr>
              <a:t>Transformer: every token at once</a:t>
            </a:r>
          </a:p>
          <a:p>
            <a:pPr marL="0" indent="0" algn="l">
              <a:spcBef>
                <a:spcPts val="0"/>
              </a:spcBef>
              <a:buNone/>
            </a:pPr>
            <a:r>
              <a:rPr lang="en-US" sz="1300" dirty="0">
                <a:solidFill>
                  <a:srgbClr val="5A6075"/>
                </a:solidFill>
              </a:rPr>
              <a:t>6 tokens = 1 step per layer</a:t>
            </a:r>
          </a:p>
        </p:txBody>
      </p:sp>
      <p:sp>
        <p:nvSpPr>
          <p:cNvPr id="86" name="gpu-bar"/>
          <p:cNvSpPr/>
          <p:nvPr/>
        </p:nvSpPr>
        <p:spPr>
          <a:xfrm>
            <a:off x="8255000" y="3987800"/>
            <a:ext cx="3352800" cy="279400"/>
          </a:xfrm>
          <a:prstGeom prst="roundRect">
            <a:avLst>
              <a:gd name="adj" fmla="val 20000"/>
            </a:avLst>
          </a:prstGeom>
          <a:solidFill>
            <a:srgbClr val="1B1F3B"/>
          </a:solidFill>
          <a:ln>
            <a:noFill/>
          </a:ln>
        </p:spPr>
        <p:txBody>
          <a:bodyPr wrap="none" lIns="0" tIns="0" rIns="0" bIns="0" anchor="ctr"/>
          <a:lstStyle/>
          <a:p>
            <a:pPr algn="ctr">
              <a:buNone/>
            </a:pPr>
            <a:r>
              <a:rPr lang="en-US" sz="1300" b="1" dirty="0">
                <a:solidFill>
                  <a:srgbClr val="FFFFFF"/>
                </a:solidFill>
              </a:rPr>
              <a:t>GPU: one matrix multiply</a:t>
            </a:r>
          </a:p>
        </p:txBody>
      </p:sp>
      <p:cxnSp>
        <p:nvCxnSpPr>
          <p:cNvPr id="87" name="tf-a0"/>
          <p:cNvCxnSpPr/>
          <p:nvPr/>
        </p:nvCxnSpPr>
        <p:spPr>
          <a:xfrm>
            <a:off x="8470900" y="4279900"/>
            <a:ext cx="0" cy="241300"/>
          </a:xfrm>
          <a:prstGeom prst="line">
            <a:avLst/>
          </a:prstGeom>
          <a:ln w="19050">
            <a:solidFill>
              <a:srgbClr val="D97757"/>
            </a:solidFill>
            <a:tailEnd type="triangle" w="med" len="med"/>
          </a:ln>
        </p:spPr>
      </p:cxnSp>
      <p:sp>
        <p:nvSpPr>
          <p:cNvPr id="88" name="tf-0"/>
          <p:cNvSpPr/>
          <p:nvPr/>
        </p:nvSpPr>
        <p:spPr>
          <a:xfrm>
            <a:off x="8255000" y="4546600"/>
            <a:ext cx="431800" cy="330200"/>
          </a:xfrm>
          <a:prstGeom prst="roundRect">
            <a:avLst>
              <a:gd name="adj" fmla="val 20000"/>
            </a:avLst>
          </a:prstGeom>
          <a:solidFill>
            <a:srgbClr val="F7DDD3"/>
          </a:solidFill>
          <a:ln>
            <a:noFill/>
          </a:ln>
        </p:spPr>
        <p:txBody>
          <a:bodyPr wrap="none" lIns="0" tIns="0" rIns="0" bIns="0" anchor="ctr"/>
          <a:lstStyle/>
          <a:p>
            <a:pPr algn="ctr">
              <a:buNone/>
            </a:pPr>
            <a:r>
              <a:rPr lang="en-US" sz="1100" dirty="0">
                <a:solidFill>
                  <a:srgbClr val="1B1F3B"/>
                </a:solidFill>
              </a:rPr>
              <a:t>Token</a:t>
            </a:r>
          </a:p>
        </p:txBody>
      </p:sp>
      <p:cxnSp>
        <p:nvCxnSpPr>
          <p:cNvPr id="89" name="tf-a1"/>
          <p:cNvCxnSpPr/>
          <p:nvPr/>
        </p:nvCxnSpPr>
        <p:spPr>
          <a:xfrm>
            <a:off x="9055100" y="4279900"/>
            <a:ext cx="0" cy="241300"/>
          </a:xfrm>
          <a:prstGeom prst="line">
            <a:avLst/>
          </a:prstGeom>
          <a:ln w="19050">
            <a:solidFill>
              <a:srgbClr val="D97757"/>
            </a:solidFill>
            <a:tailEnd type="triangle" w="med" len="med"/>
          </a:ln>
        </p:spPr>
      </p:cxnSp>
      <p:sp>
        <p:nvSpPr>
          <p:cNvPr id="90" name="tf-1"/>
          <p:cNvSpPr/>
          <p:nvPr/>
        </p:nvSpPr>
        <p:spPr>
          <a:xfrm>
            <a:off x="8839200" y="4546600"/>
            <a:ext cx="431800" cy="330200"/>
          </a:xfrm>
          <a:prstGeom prst="roundRect">
            <a:avLst>
              <a:gd name="adj" fmla="val 20000"/>
            </a:avLst>
          </a:prstGeom>
          <a:solidFill>
            <a:srgbClr val="DEDCFF"/>
          </a:solidFill>
          <a:ln>
            <a:noFill/>
          </a:ln>
        </p:spPr>
        <p:txBody>
          <a:bodyPr wrap="none" lIns="0" tIns="0" rIns="0" bIns="0" anchor="ctr"/>
          <a:lstStyle/>
          <a:p>
            <a:pPr algn="ctr">
              <a:buNone/>
            </a:pPr>
            <a:r>
              <a:rPr lang="en-US" sz="1100" dirty="0">
                <a:solidFill>
                  <a:srgbClr val="1B1F3B"/>
                </a:solidFill>
              </a:rPr>
              <a:t>ization</a:t>
            </a:r>
          </a:p>
        </p:txBody>
      </p:sp>
      <p:cxnSp>
        <p:nvCxnSpPr>
          <p:cNvPr id="91" name="tf-a2"/>
          <p:cNvCxnSpPr/>
          <p:nvPr/>
        </p:nvCxnSpPr>
        <p:spPr>
          <a:xfrm>
            <a:off x="9639300" y="4279900"/>
            <a:ext cx="0" cy="241300"/>
          </a:xfrm>
          <a:prstGeom prst="line">
            <a:avLst/>
          </a:prstGeom>
          <a:ln w="19050">
            <a:solidFill>
              <a:srgbClr val="D97757"/>
            </a:solidFill>
            <a:tailEnd type="triangle" w="med" len="med"/>
          </a:ln>
        </p:spPr>
      </p:cxnSp>
      <p:sp>
        <p:nvSpPr>
          <p:cNvPr id="92" name="tf-2"/>
          <p:cNvSpPr/>
          <p:nvPr/>
        </p:nvSpPr>
        <p:spPr>
          <a:xfrm>
            <a:off x="9423400" y="4546600"/>
            <a:ext cx="431800" cy="330200"/>
          </a:xfrm>
          <a:prstGeom prst="roundRect">
            <a:avLst>
              <a:gd name="adj" fmla="val 20000"/>
            </a:avLst>
          </a:prstGeom>
          <a:solidFill>
            <a:srgbClr val="F7DDD3"/>
          </a:solidFill>
          <a:ln>
            <a:noFill/>
          </a:ln>
        </p:spPr>
        <p:txBody>
          <a:bodyPr wrap="none" lIns="0" tIns="0" rIns="0" bIns="0" anchor="ctr"/>
          <a:lstStyle/>
          <a:p>
            <a:pPr algn="ctr">
              <a:buNone/>
            </a:pPr>
            <a:r>
              <a:rPr lang="en-US" sz="1100" dirty="0">
                <a:solidFill>
                  <a:srgbClr val="1B1F3B"/>
                </a:solidFill>
              </a:rPr>
              <a:t>␣is</a:t>
            </a:r>
          </a:p>
        </p:txBody>
      </p:sp>
      <p:cxnSp>
        <p:nvCxnSpPr>
          <p:cNvPr id="93" name="tf-a3"/>
          <p:cNvCxnSpPr/>
          <p:nvPr/>
        </p:nvCxnSpPr>
        <p:spPr>
          <a:xfrm>
            <a:off x="10223500" y="4279900"/>
            <a:ext cx="0" cy="241300"/>
          </a:xfrm>
          <a:prstGeom prst="line">
            <a:avLst/>
          </a:prstGeom>
          <a:ln w="19050">
            <a:solidFill>
              <a:srgbClr val="D97757"/>
            </a:solidFill>
            <a:tailEnd type="triangle" w="med" len="med"/>
          </a:ln>
        </p:spPr>
      </p:cxnSp>
      <p:sp>
        <p:nvSpPr>
          <p:cNvPr id="94" name="tf-3"/>
          <p:cNvSpPr/>
          <p:nvPr/>
        </p:nvSpPr>
        <p:spPr>
          <a:xfrm>
            <a:off x="10007600" y="4546600"/>
            <a:ext cx="431800" cy="330200"/>
          </a:xfrm>
          <a:prstGeom prst="roundRect">
            <a:avLst>
              <a:gd name="adj" fmla="val 20000"/>
            </a:avLst>
          </a:prstGeom>
          <a:solidFill>
            <a:srgbClr val="DEDCFF"/>
          </a:solidFill>
          <a:ln>
            <a:noFill/>
          </a:ln>
        </p:spPr>
        <p:txBody>
          <a:bodyPr wrap="none" lIns="0" tIns="0" rIns="0" bIns="0" anchor="ctr"/>
          <a:lstStyle/>
          <a:p>
            <a:pPr algn="ctr">
              <a:buNone/>
            </a:pPr>
            <a:r>
              <a:rPr lang="en-US" sz="1100" dirty="0">
                <a:solidFill>
                  <a:srgbClr val="1B1F3B"/>
                </a:solidFill>
              </a:rPr>
              <a:t>␣un</a:t>
            </a:r>
          </a:p>
        </p:txBody>
      </p:sp>
      <p:cxnSp>
        <p:nvCxnSpPr>
          <p:cNvPr id="95" name="tf-a4"/>
          <p:cNvCxnSpPr/>
          <p:nvPr/>
        </p:nvCxnSpPr>
        <p:spPr>
          <a:xfrm>
            <a:off x="10807700" y="4279900"/>
            <a:ext cx="0" cy="241300"/>
          </a:xfrm>
          <a:prstGeom prst="line">
            <a:avLst/>
          </a:prstGeom>
          <a:ln w="19050">
            <a:solidFill>
              <a:srgbClr val="D97757"/>
            </a:solidFill>
            <a:tailEnd type="triangle" w="med" len="med"/>
          </a:ln>
        </p:spPr>
      </p:cxnSp>
      <p:sp>
        <p:nvSpPr>
          <p:cNvPr id="96" name="tf-4"/>
          <p:cNvSpPr/>
          <p:nvPr/>
        </p:nvSpPr>
        <p:spPr>
          <a:xfrm>
            <a:off x="10591800" y="4546600"/>
            <a:ext cx="431800" cy="330200"/>
          </a:xfrm>
          <a:prstGeom prst="roundRect">
            <a:avLst>
              <a:gd name="adj" fmla="val 20000"/>
            </a:avLst>
          </a:prstGeom>
          <a:solidFill>
            <a:srgbClr val="F7DDD3"/>
          </a:solidFill>
          <a:ln>
            <a:noFill/>
          </a:ln>
        </p:spPr>
        <p:txBody>
          <a:bodyPr wrap="none" lIns="0" tIns="0" rIns="0" bIns="0" anchor="ctr"/>
          <a:lstStyle/>
          <a:p>
            <a:pPr algn="ctr">
              <a:buNone/>
            </a:pPr>
            <a:r>
              <a:rPr lang="en-US" sz="1100" dirty="0">
                <a:solidFill>
                  <a:srgbClr val="1B1F3B"/>
                </a:solidFill>
              </a:rPr>
              <a:t>believ</a:t>
            </a:r>
          </a:p>
        </p:txBody>
      </p:sp>
      <p:cxnSp>
        <p:nvCxnSpPr>
          <p:cNvPr id="97" name="tf-a5"/>
          <p:cNvCxnSpPr/>
          <p:nvPr/>
        </p:nvCxnSpPr>
        <p:spPr>
          <a:xfrm>
            <a:off x="11391900" y="4279900"/>
            <a:ext cx="0" cy="241300"/>
          </a:xfrm>
          <a:prstGeom prst="line">
            <a:avLst/>
          </a:prstGeom>
          <a:ln w="19050">
            <a:solidFill>
              <a:srgbClr val="D97757"/>
            </a:solidFill>
            <a:tailEnd type="triangle" w="med" len="med"/>
          </a:ln>
        </p:spPr>
      </p:cxnSp>
      <p:sp>
        <p:nvSpPr>
          <p:cNvPr id="98" name="tf-5"/>
          <p:cNvSpPr/>
          <p:nvPr/>
        </p:nvSpPr>
        <p:spPr>
          <a:xfrm>
            <a:off x="11176000" y="4546600"/>
            <a:ext cx="431800" cy="330200"/>
          </a:xfrm>
          <a:prstGeom prst="roundRect">
            <a:avLst>
              <a:gd name="adj" fmla="val 20000"/>
            </a:avLst>
          </a:prstGeom>
          <a:solidFill>
            <a:srgbClr val="DEDCFF"/>
          </a:solidFill>
          <a:ln>
            <a:noFill/>
          </a:ln>
        </p:spPr>
        <p:txBody>
          <a:bodyPr wrap="none" lIns="0" tIns="0" rIns="0" bIns="0" anchor="ctr"/>
          <a:lstStyle/>
          <a:p>
            <a:pPr algn="ctr">
              <a:buNone/>
            </a:pPr>
            <a:r>
              <a:rPr lang="en-US" sz="1100" dirty="0">
                <a:solidFill>
                  <a:srgbClr val="1B1F3B"/>
                </a:solidFill>
              </a:rPr>
              <a:t>able</a:t>
            </a:r>
          </a:p>
        </p:txBody>
      </p:sp>
      <p:sp>
        <p:nvSpPr>
          <p:cNvPr id="99" name="tf-steps"/>
          <p:cNvSpPr txBox="1"/>
          <p:nvPr/>
        </p:nvSpPr>
        <p:spPr>
          <a:xfrm>
            <a:off x="8255000" y="4953000"/>
            <a:ext cx="3365500" cy="228600"/>
          </a:xfrm>
          <a:prstGeom prst="rect">
            <a:avLst/>
          </a:prstGeom>
          <a:noFill/>
        </p:spPr>
        <p:txBody>
          <a:bodyPr wrap="square" lIns="0" tIns="0" rIns="0" bIns="0" anchor="t">
            <a:noAutofit/>
          </a:bodyPr>
          <a:lstStyle/>
          <a:p>
            <a:pPr marL="0" indent="0" algn="l">
              <a:spcBef>
                <a:spcPts val="0"/>
              </a:spcBef>
              <a:buNone/>
            </a:pPr>
            <a:r>
              <a:rPr lang="en-US" sz="1200" dirty="0">
                <a:solidFill>
                  <a:srgbClr val="5A6075"/>
                </a:solidFill>
              </a:rPr>
              <a:t>step 1 for all positions</a:t>
            </a:r>
          </a:p>
        </p:txBody>
      </p:sp>
      <p:cxnSp>
        <p:nvCxnSpPr>
          <p:cNvPr id="100" name="divider2"/>
          <p:cNvCxnSpPr/>
          <p:nvPr/>
        </p:nvCxnSpPr>
        <p:spPr>
          <a:xfrm>
            <a:off x="8255000" y="5308600"/>
            <a:ext cx="3365500" cy="0"/>
          </a:xfrm>
          <a:prstGeom prst="line">
            <a:avLst/>
          </a:prstGeom>
          <a:ln w="9525">
            <a:solidFill>
              <a:srgbClr val="E0E0E0"/>
            </a:solidFill>
          </a:ln>
        </p:spPr>
      </p:cxnSp>
      <p:sp>
        <p:nvSpPr>
          <p:cNvPr id="101" name="takeaway"/>
          <p:cNvSpPr txBox="1"/>
          <p:nvPr/>
        </p:nvSpPr>
        <p:spPr>
          <a:xfrm>
            <a:off x="8255000" y="5410200"/>
            <a:ext cx="3365500" cy="965200"/>
          </a:xfrm>
          <a:prstGeom prst="rect">
            <a:avLst/>
          </a:prstGeom>
          <a:noFill/>
        </p:spPr>
        <p:txBody>
          <a:bodyPr wrap="square" lIns="0" tIns="0" rIns="0" bIns="0" anchor="t">
            <a:noAutofit/>
          </a:bodyPr>
          <a:lstStyle/>
          <a:p>
            <a:pPr marL="0" indent="0" algn="l">
              <a:spcBef>
                <a:spcPts val="0"/>
              </a:spcBef>
              <a:buNone/>
            </a:pPr>
            <a:r>
              <a:rPr lang="en-US" sz="1400" b="1" dirty="0">
                <a:solidFill>
                  <a:srgbClr val="1B1F3B"/>
                </a:solidFill>
              </a:rPr>
              <a:t>Depth is sequential: </a:t>
            </a:r>
            <a:r>
              <a:rPr lang="en-US" sz="1400" dirty="0">
                <a:solidFill>
                  <a:srgbClr val="1B1F3B"/>
                </a:solidFill>
              </a:rPr>
              <a:t>Layer 2 waits for Layer 1. </a:t>
            </a:r>
          </a:p>
          <a:p>
            <a:pPr marL="0" indent="0" algn="l">
              <a:spcBef>
                <a:spcPts val="300"/>
              </a:spcBef>
              <a:buNone/>
            </a:pPr>
            <a:r>
              <a:rPr lang="en-US" sz="1400" b="1" dirty="0">
                <a:solidFill>
                  <a:srgbClr val="1B1F3B"/>
                </a:solidFill>
              </a:rPr>
              <a:t>Width is parallel: </a:t>
            </a:r>
            <a:r>
              <a:rPr lang="en-US" sz="1400" dirty="0">
                <a:solidFill>
                  <a:srgbClr val="1B1F3B"/>
                </a:solidFill>
              </a:rPr>
              <a:t>all tokens in a layer run together, so training scales with GPUs.</a:t>
            </a:r>
          </a:p>
        </p:txBody>
      </p:sp>
    </p:spTree>
    <p:extLst>
      <p:ext uri="{BB962C8B-B14F-4D97-AF65-F5344CB8AC3E}">
        <p14:creationId xmlns:p14="http://schemas.microsoft.com/office/powerpoint/2010/main" val="2339079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Self-attention: which words matter for “it”?</a:t>
            </a:r>
            <a:endParaRPr lang="en-US" sz="3400" dirty="0"/>
          </a:p>
        </p:txBody>
      </p:sp>
      <p:sp>
        <p:nvSpPr>
          <p:cNvPr id="3" name="card-155"/>
          <p:cNvSpPr/>
          <p:nvPr/>
        </p:nvSpPr>
        <p:spPr>
          <a:xfrm>
            <a:off x="548640" y="1417320"/>
            <a:ext cx="630936"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4" name="text-156"/>
          <p:cNvSpPr txBox="1"/>
          <p:nvPr/>
        </p:nvSpPr>
        <p:spPr>
          <a:xfrm>
            <a:off x="548640" y="1417320"/>
            <a:ext cx="630936" cy="548640"/>
          </a:xfrm>
          <a:prstGeom prst="rect">
            <a:avLst/>
          </a:prstGeom>
          <a:noFill/>
          <a:ln/>
        </p:spPr>
        <p:txBody>
          <a:bodyPr wrap="square" lIns="0" tIns="0" rIns="0" bIns="0" rtlCol="0" anchor="ctr"/>
          <a:lstStyle/>
          <a:p>
            <a:pPr marL="0" indent="0" algn="ctr">
              <a:buNone/>
            </a:pPr>
            <a:r>
              <a:rPr lang="en-US" sz="1500" dirty="0">
                <a:solidFill>
                  <a:schemeClr val="tx2"/>
                </a:solidFill>
              </a:rPr>
              <a:t>The</a:t>
            </a:r>
            <a:endParaRPr lang="en-US" sz="1500" dirty="0"/>
          </a:p>
        </p:txBody>
      </p:sp>
      <p:sp>
        <p:nvSpPr>
          <p:cNvPr id="5" name="card-157"/>
          <p:cNvSpPr/>
          <p:nvPr/>
        </p:nvSpPr>
        <p:spPr>
          <a:xfrm>
            <a:off x="1271016" y="1417320"/>
            <a:ext cx="987552" cy="548640"/>
          </a:xfrm>
          <a:prstGeom prst="roundRect">
            <a:avLst>
              <a:gd name="adj" fmla="val 16667"/>
            </a:avLst>
          </a:prstGeom>
          <a:solidFill>
            <a:schemeClr val="accent3"/>
          </a:solidFill>
          <a:ln w="9525">
            <a:solidFill>
              <a:schemeClr val="accent3"/>
            </a:solidFill>
            <a:prstDash val="solid"/>
          </a:ln>
        </p:spPr>
        <p:txBody>
          <a:bodyPr/>
          <a:lstStyle/>
          <a:p>
            <a:endParaRPr lang="en-US"/>
          </a:p>
        </p:txBody>
      </p:sp>
      <p:sp>
        <p:nvSpPr>
          <p:cNvPr id="6" name="text-158"/>
          <p:cNvSpPr txBox="1"/>
          <p:nvPr/>
        </p:nvSpPr>
        <p:spPr>
          <a:xfrm>
            <a:off x="1271016" y="1417320"/>
            <a:ext cx="987552" cy="548640"/>
          </a:xfrm>
          <a:prstGeom prst="rect">
            <a:avLst/>
          </a:prstGeom>
          <a:noFill/>
          <a:ln/>
        </p:spPr>
        <p:txBody>
          <a:bodyPr wrap="square" lIns="0" tIns="0" rIns="0" bIns="0" rtlCol="0" anchor="ctr"/>
          <a:lstStyle/>
          <a:p>
            <a:pPr marL="0" indent="0" algn="ctr">
              <a:buNone/>
            </a:pPr>
            <a:r>
              <a:rPr lang="en-US" sz="1500" b="1" dirty="0">
                <a:solidFill>
                  <a:schemeClr val="bg1"/>
                </a:solidFill>
              </a:rPr>
              <a:t>animal</a:t>
            </a:r>
            <a:endParaRPr lang="en-US" sz="1500" dirty="0"/>
          </a:p>
        </p:txBody>
      </p:sp>
      <p:sp>
        <p:nvSpPr>
          <p:cNvPr id="7" name="card-159"/>
          <p:cNvSpPr/>
          <p:nvPr/>
        </p:nvSpPr>
        <p:spPr>
          <a:xfrm>
            <a:off x="2350008" y="1417320"/>
            <a:ext cx="987552"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8" name="text-160"/>
          <p:cNvSpPr txBox="1"/>
          <p:nvPr/>
        </p:nvSpPr>
        <p:spPr>
          <a:xfrm>
            <a:off x="2350008" y="1417320"/>
            <a:ext cx="987552" cy="548640"/>
          </a:xfrm>
          <a:prstGeom prst="rect">
            <a:avLst/>
          </a:prstGeom>
          <a:noFill/>
          <a:ln/>
        </p:spPr>
        <p:txBody>
          <a:bodyPr wrap="square" lIns="0" tIns="0" rIns="0" bIns="0" rtlCol="0" anchor="ctr"/>
          <a:lstStyle/>
          <a:p>
            <a:pPr marL="0" indent="0" algn="ctr">
              <a:buNone/>
            </a:pPr>
            <a:r>
              <a:rPr lang="en-US" sz="1500" dirty="0">
                <a:solidFill>
                  <a:schemeClr val="tx2"/>
                </a:solidFill>
              </a:rPr>
              <a:t>didn't</a:t>
            </a:r>
            <a:endParaRPr lang="en-US" sz="1500" dirty="0"/>
          </a:p>
        </p:txBody>
      </p:sp>
      <p:sp>
        <p:nvSpPr>
          <p:cNvPr id="9" name="card-161"/>
          <p:cNvSpPr/>
          <p:nvPr/>
        </p:nvSpPr>
        <p:spPr>
          <a:xfrm>
            <a:off x="3429000" y="1417320"/>
            <a:ext cx="868680"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10" name="text-162"/>
          <p:cNvSpPr txBox="1"/>
          <p:nvPr/>
        </p:nvSpPr>
        <p:spPr>
          <a:xfrm>
            <a:off x="3429000" y="1417320"/>
            <a:ext cx="868680" cy="548640"/>
          </a:xfrm>
          <a:prstGeom prst="rect">
            <a:avLst/>
          </a:prstGeom>
          <a:noFill/>
          <a:ln/>
        </p:spPr>
        <p:txBody>
          <a:bodyPr wrap="square" lIns="0" tIns="0" rIns="0" bIns="0" rtlCol="0" anchor="ctr"/>
          <a:lstStyle/>
          <a:p>
            <a:pPr marL="0" indent="0" algn="ctr">
              <a:buNone/>
            </a:pPr>
            <a:r>
              <a:rPr lang="en-US" sz="1500" dirty="0">
                <a:solidFill>
                  <a:schemeClr val="tx2"/>
                </a:solidFill>
              </a:rPr>
              <a:t>cross</a:t>
            </a:r>
            <a:endParaRPr lang="en-US" sz="1500" dirty="0"/>
          </a:p>
        </p:txBody>
      </p:sp>
      <p:sp>
        <p:nvSpPr>
          <p:cNvPr id="11" name="card-163"/>
          <p:cNvSpPr/>
          <p:nvPr/>
        </p:nvSpPr>
        <p:spPr>
          <a:xfrm>
            <a:off x="4389120" y="1417320"/>
            <a:ext cx="630936"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12" name="text-164"/>
          <p:cNvSpPr txBox="1"/>
          <p:nvPr/>
        </p:nvSpPr>
        <p:spPr>
          <a:xfrm>
            <a:off x="4389120" y="1417320"/>
            <a:ext cx="630936" cy="548640"/>
          </a:xfrm>
          <a:prstGeom prst="rect">
            <a:avLst/>
          </a:prstGeom>
          <a:noFill/>
          <a:ln/>
        </p:spPr>
        <p:txBody>
          <a:bodyPr wrap="square" lIns="0" tIns="0" rIns="0" bIns="0" rtlCol="0" anchor="ctr"/>
          <a:lstStyle/>
          <a:p>
            <a:pPr marL="0" indent="0" algn="ctr">
              <a:buNone/>
            </a:pPr>
            <a:r>
              <a:rPr lang="en-US" sz="1500" dirty="0">
                <a:solidFill>
                  <a:schemeClr val="tx2"/>
                </a:solidFill>
              </a:rPr>
              <a:t>the</a:t>
            </a:r>
            <a:endParaRPr lang="en-US" sz="1500" dirty="0"/>
          </a:p>
        </p:txBody>
      </p:sp>
      <p:sp>
        <p:nvSpPr>
          <p:cNvPr id="13" name="card-165"/>
          <p:cNvSpPr/>
          <p:nvPr/>
        </p:nvSpPr>
        <p:spPr>
          <a:xfrm>
            <a:off x="5111496" y="1417320"/>
            <a:ext cx="987552"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14" name="text-166"/>
          <p:cNvSpPr txBox="1"/>
          <p:nvPr/>
        </p:nvSpPr>
        <p:spPr>
          <a:xfrm>
            <a:off x="5111496" y="1417320"/>
            <a:ext cx="987552" cy="548640"/>
          </a:xfrm>
          <a:prstGeom prst="rect">
            <a:avLst/>
          </a:prstGeom>
          <a:noFill/>
          <a:ln/>
        </p:spPr>
        <p:txBody>
          <a:bodyPr wrap="square" lIns="0" tIns="0" rIns="0" bIns="0" rtlCol="0" anchor="ctr"/>
          <a:lstStyle/>
          <a:p>
            <a:pPr marL="0" indent="0" algn="ctr">
              <a:buNone/>
            </a:pPr>
            <a:r>
              <a:rPr lang="en-US" sz="1500" dirty="0">
                <a:solidFill>
                  <a:schemeClr val="tx2"/>
                </a:solidFill>
              </a:rPr>
              <a:t>street</a:t>
            </a:r>
            <a:endParaRPr lang="en-US" sz="1500" dirty="0"/>
          </a:p>
        </p:txBody>
      </p:sp>
      <p:sp>
        <p:nvSpPr>
          <p:cNvPr id="15" name="card-167"/>
          <p:cNvSpPr/>
          <p:nvPr/>
        </p:nvSpPr>
        <p:spPr>
          <a:xfrm>
            <a:off x="6190488" y="1417320"/>
            <a:ext cx="1106424"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16" name="text-168"/>
          <p:cNvSpPr txBox="1"/>
          <p:nvPr/>
        </p:nvSpPr>
        <p:spPr>
          <a:xfrm>
            <a:off x="6190488" y="1417320"/>
            <a:ext cx="1106424" cy="548640"/>
          </a:xfrm>
          <a:prstGeom prst="rect">
            <a:avLst/>
          </a:prstGeom>
          <a:noFill/>
          <a:ln/>
        </p:spPr>
        <p:txBody>
          <a:bodyPr wrap="square" lIns="0" tIns="0" rIns="0" bIns="0" rtlCol="0" anchor="ctr"/>
          <a:lstStyle/>
          <a:p>
            <a:pPr marL="0" indent="0" algn="ctr">
              <a:buNone/>
            </a:pPr>
            <a:r>
              <a:rPr lang="en-US" sz="1500" dirty="0">
                <a:solidFill>
                  <a:schemeClr val="tx2"/>
                </a:solidFill>
              </a:rPr>
              <a:t>because</a:t>
            </a:r>
            <a:endParaRPr lang="en-US" sz="1500" dirty="0"/>
          </a:p>
        </p:txBody>
      </p:sp>
      <p:sp>
        <p:nvSpPr>
          <p:cNvPr id="17" name="card-169"/>
          <p:cNvSpPr/>
          <p:nvPr/>
        </p:nvSpPr>
        <p:spPr>
          <a:xfrm>
            <a:off x="7388352" y="1417320"/>
            <a:ext cx="512064" cy="548640"/>
          </a:xfrm>
          <a:prstGeom prst="roundRect">
            <a:avLst>
              <a:gd name="adj" fmla="val 17857"/>
            </a:avLst>
          </a:prstGeom>
          <a:solidFill>
            <a:schemeClr val="accent1"/>
          </a:solidFill>
          <a:ln w="9525">
            <a:solidFill>
              <a:schemeClr val="accent1"/>
            </a:solidFill>
            <a:prstDash val="solid"/>
          </a:ln>
        </p:spPr>
        <p:txBody>
          <a:bodyPr/>
          <a:lstStyle/>
          <a:p>
            <a:endParaRPr lang="en-US"/>
          </a:p>
        </p:txBody>
      </p:sp>
      <p:sp>
        <p:nvSpPr>
          <p:cNvPr id="18" name="text-170"/>
          <p:cNvSpPr txBox="1"/>
          <p:nvPr/>
        </p:nvSpPr>
        <p:spPr>
          <a:xfrm>
            <a:off x="7388352" y="1417320"/>
            <a:ext cx="512064" cy="548640"/>
          </a:xfrm>
          <a:prstGeom prst="rect">
            <a:avLst/>
          </a:prstGeom>
          <a:noFill/>
          <a:ln/>
        </p:spPr>
        <p:txBody>
          <a:bodyPr wrap="square" lIns="0" tIns="0" rIns="0" bIns="0" rtlCol="0" anchor="ctr"/>
          <a:lstStyle/>
          <a:p>
            <a:pPr marL="0" indent="0" algn="ctr">
              <a:buNone/>
            </a:pPr>
            <a:r>
              <a:rPr lang="en-US" sz="1500" b="1" dirty="0">
                <a:solidFill>
                  <a:schemeClr val="tx2"/>
                </a:solidFill>
              </a:rPr>
              <a:t>it</a:t>
            </a:r>
            <a:endParaRPr lang="en-US" sz="1500" dirty="0"/>
          </a:p>
        </p:txBody>
      </p:sp>
      <p:sp>
        <p:nvSpPr>
          <p:cNvPr id="19" name="card-171"/>
          <p:cNvSpPr/>
          <p:nvPr/>
        </p:nvSpPr>
        <p:spPr>
          <a:xfrm>
            <a:off x="7991856" y="1417320"/>
            <a:ext cx="630936"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20" name="text-172"/>
          <p:cNvSpPr txBox="1"/>
          <p:nvPr/>
        </p:nvSpPr>
        <p:spPr>
          <a:xfrm>
            <a:off x="7991856" y="1417320"/>
            <a:ext cx="630936" cy="548640"/>
          </a:xfrm>
          <a:prstGeom prst="rect">
            <a:avLst/>
          </a:prstGeom>
          <a:noFill/>
          <a:ln/>
        </p:spPr>
        <p:txBody>
          <a:bodyPr wrap="square" lIns="0" tIns="0" rIns="0" bIns="0" rtlCol="0" anchor="ctr"/>
          <a:lstStyle/>
          <a:p>
            <a:pPr marL="0" indent="0" algn="ctr">
              <a:buNone/>
            </a:pPr>
            <a:r>
              <a:rPr lang="en-US" sz="1500" dirty="0">
                <a:solidFill>
                  <a:schemeClr val="tx2"/>
                </a:solidFill>
              </a:rPr>
              <a:t>was</a:t>
            </a:r>
            <a:endParaRPr lang="en-US" sz="1500" dirty="0"/>
          </a:p>
        </p:txBody>
      </p:sp>
      <p:sp>
        <p:nvSpPr>
          <p:cNvPr id="21" name="card-173"/>
          <p:cNvSpPr/>
          <p:nvPr/>
        </p:nvSpPr>
        <p:spPr>
          <a:xfrm>
            <a:off x="8714232" y="1417320"/>
            <a:ext cx="868680" cy="548640"/>
          </a:xfrm>
          <a:prstGeom prst="roundRect">
            <a:avLst>
              <a:gd name="adj" fmla="val 16667"/>
            </a:avLst>
          </a:prstGeom>
          <a:solidFill>
            <a:schemeClr val="bg2"/>
          </a:solidFill>
          <a:ln w="9525">
            <a:solidFill>
              <a:schemeClr val="bg2"/>
            </a:solidFill>
            <a:prstDash val="solid"/>
          </a:ln>
        </p:spPr>
        <p:txBody>
          <a:bodyPr/>
          <a:lstStyle/>
          <a:p>
            <a:endParaRPr lang="en-US"/>
          </a:p>
        </p:txBody>
      </p:sp>
      <p:sp>
        <p:nvSpPr>
          <p:cNvPr id="22" name="text-174"/>
          <p:cNvSpPr txBox="1"/>
          <p:nvPr/>
        </p:nvSpPr>
        <p:spPr>
          <a:xfrm>
            <a:off x="8714232" y="1417320"/>
            <a:ext cx="868680" cy="548640"/>
          </a:xfrm>
          <a:prstGeom prst="rect">
            <a:avLst/>
          </a:prstGeom>
          <a:noFill/>
          <a:ln/>
        </p:spPr>
        <p:txBody>
          <a:bodyPr wrap="square" lIns="0" tIns="0" rIns="0" bIns="0" rtlCol="0" anchor="ctr"/>
          <a:lstStyle/>
          <a:p>
            <a:pPr marL="0" indent="0" algn="ctr">
              <a:buNone/>
            </a:pPr>
            <a:r>
              <a:rPr lang="en-US" sz="1500" dirty="0">
                <a:solidFill>
                  <a:schemeClr val="tx2"/>
                </a:solidFill>
              </a:rPr>
              <a:t>tired</a:t>
            </a:r>
            <a:endParaRPr lang="en-US" sz="1500" dirty="0"/>
          </a:p>
        </p:txBody>
      </p:sp>
      <p:graphicFrame>
        <p:nvGraphicFramePr>
          <p:cNvPr id="23" name="Chart 0"/>
          <p:cNvGraphicFramePr/>
          <p:nvPr/>
        </p:nvGraphicFramePr>
        <p:xfrm>
          <a:off x="548640" y="224028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24" name="card-175"/>
          <p:cNvSpPr/>
          <p:nvPr/>
        </p:nvSpPr>
        <p:spPr>
          <a:xfrm>
            <a:off x="7680960" y="2331720"/>
            <a:ext cx="3931920" cy="868680"/>
          </a:xfrm>
          <a:prstGeom prst="roundRect">
            <a:avLst>
              <a:gd name="adj" fmla="val 10526"/>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5" name="dot-176"/>
          <p:cNvSpPr/>
          <p:nvPr/>
        </p:nvSpPr>
        <p:spPr>
          <a:xfrm>
            <a:off x="7863840" y="2487168"/>
            <a:ext cx="548640" cy="548640"/>
          </a:xfrm>
          <a:prstGeom prst="ellipse">
            <a:avLst/>
          </a:prstGeom>
          <a:solidFill>
            <a:srgbClr val="D97757"/>
          </a:solidFill>
          <a:ln w="12700">
            <a:solidFill>
              <a:srgbClr val="D97757"/>
            </a:solidFill>
            <a:prstDash val="solid"/>
          </a:ln>
        </p:spPr>
        <p:txBody>
          <a:bodyPr/>
          <a:lstStyle/>
          <a:p>
            <a:endParaRPr lang="en-US"/>
          </a:p>
        </p:txBody>
      </p:sp>
      <p:sp>
        <p:nvSpPr>
          <p:cNvPr id="26" name="text-177"/>
          <p:cNvSpPr txBox="1"/>
          <p:nvPr/>
        </p:nvSpPr>
        <p:spPr>
          <a:xfrm>
            <a:off x="7863840" y="248716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Q</a:t>
            </a:r>
            <a:endParaRPr lang="en-US" sz="2000" dirty="0"/>
          </a:p>
        </p:txBody>
      </p:sp>
      <p:sp>
        <p:nvSpPr>
          <p:cNvPr id="27" name="text-178"/>
          <p:cNvSpPr txBox="1"/>
          <p:nvPr/>
        </p:nvSpPr>
        <p:spPr>
          <a:xfrm>
            <a:off x="8595360" y="2441448"/>
            <a:ext cx="2834640" cy="320040"/>
          </a:xfrm>
          <a:prstGeom prst="rect">
            <a:avLst/>
          </a:prstGeom>
          <a:noFill/>
          <a:ln/>
        </p:spPr>
        <p:txBody>
          <a:bodyPr wrap="square" lIns="0" tIns="0" rIns="0" bIns="0" rtlCol="0" anchor="t"/>
          <a:lstStyle/>
          <a:p>
            <a:pPr marL="0" indent="0" algn="l">
              <a:buNone/>
            </a:pPr>
            <a:r>
              <a:rPr lang="en-US" sz="1500" b="1" dirty="0">
                <a:solidFill>
                  <a:schemeClr val="tx2"/>
                </a:solidFill>
              </a:rPr>
              <a:t>Query</a:t>
            </a:r>
            <a:endParaRPr lang="en-US" sz="1500" dirty="0"/>
          </a:p>
        </p:txBody>
      </p:sp>
      <p:sp>
        <p:nvSpPr>
          <p:cNvPr id="28" name="text-179"/>
          <p:cNvSpPr txBox="1"/>
          <p:nvPr/>
        </p:nvSpPr>
        <p:spPr>
          <a:xfrm>
            <a:off x="8595360" y="2761488"/>
            <a:ext cx="2926080" cy="365760"/>
          </a:xfrm>
          <a:prstGeom prst="rect">
            <a:avLst/>
          </a:prstGeom>
          <a:noFill/>
          <a:ln/>
        </p:spPr>
        <p:txBody>
          <a:bodyPr wrap="square" lIns="0" tIns="0" rIns="0" bIns="0" rtlCol="0" anchor="t"/>
          <a:lstStyle/>
          <a:p>
            <a:pPr marL="0" indent="0" algn="l">
              <a:buNone/>
            </a:pPr>
            <a:r>
              <a:rPr lang="en-US" sz="1300" dirty="0">
                <a:solidFill>
                  <a:schemeClr val="tx1"/>
                </a:solidFill>
              </a:rPr>
              <a:t>What am I looking for?</a:t>
            </a:r>
            <a:endParaRPr lang="en-US" sz="1300" dirty="0"/>
          </a:p>
        </p:txBody>
      </p:sp>
      <p:sp>
        <p:nvSpPr>
          <p:cNvPr id="29" name="card-180"/>
          <p:cNvSpPr/>
          <p:nvPr/>
        </p:nvSpPr>
        <p:spPr>
          <a:xfrm>
            <a:off x="7680960" y="3383280"/>
            <a:ext cx="3931920" cy="868680"/>
          </a:xfrm>
          <a:prstGeom prst="roundRect">
            <a:avLst>
              <a:gd name="adj" fmla="val 10526"/>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30" name="dot-181"/>
          <p:cNvSpPr/>
          <p:nvPr/>
        </p:nvSpPr>
        <p:spPr>
          <a:xfrm>
            <a:off x="7863840" y="3538728"/>
            <a:ext cx="548640" cy="548640"/>
          </a:xfrm>
          <a:prstGeom prst="ellipse">
            <a:avLst/>
          </a:prstGeom>
          <a:solidFill>
            <a:srgbClr val="2A9D8F"/>
          </a:solidFill>
          <a:ln w="12700">
            <a:solidFill>
              <a:srgbClr val="2A9D8F"/>
            </a:solidFill>
            <a:prstDash val="solid"/>
          </a:ln>
        </p:spPr>
        <p:txBody>
          <a:bodyPr/>
          <a:lstStyle/>
          <a:p>
            <a:endParaRPr lang="en-US"/>
          </a:p>
        </p:txBody>
      </p:sp>
      <p:sp>
        <p:nvSpPr>
          <p:cNvPr id="31" name="text-182"/>
          <p:cNvSpPr txBox="1"/>
          <p:nvPr/>
        </p:nvSpPr>
        <p:spPr>
          <a:xfrm>
            <a:off x="7863840" y="353872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K</a:t>
            </a:r>
            <a:endParaRPr lang="en-US" sz="2000" dirty="0"/>
          </a:p>
        </p:txBody>
      </p:sp>
      <p:sp>
        <p:nvSpPr>
          <p:cNvPr id="32" name="text-183"/>
          <p:cNvSpPr txBox="1"/>
          <p:nvPr/>
        </p:nvSpPr>
        <p:spPr>
          <a:xfrm>
            <a:off x="8595360" y="3493008"/>
            <a:ext cx="2834640" cy="320040"/>
          </a:xfrm>
          <a:prstGeom prst="rect">
            <a:avLst/>
          </a:prstGeom>
          <a:noFill/>
          <a:ln/>
        </p:spPr>
        <p:txBody>
          <a:bodyPr wrap="square" lIns="0" tIns="0" rIns="0" bIns="0" rtlCol="0" anchor="t"/>
          <a:lstStyle/>
          <a:p>
            <a:pPr marL="0" indent="0" algn="l">
              <a:buNone/>
            </a:pPr>
            <a:r>
              <a:rPr lang="en-US" sz="1500" b="1" dirty="0">
                <a:solidFill>
                  <a:schemeClr val="tx2"/>
                </a:solidFill>
              </a:rPr>
              <a:t>Key</a:t>
            </a:r>
            <a:endParaRPr lang="en-US" sz="1500" dirty="0"/>
          </a:p>
        </p:txBody>
      </p:sp>
      <p:sp>
        <p:nvSpPr>
          <p:cNvPr id="33" name="text-184"/>
          <p:cNvSpPr txBox="1"/>
          <p:nvPr/>
        </p:nvSpPr>
        <p:spPr>
          <a:xfrm>
            <a:off x="8595360" y="3813048"/>
            <a:ext cx="2926080" cy="365760"/>
          </a:xfrm>
          <a:prstGeom prst="rect">
            <a:avLst/>
          </a:prstGeom>
          <a:noFill/>
          <a:ln/>
        </p:spPr>
        <p:txBody>
          <a:bodyPr wrap="square" lIns="0" tIns="0" rIns="0" bIns="0" rtlCol="0" anchor="t"/>
          <a:lstStyle/>
          <a:p>
            <a:pPr marL="0" indent="0" algn="l">
              <a:buNone/>
            </a:pPr>
            <a:r>
              <a:rPr lang="en-US" sz="1300" dirty="0">
                <a:solidFill>
                  <a:schemeClr val="tx1"/>
                </a:solidFill>
              </a:rPr>
              <a:t>What do I contain?</a:t>
            </a:r>
            <a:endParaRPr lang="en-US" sz="1300" dirty="0"/>
          </a:p>
        </p:txBody>
      </p:sp>
      <p:sp>
        <p:nvSpPr>
          <p:cNvPr id="34" name="card-185"/>
          <p:cNvSpPr/>
          <p:nvPr/>
        </p:nvSpPr>
        <p:spPr>
          <a:xfrm>
            <a:off x="7680960" y="4434840"/>
            <a:ext cx="3931920" cy="868680"/>
          </a:xfrm>
          <a:prstGeom prst="roundRect">
            <a:avLst>
              <a:gd name="adj" fmla="val 10526"/>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35" name="dot-186"/>
          <p:cNvSpPr/>
          <p:nvPr/>
        </p:nvSpPr>
        <p:spPr>
          <a:xfrm>
            <a:off x="7863840" y="4590288"/>
            <a:ext cx="548640" cy="548640"/>
          </a:xfrm>
          <a:prstGeom prst="ellipse">
            <a:avLst/>
          </a:prstGeom>
          <a:solidFill>
            <a:srgbClr val="6C63FF"/>
          </a:solidFill>
          <a:ln w="12700">
            <a:solidFill>
              <a:srgbClr val="6C63FF"/>
            </a:solidFill>
            <a:prstDash val="solid"/>
          </a:ln>
        </p:spPr>
        <p:txBody>
          <a:bodyPr/>
          <a:lstStyle/>
          <a:p>
            <a:endParaRPr lang="en-US"/>
          </a:p>
        </p:txBody>
      </p:sp>
      <p:sp>
        <p:nvSpPr>
          <p:cNvPr id="36" name="text-187"/>
          <p:cNvSpPr txBox="1"/>
          <p:nvPr/>
        </p:nvSpPr>
        <p:spPr>
          <a:xfrm>
            <a:off x="7863840" y="459028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V</a:t>
            </a:r>
            <a:endParaRPr lang="en-US" sz="2000" dirty="0"/>
          </a:p>
        </p:txBody>
      </p:sp>
      <p:sp>
        <p:nvSpPr>
          <p:cNvPr id="37" name="text-188"/>
          <p:cNvSpPr txBox="1"/>
          <p:nvPr/>
        </p:nvSpPr>
        <p:spPr>
          <a:xfrm>
            <a:off x="8595360" y="4544568"/>
            <a:ext cx="2834640" cy="320040"/>
          </a:xfrm>
          <a:prstGeom prst="rect">
            <a:avLst/>
          </a:prstGeom>
          <a:noFill/>
          <a:ln/>
        </p:spPr>
        <p:txBody>
          <a:bodyPr wrap="square" lIns="0" tIns="0" rIns="0" bIns="0" rtlCol="0" anchor="t"/>
          <a:lstStyle/>
          <a:p>
            <a:pPr marL="0" indent="0" algn="l">
              <a:buNone/>
            </a:pPr>
            <a:r>
              <a:rPr lang="en-US" sz="1500" b="1" dirty="0">
                <a:solidFill>
                  <a:schemeClr val="tx2"/>
                </a:solidFill>
              </a:rPr>
              <a:t>Value</a:t>
            </a:r>
            <a:endParaRPr lang="en-US" sz="1500" dirty="0"/>
          </a:p>
        </p:txBody>
      </p:sp>
      <p:sp>
        <p:nvSpPr>
          <p:cNvPr id="38" name="text-189"/>
          <p:cNvSpPr txBox="1"/>
          <p:nvPr/>
        </p:nvSpPr>
        <p:spPr>
          <a:xfrm>
            <a:off x="8595360" y="4864608"/>
            <a:ext cx="2926080" cy="365760"/>
          </a:xfrm>
          <a:prstGeom prst="rect">
            <a:avLst/>
          </a:prstGeom>
          <a:noFill/>
          <a:ln/>
        </p:spPr>
        <p:txBody>
          <a:bodyPr wrap="square" lIns="0" tIns="0" rIns="0" bIns="0" rtlCol="0" anchor="t"/>
          <a:lstStyle/>
          <a:p>
            <a:pPr marL="0" indent="0" algn="l">
              <a:buNone/>
            </a:pPr>
            <a:r>
              <a:rPr lang="en-US" sz="1300" dirty="0">
                <a:solidFill>
                  <a:schemeClr val="tx1"/>
                </a:solidFill>
              </a:rPr>
              <a:t>What do I pass along if chosen?</a:t>
            </a:r>
            <a:endParaRPr lang="en-US" sz="1300" dirty="0"/>
          </a:p>
        </p:txBody>
      </p:sp>
      <p:sp>
        <p:nvSpPr>
          <p:cNvPr id="39" name="text-190"/>
          <p:cNvSpPr txBox="1"/>
          <p:nvPr/>
        </p:nvSpPr>
        <p:spPr>
          <a:xfrm>
            <a:off x="7680960" y="5532120"/>
            <a:ext cx="3931920" cy="640080"/>
          </a:xfrm>
          <a:prstGeom prst="rect">
            <a:avLst/>
          </a:prstGeom>
          <a:noFill/>
          <a:ln/>
        </p:spPr>
        <p:txBody>
          <a:bodyPr wrap="square" lIns="0" tIns="0" rIns="0" bIns="0" rtlCol="0" anchor="t"/>
          <a:lstStyle/>
          <a:p>
            <a:pPr marL="0" indent="0" algn="l">
              <a:buNone/>
            </a:pPr>
            <a:r>
              <a:rPr lang="en-US" sz="1300" i="1" dirty="0">
                <a:solidFill>
                  <a:schemeClr val="accent5"/>
                </a:solidFill>
              </a:rPr>
              <a:t>Score = how well a Query matches each Key → softmax → weighted mix of Values</a:t>
            </a:r>
            <a:endParaRPr lang="en-US" sz="1300" dirty="0"/>
          </a:p>
        </p:txBody>
      </p:sp>
      <p:sp>
        <p:nvSpPr>
          <p:cNvPr id="4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EB6FB-FEE0-7B85-06D9-1C1DFA643F4A}"/>
              </a:ext>
            </a:extLst>
          </p:cNvPr>
          <p:cNvSpPr>
            <a:spLocks noGrp="1"/>
          </p:cNvSpPr>
          <p:nvPr>
            <p:ph type="title" idx="100"/>
          </p:nvPr>
        </p:nvSpPr>
        <p:spPr/>
        <p:txBody>
          <a:bodyPr/>
          <a:lstStyle/>
          <a:p>
            <a:r>
              <a:rPr lang="en-US" dirty="0"/>
              <a:t>Training: learning to predict the next token</a:t>
            </a:r>
          </a:p>
        </p:txBody>
      </p:sp>
      <p:sp>
        <p:nvSpPr>
          <p:cNvPr id="100" name="flow-card-1"/>
          <p:cNvSpPr/>
          <p:nvPr/>
        </p:nvSpPr>
        <p:spPr>
          <a:xfrm>
            <a:off x="546100" y="1879600"/>
            <a:ext cx="1854200" cy="1270000"/>
          </a:xfrm>
          <a:prstGeom prst="roundRect">
            <a:avLst>
              <a:gd name="adj" fmla="val 12000"/>
            </a:avLst>
          </a:prstGeom>
          <a:solidFill>
            <a:schemeClr val="bg2"/>
          </a:solidFill>
          <a:ln>
            <a:noFill/>
          </a:ln>
        </p:spPr>
        <p:txBody>
          <a:bodyPr wrap="square" lIns="114300" tIns="91440" rIns="114300" bIns="91440" anchor="ctr">
            <a:noAutofit/>
          </a:bodyPr>
          <a:lstStyle/>
          <a:p>
            <a:pPr algn="ctr">
              <a:spcAft>
                <a:spcPts val="400"/>
              </a:spcAft>
              <a:buNone/>
            </a:pPr>
            <a:r>
              <a:rPr lang="en-US" sz="1600" b="1" dirty="0">
                <a:solidFill>
                  <a:schemeClr val="tx2"/>
                </a:solidFill>
              </a:rPr>
              <a:t>Training text</a:t>
            </a:r>
          </a:p>
          <a:p>
            <a:pPr algn="ctr">
              <a:buNone/>
            </a:pPr>
            <a:r>
              <a:rPr lang="en-US" sz="1400" dirty="0">
                <a:solidFill>
                  <a:srgbClr val="5A6075"/>
                </a:solidFill>
              </a:rPr>
              <a:t>“The cat sat on the mat”</a:t>
            </a:r>
          </a:p>
        </p:txBody>
      </p:sp>
      <p:cxnSp>
        <p:nvCxnSpPr>
          <p:cNvPr id="101" name="flow-arrow-1"/>
          <p:cNvCxnSpPr/>
          <p:nvPr/>
        </p:nvCxnSpPr>
        <p:spPr>
          <a:xfrm>
            <a:off x="2451100" y="2514600"/>
            <a:ext cx="346075" cy="0"/>
          </a:xfrm>
          <a:prstGeom prst="line">
            <a:avLst/>
          </a:prstGeom>
          <a:ln w="19050">
            <a:solidFill>
              <a:srgbClr val="8A90A6"/>
            </a:solidFill>
            <a:tailEnd type="triangle"/>
          </a:ln>
        </p:spPr>
      </p:cxnSp>
      <p:sp>
        <p:nvSpPr>
          <p:cNvPr id="102" name="flow-card-2"/>
          <p:cNvSpPr/>
          <p:nvPr/>
        </p:nvSpPr>
        <p:spPr>
          <a:xfrm>
            <a:off x="2847975" y="1879600"/>
            <a:ext cx="1854200" cy="1270000"/>
          </a:xfrm>
          <a:prstGeom prst="roundRect">
            <a:avLst>
              <a:gd name="adj" fmla="val 12000"/>
            </a:avLst>
          </a:prstGeom>
          <a:solidFill>
            <a:schemeClr val="bg2"/>
          </a:solidFill>
          <a:ln>
            <a:noFill/>
          </a:ln>
        </p:spPr>
        <p:txBody>
          <a:bodyPr wrap="square" lIns="114300" tIns="91440" rIns="114300" bIns="91440" anchor="ctr">
            <a:noAutofit/>
          </a:bodyPr>
          <a:lstStyle/>
          <a:p>
            <a:pPr algn="ctr">
              <a:spcAft>
                <a:spcPts val="400"/>
              </a:spcAft>
              <a:buNone/>
            </a:pPr>
            <a:r>
              <a:rPr lang="en-US" sz="1600" b="1" dirty="0">
                <a:solidFill>
                  <a:schemeClr val="tx2"/>
                </a:solidFill>
              </a:rPr>
              <a:t>Tokenize</a:t>
            </a:r>
          </a:p>
          <a:p>
            <a:pPr algn="ctr">
              <a:buNone/>
            </a:pPr>
            <a:r>
              <a:rPr lang="en-US" sz="1400" dirty="0">
                <a:solidFill>
                  <a:srgbClr val="5A6075"/>
                </a:solidFill>
              </a:rPr>
              <a:t>Text → token IDs</a:t>
            </a:r>
          </a:p>
        </p:txBody>
      </p:sp>
      <p:cxnSp>
        <p:nvCxnSpPr>
          <p:cNvPr id="103" name="flow-arrow-2"/>
          <p:cNvCxnSpPr/>
          <p:nvPr/>
        </p:nvCxnSpPr>
        <p:spPr>
          <a:xfrm>
            <a:off x="4752975" y="2514600"/>
            <a:ext cx="346075" cy="0"/>
          </a:xfrm>
          <a:prstGeom prst="line">
            <a:avLst/>
          </a:prstGeom>
          <a:ln w="19050">
            <a:solidFill>
              <a:srgbClr val="8A90A6"/>
            </a:solidFill>
            <a:tailEnd type="triangle"/>
          </a:ln>
        </p:spPr>
      </p:cxnSp>
      <p:sp>
        <p:nvSpPr>
          <p:cNvPr id="104" name="flow-card-3"/>
          <p:cNvSpPr/>
          <p:nvPr/>
        </p:nvSpPr>
        <p:spPr>
          <a:xfrm>
            <a:off x="5149850" y="1879600"/>
            <a:ext cx="1854200" cy="1270000"/>
          </a:xfrm>
          <a:prstGeom prst="roundRect">
            <a:avLst>
              <a:gd name="adj" fmla="val 12000"/>
            </a:avLst>
          </a:prstGeom>
          <a:solidFill>
            <a:schemeClr val="tx2"/>
          </a:solidFill>
          <a:ln>
            <a:noFill/>
          </a:ln>
        </p:spPr>
        <p:txBody>
          <a:bodyPr wrap="square" lIns="114300" tIns="91440" rIns="114300" bIns="91440" anchor="ctr">
            <a:noAutofit/>
          </a:bodyPr>
          <a:lstStyle/>
          <a:p>
            <a:pPr algn="ctr">
              <a:spcAft>
                <a:spcPts val="400"/>
              </a:spcAft>
              <a:buNone/>
            </a:pPr>
            <a:r>
              <a:rPr lang="en-US" sz="1600" b="1" dirty="0">
                <a:solidFill>
                  <a:schemeClr val="bg1"/>
                </a:solidFill>
              </a:rPr>
              <a:t>Transformer</a:t>
            </a:r>
          </a:p>
          <a:p>
            <a:pPr algn="ctr">
              <a:buNone/>
            </a:pPr>
            <a:r>
              <a:rPr lang="en-US" sz="1400" dirty="0">
                <a:solidFill>
                  <a:schemeClr val="bg1"/>
                </a:solidFill>
              </a:rPr>
              <a:t>N layers, all tokens in parallel</a:t>
            </a:r>
          </a:p>
        </p:txBody>
      </p:sp>
      <p:cxnSp>
        <p:nvCxnSpPr>
          <p:cNvPr id="105" name="flow-arrow-3"/>
          <p:cNvCxnSpPr/>
          <p:nvPr/>
        </p:nvCxnSpPr>
        <p:spPr>
          <a:xfrm>
            <a:off x="7054850" y="2514600"/>
            <a:ext cx="346075" cy="0"/>
          </a:xfrm>
          <a:prstGeom prst="line">
            <a:avLst/>
          </a:prstGeom>
          <a:ln w="19050">
            <a:solidFill>
              <a:srgbClr val="8A90A6"/>
            </a:solidFill>
            <a:tailEnd type="triangle"/>
          </a:ln>
        </p:spPr>
      </p:cxnSp>
      <p:sp>
        <p:nvSpPr>
          <p:cNvPr id="106" name="flow-card-4"/>
          <p:cNvSpPr/>
          <p:nvPr/>
        </p:nvSpPr>
        <p:spPr>
          <a:xfrm>
            <a:off x="7451725" y="1879600"/>
            <a:ext cx="1854200" cy="1270000"/>
          </a:xfrm>
          <a:prstGeom prst="roundRect">
            <a:avLst>
              <a:gd name="adj" fmla="val 12000"/>
            </a:avLst>
          </a:prstGeom>
          <a:solidFill>
            <a:schemeClr val="bg2"/>
          </a:solidFill>
          <a:ln>
            <a:noFill/>
          </a:ln>
        </p:spPr>
        <p:txBody>
          <a:bodyPr wrap="square" lIns="114300" tIns="91440" rIns="114300" bIns="91440" anchor="ctr">
            <a:noAutofit/>
          </a:bodyPr>
          <a:lstStyle/>
          <a:p>
            <a:pPr algn="ctr">
              <a:spcAft>
                <a:spcPts val="400"/>
              </a:spcAft>
              <a:buNone/>
            </a:pPr>
            <a:r>
              <a:rPr lang="en-US" sz="1600" b="1" dirty="0">
                <a:solidFill>
                  <a:schemeClr val="tx2"/>
                </a:solidFill>
              </a:rPr>
              <a:t>Predicted odds</a:t>
            </a:r>
          </a:p>
          <a:p>
            <a:pPr algn="ctr">
              <a:buNone/>
            </a:pPr>
            <a:r>
              <a:rPr lang="en-US" sz="1400" dirty="0">
                <a:solidFill>
                  <a:srgbClr val="5A6075"/>
                </a:solidFill>
              </a:rPr>
              <a:t>“mat” 40%, “floor” 25%…</a:t>
            </a:r>
          </a:p>
        </p:txBody>
      </p:sp>
      <p:cxnSp>
        <p:nvCxnSpPr>
          <p:cNvPr id="107" name="flow-arrow-4"/>
          <p:cNvCxnSpPr/>
          <p:nvPr/>
        </p:nvCxnSpPr>
        <p:spPr>
          <a:xfrm>
            <a:off x="9356725" y="2514600"/>
            <a:ext cx="346075" cy="0"/>
          </a:xfrm>
          <a:prstGeom prst="line">
            <a:avLst/>
          </a:prstGeom>
          <a:ln w="19050">
            <a:solidFill>
              <a:srgbClr val="8A90A6"/>
            </a:solidFill>
            <a:tailEnd type="triangle"/>
          </a:ln>
        </p:spPr>
      </p:cxnSp>
      <p:sp>
        <p:nvSpPr>
          <p:cNvPr id="108" name="flow-card-5"/>
          <p:cNvSpPr/>
          <p:nvPr/>
        </p:nvSpPr>
        <p:spPr>
          <a:xfrm>
            <a:off x="9753600" y="1879600"/>
            <a:ext cx="1854200" cy="1270000"/>
          </a:xfrm>
          <a:prstGeom prst="roundRect">
            <a:avLst>
              <a:gd name="adj" fmla="val 12000"/>
            </a:avLst>
          </a:prstGeom>
          <a:solidFill>
            <a:schemeClr val="accent1"/>
          </a:solidFill>
          <a:ln>
            <a:noFill/>
          </a:ln>
        </p:spPr>
        <p:txBody>
          <a:bodyPr wrap="square" lIns="114300" tIns="91440" rIns="114300" bIns="91440" anchor="ctr">
            <a:noAutofit/>
          </a:bodyPr>
          <a:lstStyle/>
          <a:p>
            <a:pPr algn="ctr">
              <a:spcAft>
                <a:spcPts val="400"/>
              </a:spcAft>
              <a:buNone/>
            </a:pPr>
            <a:r>
              <a:rPr lang="en-US" sz="1600" b="1" dirty="0">
                <a:solidFill>
                  <a:schemeClr val="bg1"/>
                </a:solidFill>
              </a:rPr>
              <a:t>Loss</a:t>
            </a:r>
          </a:p>
          <a:p>
            <a:pPr algn="ctr">
              <a:buNone/>
            </a:pPr>
            <a:r>
              <a:rPr lang="en-US" sz="1400" dirty="0">
                <a:solidFill>
                  <a:schemeClr val="bg1"/>
                </a:solidFill>
              </a:rPr>
              <a:t>Real next token was “mat”: how wrong?</a:t>
            </a:r>
          </a:p>
        </p:txBody>
      </p:sp>
      <p:sp>
        <p:nvSpPr>
          <p:cNvPr id="109" name="loop-arrow"/>
          <p:cNvSpPr/>
          <p:nvPr/>
        </p:nvSpPr>
        <p:spPr>
          <a:xfrm>
            <a:off x="6076950" y="3187700"/>
            <a:ext cx="4603750" cy="444500"/>
          </a:xfrm>
          <a:custGeom>
            <a:avLst/>
            <a:gdLst/>
            <a:ahLst/>
            <a:cxnLst/>
            <a:rect l="0" t="0" r="r" b="b"/>
            <a:pathLst>
              <a:path w="4603750" h="444500" fill="none">
                <a:moveTo>
                  <a:pt x="4603750" y="0"/>
                </a:moveTo>
                <a:lnTo>
                  <a:pt x="4603750" y="444500"/>
                </a:lnTo>
                <a:lnTo>
                  <a:pt x="0" y="444500"/>
                </a:lnTo>
                <a:lnTo>
                  <a:pt x="0" y="0"/>
                </a:lnTo>
              </a:path>
            </a:pathLst>
          </a:custGeom>
          <a:noFill/>
          <a:ln w="22225">
            <a:solidFill>
              <a:schemeClr val="accent1"/>
            </a:solidFill>
            <a:tailEnd type="triangle"/>
          </a:ln>
        </p:spPr>
        <p:txBody>
          <a:bodyPr/>
          <a:lstStyle/>
          <a:p>
            <a:endParaRPr lang="en-US"/>
          </a:p>
        </p:txBody>
      </p:sp>
      <p:sp>
        <p:nvSpPr>
          <p:cNvPr id="110" name="loop-label"/>
          <p:cNvSpPr txBox="1"/>
          <p:nvPr/>
        </p:nvSpPr>
        <p:spPr>
          <a:xfrm>
            <a:off x="5394325" y="3708400"/>
            <a:ext cx="5969000" cy="304800"/>
          </a:xfrm>
          <a:prstGeom prst="rect">
            <a:avLst/>
          </a:prstGeom>
          <a:noFill/>
        </p:spPr>
        <p:txBody>
          <a:bodyPr wrap="square" lIns="0" tIns="0" rIns="0" bIns="0">
            <a:noAutofit/>
          </a:bodyPr>
          <a:lstStyle/>
          <a:p>
            <a:pPr algn="ctr">
              <a:buNone/>
            </a:pPr>
            <a:r>
              <a:rPr lang="en-US" sz="1400" b="1" dirty="0">
                <a:solidFill>
                  <a:schemeClr val="accent1"/>
                </a:solidFill>
              </a:rPr>
              <a:t>Backpropagation: adjust every weight so “mat” scores higher next time</a:t>
            </a:r>
          </a:p>
        </p:txBody>
      </p:sp>
      <p:sp>
        <p:nvSpPr>
          <p:cNvPr id="111" name="fact-rule-1"/>
          <p:cNvSpPr/>
          <p:nvPr/>
        </p:nvSpPr>
        <p:spPr>
          <a:xfrm>
            <a:off x="546100" y="4826000"/>
            <a:ext cx="3429000" cy="38100"/>
          </a:xfrm>
          <a:prstGeom prst="rect">
            <a:avLst/>
          </a:prstGeom>
          <a:solidFill>
            <a:schemeClr val="tx2"/>
          </a:solidFill>
          <a:ln>
            <a:noFill/>
          </a:ln>
        </p:spPr>
        <p:txBody>
          <a:bodyPr/>
          <a:lstStyle/>
          <a:p>
            <a:endParaRPr lang="en-US"/>
          </a:p>
        </p:txBody>
      </p:sp>
      <p:sp>
        <p:nvSpPr>
          <p:cNvPr id="112" name="fact-1"/>
          <p:cNvSpPr txBox="1"/>
          <p:nvPr/>
        </p:nvSpPr>
        <p:spPr>
          <a:xfrm>
            <a:off x="546100" y="4978400"/>
            <a:ext cx="3429000" cy="1270000"/>
          </a:xfrm>
          <a:prstGeom prst="rect">
            <a:avLst/>
          </a:prstGeom>
          <a:noFill/>
        </p:spPr>
        <p:txBody>
          <a:bodyPr wrap="square" lIns="0" tIns="0" rIns="0" bIns="0">
            <a:noAutofit/>
          </a:bodyPr>
          <a:lstStyle/>
          <a:p>
            <a:pPr>
              <a:spcAft>
                <a:spcPts val="600"/>
              </a:spcAft>
              <a:buNone/>
            </a:pPr>
            <a:r>
              <a:rPr lang="en-US" sz="1600" b="1" dirty="0">
                <a:solidFill>
                  <a:schemeClr val="tx2"/>
                </a:solidFill>
              </a:rPr>
              <a:t>Every token is a lesson</a:t>
            </a:r>
          </a:p>
          <a:p>
            <a:pPr>
              <a:buNone/>
            </a:pPr>
            <a:r>
              <a:rPr lang="en-US" sz="1400" dirty="0">
                <a:solidFill>
                  <a:srgbClr val="5A6075"/>
                </a:solidFill>
              </a:rPr>
              <a:t>Each position predicts the token after it, so one sentence gives many examples at once.</a:t>
            </a:r>
          </a:p>
        </p:txBody>
      </p:sp>
      <p:sp>
        <p:nvSpPr>
          <p:cNvPr id="113" name="fact-rule-2"/>
          <p:cNvSpPr/>
          <p:nvPr/>
        </p:nvSpPr>
        <p:spPr>
          <a:xfrm>
            <a:off x="4362450" y="4826000"/>
            <a:ext cx="3429000" cy="38100"/>
          </a:xfrm>
          <a:prstGeom prst="rect">
            <a:avLst/>
          </a:prstGeom>
          <a:solidFill>
            <a:schemeClr val="tx2"/>
          </a:solidFill>
          <a:ln>
            <a:noFill/>
          </a:ln>
        </p:spPr>
        <p:txBody>
          <a:bodyPr/>
          <a:lstStyle/>
          <a:p>
            <a:endParaRPr lang="en-US"/>
          </a:p>
        </p:txBody>
      </p:sp>
      <p:sp>
        <p:nvSpPr>
          <p:cNvPr id="114" name="fact-2"/>
          <p:cNvSpPr txBox="1"/>
          <p:nvPr/>
        </p:nvSpPr>
        <p:spPr>
          <a:xfrm>
            <a:off x="4362450" y="4978400"/>
            <a:ext cx="3429000" cy="1270000"/>
          </a:xfrm>
          <a:prstGeom prst="rect">
            <a:avLst/>
          </a:prstGeom>
          <a:noFill/>
        </p:spPr>
        <p:txBody>
          <a:bodyPr wrap="square" lIns="0" tIns="0" rIns="0" bIns="0">
            <a:noAutofit/>
          </a:bodyPr>
          <a:lstStyle/>
          <a:p>
            <a:pPr>
              <a:spcAft>
                <a:spcPts val="600"/>
              </a:spcAft>
              <a:buNone/>
            </a:pPr>
            <a:r>
              <a:rPr lang="en-US" sz="1600" b="1" dirty="0">
                <a:solidFill>
                  <a:schemeClr val="tx2"/>
                </a:solidFill>
              </a:rPr>
              <a:t>Repeated trillions of times</a:t>
            </a:r>
          </a:p>
          <a:p>
            <a:pPr>
              <a:buNone/>
            </a:pPr>
            <a:r>
              <a:rPr lang="en-US" sz="1400" dirty="0">
                <a:solidFill>
                  <a:srgbClr val="5A6075"/>
                </a:solidFill>
              </a:rPr>
              <a:t>Pre-training runs for weeks on thousands of GPUs; fine-tuning repeats the loop on a small dataset.</a:t>
            </a:r>
          </a:p>
        </p:txBody>
      </p:sp>
      <p:sp>
        <p:nvSpPr>
          <p:cNvPr id="115" name="fact-rule-3"/>
          <p:cNvSpPr/>
          <p:nvPr/>
        </p:nvSpPr>
        <p:spPr>
          <a:xfrm>
            <a:off x="8178800" y="4826000"/>
            <a:ext cx="3429000" cy="38100"/>
          </a:xfrm>
          <a:prstGeom prst="rect">
            <a:avLst/>
          </a:prstGeom>
          <a:solidFill>
            <a:schemeClr val="tx2"/>
          </a:solidFill>
          <a:ln>
            <a:noFill/>
          </a:ln>
        </p:spPr>
        <p:txBody>
          <a:bodyPr/>
          <a:lstStyle/>
          <a:p>
            <a:endParaRPr lang="en-US"/>
          </a:p>
        </p:txBody>
      </p:sp>
      <p:sp>
        <p:nvSpPr>
          <p:cNvPr id="116" name="fact-3"/>
          <p:cNvSpPr txBox="1"/>
          <p:nvPr/>
        </p:nvSpPr>
        <p:spPr>
          <a:xfrm>
            <a:off x="8178800" y="4978400"/>
            <a:ext cx="3429000" cy="1270000"/>
          </a:xfrm>
          <a:prstGeom prst="rect">
            <a:avLst/>
          </a:prstGeom>
          <a:noFill/>
        </p:spPr>
        <p:txBody>
          <a:bodyPr wrap="square" lIns="0" tIns="0" rIns="0" bIns="0">
            <a:noAutofit/>
          </a:bodyPr>
          <a:lstStyle/>
          <a:p>
            <a:pPr>
              <a:spcAft>
                <a:spcPts val="600"/>
              </a:spcAft>
              <a:buNone/>
            </a:pPr>
            <a:r>
              <a:rPr lang="en-US" sz="1600" b="1" dirty="0">
                <a:solidFill>
                  <a:schemeClr val="tx2"/>
                </a:solidFill>
              </a:rPr>
              <a:t>The result is fixed weights</a:t>
            </a:r>
          </a:p>
          <a:p>
            <a:pPr>
              <a:buNone/>
            </a:pPr>
            <a:r>
              <a:rPr lang="en-US" sz="1400" dirty="0">
                <a:solidFill>
                  <a:srgbClr val="5A6075"/>
                </a:solidFill>
              </a:rPr>
              <a:t>The trained model is a file of numbers: 8B parameters is about 16 GB at 16-bit.</a:t>
            </a:r>
          </a:p>
        </p:txBody>
      </p:sp>
      <p:sp>
        <p:nvSpPr>
          <p:cNvPr id="90"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5"/>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2343841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How a model is trained: three stages</a:t>
            </a:r>
            <a:endParaRPr lang="en-US" sz="3400" dirty="0"/>
          </a:p>
        </p:txBody>
      </p:sp>
      <p:sp>
        <p:nvSpPr>
          <p:cNvPr id="3" name="card-191"/>
          <p:cNvSpPr/>
          <p:nvPr/>
        </p:nvSpPr>
        <p:spPr>
          <a:xfrm>
            <a:off x="548640" y="1417320"/>
            <a:ext cx="3383280" cy="3657600"/>
          </a:xfrm>
          <a:prstGeom prst="roundRect">
            <a:avLst>
              <a:gd name="adj" fmla="val 2703"/>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icon-bg-192"/>
          <p:cNvSpPr/>
          <p:nvPr/>
        </p:nvSpPr>
        <p:spPr>
          <a:xfrm>
            <a:off x="822960" y="1691640"/>
            <a:ext cx="777240" cy="777240"/>
          </a:xfrm>
          <a:prstGeom prst="ellipse">
            <a:avLst/>
          </a:prstGeom>
          <a:solidFill>
            <a:srgbClr val="D97757"/>
          </a:solidFill>
          <a:ln w="12700">
            <a:solidFill>
              <a:srgbClr val="D97757"/>
            </a:solidFill>
            <a:prstDash val="solid"/>
          </a:ln>
        </p:spPr>
        <p:txBody>
          <a:bodyPr/>
          <a:lstStyle/>
          <a:p>
            <a:endParaRPr lang="en-US"/>
          </a:p>
        </p:txBody>
      </p:sp>
      <p:pic>
        <p:nvPicPr>
          <p:cNvPr id="5" name="icon-193" descr="icon"/>
          <p:cNvPicPr>
            <a:picLocks noChangeAspect="1"/>
          </p:cNvPicPr>
          <p:nvPr/>
        </p:nvPicPr>
        <p:blipFill>
          <a:blip r:embed="rId3"/>
          <a:stretch>
            <a:fillRect/>
          </a:stretch>
        </p:blipFill>
        <p:spPr>
          <a:xfrm>
            <a:off x="1017270" y="1885950"/>
            <a:ext cx="388620" cy="388620"/>
          </a:xfrm>
          <a:prstGeom prst="rect">
            <a:avLst/>
          </a:prstGeom>
        </p:spPr>
      </p:pic>
      <p:sp>
        <p:nvSpPr>
          <p:cNvPr id="6" name="text-194"/>
          <p:cNvSpPr txBox="1"/>
          <p:nvPr/>
        </p:nvSpPr>
        <p:spPr>
          <a:xfrm>
            <a:off x="822960" y="2651760"/>
            <a:ext cx="2926080" cy="411480"/>
          </a:xfrm>
          <a:prstGeom prst="rect">
            <a:avLst/>
          </a:prstGeom>
          <a:noFill/>
          <a:ln/>
        </p:spPr>
        <p:txBody>
          <a:bodyPr wrap="square" lIns="0" tIns="0" rIns="0" bIns="0" rtlCol="0" anchor="t"/>
          <a:lstStyle/>
          <a:p>
            <a:pPr marL="0" indent="0" algn="l">
              <a:buNone/>
            </a:pPr>
            <a:r>
              <a:rPr lang="en-US" sz="1900" b="1" dirty="0">
                <a:solidFill>
                  <a:schemeClr val="tx2"/>
                </a:solidFill>
              </a:rPr>
              <a:t>1  Pre-training</a:t>
            </a:r>
            <a:endParaRPr lang="en-US" sz="1900" dirty="0"/>
          </a:p>
        </p:txBody>
      </p:sp>
      <p:sp>
        <p:nvSpPr>
          <p:cNvPr id="7" name="text-195"/>
          <p:cNvSpPr txBox="1"/>
          <p:nvPr/>
        </p:nvSpPr>
        <p:spPr>
          <a:xfrm>
            <a:off x="822960" y="3108960"/>
            <a:ext cx="2880360" cy="914400"/>
          </a:xfrm>
          <a:prstGeom prst="rect">
            <a:avLst/>
          </a:prstGeom>
          <a:noFill/>
          <a:ln/>
        </p:spPr>
        <p:txBody>
          <a:bodyPr wrap="square" lIns="0" tIns="0" rIns="0" bIns="0" rtlCol="0" anchor="t"/>
          <a:lstStyle/>
          <a:p>
            <a:pPr marL="0" indent="0" algn="l">
              <a:buNone/>
            </a:pPr>
            <a:r>
              <a:rPr lang="en-US" sz="1400" dirty="0">
                <a:solidFill>
                  <a:schemeClr val="tx1"/>
                </a:solidFill>
              </a:rPr>
              <a:t>Predict the next token on trillions of tokens of web text, books and code.</a:t>
            </a:r>
            <a:endParaRPr lang="en-US" sz="1400" dirty="0"/>
          </a:p>
        </p:txBody>
      </p:sp>
      <p:sp>
        <p:nvSpPr>
          <p:cNvPr id="8" name="text-196"/>
          <p:cNvSpPr txBox="1"/>
          <p:nvPr/>
        </p:nvSpPr>
        <p:spPr>
          <a:xfrm>
            <a:off x="822960" y="4069080"/>
            <a:ext cx="2880360" cy="868680"/>
          </a:xfrm>
          <a:prstGeom prst="rect">
            <a:avLst/>
          </a:prstGeom>
          <a:noFill/>
          <a:ln/>
        </p:spPr>
        <p:txBody>
          <a:bodyPr wrap="square" lIns="0" tIns="0" rIns="0" bIns="0" rtlCol="0" anchor="t"/>
          <a:lstStyle/>
          <a:p>
            <a:pPr marL="0" indent="0" algn="l">
              <a:buNone/>
            </a:pPr>
            <a:r>
              <a:rPr lang="en-US" sz="1300" i="1" dirty="0">
                <a:solidFill>
                  <a:schemeClr val="accent5"/>
                </a:solidFill>
              </a:rPr>
              <a:t>Result: a base model that knows language and facts — but just continues text.</a:t>
            </a:r>
            <a:endParaRPr lang="en-US" sz="1300" dirty="0"/>
          </a:p>
        </p:txBody>
      </p:sp>
      <p:sp>
        <p:nvSpPr>
          <p:cNvPr id="9" name="arrow-197"/>
          <p:cNvSpPr/>
          <p:nvPr/>
        </p:nvSpPr>
        <p:spPr>
          <a:xfrm>
            <a:off x="3977640" y="3246120"/>
            <a:ext cx="320040" cy="914"/>
          </a:xfrm>
          <a:prstGeom prst="line">
            <a:avLst/>
          </a:prstGeom>
          <a:noFill/>
          <a:ln w="31750">
            <a:solidFill>
              <a:schemeClr val="accent5"/>
            </a:solidFill>
            <a:prstDash val="solid"/>
            <a:tailEnd type="triangle"/>
          </a:ln>
        </p:spPr>
        <p:txBody>
          <a:bodyPr/>
          <a:lstStyle/>
          <a:p>
            <a:endParaRPr lang="en-US"/>
          </a:p>
        </p:txBody>
      </p:sp>
      <p:sp>
        <p:nvSpPr>
          <p:cNvPr id="10" name="card-198"/>
          <p:cNvSpPr/>
          <p:nvPr/>
        </p:nvSpPr>
        <p:spPr>
          <a:xfrm>
            <a:off x="4343400" y="1417320"/>
            <a:ext cx="3383280" cy="3657600"/>
          </a:xfrm>
          <a:prstGeom prst="roundRect">
            <a:avLst>
              <a:gd name="adj" fmla="val 2703"/>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1" name="icon-bg-199"/>
          <p:cNvSpPr/>
          <p:nvPr/>
        </p:nvSpPr>
        <p:spPr>
          <a:xfrm>
            <a:off x="4617720" y="1691640"/>
            <a:ext cx="777240" cy="777240"/>
          </a:xfrm>
          <a:prstGeom prst="ellipse">
            <a:avLst/>
          </a:prstGeom>
          <a:solidFill>
            <a:srgbClr val="2A9D8F"/>
          </a:solidFill>
          <a:ln w="12700">
            <a:solidFill>
              <a:srgbClr val="2A9D8F"/>
            </a:solidFill>
            <a:prstDash val="solid"/>
          </a:ln>
        </p:spPr>
        <p:txBody>
          <a:bodyPr/>
          <a:lstStyle/>
          <a:p>
            <a:endParaRPr lang="en-US"/>
          </a:p>
        </p:txBody>
      </p:sp>
      <p:pic>
        <p:nvPicPr>
          <p:cNvPr id="12" name="icon-200" descr="icon"/>
          <p:cNvPicPr>
            <a:picLocks noChangeAspect="1"/>
          </p:cNvPicPr>
          <p:nvPr/>
        </p:nvPicPr>
        <p:blipFill>
          <a:blip r:embed="rId4"/>
          <a:stretch>
            <a:fillRect/>
          </a:stretch>
        </p:blipFill>
        <p:spPr>
          <a:xfrm>
            <a:off x="4812030" y="1885950"/>
            <a:ext cx="388620" cy="388620"/>
          </a:xfrm>
          <a:prstGeom prst="rect">
            <a:avLst/>
          </a:prstGeom>
        </p:spPr>
      </p:pic>
      <p:sp>
        <p:nvSpPr>
          <p:cNvPr id="13" name="text-201"/>
          <p:cNvSpPr txBox="1"/>
          <p:nvPr/>
        </p:nvSpPr>
        <p:spPr>
          <a:xfrm>
            <a:off x="4617720" y="2651760"/>
            <a:ext cx="2926080" cy="411480"/>
          </a:xfrm>
          <a:prstGeom prst="rect">
            <a:avLst/>
          </a:prstGeom>
          <a:noFill/>
          <a:ln/>
        </p:spPr>
        <p:txBody>
          <a:bodyPr wrap="square" lIns="0" tIns="0" rIns="0" bIns="0" rtlCol="0" anchor="t"/>
          <a:lstStyle/>
          <a:p>
            <a:pPr marL="0" indent="0" algn="l">
              <a:buNone/>
            </a:pPr>
            <a:r>
              <a:rPr lang="en-US" sz="1900" b="1" dirty="0">
                <a:solidFill>
                  <a:schemeClr val="tx2"/>
                </a:solidFill>
              </a:rPr>
              <a:t>2  Fine-tuning</a:t>
            </a:r>
            <a:endParaRPr lang="en-US" sz="1900" dirty="0"/>
          </a:p>
        </p:txBody>
      </p:sp>
      <p:sp>
        <p:nvSpPr>
          <p:cNvPr id="14" name="text-202"/>
          <p:cNvSpPr txBox="1"/>
          <p:nvPr/>
        </p:nvSpPr>
        <p:spPr>
          <a:xfrm>
            <a:off x="4617720" y="3108960"/>
            <a:ext cx="2880360" cy="914400"/>
          </a:xfrm>
          <a:prstGeom prst="rect">
            <a:avLst/>
          </a:prstGeom>
          <a:noFill/>
          <a:ln/>
        </p:spPr>
        <p:txBody>
          <a:bodyPr wrap="square" lIns="0" tIns="0" rIns="0" bIns="0" rtlCol="0" anchor="t"/>
          <a:lstStyle/>
          <a:p>
            <a:pPr marL="0" indent="0" algn="l">
              <a:buNone/>
            </a:pPr>
            <a:r>
              <a:rPr lang="en-US" sz="1400" dirty="0">
                <a:solidFill>
                  <a:schemeClr val="tx1"/>
                </a:solidFill>
              </a:rPr>
              <a:t>Train on curated examples of instructions and good answers (SFT).</a:t>
            </a:r>
            <a:endParaRPr lang="en-US" sz="1400" dirty="0"/>
          </a:p>
        </p:txBody>
      </p:sp>
      <p:sp>
        <p:nvSpPr>
          <p:cNvPr id="15" name="text-203"/>
          <p:cNvSpPr txBox="1"/>
          <p:nvPr/>
        </p:nvSpPr>
        <p:spPr>
          <a:xfrm>
            <a:off x="4617720" y="4069080"/>
            <a:ext cx="2880360" cy="868680"/>
          </a:xfrm>
          <a:prstGeom prst="rect">
            <a:avLst/>
          </a:prstGeom>
          <a:noFill/>
          <a:ln/>
        </p:spPr>
        <p:txBody>
          <a:bodyPr wrap="square" lIns="0" tIns="0" rIns="0" bIns="0" rtlCol="0" anchor="t"/>
          <a:lstStyle/>
          <a:p>
            <a:pPr marL="0" indent="0" algn="l">
              <a:buNone/>
            </a:pPr>
            <a:r>
              <a:rPr lang="en-US" sz="1300" i="1" dirty="0">
                <a:solidFill>
                  <a:schemeClr val="accent5"/>
                </a:solidFill>
              </a:rPr>
              <a:t>Result: a model that follows instructions and holds a conversation.</a:t>
            </a:r>
            <a:endParaRPr lang="en-US" sz="1300" dirty="0"/>
          </a:p>
        </p:txBody>
      </p:sp>
      <p:sp>
        <p:nvSpPr>
          <p:cNvPr id="16" name="arrow-204"/>
          <p:cNvSpPr/>
          <p:nvPr/>
        </p:nvSpPr>
        <p:spPr>
          <a:xfrm>
            <a:off x="7772400" y="3246120"/>
            <a:ext cx="320040" cy="914"/>
          </a:xfrm>
          <a:prstGeom prst="line">
            <a:avLst/>
          </a:prstGeom>
          <a:noFill/>
          <a:ln w="31750">
            <a:solidFill>
              <a:schemeClr val="accent5"/>
            </a:solidFill>
            <a:prstDash val="solid"/>
            <a:tailEnd type="triangle"/>
          </a:ln>
        </p:spPr>
        <p:txBody>
          <a:bodyPr/>
          <a:lstStyle/>
          <a:p>
            <a:endParaRPr lang="en-US"/>
          </a:p>
        </p:txBody>
      </p:sp>
      <p:sp>
        <p:nvSpPr>
          <p:cNvPr id="17" name="card-205"/>
          <p:cNvSpPr/>
          <p:nvPr/>
        </p:nvSpPr>
        <p:spPr>
          <a:xfrm>
            <a:off x="8138160" y="1417320"/>
            <a:ext cx="3383280" cy="3657600"/>
          </a:xfrm>
          <a:prstGeom prst="roundRect">
            <a:avLst>
              <a:gd name="adj" fmla="val 2703"/>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8" name="icon-bg-206"/>
          <p:cNvSpPr/>
          <p:nvPr/>
        </p:nvSpPr>
        <p:spPr>
          <a:xfrm>
            <a:off x="8412480" y="1691640"/>
            <a:ext cx="777240" cy="777240"/>
          </a:xfrm>
          <a:prstGeom prst="ellipse">
            <a:avLst/>
          </a:prstGeom>
          <a:solidFill>
            <a:srgbClr val="6C63FF"/>
          </a:solidFill>
          <a:ln w="12700">
            <a:solidFill>
              <a:srgbClr val="6C63FF"/>
            </a:solidFill>
            <a:prstDash val="solid"/>
          </a:ln>
        </p:spPr>
        <p:txBody>
          <a:bodyPr/>
          <a:lstStyle/>
          <a:p>
            <a:endParaRPr lang="en-US"/>
          </a:p>
        </p:txBody>
      </p:sp>
      <p:pic>
        <p:nvPicPr>
          <p:cNvPr id="19" name="icon-207" descr="icon"/>
          <p:cNvPicPr>
            <a:picLocks noChangeAspect="1"/>
          </p:cNvPicPr>
          <p:nvPr/>
        </p:nvPicPr>
        <p:blipFill>
          <a:blip r:embed="rId5"/>
          <a:stretch>
            <a:fillRect/>
          </a:stretch>
        </p:blipFill>
        <p:spPr>
          <a:xfrm>
            <a:off x="8606790" y="1885950"/>
            <a:ext cx="388620" cy="388620"/>
          </a:xfrm>
          <a:prstGeom prst="rect">
            <a:avLst/>
          </a:prstGeom>
        </p:spPr>
      </p:pic>
      <p:sp>
        <p:nvSpPr>
          <p:cNvPr id="20" name="text-208"/>
          <p:cNvSpPr txBox="1"/>
          <p:nvPr/>
        </p:nvSpPr>
        <p:spPr>
          <a:xfrm>
            <a:off x="8412480" y="2651760"/>
            <a:ext cx="2926080" cy="411480"/>
          </a:xfrm>
          <a:prstGeom prst="rect">
            <a:avLst/>
          </a:prstGeom>
          <a:noFill/>
          <a:ln/>
        </p:spPr>
        <p:txBody>
          <a:bodyPr wrap="square" lIns="0" tIns="0" rIns="0" bIns="0" rtlCol="0" anchor="t"/>
          <a:lstStyle/>
          <a:p>
            <a:pPr marL="0" indent="0" algn="l">
              <a:buNone/>
            </a:pPr>
            <a:r>
              <a:rPr lang="en-US" sz="1900" b="1" dirty="0">
                <a:solidFill>
                  <a:schemeClr val="tx2"/>
                </a:solidFill>
              </a:rPr>
              <a:t>3  Alignment</a:t>
            </a:r>
            <a:endParaRPr lang="en-US" sz="1900" dirty="0"/>
          </a:p>
        </p:txBody>
      </p:sp>
      <p:sp>
        <p:nvSpPr>
          <p:cNvPr id="21" name="text-209"/>
          <p:cNvSpPr txBox="1"/>
          <p:nvPr/>
        </p:nvSpPr>
        <p:spPr>
          <a:xfrm>
            <a:off x="8412480" y="3108960"/>
            <a:ext cx="2880360" cy="914400"/>
          </a:xfrm>
          <a:prstGeom prst="rect">
            <a:avLst/>
          </a:prstGeom>
          <a:noFill/>
          <a:ln/>
        </p:spPr>
        <p:txBody>
          <a:bodyPr wrap="square" lIns="0" tIns="0" rIns="0" bIns="0" rtlCol="0" anchor="t"/>
          <a:lstStyle/>
          <a:p>
            <a:pPr marL="0" indent="0" algn="l">
              <a:buNone/>
            </a:pPr>
            <a:r>
              <a:rPr lang="en-US" sz="1400" dirty="0">
                <a:solidFill>
                  <a:schemeClr val="tx1"/>
                </a:solidFill>
              </a:rPr>
              <a:t>Reinforcement learning from human or AI feedback (RLHF / RLAIF, Constitutional AI).</a:t>
            </a:r>
            <a:endParaRPr lang="en-US" sz="1400" dirty="0"/>
          </a:p>
        </p:txBody>
      </p:sp>
      <p:sp>
        <p:nvSpPr>
          <p:cNvPr id="22" name="text-210"/>
          <p:cNvSpPr txBox="1"/>
          <p:nvPr/>
        </p:nvSpPr>
        <p:spPr>
          <a:xfrm>
            <a:off x="8412480" y="4069080"/>
            <a:ext cx="2880360" cy="868680"/>
          </a:xfrm>
          <a:prstGeom prst="rect">
            <a:avLst/>
          </a:prstGeom>
          <a:noFill/>
          <a:ln/>
        </p:spPr>
        <p:txBody>
          <a:bodyPr wrap="square" lIns="0" tIns="0" rIns="0" bIns="0" rtlCol="0" anchor="t"/>
          <a:lstStyle/>
          <a:p>
            <a:pPr marL="0" indent="0" algn="l">
              <a:buNone/>
            </a:pPr>
            <a:r>
              <a:rPr lang="en-US" sz="1300" i="1" dirty="0">
                <a:solidFill>
                  <a:schemeClr val="accent5"/>
                </a:solidFill>
              </a:rPr>
              <a:t>Result: an assistant that is more helpful, honest and harmless.</a:t>
            </a:r>
            <a:endParaRPr lang="en-US" sz="1300" dirty="0"/>
          </a:p>
        </p:txBody>
      </p:sp>
      <p:sp>
        <p:nvSpPr>
          <p:cNvPr id="23" name="card-211"/>
          <p:cNvSpPr/>
          <p:nvPr/>
        </p:nvSpPr>
        <p:spPr>
          <a:xfrm>
            <a:off x="548640" y="5349240"/>
            <a:ext cx="11064240" cy="777240"/>
          </a:xfrm>
          <a:prstGeom prst="roundRect">
            <a:avLst>
              <a:gd name="adj" fmla="val 11765"/>
            </a:avLst>
          </a:prstGeom>
          <a:solidFill>
            <a:schemeClr val="tx2"/>
          </a:solidFill>
          <a:ln w="9525">
            <a:solidFill>
              <a:schemeClr val="tx2"/>
            </a:solidFill>
            <a:prstDash val="solid"/>
          </a:ln>
          <a:effectLst>
            <a:outerShdw blurRad="101600" dist="25400" dir="5400000" algn="bl" rotWithShape="0">
              <a:srgbClr val="000000">
                <a:alpha val="12000"/>
              </a:srgbClr>
            </a:outerShdw>
          </a:effectLst>
        </p:spPr>
        <p:txBody>
          <a:bodyPr/>
          <a:lstStyle/>
          <a:p>
            <a:endParaRPr lang="en-US"/>
          </a:p>
        </p:txBody>
      </p:sp>
      <p:sp>
        <p:nvSpPr>
          <p:cNvPr id="24" name="text-212"/>
          <p:cNvSpPr txBox="1"/>
          <p:nvPr/>
        </p:nvSpPr>
        <p:spPr>
          <a:xfrm>
            <a:off x="822960" y="5349240"/>
            <a:ext cx="10607040" cy="777240"/>
          </a:xfrm>
          <a:prstGeom prst="rect">
            <a:avLst/>
          </a:prstGeom>
          <a:noFill/>
          <a:ln/>
        </p:spPr>
        <p:txBody>
          <a:bodyPr wrap="square" lIns="0" tIns="0" rIns="0" bIns="0" rtlCol="0" anchor="ctr"/>
          <a:lstStyle/>
          <a:p>
            <a:pPr marL="0" indent="0" algn="l">
              <a:buNone/>
            </a:pPr>
            <a:r>
              <a:rPr lang="en-US" sz="1500" b="1" dirty="0">
                <a:solidFill>
                  <a:schemeClr val="accent4"/>
                </a:solidFill>
              </a:rPr>
              <a:t>Cost reality: </a:t>
            </a:r>
            <a:r>
              <a:rPr lang="en-US" sz="1500" dirty="0">
                <a:solidFill>
                  <a:schemeClr val="bg1"/>
                </a:solidFill>
              </a:rPr>
              <a:t>pre-training uses by far the most compute (thousands of GPUs for months); later stages are smaller but shape behavior the most.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LoRA fine-tuning trains under 1% of the weights</a:t>
            </a:r>
          </a:p>
        </p:txBody>
      </p:sp>
      <p:sp>
        <p:nvSpPr>
          <p:cNvPr id="300" name="lora-301"/>
          <p:cNvSpPr txBox="1"/>
          <p:nvPr/>
        </p:nvSpPr>
        <p:spPr>
          <a:xfrm>
            <a:off x="546100" y="1422400"/>
            <a:ext cx="4572000" cy="279400"/>
          </a:xfrm>
          <a:prstGeom prst="rect">
            <a:avLst/>
          </a:prstGeom>
          <a:noFill/>
          <a:ln>
            <a:noFill/>
          </a:ln>
        </p:spPr>
        <p:txBody>
          <a:bodyPr wrap="square" lIns="0" tIns="0" rIns="0" bIns="0" anchor="t"/>
          <a:lstStyle/>
          <a:p>
            <a:pPr marL="0" indent="0" algn="l">
              <a:buNone/>
            </a:pPr>
            <a:r>
              <a:rPr lang="en-US" sz="1600" b="1" dirty="0">
                <a:solidFill>
                  <a:schemeClr val="tx2"/>
                </a:solidFill>
              </a:rPr>
              <a:t>How LoRA works on one weight layer</a:t>
            </a:r>
          </a:p>
        </p:txBody>
      </p:sp>
      <p:sp>
        <p:nvSpPr>
          <p:cNvPr id="301" name="lora-302"/>
          <p:cNvSpPr/>
          <p:nvPr/>
        </p:nvSpPr>
        <p:spPr>
          <a:xfrm>
            <a:off x="762000" y="1905000"/>
            <a:ext cx="1778000" cy="1778000"/>
          </a:xfrm>
          <a:prstGeom prst="rect">
            <a:avLst/>
          </a:prstGeom>
          <a:solidFill>
            <a:schemeClr val="tx2"/>
          </a:solidFill>
          <a:ln>
            <a:noFill/>
          </a:ln>
        </p:spPr>
        <p:txBody>
          <a:bodyPr wrap="square" lIns="0" tIns="0" rIns="0" bIns="0" anchor="ctr"/>
          <a:lstStyle/>
          <a:p>
            <a:pPr marL="0" indent="0" algn="ctr">
              <a:buNone/>
            </a:pPr>
            <a:r>
              <a:rPr lang="en-US" sz="2800" b="1" dirty="0">
                <a:solidFill>
                  <a:schemeClr val="bg1"/>
                </a:solidFill>
              </a:rPr>
              <a:t>W</a:t>
            </a:r>
          </a:p>
          <a:p>
            <a:pPr marL="0" indent="0" algn="ctr">
              <a:buNone/>
            </a:pPr>
            <a:r>
              <a:rPr lang="en-US" sz="1400" dirty="0">
                <a:solidFill>
                  <a:schemeClr val="bg1"/>
                </a:solidFill>
              </a:rPr>
              <a:t>frozen</a:t>
            </a:r>
          </a:p>
        </p:txBody>
      </p:sp>
      <p:sp>
        <p:nvSpPr>
          <p:cNvPr id="302" name="lora-303"/>
          <p:cNvSpPr txBox="1"/>
          <p:nvPr/>
        </p:nvSpPr>
        <p:spPr>
          <a:xfrm>
            <a:off x="2616200" y="2540000"/>
            <a:ext cx="431800" cy="508000"/>
          </a:xfrm>
          <a:prstGeom prst="rect">
            <a:avLst/>
          </a:prstGeom>
          <a:noFill/>
          <a:ln>
            <a:noFill/>
          </a:ln>
        </p:spPr>
        <p:txBody>
          <a:bodyPr wrap="square" lIns="0" tIns="0" rIns="0" bIns="0" anchor="ctr"/>
          <a:lstStyle/>
          <a:p>
            <a:pPr marL="0" indent="0" algn="ctr">
              <a:buNone/>
            </a:pPr>
            <a:r>
              <a:rPr lang="en-US" sz="2800" b="1" dirty="0">
                <a:solidFill>
                  <a:schemeClr val="tx2"/>
                </a:solidFill>
              </a:rPr>
              <a:t>+</a:t>
            </a:r>
          </a:p>
        </p:txBody>
      </p:sp>
      <p:sp>
        <p:nvSpPr>
          <p:cNvPr id="303" name="lora-304"/>
          <p:cNvSpPr/>
          <p:nvPr/>
        </p:nvSpPr>
        <p:spPr>
          <a:xfrm>
            <a:off x="3149600" y="1905000"/>
            <a:ext cx="304800" cy="1778000"/>
          </a:xfrm>
          <a:prstGeom prst="rect">
            <a:avLst/>
          </a:prstGeom>
          <a:solidFill>
            <a:schemeClr val="accent1"/>
          </a:solidFill>
          <a:ln>
            <a:noFill/>
          </a:ln>
        </p:spPr>
        <p:txBody>
          <a:bodyPr wrap="square" lIns="0" tIns="0" rIns="0" bIns="0" anchor="ctr"/>
          <a:lstStyle/>
          <a:p>
            <a:pPr marL="0" indent="0" algn="ctr">
              <a:buNone/>
            </a:pPr>
            <a:r>
              <a:rPr lang="en-US" sz="1400" b="1" dirty="0">
                <a:solidFill>
                  <a:schemeClr val="bg1"/>
                </a:solidFill>
              </a:rPr>
              <a:t>B</a:t>
            </a:r>
          </a:p>
        </p:txBody>
      </p:sp>
      <p:sp>
        <p:nvSpPr>
          <p:cNvPr id="304" name="lora-305"/>
          <p:cNvSpPr/>
          <p:nvPr/>
        </p:nvSpPr>
        <p:spPr>
          <a:xfrm>
            <a:off x="3556000" y="1905000"/>
            <a:ext cx="1524000" cy="304800"/>
          </a:xfrm>
          <a:prstGeom prst="rect">
            <a:avLst/>
          </a:prstGeom>
          <a:solidFill>
            <a:schemeClr val="accent1"/>
          </a:solidFill>
          <a:ln>
            <a:noFill/>
          </a:ln>
        </p:spPr>
        <p:txBody>
          <a:bodyPr wrap="square" lIns="0" tIns="0" rIns="0" bIns="0" anchor="ctr"/>
          <a:lstStyle/>
          <a:p>
            <a:pPr marL="0" indent="0" algn="ctr">
              <a:buNone/>
            </a:pPr>
            <a:r>
              <a:rPr lang="en-US" sz="1400" b="1" dirty="0">
                <a:solidFill>
                  <a:schemeClr val="bg1"/>
                </a:solidFill>
              </a:rPr>
              <a:t>A</a:t>
            </a:r>
          </a:p>
        </p:txBody>
      </p:sp>
      <p:sp>
        <p:nvSpPr>
          <p:cNvPr id="305" name="lora-306"/>
          <p:cNvSpPr txBox="1"/>
          <p:nvPr/>
        </p:nvSpPr>
        <p:spPr>
          <a:xfrm>
            <a:off x="3581400" y="2362200"/>
            <a:ext cx="1587500" cy="1270000"/>
          </a:xfrm>
          <a:prstGeom prst="rect">
            <a:avLst/>
          </a:prstGeom>
          <a:noFill/>
          <a:ln>
            <a:noFill/>
          </a:ln>
        </p:spPr>
        <p:txBody>
          <a:bodyPr wrap="square" lIns="0" tIns="0" rIns="0" bIns="0" anchor="t"/>
          <a:lstStyle/>
          <a:p>
            <a:pPr marL="0" indent="0" algn="l">
              <a:buNone/>
            </a:pPr>
            <a:r>
              <a:rPr lang="en-US" sz="1400" b="1" dirty="0">
                <a:solidFill>
                  <a:schemeClr val="accent1"/>
                </a:solidFill>
              </a:rPr>
              <a:t>Trainable B, A</a:t>
            </a:r>
          </a:p>
          <a:p>
            <a:pPr marL="0" indent="0" algn="l">
              <a:buNone/>
            </a:pPr>
            <a:r>
              <a:rPr lang="en-US" sz="1400" dirty="0">
                <a:solidFill>
                  <a:srgbClr val="5A6075"/>
                </a:solidFill>
              </a:rPr>
              <a:t>rank 8: 65K weights, 0.4% of W</a:t>
            </a:r>
          </a:p>
        </p:txBody>
      </p:sp>
      <p:sp>
        <p:nvSpPr>
          <p:cNvPr id="306" name="lora-307"/>
          <p:cNvSpPr txBox="1"/>
          <p:nvPr/>
        </p:nvSpPr>
        <p:spPr>
          <a:xfrm>
            <a:off x="508000" y="3784600"/>
            <a:ext cx="2413000" cy="508000"/>
          </a:xfrm>
          <a:prstGeom prst="rect">
            <a:avLst/>
          </a:prstGeom>
          <a:noFill/>
          <a:ln>
            <a:noFill/>
          </a:ln>
        </p:spPr>
        <p:txBody>
          <a:bodyPr wrap="square" lIns="0" tIns="0" rIns="0" bIns="0" anchor="t"/>
          <a:lstStyle/>
          <a:p>
            <a:pPr marL="0" indent="0" algn="ctr">
              <a:buNone/>
            </a:pPr>
            <a:r>
              <a:rPr lang="en-US" sz="1400" dirty="0">
                <a:solidFill>
                  <a:srgbClr val="5A6075"/>
                </a:solidFill>
              </a:rPr>
              <a:t>4,096 × 4,096 = 16.8M weights</a:t>
            </a:r>
          </a:p>
        </p:txBody>
      </p:sp>
      <p:sp>
        <p:nvSpPr>
          <p:cNvPr id="307" name="lora-308"/>
          <p:cNvSpPr txBox="1"/>
          <p:nvPr/>
        </p:nvSpPr>
        <p:spPr>
          <a:xfrm>
            <a:off x="546100" y="4394200"/>
            <a:ext cx="4572000" cy="711200"/>
          </a:xfrm>
          <a:prstGeom prst="rect">
            <a:avLst/>
          </a:prstGeom>
          <a:noFill/>
          <a:ln>
            <a:noFill/>
          </a:ln>
        </p:spPr>
        <p:txBody>
          <a:bodyPr wrap="square" lIns="0" tIns="0" rIns="0" bIns="0" anchor="t"/>
          <a:lstStyle/>
          <a:p>
            <a:pPr marL="0" indent="0" algn="l">
              <a:buNone/>
            </a:pPr>
            <a:r>
              <a:rPr lang="en-US" sz="1400" b="1" dirty="0">
                <a:solidFill>
                  <a:schemeClr val="tx2"/>
                </a:solidFill>
              </a:rPr>
              <a:t>Output = W·x + B·A·x. </a:t>
            </a:r>
            <a:r>
              <a:rPr lang="en-US" sz="1400" dirty="0">
                <a:solidFill>
                  <a:schemeClr val="tx2"/>
                </a:solidFill>
              </a:rPr>
              <a:t>After training, merge B·A into W, or keep it as a small add-on file to swap per task.</a:t>
            </a:r>
          </a:p>
        </p:txBody>
      </p:sp>
      <p:graphicFrame>
        <p:nvGraphicFramePr>
          <p:cNvPr id="308" name="lora-table"/>
          <p:cNvGraphicFramePr>
            <a:graphicFrameLocks noGrp="1"/>
          </p:cNvGraphicFramePr>
          <p:nvPr/>
        </p:nvGraphicFramePr>
        <p:xfrm>
          <a:off x="5461000" y="1422400"/>
          <a:ext cx="6146800" cy="2362200"/>
        </p:xfrm>
        <a:graphic>
          <a:graphicData uri="http://schemas.openxmlformats.org/drawingml/2006/table">
            <a:tbl>
              <a:tblPr firstRow="1"/>
              <a:tblGrid>
                <a:gridCol w="13208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81000">
                <a:tc>
                  <a:txBody>
                    <a:bodyPr/>
                    <a:lstStyle/>
                    <a:p>
                      <a:pPr algn="l"/>
                      <a:r>
                        <a:rPr lang="en-US" sz="1400" b="1" dirty="0">
                          <a:solidFill>
                            <a:schemeClr val="tx2"/>
                          </a:solidFill>
                        </a:rPr>
                        <a:t>Method</a:t>
                      </a:r>
                    </a:p>
                  </a:txBody>
                  <a:tcPr marL="76200" marR="101600" marT="50800" marB="50800" anchor="ctr">
                    <a:lnL w="0">
                      <a:noFill/>
                    </a:lnL>
                    <a:lnR w="0">
                      <a:noFill/>
                    </a:lnR>
                    <a:lnT w="0">
                      <a:noFill/>
                    </a:lnT>
                    <a:lnB w="12700">
                      <a:solidFill>
                        <a:srgbClr val="E0E0E0"/>
                      </a:solidFill>
                    </a:lnB>
                    <a:noFill/>
                  </a:tcPr>
                </a:tc>
                <a:tc>
                  <a:txBody>
                    <a:bodyPr/>
                    <a:lstStyle/>
                    <a:p>
                      <a:pPr algn="l"/>
                      <a:r>
                        <a:rPr lang="en-US" sz="1400" b="1" dirty="0">
                          <a:solidFill>
                            <a:schemeClr val="tx2"/>
                          </a:solidFill>
                        </a:rPr>
                        <a:t>Trains</a:t>
                      </a:r>
                    </a:p>
                  </a:txBody>
                  <a:tcPr marL="76200" marR="101600" marT="50800" marB="50800" anchor="ctr">
                    <a:lnL w="0">
                      <a:noFill/>
                    </a:lnL>
                    <a:lnR w="0">
                      <a:noFill/>
                    </a:lnR>
                    <a:lnT w="0">
                      <a:noFill/>
                    </a:lnT>
                    <a:lnB w="12700">
                      <a:solidFill>
                        <a:srgbClr val="E0E0E0"/>
                      </a:solidFill>
                    </a:lnB>
                    <a:noFill/>
                  </a:tcPr>
                </a:tc>
                <a:tc>
                  <a:txBody>
                    <a:bodyPr/>
                    <a:lstStyle/>
                    <a:p>
                      <a:pPr algn="l"/>
                      <a:r>
                        <a:rPr lang="en-US" sz="1400" b="1" dirty="0">
                          <a:solidFill>
                            <a:schemeClr val="tx2"/>
                          </a:solidFill>
                        </a:rPr>
                        <a:t>Memory, 7B</a:t>
                      </a:r>
                    </a:p>
                  </a:txBody>
                  <a:tcPr marL="76200" marR="101600" marT="50800" marB="50800" anchor="ctr">
                    <a:lnL w="0">
                      <a:noFill/>
                    </a:lnL>
                    <a:lnR w="0">
                      <a:noFill/>
                    </a:lnR>
                    <a:lnT w="0">
                      <a:noFill/>
                    </a:lnT>
                    <a:lnB w="12700">
                      <a:solidFill>
                        <a:srgbClr val="E0E0E0"/>
                      </a:solidFill>
                    </a:lnB>
                    <a:noFill/>
                  </a:tcPr>
                </a:tc>
                <a:tc>
                  <a:txBody>
                    <a:bodyPr/>
                    <a:lstStyle/>
                    <a:p>
                      <a:pPr algn="l"/>
                      <a:r>
                        <a:rPr lang="en-US" sz="1400" b="1" dirty="0">
                          <a:solidFill>
                            <a:schemeClr val="tx2"/>
                          </a:solidFill>
                        </a:rPr>
                        <a:t>Runs on</a:t>
                      </a:r>
                    </a:p>
                  </a:txBody>
                  <a:tcPr marL="76200" marR="101600" marT="50800" marB="50800" anchor="ctr">
                    <a:lnL w="0">
                      <a:noFill/>
                    </a:lnL>
                    <a:lnR w="0">
                      <a:noFill/>
                    </a:lnR>
                    <a:lnT w="0">
                      <a:noFill/>
                    </a:lnT>
                    <a:lnB w="12700">
                      <a:solidFill>
                        <a:srgbClr val="E0E0E0"/>
                      </a:solidFill>
                    </a:lnB>
                    <a:noFill/>
                  </a:tcPr>
                </a:tc>
                <a:extLst>
                  <a:ext uri="{0D108BD9-81ED-4DB2-BD59-A6C34878D82A}">
                    <a16:rowId xmlns:a16="http://schemas.microsoft.com/office/drawing/2014/main" val="10000"/>
                  </a:ext>
                </a:extLst>
              </a:tr>
              <a:tr h="660400">
                <a:tc>
                  <a:txBody>
                    <a:bodyPr/>
                    <a:lstStyle/>
                    <a:p>
                      <a:pPr algn="l"/>
                      <a:r>
                        <a:rPr lang="en-US" sz="1400" b="1" dirty="0">
                          <a:solidFill>
                            <a:schemeClr val="tx2"/>
                          </a:solidFill>
                        </a:rPr>
                        <a:t>Full fine-tuning</a:t>
                      </a:r>
                    </a:p>
                  </a:txBody>
                  <a:tcPr marL="76200" marR="101600" marT="50800" marB="50800" anchor="ctr">
                    <a:lnL w="0">
                      <a:noFill/>
                    </a:lnL>
                    <a:lnR w="0">
                      <a:noFill/>
                    </a:lnR>
                    <a:lnT w="12700">
                      <a:solidFill>
                        <a:srgbClr val="E0E0E0"/>
                      </a:solidFill>
                    </a:lnT>
                    <a:lnB w="12700">
                      <a:solidFill>
                        <a:srgbClr val="E0E0E0"/>
                      </a:solidFill>
                    </a:lnB>
                    <a:noFill/>
                  </a:tcPr>
                </a:tc>
                <a:tc>
                  <a:txBody>
                    <a:bodyPr/>
                    <a:lstStyle/>
                    <a:p>
                      <a:pPr algn="l"/>
                      <a:r>
                        <a:rPr lang="en-US" sz="1400" dirty="0">
                          <a:solidFill>
                            <a:schemeClr val="tx2"/>
                          </a:solidFill>
                        </a:rPr>
                        <a:t>All 7B weights</a:t>
                      </a:r>
                    </a:p>
                  </a:txBody>
                  <a:tcPr marL="76200" marR="101600" marT="50800" marB="50800" anchor="ctr">
                    <a:lnL w="0">
                      <a:noFill/>
                    </a:lnL>
                    <a:lnR w="0">
                      <a:noFill/>
                    </a:lnR>
                    <a:lnT w="12700">
                      <a:solidFill>
                        <a:srgbClr val="E0E0E0"/>
                      </a:solidFill>
                    </a:lnT>
                    <a:lnB w="12700">
                      <a:solidFill>
                        <a:srgbClr val="E0E0E0"/>
                      </a:solidFill>
                    </a:lnB>
                    <a:noFill/>
                  </a:tcPr>
                </a:tc>
                <a:tc>
                  <a:txBody>
                    <a:bodyPr/>
                    <a:lstStyle/>
                    <a:p>
                      <a:pPr algn="r"/>
                      <a:r>
                        <a:rPr lang="en-US" sz="1400" dirty="0">
                          <a:solidFill>
                            <a:schemeClr val="tx2"/>
                          </a:solidFill>
                        </a:rPr>
                        <a:t>100+ GB</a:t>
                      </a:r>
                    </a:p>
                  </a:txBody>
                  <a:tcPr marL="76200" marR="101600" marT="50800" marB="50800" anchor="ctr">
                    <a:lnL w="0">
                      <a:noFill/>
                    </a:lnL>
                    <a:lnR w="0">
                      <a:noFill/>
                    </a:lnR>
                    <a:lnT w="12700">
                      <a:solidFill>
                        <a:srgbClr val="E0E0E0"/>
                      </a:solidFill>
                    </a:lnT>
                    <a:lnB w="12700">
                      <a:solidFill>
                        <a:srgbClr val="E0E0E0"/>
                      </a:solidFill>
                    </a:lnB>
                    <a:noFill/>
                  </a:tcPr>
                </a:tc>
                <a:tc>
                  <a:txBody>
                    <a:bodyPr/>
                    <a:lstStyle/>
                    <a:p>
                      <a:pPr algn="l"/>
                      <a:r>
                        <a:rPr lang="en-US" sz="1400" dirty="0">
                          <a:solidFill>
                            <a:schemeClr val="tx2"/>
                          </a:solidFill>
                        </a:rPr>
                        <a:t>Data-center GPUs</a:t>
                      </a:r>
                    </a:p>
                  </a:txBody>
                  <a:tcPr marL="76200" marR="101600" marT="50800" marB="50800" anchor="ctr">
                    <a:lnL w="0">
                      <a:noFill/>
                    </a:lnL>
                    <a:lnR w="0">
                      <a:noFill/>
                    </a:lnR>
                    <a:lnT w="12700">
                      <a:solidFill>
                        <a:srgbClr val="E0E0E0"/>
                      </a:solidFill>
                    </a:lnT>
                    <a:lnB w="12700">
                      <a:solidFill>
                        <a:srgbClr val="E0E0E0"/>
                      </a:solidFill>
                    </a:lnB>
                    <a:noFill/>
                  </a:tcPr>
                </a:tc>
                <a:extLst>
                  <a:ext uri="{0D108BD9-81ED-4DB2-BD59-A6C34878D82A}">
                    <a16:rowId xmlns:a16="http://schemas.microsoft.com/office/drawing/2014/main" val="10001"/>
                  </a:ext>
                </a:extLst>
              </a:tr>
              <a:tr h="660400">
                <a:tc>
                  <a:txBody>
                    <a:bodyPr/>
                    <a:lstStyle/>
                    <a:p>
                      <a:pPr algn="l"/>
                      <a:r>
                        <a:rPr lang="en-US" sz="1400" b="1" dirty="0">
                          <a:solidFill>
                            <a:schemeClr val="tx2"/>
                          </a:solidFill>
                        </a:rPr>
                        <a:t>LoRA</a:t>
                      </a:r>
                    </a:p>
                  </a:txBody>
                  <a:tcPr marL="76200" marR="101600" marT="50800" marB="50800" anchor="ctr">
                    <a:lnL w="0">
                      <a:noFill/>
                    </a:lnL>
                    <a:lnR w="0">
                      <a:noFill/>
                    </a:lnR>
                    <a:lnT w="12700">
                      <a:solidFill>
                        <a:srgbClr val="E0E0E0"/>
                      </a:solidFill>
                    </a:lnT>
                    <a:lnB w="12700">
                      <a:solidFill>
                        <a:srgbClr val="E0E0E0"/>
                      </a:solidFill>
                    </a:lnB>
                    <a:noFill/>
                  </a:tcPr>
                </a:tc>
                <a:tc>
                  <a:txBody>
                    <a:bodyPr/>
                    <a:lstStyle/>
                    <a:p>
                      <a:pPr algn="l"/>
                      <a:r>
                        <a:rPr lang="en-US" sz="1400" dirty="0">
                          <a:solidFill>
                            <a:schemeClr val="tx2"/>
                          </a:solidFill>
                        </a:rPr>
                        <a:t>Adapters, under 1%</a:t>
                      </a:r>
                    </a:p>
                  </a:txBody>
                  <a:tcPr marL="76200" marR="101600" marT="50800" marB="50800" anchor="ctr">
                    <a:lnL w="0">
                      <a:noFill/>
                    </a:lnL>
                    <a:lnR w="0">
                      <a:noFill/>
                    </a:lnR>
                    <a:lnT w="12700">
                      <a:solidFill>
                        <a:srgbClr val="E0E0E0"/>
                      </a:solidFill>
                    </a:lnT>
                    <a:lnB w="12700">
                      <a:solidFill>
                        <a:srgbClr val="E0E0E0"/>
                      </a:solidFill>
                    </a:lnB>
                    <a:noFill/>
                  </a:tcPr>
                </a:tc>
                <a:tc>
                  <a:txBody>
                    <a:bodyPr/>
                    <a:lstStyle/>
                    <a:p>
                      <a:pPr algn="r"/>
                      <a:r>
                        <a:rPr lang="en-US" sz="1400" dirty="0">
                          <a:solidFill>
                            <a:schemeClr val="tx2"/>
                          </a:solidFill>
                        </a:rPr>
                        <a:t>~20–24 GB</a:t>
                      </a:r>
                    </a:p>
                  </a:txBody>
                  <a:tcPr marL="76200" marR="101600" marT="50800" marB="50800" anchor="ctr">
                    <a:lnL w="0">
                      <a:noFill/>
                    </a:lnL>
                    <a:lnR w="0">
                      <a:noFill/>
                    </a:lnR>
                    <a:lnT w="12700">
                      <a:solidFill>
                        <a:srgbClr val="E0E0E0"/>
                      </a:solidFill>
                    </a:lnT>
                    <a:lnB w="12700">
                      <a:solidFill>
                        <a:srgbClr val="E0E0E0"/>
                      </a:solidFill>
                    </a:lnB>
                    <a:noFill/>
                  </a:tcPr>
                </a:tc>
                <a:tc>
                  <a:txBody>
                    <a:bodyPr/>
                    <a:lstStyle/>
                    <a:p>
                      <a:pPr algn="l"/>
                      <a:r>
                        <a:rPr lang="en-US" sz="1400" dirty="0">
                          <a:solidFill>
                            <a:schemeClr val="tx2"/>
                          </a:solidFill>
                        </a:rPr>
                        <a:t>RTX 4090 (24 GB)</a:t>
                      </a:r>
                    </a:p>
                  </a:txBody>
                  <a:tcPr marL="76200" marR="101600" marT="50800" marB="50800" anchor="ctr">
                    <a:lnL w="0">
                      <a:noFill/>
                    </a:lnL>
                    <a:lnR w="0">
                      <a:noFill/>
                    </a:lnR>
                    <a:lnT w="12700">
                      <a:solidFill>
                        <a:srgbClr val="E0E0E0"/>
                      </a:solidFill>
                    </a:lnT>
                    <a:lnB w="12700">
                      <a:solidFill>
                        <a:srgbClr val="E0E0E0"/>
                      </a:solidFill>
                    </a:lnB>
                    <a:noFill/>
                  </a:tcPr>
                </a:tc>
                <a:extLst>
                  <a:ext uri="{0D108BD9-81ED-4DB2-BD59-A6C34878D82A}">
                    <a16:rowId xmlns:a16="http://schemas.microsoft.com/office/drawing/2014/main" val="10002"/>
                  </a:ext>
                </a:extLst>
              </a:tr>
              <a:tr h="660400">
                <a:tc>
                  <a:txBody>
                    <a:bodyPr/>
                    <a:lstStyle/>
                    <a:p>
                      <a:pPr algn="l"/>
                      <a:r>
                        <a:rPr lang="en-US" sz="1400" b="1" dirty="0">
                          <a:solidFill>
                            <a:schemeClr val="tx2"/>
                          </a:solidFill>
                        </a:rPr>
                        <a:t>QLoRA</a:t>
                      </a:r>
                    </a:p>
                  </a:txBody>
                  <a:tcPr marL="76200" marR="101600" marT="50800" marB="50800" anchor="ctr">
                    <a:lnL w="0">
                      <a:noFill/>
                    </a:lnL>
                    <a:lnR w="0">
                      <a:noFill/>
                    </a:lnR>
                    <a:lnT w="12700">
                      <a:solidFill>
                        <a:srgbClr val="E0E0E0"/>
                      </a:solidFill>
                    </a:lnT>
                    <a:lnB w="12700">
                      <a:solidFill>
                        <a:srgbClr val="E0E0E0"/>
                      </a:solidFill>
                    </a:lnB>
                    <a:solidFill>
                      <a:srgbClr val="FBE9E2"/>
                    </a:solidFill>
                  </a:tcPr>
                </a:tc>
                <a:tc>
                  <a:txBody>
                    <a:bodyPr/>
                    <a:lstStyle/>
                    <a:p>
                      <a:pPr algn="l"/>
                      <a:r>
                        <a:rPr lang="en-US" sz="1400" dirty="0">
                          <a:solidFill>
                            <a:schemeClr val="tx2"/>
                          </a:solidFill>
                        </a:rPr>
                        <a:t>Adapters, 4-bit model</a:t>
                      </a:r>
                    </a:p>
                  </a:txBody>
                  <a:tcPr marL="76200" marR="101600" marT="50800" marB="50800" anchor="ctr">
                    <a:lnL w="0">
                      <a:noFill/>
                    </a:lnL>
                    <a:lnR w="0">
                      <a:noFill/>
                    </a:lnR>
                    <a:lnT w="12700">
                      <a:solidFill>
                        <a:srgbClr val="E0E0E0"/>
                      </a:solidFill>
                    </a:lnT>
                    <a:lnB w="12700">
                      <a:solidFill>
                        <a:srgbClr val="E0E0E0"/>
                      </a:solidFill>
                    </a:lnB>
                    <a:solidFill>
                      <a:srgbClr val="FBE9E2"/>
                    </a:solidFill>
                  </a:tcPr>
                </a:tc>
                <a:tc>
                  <a:txBody>
                    <a:bodyPr/>
                    <a:lstStyle/>
                    <a:p>
                      <a:pPr algn="r"/>
                      <a:r>
                        <a:rPr lang="en-US" sz="1400" dirty="0">
                          <a:solidFill>
                            <a:schemeClr val="tx2"/>
                          </a:solidFill>
                        </a:rPr>
                        <a:t>~10–16 GB</a:t>
                      </a:r>
                    </a:p>
                  </a:txBody>
                  <a:tcPr marL="76200" marR="101600" marT="50800" marB="50800" anchor="ctr">
                    <a:lnL w="0">
                      <a:noFill/>
                    </a:lnL>
                    <a:lnR w="0">
                      <a:noFill/>
                    </a:lnR>
                    <a:lnT w="12700">
                      <a:solidFill>
                        <a:srgbClr val="E0E0E0"/>
                      </a:solidFill>
                    </a:lnT>
                    <a:lnB w="12700">
                      <a:solidFill>
                        <a:srgbClr val="E0E0E0"/>
                      </a:solidFill>
                    </a:lnB>
                    <a:solidFill>
                      <a:srgbClr val="FBE9E2"/>
                    </a:solidFill>
                  </a:tcPr>
                </a:tc>
                <a:tc>
                  <a:txBody>
                    <a:bodyPr/>
                    <a:lstStyle/>
                    <a:p>
                      <a:pPr algn="l"/>
                      <a:r>
                        <a:rPr lang="en-US" sz="1400" dirty="0">
                          <a:solidFill>
                            <a:schemeClr val="tx2"/>
                          </a:solidFill>
                        </a:rPr>
                        <a:t>RTX 4070 Ti / 4080</a:t>
                      </a:r>
                    </a:p>
                  </a:txBody>
                  <a:tcPr marL="76200" marR="101600" marT="50800" marB="50800" anchor="ctr">
                    <a:lnL w="0">
                      <a:noFill/>
                    </a:lnL>
                    <a:lnR w="0">
                      <a:noFill/>
                    </a:lnR>
                    <a:lnT w="12700">
                      <a:solidFill>
                        <a:srgbClr val="E0E0E0"/>
                      </a:solidFill>
                    </a:lnT>
                    <a:lnB w="12700">
                      <a:solidFill>
                        <a:srgbClr val="E0E0E0"/>
                      </a:solidFill>
                    </a:lnB>
                    <a:solidFill>
                      <a:srgbClr val="FBE9E2"/>
                    </a:solidFill>
                  </a:tcPr>
                </a:tc>
                <a:extLst>
                  <a:ext uri="{0D108BD9-81ED-4DB2-BD59-A6C34878D82A}">
                    <a16:rowId xmlns:a16="http://schemas.microsoft.com/office/drawing/2014/main" val="10003"/>
                  </a:ext>
                </a:extLst>
              </a:tr>
            </a:tbl>
          </a:graphicData>
        </a:graphic>
      </p:graphicFrame>
      <p:sp>
        <p:nvSpPr>
          <p:cNvPr id="309" name="lora-310"/>
          <p:cNvSpPr txBox="1"/>
          <p:nvPr/>
        </p:nvSpPr>
        <p:spPr>
          <a:xfrm>
            <a:off x="5537200" y="3937000"/>
            <a:ext cx="6070600" cy="508000"/>
          </a:xfrm>
          <a:prstGeom prst="rect">
            <a:avLst/>
          </a:prstGeom>
          <a:noFill/>
          <a:ln>
            <a:noFill/>
          </a:ln>
        </p:spPr>
        <p:txBody>
          <a:bodyPr wrap="square" lIns="0" tIns="0" rIns="0" bIns="0" anchor="t"/>
          <a:lstStyle/>
          <a:p>
            <a:pPr marL="0" indent="0" algn="l">
              <a:buNone/>
            </a:pPr>
            <a:r>
              <a:rPr lang="en-US" sz="1400" i="1" dirty="0">
                <a:solidFill>
                  <a:srgbClr val="5A6075"/>
                </a:solidFill>
              </a:rPr>
              <a:t>Approximate; memory depends on sequence length and batch size. Popular tools: Unsloth, Hugging Face PEFT, Axolotl.</a:t>
            </a:r>
          </a:p>
        </p:txBody>
      </p:sp>
      <p:sp>
        <p:nvSpPr>
          <p:cNvPr id="23" name="card-211"/>
          <p:cNvSpPr/>
          <p:nvPr/>
        </p:nvSpPr>
        <p:spPr>
          <a:xfrm>
            <a:off x="548640" y="5349240"/>
            <a:ext cx="11064240" cy="777240"/>
          </a:xfrm>
          <a:prstGeom prst="roundRect">
            <a:avLst>
              <a:gd name="adj" fmla="val 11765"/>
            </a:avLst>
          </a:prstGeom>
          <a:solidFill>
            <a:schemeClr val="tx2"/>
          </a:solidFill>
          <a:ln w="9525">
            <a:solidFill>
              <a:schemeClr val="tx2"/>
            </a:solidFill>
            <a:prstDash val="solid"/>
          </a:ln>
          <a:effectLst>
            <a:outerShdw blurRad="101600" dist="25400" dir="5400000" algn="bl" rotWithShape="0">
              <a:srgbClr val="000000">
                <a:alpha val="12000"/>
              </a:srgbClr>
            </a:outerShdw>
          </a:effectLst>
        </p:spPr>
        <p:txBody>
          <a:bodyPr/>
          <a:lstStyle/>
          <a:p>
            <a:endParaRPr lang="en-US"/>
          </a:p>
        </p:txBody>
      </p:sp>
      <p:sp>
        <p:nvSpPr>
          <p:cNvPr id="24" name="text-212"/>
          <p:cNvSpPr txBox="1"/>
          <p:nvPr/>
        </p:nvSpPr>
        <p:spPr>
          <a:xfrm>
            <a:off x="822960" y="5349240"/>
            <a:ext cx="10607040" cy="777240"/>
          </a:xfrm>
          <a:prstGeom prst="rect">
            <a:avLst/>
          </a:prstGeom>
          <a:noFill/>
          <a:ln/>
        </p:spPr>
        <p:txBody>
          <a:bodyPr wrap="square" lIns="0" tIns="0" rIns="0" bIns="0" rtlCol="0" anchor="ctr"/>
          <a:lstStyle/>
          <a:p>
            <a:pPr marL="0" indent="0" algn="l">
              <a:buNone/>
            </a:pPr>
            <a:r>
              <a:rPr lang="en-US" sz="1500" b="1" dirty="0">
                <a:solidFill>
                  <a:schemeClr val="accent4"/>
                </a:solidFill>
              </a:rPr>
              <a:t>LoRA = Low-Rank Adaptation: </a:t>
            </a:r>
            <a:r>
              <a:rPr lang="en-US" sz="1500" dirty="0">
                <a:solidFill>
                  <a:schemeClr val="bg1"/>
                </a:solidFill>
              </a:rPr>
              <a:t>freeze the model and train two small matrices that add a correction to each layer.</a:t>
            </a:r>
          </a:p>
          <a:p>
            <a:pPr marL="0" indent="0" algn="l">
              <a:buNone/>
            </a:pPr>
            <a:r>
              <a:rPr lang="en-US" sz="1500" b="1" dirty="0">
                <a:solidFill>
                  <a:schemeClr val="accent4"/>
                </a:solidFill>
              </a:rPr>
              <a:t>QLoRA = Quantized LoRA: </a:t>
            </a:r>
            <a:r>
              <a:rPr lang="en-US" sz="1500" dirty="0">
                <a:solidFill>
                  <a:schemeClr val="bg1"/>
                </a:solidFill>
              </a:rPr>
              <a:t>the same idea, with the frozen model stored as 4-bit numbers to use about 4× less memory.</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075"/>
                </a:solidFill>
                <a:latin typeface="Calibri"/>
                <a:ea typeface="Calibri"/>
                <a:cs typeface="Calibri"/>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1670176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EC3E-7C54-B787-9480-CCC4DD1BACD5}"/>
              </a:ext>
            </a:extLst>
          </p:cNvPr>
          <p:cNvSpPr>
            <a:spLocks noGrp="1"/>
          </p:cNvSpPr>
          <p:nvPr>
            <p:ph type="title" idx="100"/>
          </p:nvPr>
        </p:nvSpPr>
        <p:spPr/>
        <p:txBody>
          <a:bodyPr/>
          <a:lstStyle/>
          <a:p>
            <a:r>
              <a:rPr lang="en-US" dirty="0"/>
              <a:t>Inference: writing one token at a time</a:t>
            </a:r>
          </a:p>
        </p:txBody>
      </p:sp>
      <p:sp>
        <p:nvSpPr>
          <p:cNvPr id="100" name="flow-card-1"/>
          <p:cNvSpPr/>
          <p:nvPr/>
        </p:nvSpPr>
        <p:spPr>
          <a:xfrm>
            <a:off x="546100" y="1879600"/>
            <a:ext cx="1854200" cy="1270000"/>
          </a:xfrm>
          <a:prstGeom prst="roundRect">
            <a:avLst>
              <a:gd name="adj" fmla="val 12000"/>
            </a:avLst>
          </a:prstGeom>
          <a:solidFill>
            <a:schemeClr val="bg2"/>
          </a:solidFill>
          <a:ln>
            <a:noFill/>
          </a:ln>
        </p:spPr>
        <p:txBody>
          <a:bodyPr wrap="square" lIns="114300" tIns="91440" rIns="114300" bIns="91440" anchor="ctr">
            <a:noAutofit/>
          </a:bodyPr>
          <a:lstStyle/>
          <a:p>
            <a:pPr algn="ctr">
              <a:spcAft>
                <a:spcPts val="400"/>
              </a:spcAft>
              <a:buNone/>
            </a:pPr>
            <a:r>
              <a:rPr lang="en-US" sz="1600" b="1" dirty="0">
                <a:solidFill>
                  <a:schemeClr val="tx2"/>
                </a:solidFill>
              </a:rPr>
              <a:t>Your prompt</a:t>
            </a:r>
          </a:p>
          <a:p>
            <a:pPr algn="ctr">
              <a:buNone/>
            </a:pPr>
            <a:r>
              <a:rPr lang="en-US" sz="1400" dirty="0">
                <a:solidFill>
                  <a:srgbClr val="5A6075"/>
                </a:solidFill>
              </a:rPr>
              <a:t>“The cat sat on the”</a:t>
            </a:r>
          </a:p>
        </p:txBody>
      </p:sp>
      <p:cxnSp>
        <p:nvCxnSpPr>
          <p:cNvPr id="101" name="flow-arrow-1"/>
          <p:cNvCxnSpPr/>
          <p:nvPr/>
        </p:nvCxnSpPr>
        <p:spPr>
          <a:xfrm>
            <a:off x="2451100" y="2514600"/>
            <a:ext cx="346075" cy="0"/>
          </a:xfrm>
          <a:prstGeom prst="line">
            <a:avLst/>
          </a:prstGeom>
          <a:ln w="19050">
            <a:solidFill>
              <a:srgbClr val="8A90A6"/>
            </a:solidFill>
            <a:tailEnd type="triangle"/>
          </a:ln>
        </p:spPr>
      </p:cxnSp>
      <p:sp>
        <p:nvSpPr>
          <p:cNvPr id="102" name="flow-card-2"/>
          <p:cNvSpPr/>
          <p:nvPr/>
        </p:nvSpPr>
        <p:spPr>
          <a:xfrm>
            <a:off x="2847975" y="1879600"/>
            <a:ext cx="1854200" cy="1270000"/>
          </a:xfrm>
          <a:prstGeom prst="roundRect">
            <a:avLst>
              <a:gd name="adj" fmla="val 12000"/>
            </a:avLst>
          </a:prstGeom>
          <a:solidFill>
            <a:schemeClr val="bg2"/>
          </a:solidFill>
          <a:ln>
            <a:noFill/>
          </a:ln>
        </p:spPr>
        <p:txBody>
          <a:bodyPr wrap="square" lIns="114300" tIns="91440" rIns="114300" bIns="91440" anchor="ctr">
            <a:noAutofit/>
          </a:bodyPr>
          <a:lstStyle/>
          <a:p>
            <a:pPr algn="ctr">
              <a:spcAft>
                <a:spcPts val="400"/>
              </a:spcAft>
              <a:buNone/>
            </a:pPr>
            <a:r>
              <a:rPr lang="en-US" sz="1600" b="1" dirty="0">
                <a:solidFill>
                  <a:schemeClr val="tx2"/>
                </a:solidFill>
              </a:rPr>
              <a:t>Tokenize</a:t>
            </a:r>
          </a:p>
          <a:p>
            <a:pPr algn="ctr">
              <a:buNone/>
            </a:pPr>
            <a:r>
              <a:rPr lang="en-US" sz="1400" dirty="0">
                <a:solidFill>
                  <a:srgbClr val="5A6075"/>
                </a:solidFill>
              </a:rPr>
              <a:t>Text → token IDs</a:t>
            </a:r>
          </a:p>
        </p:txBody>
      </p:sp>
      <p:cxnSp>
        <p:nvCxnSpPr>
          <p:cNvPr id="103" name="flow-arrow-2"/>
          <p:cNvCxnSpPr/>
          <p:nvPr/>
        </p:nvCxnSpPr>
        <p:spPr>
          <a:xfrm>
            <a:off x="4752975" y="2514600"/>
            <a:ext cx="346075" cy="0"/>
          </a:xfrm>
          <a:prstGeom prst="line">
            <a:avLst/>
          </a:prstGeom>
          <a:ln w="19050">
            <a:solidFill>
              <a:srgbClr val="8A90A6"/>
            </a:solidFill>
            <a:tailEnd type="triangle"/>
          </a:ln>
        </p:spPr>
      </p:cxnSp>
      <p:sp>
        <p:nvSpPr>
          <p:cNvPr id="104" name="flow-card-3"/>
          <p:cNvSpPr/>
          <p:nvPr/>
        </p:nvSpPr>
        <p:spPr>
          <a:xfrm>
            <a:off x="5149850" y="1879600"/>
            <a:ext cx="1854200" cy="1270000"/>
          </a:xfrm>
          <a:prstGeom prst="roundRect">
            <a:avLst>
              <a:gd name="adj" fmla="val 12000"/>
            </a:avLst>
          </a:prstGeom>
          <a:solidFill>
            <a:schemeClr val="tx2"/>
          </a:solidFill>
          <a:ln>
            <a:noFill/>
          </a:ln>
        </p:spPr>
        <p:txBody>
          <a:bodyPr wrap="square" lIns="114300" tIns="91440" rIns="114300" bIns="91440" anchor="ctr">
            <a:noAutofit/>
          </a:bodyPr>
          <a:lstStyle/>
          <a:p>
            <a:pPr algn="ctr">
              <a:spcAft>
                <a:spcPts val="400"/>
              </a:spcAft>
              <a:buNone/>
            </a:pPr>
            <a:r>
              <a:rPr lang="en-US" sz="1600" b="1" dirty="0">
                <a:solidFill>
                  <a:schemeClr val="bg1"/>
                </a:solidFill>
              </a:rPr>
              <a:t>Transformer</a:t>
            </a:r>
          </a:p>
          <a:p>
            <a:pPr algn="ctr">
              <a:buNone/>
            </a:pPr>
            <a:r>
              <a:rPr lang="en-US" sz="1400" dirty="0">
                <a:solidFill>
                  <a:schemeClr val="bg1"/>
                </a:solidFill>
              </a:rPr>
              <a:t>Same layers, weights frozen</a:t>
            </a:r>
          </a:p>
        </p:txBody>
      </p:sp>
      <p:cxnSp>
        <p:nvCxnSpPr>
          <p:cNvPr id="105" name="flow-arrow-3"/>
          <p:cNvCxnSpPr/>
          <p:nvPr/>
        </p:nvCxnSpPr>
        <p:spPr>
          <a:xfrm>
            <a:off x="7054850" y="2514600"/>
            <a:ext cx="346075" cy="0"/>
          </a:xfrm>
          <a:prstGeom prst="line">
            <a:avLst/>
          </a:prstGeom>
          <a:ln w="19050">
            <a:solidFill>
              <a:srgbClr val="8A90A6"/>
            </a:solidFill>
            <a:tailEnd type="triangle"/>
          </a:ln>
        </p:spPr>
      </p:cxnSp>
      <p:sp>
        <p:nvSpPr>
          <p:cNvPr id="106" name="flow-card-4"/>
          <p:cNvSpPr/>
          <p:nvPr/>
        </p:nvSpPr>
        <p:spPr>
          <a:xfrm>
            <a:off x="7451725" y="1879600"/>
            <a:ext cx="1854200" cy="1270000"/>
          </a:xfrm>
          <a:prstGeom prst="roundRect">
            <a:avLst>
              <a:gd name="adj" fmla="val 12000"/>
            </a:avLst>
          </a:prstGeom>
          <a:solidFill>
            <a:schemeClr val="bg2"/>
          </a:solidFill>
          <a:ln>
            <a:noFill/>
          </a:ln>
        </p:spPr>
        <p:txBody>
          <a:bodyPr wrap="square" lIns="114300" tIns="91440" rIns="114300" bIns="91440" anchor="ctr">
            <a:noAutofit/>
          </a:bodyPr>
          <a:lstStyle/>
          <a:p>
            <a:pPr algn="ctr">
              <a:spcAft>
                <a:spcPts val="400"/>
              </a:spcAft>
              <a:buNone/>
            </a:pPr>
            <a:r>
              <a:rPr lang="en-US" sz="1600" b="1" dirty="0">
                <a:solidFill>
                  <a:schemeClr val="tx2"/>
                </a:solidFill>
              </a:rPr>
              <a:t>Next-token odds</a:t>
            </a:r>
          </a:p>
          <a:p>
            <a:pPr algn="ctr">
              <a:buNone/>
            </a:pPr>
            <a:r>
              <a:rPr lang="en-US" sz="1400" dirty="0">
                <a:solidFill>
                  <a:srgbClr val="5A6075"/>
                </a:solidFill>
              </a:rPr>
              <a:t>“mat” 40%, “floor” 25%…</a:t>
            </a:r>
          </a:p>
        </p:txBody>
      </p:sp>
      <p:cxnSp>
        <p:nvCxnSpPr>
          <p:cNvPr id="107" name="flow-arrow-4"/>
          <p:cNvCxnSpPr/>
          <p:nvPr/>
        </p:nvCxnSpPr>
        <p:spPr>
          <a:xfrm>
            <a:off x="9356725" y="2514600"/>
            <a:ext cx="346075" cy="0"/>
          </a:xfrm>
          <a:prstGeom prst="line">
            <a:avLst/>
          </a:prstGeom>
          <a:ln w="19050">
            <a:solidFill>
              <a:srgbClr val="8A90A6"/>
            </a:solidFill>
            <a:tailEnd type="triangle"/>
          </a:ln>
        </p:spPr>
      </p:cxnSp>
      <p:sp>
        <p:nvSpPr>
          <p:cNvPr id="108" name="flow-card-5"/>
          <p:cNvSpPr/>
          <p:nvPr/>
        </p:nvSpPr>
        <p:spPr>
          <a:xfrm>
            <a:off x="9753600" y="1879600"/>
            <a:ext cx="1854200" cy="1270000"/>
          </a:xfrm>
          <a:prstGeom prst="roundRect">
            <a:avLst>
              <a:gd name="adj" fmla="val 12000"/>
            </a:avLst>
          </a:prstGeom>
          <a:solidFill>
            <a:schemeClr val="accent1"/>
          </a:solidFill>
          <a:ln>
            <a:noFill/>
          </a:ln>
        </p:spPr>
        <p:txBody>
          <a:bodyPr wrap="square" lIns="114300" tIns="91440" rIns="114300" bIns="91440" anchor="ctr">
            <a:noAutofit/>
          </a:bodyPr>
          <a:lstStyle/>
          <a:p>
            <a:pPr algn="ctr">
              <a:spcAft>
                <a:spcPts val="400"/>
              </a:spcAft>
              <a:buNone/>
            </a:pPr>
            <a:r>
              <a:rPr lang="en-US" sz="1600" b="1" dirty="0">
                <a:solidFill>
                  <a:schemeClr val="bg1"/>
                </a:solidFill>
              </a:rPr>
              <a:t>Sampling</a:t>
            </a:r>
          </a:p>
          <a:p>
            <a:pPr algn="ctr">
              <a:buNone/>
            </a:pPr>
            <a:r>
              <a:rPr lang="en-US" sz="1400" dirty="0">
                <a:solidFill>
                  <a:schemeClr val="bg1"/>
                </a:solidFill>
              </a:rPr>
              <a:t>Temperature and top-p pick one: “mat”</a:t>
            </a:r>
          </a:p>
        </p:txBody>
      </p:sp>
      <p:sp>
        <p:nvSpPr>
          <p:cNvPr id="109" name="loop-arrow"/>
          <p:cNvSpPr/>
          <p:nvPr/>
        </p:nvSpPr>
        <p:spPr>
          <a:xfrm>
            <a:off x="6076950" y="3187700"/>
            <a:ext cx="4603750" cy="444500"/>
          </a:xfrm>
          <a:custGeom>
            <a:avLst/>
            <a:gdLst/>
            <a:ahLst/>
            <a:cxnLst/>
            <a:rect l="0" t="0" r="r" b="b"/>
            <a:pathLst>
              <a:path w="4603750" h="444500" fill="none">
                <a:moveTo>
                  <a:pt x="4603750" y="0"/>
                </a:moveTo>
                <a:lnTo>
                  <a:pt x="4603750" y="444500"/>
                </a:lnTo>
                <a:lnTo>
                  <a:pt x="0" y="444500"/>
                </a:lnTo>
                <a:lnTo>
                  <a:pt x="0" y="0"/>
                </a:lnTo>
              </a:path>
            </a:pathLst>
          </a:custGeom>
          <a:noFill/>
          <a:ln w="22225">
            <a:solidFill>
              <a:schemeClr val="accent1"/>
            </a:solidFill>
            <a:tailEnd type="triangle"/>
          </a:ln>
        </p:spPr>
        <p:txBody>
          <a:bodyPr/>
          <a:lstStyle/>
          <a:p>
            <a:endParaRPr lang="en-US"/>
          </a:p>
        </p:txBody>
      </p:sp>
      <p:sp>
        <p:nvSpPr>
          <p:cNvPr id="110" name="loop-label"/>
          <p:cNvSpPr txBox="1"/>
          <p:nvPr/>
        </p:nvSpPr>
        <p:spPr>
          <a:xfrm>
            <a:off x="5394325" y="3708400"/>
            <a:ext cx="5969000" cy="304800"/>
          </a:xfrm>
          <a:prstGeom prst="rect">
            <a:avLst/>
          </a:prstGeom>
          <a:noFill/>
        </p:spPr>
        <p:txBody>
          <a:bodyPr wrap="square" lIns="0" tIns="0" rIns="0" bIns="0">
            <a:noAutofit/>
          </a:bodyPr>
          <a:lstStyle/>
          <a:p>
            <a:pPr algn="ctr">
              <a:buNone/>
            </a:pPr>
            <a:r>
              <a:rPr lang="en-US" sz="1400" b="1" dirty="0">
                <a:solidFill>
                  <a:schemeClr val="accent1"/>
                </a:solidFill>
              </a:rPr>
              <a:t>Append “mat” to the input and run again, one token per pass</a:t>
            </a:r>
          </a:p>
        </p:txBody>
      </p:sp>
      <p:sp>
        <p:nvSpPr>
          <p:cNvPr id="111" name="fact-rule-1"/>
          <p:cNvSpPr/>
          <p:nvPr/>
        </p:nvSpPr>
        <p:spPr>
          <a:xfrm>
            <a:off x="546100" y="4826000"/>
            <a:ext cx="3429000" cy="38100"/>
          </a:xfrm>
          <a:prstGeom prst="rect">
            <a:avLst/>
          </a:prstGeom>
          <a:solidFill>
            <a:schemeClr val="tx2"/>
          </a:solidFill>
          <a:ln>
            <a:noFill/>
          </a:ln>
        </p:spPr>
        <p:txBody>
          <a:bodyPr/>
          <a:lstStyle/>
          <a:p>
            <a:endParaRPr lang="en-US"/>
          </a:p>
        </p:txBody>
      </p:sp>
      <p:sp>
        <p:nvSpPr>
          <p:cNvPr id="112" name="fact-1"/>
          <p:cNvSpPr txBox="1"/>
          <p:nvPr/>
        </p:nvSpPr>
        <p:spPr>
          <a:xfrm>
            <a:off x="546100" y="4978400"/>
            <a:ext cx="3429000" cy="1270000"/>
          </a:xfrm>
          <a:prstGeom prst="rect">
            <a:avLst/>
          </a:prstGeom>
          <a:noFill/>
        </p:spPr>
        <p:txBody>
          <a:bodyPr wrap="square" lIns="0" tIns="0" rIns="0" bIns="0">
            <a:noAutofit/>
          </a:bodyPr>
          <a:lstStyle/>
          <a:p>
            <a:pPr>
              <a:spcAft>
                <a:spcPts val="600"/>
              </a:spcAft>
              <a:buNone/>
            </a:pPr>
            <a:r>
              <a:rPr lang="en-US" sz="1600" b="1" dirty="0">
                <a:solidFill>
                  <a:schemeClr val="tx2"/>
                </a:solidFill>
              </a:rPr>
              <a:t>Nothing is learned</a:t>
            </a:r>
          </a:p>
          <a:p>
            <a:pPr>
              <a:buNone/>
            </a:pPr>
            <a:r>
              <a:rPr lang="en-US" sz="1400" dirty="0">
                <a:solidFill>
                  <a:srgbClr val="5A6075"/>
                </a:solidFill>
              </a:rPr>
              <a:t>Weights stay frozen and are only read. Chat memory is just the earlier text in the prompt.</a:t>
            </a:r>
          </a:p>
        </p:txBody>
      </p:sp>
      <p:sp>
        <p:nvSpPr>
          <p:cNvPr id="113" name="fact-rule-2"/>
          <p:cNvSpPr/>
          <p:nvPr/>
        </p:nvSpPr>
        <p:spPr>
          <a:xfrm>
            <a:off x="4362450" y="4826000"/>
            <a:ext cx="3429000" cy="38100"/>
          </a:xfrm>
          <a:prstGeom prst="rect">
            <a:avLst/>
          </a:prstGeom>
          <a:solidFill>
            <a:schemeClr val="tx2"/>
          </a:solidFill>
          <a:ln>
            <a:noFill/>
          </a:ln>
        </p:spPr>
        <p:txBody>
          <a:bodyPr/>
          <a:lstStyle/>
          <a:p>
            <a:endParaRPr lang="en-US"/>
          </a:p>
        </p:txBody>
      </p:sp>
      <p:sp>
        <p:nvSpPr>
          <p:cNvPr id="114" name="fact-2"/>
          <p:cNvSpPr txBox="1"/>
          <p:nvPr/>
        </p:nvSpPr>
        <p:spPr>
          <a:xfrm>
            <a:off x="4362450" y="4978400"/>
            <a:ext cx="3429000" cy="1270000"/>
          </a:xfrm>
          <a:prstGeom prst="rect">
            <a:avLst/>
          </a:prstGeom>
          <a:noFill/>
        </p:spPr>
        <p:txBody>
          <a:bodyPr wrap="square" lIns="0" tIns="0" rIns="0" bIns="0">
            <a:noAutofit/>
          </a:bodyPr>
          <a:lstStyle/>
          <a:p>
            <a:pPr>
              <a:spcAft>
                <a:spcPts val="600"/>
              </a:spcAft>
              <a:buNone/>
            </a:pPr>
            <a:r>
              <a:rPr lang="en-US" sz="1600" b="1" dirty="0">
                <a:solidFill>
                  <a:schemeClr val="tx2"/>
                </a:solidFill>
              </a:rPr>
              <a:t>One pass per token</a:t>
            </a:r>
          </a:p>
          <a:p>
            <a:pPr>
              <a:buNone/>
            </a:pPr>
            <a:r>
              <a:rPr lang="en-US" sz="1400" dirty="0">
                <a:solidFill>
                  <a:srgbClr val="5A6075"/>
                </a:solidFill>
              </a:rPr>
              <a:t>Each new token needs a full pass; a KV cache reuses the work already done on earlier tokens.</a:t>
            </a:r>
          </a:p>
        </p:txBody>
      </p:sp>
      <p:sp>
        <p:nvSpPr>
          <p:cNvPr id="115" name="fact-rule-3"/>
          <p:cNvSpPr/>
          <p:nvPr/>
        </p:nvSpPr>
        <p:spPr>
          <a:xfrm>
            <a:off x="8178800" y="4826000"/>
            <a:ext cx="3429000" cy="38100"/>
          </a:xfrm>
          <a:prstGeom prst="rect">
            <a:avLst/>
          </a:prstGeom>
          <a:solidFill>
            <a:schemeClr val="tx2"/>
          </a:solidFill>
          <a:ln>
            <a:noFill/>
          </a:ln>
        </p:spPr>
        <p:txBody>
          <a:bodyPr/>
          <a:lstStyle/>
          <a:p>
            <a:endParaRPr lang="en-US"/>
          </a:p>
        </p:txBody>
      </p:sp>
      <p:sp>
        <p:nvSpPr>
          <p:cNvPr id="116" name="fact-3"/>
          <p:cNvSpPr txBox="1"/>
          <p:nvPr/>
        </p:nvSpPr>
        <p:spPr>
          <a:xfrm>
            <a:off x="8178800" y="4978400"/>
            <a:ext cx="3429000" cy="1270000"/>
          </a:xfrm>
          <a:prstGeom prst="rect">
            <a:avLst/>
          </a:prstGeom>
          <a:noFill/>
        </p:spPr>
        <p:txBody>
          <a:bodyPr wrap="square" lIns="0" tIns="0" rIns="0" bIns="0">
            <a:noAutofit/>
          </a:bodyPr>
          <a:lstStyle/>
          <a:p>
            <a:pPr>
              <a:spcAft>
                <a:spcPts val="600"/>
              </a:spcAft>
              <a:buNone/>
            </a:pPr>
            <a:r>
              <a:rPr lang="en-US" sz="1600" b="1" dirty="0">
                <a:solidFill>
                  <a:schemeClr val="tx2"/>
                </a:solidFill>
              </a:rPr>
              <a:t>Stops at an end token</a:t>
            </a:r>
          </a:p>
          <a:p>
            <a:pPr>
              <a:buNone/>
            </a:pPr>
            <a:r>
              <a:rPr lang="en-US" sz="1400" dirty="0">
                <a:solidFill>
                  <a:srgbClr val="5A6075"/>
                </a:solidFill>
              </a:rPr>
              <a:t>Generation ends when the model samples an end-of-text token or hits the length limit.</a:t>
            </a:r>
          </a:p>
        </p:txBody>
      </p:sp>
      <p:sp>
        <p:nvSpPr>
          <p:cNvPr id="90"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5"/>
                </a:solidFill>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1974923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Sampling: temperature controls creativity</a:t>
            </a:r>
            <a:endParaRPr lang="en-US" sz="3400" dirty="0"/>
          </a:p>
        </p:txBody>
      </p:sp>
      <p:graphicFrame>
        <p:nvGraphicFramePr>
          <p:cNvPr id="3" name="Chart 0"/>
          <p:cNvGraphicFramePr/>
          <p:nvPr/>
        </p:nvGraphicFramePr>
        <p:xfrm>
          <a:off x="548640" y="132588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213"/>
          <p:cNvSpPr txBox="1"/>
          <p:nvPr/>
        </p:nvSpPr>
        <p:spPr>
          <a:xfrm>
            <a:off x="7955280" y="1417320"/>
            <a:ext cx="3657600" cy="365760"/>
          </a:xfrm>
          <a:prstGeom prst="rect">
            <a:avLst/>
          </a:prstGeom>
          <a:noFill/>
          <a:ln/>
        </p:spPr>
        <p:txBody>
          <a:bodyPr wrap="square" lIns="0" tIns="0" rIns="0" bIns="0" rtlCol="0" anchor="t"/>
          <a:lstStyle/>
          <a:p>
            <a:pPr marL="0" indent="0" algn="l">
              <a:buNone/>
            </a:pPr>
            <a:r>
              <a:rPr lang="en-US" sz="1700" b="1" dirty="0">
                <a:solidFill>
                  <a:schemeClr val="tx2"/>
                </a:solidFill>
              </a:rPr>
              <a:t>Low (0–0.3)</a:t>
            </a:r>
            <a:endParaRPr lang="en-US" sz="1700" dirty="0"/>
          </a:p>
        </p:txBody>
      </p:sp>
      <p:sp>
        <p:nvSpPr>
          <p:cNvPr id="5" name="text-214"/>
          <p:cNvSpPr txBox="1"/>
          <p:nvPr/>
        </p:nvSpPr>
        <p:spPr>
          <a:xfrm>
            <a:off x="7955280" y="1783080"/>
            <a:ext cx="3657600" cy="731520"/>
          </a:xfrm>
          <a:prstGeom prst="rect">
            <a:avLst/>
          </a:prstGeom>
          <a:noFill/>
          <a:ln/>
        </p:spPr>
        <p:txBody>
          <a:bodyPr wrap="square" lIns="0" tIns="0" rIns="0" bIns="0" rtlCol="0" anchor="t"/>
          <a:lstStyle/>
          <a:p>
            <a:pPr marL="0" indent="0" algn="l">
              <a:buNone/>
            </a:pPr>
            <a:r>
              <a:rPr lang="en-US" sz="1400" dirty="0">
                <a:solidFill>
                  <a:schemeClr val="tx1"/>
                </a:solidFill>
              </a:rPr>
              <a:t>Picks the most likely token almost every time. Best for facts, code, extraction.</a:t>
            </a:r>
            <a:endParaRPr lang="en-US" sz="1400" dirty="0"/>
          </a:p>
        </p:txBody>
      </p:sp>
      <p:sp>
        <p:nvSpPr>
          <p:cNvPr id="6" name="text-215"/>
          <p:cNvSpPr txBox="1"/>
          <p:nvPr/>
        </p:nvSpPr>
        <p:spPr>
          <a:xfrm>
            <a:off x="7955280" y="2606040"/>
            <a:ext cx="3657600" cy="365760"/>
          </a:xfrm>
          <a:prstGeom prst="rect">
            <a:avLst/>
          </a:prstGeom>
          <a:noFill/>
          <a:ln/>
        </p:spPr>
        <p:txBody>
          <a:bodyPr wrap="square" lIns="0" tIns="0" rIns="0" bIns="0" rtlCol="0" anchor="t"/>
          <a:lstStyle/>
          <a:p>
            <a:pPr marL="0" indent="0" algn="l">
              <a:buNone/>
            </a:pPr>
            <a:r>
              <a:rPr lang="en-US" sz="1700" b="1" dirty="0">
                <a:solidFill>
                  <a:schemeClr val="accent1"/>
                </a:solidFill>
              </a:rPr>
              <a:t>Medium (~0.7–1)</a:t>
            </a:r>
            <a:endParaRPr lang="en-US" sz="1700" dirty="0"/>
          </a:p>
        </p:txBody>
      </p:sp>
      <p:sp>
        <p:nvSpPr>
          <p:cNvPr id="7" name="text-216"/>
          <p:cNvSpPr txBox="1"/>
          <p:nvPr/>
        </p:nvSpPr>
        <p:spPr>
          <a:xfrm>
            <a:off x="7955280" y="2971800"/>
            <a:ext cx="3657600" cy="731520"/>
          </a:xfrm>
          <a:prstGeom prst="rect">
            <a:avLst/>
          </a:prstGeom>
          <a:noFill/>
          <a:ln/>
        </p:spPr>
        <p:txBody>
          <a:bodyPr wrap="square" lIns="0" tIns="0" rIns="0" bIns="0" rtlCol="0" anchor="t"/>
          <a:lstStyle/>
          <a:p>
            <a:pPr marL="0" indent="0" algn="l">
              <a:buNone/>
            </a:pPr>
            <a:r>
              <a:rPr lang="en-US" sz="1400" dirty="0">
                <a:solidFill>
                  <a:schemeClr val="tx1"/>
                </a:solidFill>
              </a:rPr>
              <a:t>Some variety. Good default for writing and conversation.</a:t>
            </a:r>
            <a:endParaRPr lang="en-US" sz="1400" dirty="0"/>
          </a:p>
        </p:txBody>
      </p:sp>
      <p:sp>
        <p:nvSpPr>
          <p:cNvPr id="8" name="text-217"/>
          <p:cNvSpPr txBox="1"/>
          <p:nvPr/>
        </p:nvSpPr>
        <p:spPr>
          <a:xfrm>
            <a:off x="7955280" y="3794760"/>
            <a:ext cx="3657600" cy="365760"/>
          </a:xfrm>
          <a:prstGeom prst="rect">
            <a:avLst/>
          </a:prstGeom>
          <a:noFill/>
          <a:ln/>
        </p:spPr>
        <p:txBody>
          <a:bodyPr wrap="square" lIns="0" tIns="0" rIns="0" bIns="0" rtlCol="0" anchor="t"/>
          <a:lstStyle/>
          <a:p>
            <a:pPr marL="0" indent="0" algn="l">
              <a:buNone/>
            </a:pPr>
            <a:r>
              <a:rPr lang="en-US" sz="1700" b="1" dirty="0">
                <a:solidFill>
                  <a:schemeClr val="accent4"/>
                </a:solidFill>
              </a:rPr>
              <a:t>High (&gt;1)</a:t>
            </a:r>
            <a:endParaRPr lang="en-US" sz="1700" dirty="0"/>
          </a:p>
        </p:txBody>
      </p:sp>
      <p:sp>
        <p:nvSpPr>
          <p:cNvPr id="9" name="text-218"/>
          <p:cNvSpPr txBox="1"/>
          <p:nvPr/>
        </p:nvSpPr>
        <p:spPr>
          <a:xfrm>
            <a:off x="7955280" y="4160520"/>
            <a:ext cx="3657600" cy="731520"/>
          </a:xfrm>
          <a:prstGeom prst="rect">
            <a:avLst/>
          </a:prstGeom>
          <a:noFill/>
          <a:ln/>
        </p:spPr>
        <p:txBody>
          <a:bodyPr wrap="square" lIns="0" tIns="0" rIns="0" bIns="0" rtlCol="0" anchor="t"/>
          <a:lstStyle/>
          <a:p>
            <a:pPr marL="0" indent="0" algn="l">
              <a:buNone/>
            </a:pPr>
            <a:r>
              <a:rPr lang="en-US" sz="1400" dirty="0">
                <a:solidFill>
                  <a:schemeClr val="tx1"/>
                </a:solidFill>
              </a:rPr>
              <a:t>Flattens the distribution; more surprising — and more errors.</a:t>
            </a:r>
            <a:endParaRPr lang="en-US" sz="1400" dirty="0"/>
          </a:p>
        </p:txBody>
      </p:sp>
      <p:sp>
        <p:nvSpPr>
          <p:cNvPr id="10" name="text-219"/>
          <p:cNvSpPr txBox="1"/>
          <p:nvPr/>
        </p:nvSpPr>
        <p:spPr>
          <a:xfrm>
            <a:off x="7955280" y="4983480"/>
            <a:ext cx="3657600" cy="365760"/>
          </a:xfrm>
          <a:prstGeom prst="rect">
            <a:avLst/>
          </a:prstGeom>
          <a:noFill/>
          <a:ln/>
        </p:spPr>
        <p:txBody>
          <a:bodyPr wrap="square" lIns="0" tIns="0" rIns="0" bIns="0" rtlCol="0" anchor="t"/>
          <a:lstStyle/>
          <a:p>
            <a:pPr marL="0" indent="0" algn="l">
              <a:buNone/>
            </a:pPr>
            <a:r>
              <a:rPr lang="en-US" sz="1700" b="1" dirty="0">
                <a:solidFill>
                  <a:schemeClr val="accent3"/>
                </a:solidFill>
              </a:rPr>
              <a:t>Top-p / top-k</a:t>
            </a:r>
            <a:endParaRPr lang="en-US" sz="1700" dirty="0"/>
          </a:p>
        </p:txBody>
      </p:sp>
      <p:sp>
        <p:nvSpPr>
          <p:cNvPr id="11" name="text-220"/>
          <p:cNvSpPr txBox="1"/>
          <p:nvPr/>
        </p:nvSpPr>
        <p:spPr>
          <a:xfrm>
            <a:off x="7955280" y="5349240"/>
            <a:ext cx="3657600" cy="731520"/>
          </a:xfrm>
          <a:prstGeom prst="rect">
            <a:avLst/>
          </a:prstGeom>
          <a:noFill/>
          <a:ln/>
        </p:spPr>
        <p:txBody>
          <a:bodyPr wrap="square" lIns="0" tIns="0" rIns="0" bIns="0" rtlCol="0" anchor="t"/>
          <a:lstStyle/>
          <a:p>
            <a:pPr marL="0" indent="0" algn="l">
              <a:buNone/>
            </a:pPr>
            <a:r>
              <a:rPr lang="en-US" sz="1400" dirty="0">
                <a:solidFill>
                  <a:schemeClr val="tx1"/>
                </a:solidFill>
              </a:rPr>
              <a:t>Only sample from the most likely tokens, cutting off the long tail.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context window is the model's working memory</a:t>
            </a:r>
            <a:endParaRPr lang="en-US" sz="3400" dirty="0"/>
          </a:p>
        </p:txBody>
      </p:sp>
      <p:sp>
        <p:nvSpPr>
          <p:cNvPr id="3" name="text-221"/>
          <p:cNvSpPr txBox="1"/>
          <p:nvPr/>
        </p:nvSpPr>
        <p:spPr>
          <a:xfrm>
            <a:off x="548640" y="1325880"/>
            <a:ext cx="10972800" cy="365760"/>
          </a:xfrm>
          <a:prstGeom prst="rect">
            <a:avLst/>
          </a:prstGeom>
          <a:noFill/>
          <a:ln/>
        </p:spPr>
        <p:txBody>
          <a:bodyPr wrap="square" lIns="0" tIns="0" rIns="0" bIns="0" rtlCol="0" anchor="t"/>
          <a:lstStyle/>
          <a:p>
            <a:pPr marL="0" indent="0" algn="l">
              <a:buNone/>
            </a:pPr>
            <a:r>
              <a:rPr lang="en-US" sz="1600" dirty="0">
                <a:solidFill>
                  <a:schemeClr val="tx1"/>
                </a:solidFill>
              </a:rPr>
              <a:t>Everything the model can “see” on a single call — measured in tokens</a:t>
            </a:r>
            <a:endParaRPr lang="en-US" sz="1600" dirty="0"/>
          </a:p>
        </p:txBody>
      </p:sp>
      <p:sp>
        <p:nvSpPr>
          <p:cNvPr id="4" name="card-222"/>
          <p:cNvSpPr/>
          <p:nvPr/>
        </p:nvSpPr>
        <p:spPr>
          <a:xfrm>
            <a:off x="548640" y="1828800"/>
            <a:ext cx="1508760" cy="822960"/>
          </a:xfrm>
          <a:prstGeom prst="roundRect">
            <a:avLst>
              <a:gd name="adj" fmla="val 11111"/>
            </a:avLst>
          </a:prstGeom>
          <a:solidFill>
            <a:schemeClr val="tx2"/>
          </a:solidFill>
          <a:ln w="9525">
            <a:solidFill>
              <a:schemeClr val="tx2"/>
            </a:solidFill>
            <a:prstDash val="solid"/>
          </a:ln>
        </p:spPr>
        <p:txBody>
          <a:bodyPr/>
          <a:lstStyle/>
          <a:p>
            <a:endParaRPr lang="en-US"/>
          </a:p>
        </p:txBody>
      </p:sp>
      <p:sp>
        <p:nvSpPr>
          <p:cNvPr id="5" name="text-223"/>
          <p:cNvSpPr txBox="1"/>
          <p:nvPr/>
        </p:nvSpPr>
        <p:spPr>
          <a:xfrm>
            <a:off x="548640" y="1828800"/>
            <a:ext cx="1508760" cy="822960"/>
          </a:xfrm>
          <a:prstGeom prst="rect">
            <a:avLst/>
          </a:prstGeom>
          <a:noFill/>
          <a:ln/>
        </p:spPr>
        <p:txBody>
          <a:bodyPr wrap="square" lIns="0" tIns="0" rIns="0" bIns="0" rtlCol="0" anchor="ctr"/>
          <a:lstStyle/>
          <a:p>
            <a:pPr marL="0" indent="0" algn="ctr">
              <a:buNone/>
            </a:pPr>
            <a:r>
              <a:rPr lang="en-US" sz="1400" b="1" dirty="0">
                <a:solidFill>
                  <a:schemeClr val="bg1"/>
                </a:solidFill>
              </a:rPr>
              <a:t>System prompt</a:t>
            </a:r>
            <a:endParaRPr lang="en-US" sz="1400" dirty="0"/>
          </a:p>
        </p:txBody>
      </p:sp>
      <p:sp>
        <p:nvSpPr>
          <p:cNvPr id="6" name="card-224"/>
          <p:cNvSpPr/>
          <p:nvPr/>
        </p:nvSpPr>
        <p:spPr>
          <a:xfrm>
            <a:off x="2103120" y="1828800"/>
            <a:ext cx="2331720" cy="822960"/>
          </a:xfrm>
          <a:prstGeom prst="roundRect">
            <a:avLst>
              <a:gd name="adj" fmla="val 11111"/>
            </a:avLst>
          </a:prstGeom>
          <a:solidFill>
            <a:schemeClr val="accent3"/>
          </a:solidFill>
          <a:ln w="9525">
            <a:solidFill>
              <a:schemeClr val="accent3"/>
            </a:solidFill>
            <a:prstDash val="solid"/>
          </a:ln>
        </p:spPr>
        <p:txBody>
          <a:bodyPr/>
          <a:lstStyle/>
          <a:p>
            <a:endParaRPr lang="en-US"/>
          </a:p>
        </p:txBody>
      </p:sp>
      <p:sp>
        <p:nvSpPr>
          <p:cNvPr id="7" name="text-225"/>
          <p:cNvSpPr txBox="1"/>
          <p:nvPr/>
        </p:nvSpPr>
        <p:spPr>
          <a:xfrm>
            <a:off x="2103120" y="1828800"/>
            <a:ext cx="2331720" cy="822960"/>
          </a:xfrm>
          <a:prstGeom prst="rect">
            <a:avLst/>
          </a:prstGeom>
          <a:noFill/>
          <a:ln/>
        </p:spPr>
        <p:txBody>
          <a:bodyPr wrap="square" lIns="0" tIns="0" rIns="0" bIns="0" rtlCol="0" anchor="ctr"/>
          <a:lstStyle/>
          <a:p>
            <a:pPr marL="0" indent="0" algn="ctr">
              <a:buNone/>
            </a:pPr>
            <a:r>
              <a:rPr lang="en-US" sz="1400" b="1" dirty="0">
                <a:solidFill>
                  <a:schemeClr val="bg1"/>
                </a:solidFill>
              </a:rPr>
              <a:t>Chat history</a:t>
            </a:r>
            <a:endParaRPr lang="en-US" sz="1400" dirty="0"/>
          </a:p>
        </p:txBody>
      </p:sp>
      <p:sp>
        <p:nvSpPr>
          <p:cNvPr id="8" name="card-226"/>
          <p:cNvSpPr/>
          <p:nvPr/>
        </p:nvSpPr>
        <p:spPr>
          <a:xfrm>
            <a:off x="4480560" y="1828800"/>
            <a:ext cx="2697480" cy="822960"/>
          </a:xfrm>
          <a:prstGeom prst="roundRect">
            <a:avLst>
              <a:gd name="adj" fmla="val 11111"/>
            </a:avLst>
          </a:prstGeom>
          <a:solidFill>
            <a:schemeClr val="accent2"/>
          </a:solidFill>
          <a:ln w="9525">
            <a:solidFill>
              <a:schemeClr val="accent2"/>
            </a:solidFill>
            <a:prstDash val="solid"/>
          </a:ln>
        </p:spPr>
        <p:txBody>
          <a:bodyPr/>
          <a:lstStyle/>
          <a:p>
            <a:endParaRPr lang="en-US"/>
          </a:p>
        </p:txBody>
      </p:sp>
      <p:sp>
        <p:nvSpPr>
          <p:cNvPr id="9" name="text-227"/>
          <p:cNvSpPr txBox="1"/>
          <p:nvPr/>
        </p:nvSpPr>
        <p:spPr>
          <a:xfrm>
            <a:off x="4480560" y="1828800"/>
            <a:ext cx="2697480" cy="822960"/>
          </a:xfrm>
          <a:prstGeom prst="rect">
            <a:avLst/>
          </a:prstGeom>
          <a:noFill/>
          <a:ln/>
        </p:spPr>
        <p:txBody>
          <a:bodyPr wrap="square" lIns="0" tIns="0" rIns="0" bIns="0" rtlCol="0" anchor="ctr"/>
          <a:lstStyle/>
          <a:p>
            <a:pPr marL="0" indent="0" algn="ctr">
              <a:buNone/>
            </a:pPr>
            <a:r>
              <a:rPr lang="en-US" sz="1400" b="1" dirty="0">
                <a:solidFill>
                  <a:schemeClr val="bg1"/>
                </a:solidFill>
              </a:rPr>
              <a:t>Documents / files</a:t>
            </a:r>
            <a:endParaRPr lang="en-US" sz="1400" dirty="0"/>
          </a:p>
        </p:txBody>
      </p:sp>
      <p:sp>
        <p:nvSpPr>
          <p:cNvPr id="10" name="card-228"/>
          <p:cNvSpPr/>
          <p:nvPr/>
        </p:nvSpPr>
        <p:spPr>
          <a:xfrm>
            <a:off x="7223760" y="1828800"/>
            <a:ext cx="1691640" cy="822960"/>
          </a:xfrm>
          <a:prstGeom prst="roundRect">
            <a:avLst>
              <a:gd name="adj" fmla="val 11111"/>
            </a:avLst>
          </a:prstGeom>
          <a:solidFill>
            <a:schemeClr val="accent4"/>
          </a:solidFill>
          <a:ln w="9525">
            <a:solidFill>
              <a:schemeClr val="accent4"/>
            </a:solidFill>
            <a:prstDash val="solid"/>
          </a:ln>
        </p:spPr>
        <p:txBody>
          <a:bodyPr/>
          <a:lstStyle/>
          <a:p>
            <a:endParaRPr lang="en-US"/>
          </a:p>
        </p:txBody>
      </p:sp>
      <p:sp>
        <p:nvSpPr>
          <p:cNvPr id="11" name="text-229"/>
          <p:cNvSpPr txBox="1"/>
          <p:nvPr/>
        </p:nvSpPr>
        <p:spPr>
          <a:xfrm>
            <a:off x="7223760" y="1828800"/>
            <a:ext cx="1691640" cy="822960"/>
          </a:xfrm>
          <a:prstGeom prst="rect">
            <a:avLst/>
          </a:prstGeom>
          <a:noFill/>
          <a:ln/>
        </p:spPr>
        <p:txBody>
          <a:bodyPr wrap="square" lIns="0" tIns="0" rIns="0" bIns="0" rtlCol="0" anchor="ctr"/>
          <a:lstStyle/>
          <a:p>
            <a:pPr marL="0" indent="0" algn="ctr">
              <a:buNone/>
            </a:pPr>
            <a:r>
              <a:rPr lang="en-US" sz="1400" b="1" dirty="0">
                <a:solidFill>
                  <a:schemeClr val="tx2"/>
                </a:solidFill>
              </a:rPr>
              <a:t>Tool results</a:t>
            </a:r>
            <a:endParaRPr lang="en-US" sz="1400" dirty="0"/>
          </a:p>
        </p:txBody>
      </p:sp>
      <p:sp>
        <p:nvSpPr>
          <p:cNvPr id="12" name="card-230"/>
          <p:cNvSpPr/>
          <p:nvPr/>
        </p:nvSpPr>
        <p:spPr>
          <a:xfrm>
            <a:off x="8961120" y="1828800"/>
            <a:ext cx="1325880" cy="822960"/>
          </a:xfrm>
          <a:prstGeom prst="roundRect">
            <a:avLst>
              <a:gd name="adj" fmla="val 11111"/>
            </a:avLst>
          </a:prstGeom>
          <a:solidFill>
            <a:schemeClr val="accent1"/>
          </a:solidFill>
          <a:ln w="9525">
            <a:solidFill>
              <a:schemeClr val="accent1"/>
            </a:solidFill>
            <a:prstDash val="solid"/>
          </a:ln>
        </p:spPr>
        <p:txBody>
          <a:bodyPr/>
          <a:lstStyle/>
          <a:p>
            <a:endParaRPr lang="en-US"/>
          </a:p>
        </p:txBody>
      </p:sp>
      <p:sp>
        <p:nvSpPr>
          <p:cNvPr id="13" name="text-231"/>
          <p:cNvSpPr txBox="1"/>
          <p:nvPr/>
        </p:nvSpPr>
        <p:spPr>
          <a:xfrm>
            <a:off x="8961120" y="1828800"/>
            <a:ext cx="1325880" cy="822960"/>
          </a:xfrm>
          <a:prstGeom prst="rect">
            <a:avLst/>
          </a:prstGeom>
          <a:noFill/>
          <a:ln/>
        </p:spPr>
        <p:txBody>
          <a:bodyPr wrap="square" lIns="0" tIns="0" rIns="0" bIns="0" rtlCol="0" anchor="ctr"/>
          <a:lstStyle/>
          <a:p>
            <a:pPr marL="0" indent="0" algn="ctr">
              <a:buNone/>
            </a:pPr>
            <a:r>
              <a:rPr lang="en-US" sz="1400" b="1" dirty="0">
                <a:solidFill>
                  <a:schemeClr val="tx2"/>
                </a:solidFill>
              </a:rPr>
              <a:t>Your message</a:t>
            </a:r>
            <a:endParaRPr lang="en-US" sz="1400" dirty="0"/>
          </a:p>
        </p:txBody>
      </p:sp>
      <p:sp>
        <p:nvSpPr>
          <p:cNvPr id="14" name="arrow-232"/>
          <p:cNvSpPr/>
          <p:nvPr/>
        </p:nvSpPr>
        <p:spPr>
          <a:xfrm>
            <a:off x="10378440" y="2240280"/>
            <a:ext cx="457200" cy="914"/>
          </a:xfrm>
          <a:prstGeom prst="line">
            <a:avLst/>
          </a:prstGeom>
          <a:noFill/>
          <a:ln w="25400">
            <a:solidFill>
              <a:schemeClr val="accent5"/>
            </a:solidFill>
            <a:prstDash val="solid"/>
            <a:tailEnd type="triangle"/>
          </a:ln>
        </p:spPr>
        <p:txBody>
          <a:bodyPr/>
          <a:lstStyle/>
          <a:p>
            <a:endParaRPr lang="en-US"/>
          </a:p>
        </p:txBody>
      </p:sp>
      <p:sp>
        <p:nvSpPr>
          <p:cNvPr id="15" name="text-233"/>
          <p:cNvSpPr txBox="1"/>
          <p:nvPr/>
        </p:nvSpPr>
        <p:spPr>
          <a:xfrm>
            <a:off x="10835640" y="2057400"/>
            <a:ext cx="914400" cy="365760"/>
          </a:xfrm>
          <a:prstGeom prst="rect">
            <a:avLst/>
          </a:prstGeom>
          <a:noFill/>
          <a:ln/>
        </p:spPr>
        <p:txBody>
          <a:bodyPr wrap="square" lIns="0" tIns="0" rIns="0" bIns="0" rtlCol="0" anchor="t"/>
          <a:lstStyle/>
          <a:p>
            <a:pPr marL="0" indent="0" algn="l">
              <a:buNone/>
            </a:pPr>
            <a:r>
              <a:rPr lang="en-US" sz="1400" b="1" dirty="0">
                <a:solidFill>
                  <a:schemeClr val="tx2"/>
                </a:solidFill>
              </a:rPr>
              <a:t>Output</a:t>
            </a:r>
            <a:endParaRPr lang="en-US" sz="1400" dirty="0"/>
          </a:p>
        </p:txBody>
      </p:sp>
      <p:sp>
        <p:nvSpPr>
          <p:cNvPr id="16" name="card-234"/>
          <p:cNvSpPr/>
          <p:nvPr/>
        </p:nvSpPr>
        <p:spPr>
          <a:xfrm>
            <a:off x="548640" y="3108960"/>
            <a:ext cx="3474720" cy="2926080"/>
          </a:xfrm>
          <a:prstGeom prst="roundRect">
            <a:avLst>
              <a:gd name="adj" fmla="val 3125"/>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7" name="icon-bg-235"/>
          <p:cNvSpPr/>
          <p:nvPr/>
        </p:nvSpPr>
        <p:spPr>
          <a:xfrm>
            <a:off x="822960" y="3383280"/>
            <a:ext cx="685800" cy="685800"/>
          </a:xfrm>
          <a:prstGeom prst="ellipse">
            <a:avLst/>
          </a:prstGeom>
          <a:solidFill>
            <a:srgbClr val="D97757"/>
          </a:solidFill>
          <a:ln w="12700">
            <a:solidFill>
              <a:srgbClr val="D97757"/>
            </a:solidFill>
            <a:prstDash val="solid"/>
          </a:ln>
        </p:spPr>
        <p:txBody>
          <a:bodyPr/>
          <a:lstStyle/>
          <a:p>
            <a:endParaRPr lang="en-US"/>
          </a:p>
        </p:txBody>
      </p:sp>
      <p:pic>
        <p:nvPicPr>
          <p:cNvPr id="18" name="icon-236" descr="icon"/>
          <p:cNvPicPr>
            <a:picLocks noChangeAspect="1"/>
          </p:cNvPicPr>
          <p:nvPr/>
        </p:nvPicPr>
        <p:blipFill>
          <a:blip r:embed="rId3"/>
          <a:stretch>
            <a:fillRect/>
          </a:stretch>
        </p:blipFill>
        <p:spPr>
          <a:xfrm>
            <a:off x="994410" y="3554730"/>
            <a:ext cx="342900" cy="342900"/>
          </a:xfrm>
          <a:prstGeom prst="rect">
            <a:avLst/>
          </a:prstGeom>
        </p:spPr>
      </p:pic>
      <p:sp>
        <p:nvSpPr>
          <p:cNvPr id="19" name="text-237"/>
          <p:cNvSpPr txBox="1"/>
          <p:nvPr/>
        </p:nvSpPr>
        <p:spPr>
          <a:xfrm>
            <a:off x="822960" y="4206240"/>
            <a:ext cx="2926080" cy="411480"/>
          </a:xfrm>
          <a:prstGeom prst="rect">
            <a:avLst/>
          </a:prstGeom>
          <a:noFill/>
          <a:ln/>
        </p:spPr>
        <p:txBody>
          <a:bodyPr wrap="square" lIns="0" tIns="0" rIns="0" bIns="0" rtlCol="0" anchor="t"/>
          <a:lstStyle/>
          <a:p>
            <a:pPr marL="0" indent="0" algn="l">
              <a:buNone/>
            </a:pPr>
            <a:r>
              <a:rPr lang="en-US" sz="1900" b="1" dirty="0">
                <a:solidFill>
                  <a:schemeClr val="tx2"/>
                </a:solidFill>
              </a:rPr>
              <a:t>Stateless</a:t>
            </a:r>
            <a:endParaRPr lang="en-US" sz="1900" dirty="0"/>
          </a:p>
        </p:txBody>
      </p:sp>
      <p:sp>
        <p:nvSpPr>
          <p:cNvPr id="20" name="text-238"/>
          <p:cNvSpPr txBox="1"/>
          <p:nvPr/>
        </p:nvSpPr>
        <p:spPr>
          <a:xfrm>
            <a:off x="822960" y="4663440"/>
            <a:ext cx="2971800" cy="1280160"/>
          </a:xfrm>
          <a:prstGeom prst="rect">
            <a:avLst/>
          </a:prstGeom>
          <a:noFill/>
          <a:ln/>
        </p:spPr>
        <p:txBody>
          <a:bodyPr wrap="square" lIns="0" tIns="0" rIns="0" bIns="0" rtlCol="0" anchor="t"/>
          <a:lstStyle/>
          <a:p>
            <a:pPr marL="0" indent="0" algn="l">
              <a:buNone/>
            </a:pPr>
            <a:r>
              <a:rPr lang="en-US" sz="1400" dirty="0">
                <a:solidFill>
                  <a:schemeClr val="tx1"/>
                </a:solidFill>
              </a:rPr>
              <a:t>The model remembers nothing between calls. Apps re-send the conversation every time.</a:t>
            </a:r>
            <a:endParaRPr lang="en-US" sz="1400" dirty="0"/>
          </a:p>
        </p:txBody>
      </p:sp>
      <p:sp>
        <p:nvSpPr>
          <p:cNvPr id="21" name="card-239"/>
          <p:cNvSpPr/>
          <p:nvPr/>
        </p:nvSpPr>
        <p:spPr>
          <a:xfrm>
            <a:off x="4343400" y="3108960"/>
            <a:ext cx="3474720" cy="2926080"/>
          </a:xfrm>
          <a:prstGeom prst="roundRect">
            <a:avLst>
              <a:gd name="adj" fmla="val 3125"/>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2" name="icon-bg-240"/>
          <p:cNvSpPr/>
          <p:nvPr/>
        </p:nvSpPr>
        <p:spPr>
          <a:xfrm>
            <a:off x="4617720" y="3383280"/>
            <a:ext cx="685800" cy="685800"/>
          </a:xfrm>
          <a:prstGeom prst="ellipse">
            <a:avLst/>
          </a:prstGeom>
          <a:solidFill>
            <a:srgbClr val="2A9D8F"/>
          </a:solidFill>
          <a:ln w="12700">
            <a:solidFill>
              <a:srgbClr val="2A9D8F"/>
            </a:solidFill>
            <a:prstDash val="solid"/>
          </a:ln>
        </p:spPr>
        <p:txBody>
          <a:bodyPr/>
          <a:lstStyle/>
          <a:p>
            <a:endParaRPr lang="en-US"/>
          </a:p>
        </p:txBody>
      </p:sp>
      <p:pic>
        <p:nvPicPr>
          <p:cNvPr id="23" name="icon-241" descr="icon"/>
          <p:cNvPicPr>
            <a:picLocks noChangeAspect="1"/>
          </p:cNvPicPr>
          <p:nvPr/>
        </p:nvPicPr>
        <p:blipFill>
          <a:blip r:embed="rId4"/>
          <a:stretch>
            <a:fillRect/>
          </a:stretch>
        </p:blipFill>
        <p:spPr>
          <a:xfrm>
            <a:off x="4789170" y="3554730"/>
            <a:ext cx="342900" cy="342900"/>
          </a:xfrm>
          <a:prstGeom prst="rect">
            <a:avLst/>
          </a:prstGeom>
        </p:spPr>
      </p:pic>
      <p:sp>
        <p:nvSpPr>
          <p:cNvPr id="24" name="text-242"/>
          <p:cNvSpPr txBox="1"/>
          <p:nvPr/>
        </p:nvSpPr>
        <p:spPr>
          <a:xfrm>
            <a:off x="4617720" y="4206240"/>
            <a:ext cx="2926080" cy="411480"/>
          </a:xfrm>
          <a:prstGeom prst="rect">
            <a:avLst/>
          </a:prstGeom>
          <a:noFill/>
          <a:ln/>
        </p:spPr>
        <p:txBody>
          <a:bodyPr wrap="square" lIns="0" tIns="0" rIns="0" bIns="0" rtlCol="0" anchor="t"/>
          <a:lstStyle/>
          <a:p>
            <a:pPr marL="0" indent="0" algn="l">
              <a:buNone/>
            </a:pPr>
            <a:r>
              <a:rPr lang="en-US" sz="1900" b="1" dirty="0">
                <a:solidFill>
                  <a:schemeClr val="tx2"/>
                </a:solidFill>
              </a:rPr>
              <a:t>Finite</a:t>
            </a:r>
            <a:endParaRPr lang="en-US" sz="1900" dirty="0"/>
          </a:p>
        </p:txBody>
      </p:sp>
      <p:sp>
        <p:nvSpPr>
          <p:cNvPr id="25" name="text-243"/>
          <p:cNvSpPr txBox="1"/>
          <p:nvPr/>
        </p:nvSpPr>
        <p:spPr>
          <a:xfrm>
            <a:off x="4617720" y="4663440"/>
            <a:ext cx="2971800" cy="1280160"/>
          </a:xfrm>
          <a:prstGeom prst="rect">
            <a:avLst/>
          </a:prstGeom>
          <a:noFill/>
          <a:ln/>
        </p:spPr>
        <p:txBody>
          <a:bodyPr wrap="square" lIns="0" tIns="0" rIns="0" bIns="0" rtlCol="0" anchor="t"/>
          <a:lstStyle/>
          <a:p>
            <a:pPr marL="0" indent="0" algn="l">
              <a:buNone/>
            </a:pPr>
            <a:r>
              <a:rPr lang="en-US" sz="1400" dirty="0">
                <a:solidFill>
                  <a:schemeClr val="tx1"/>
                </a:solidFill>
              </a:rPr>
              <a:t>Frontier models hold hundreds of thousands of tokens — but not unlimited. Old turns get trimmed or summarized.</a:t>
            </a:r>
            <a:endParaRPr lang="en-US" sz="1400" dirty="0"/>
          </a:p>
        </p:txBody>
      </p:sp>
      <p:sp>
        <p:nvSpPr>
          <p:cNvPr id="26" name="card-244"/>
          <p:cNvSpPr/>
          <p:nvPr/>
        </p:nvSpPr>
        <p:spPr>
          <a:xfrm>
            <a:off x="8138160" y="3108960"/>
            <a:ext cx="3474720" cy="2926080"/>
          </a:xfrm>
          <a:prstGeom prst="roundRect">
            <a:avLst>
              <a:gd name="adj" fmla="val 3125"/>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7" name="icon-bg-245"/>
          <p:cNvSpPr/>
          <p:nvPr/>
        </p:nvSpPr>
        <p:spPr>
          <a:xfrm>
            <a:off x="8412480" y="3383280"/>
            <a:ext cx="685800" cy="685800"/>
          </a:xfrm>
          <a:prstGeom prst="ellipse">
            <a:avLst/>
          </a:prstGeom>
          <a:solidFill>
            <a:srgbClr val="6C63FF"/>
          </a:solidFill>
          <a:ln w="12700">
            <a:solidFill>
              <a:srgbClr val="6C63FF"/>
            </a:solidFill>
            <a:prstDash val="solid"/>
          </a:ln>
        </p:spPr>
        <p:txBody>
          <a:bodyPr/>
          <a:lstStyle/>
          <a:p>
            <a:endParaRPr lang="en-US"/>
          </a:p>
        </p:txBody>
      </p:sp>
      <p:pic>
        <p:nvPicPr>
          <p:cNvPr id="28" name="icon-246" descr="icon"/>
          <p:cNvPicPr>
            <a:picLocks noChangeAspect="1"/>
          </p:cNvPicPr>
          <p:nvPr/>
        </p:nvPicPr>
        <p:blipFill>
          <a:blip r:embed="rId5"/>
          <a:stretch>
            <a:fillRect/>
          </a:stretch>
        </p:blipFill>
        <p:spPr>
          <a:xfrm>
            <a:off x="8583930" y="3554730"/>
            <a:ext cx="342900" cy="342900"/>
          </a:xfrm>
          <a:prstGeom prst="rect">
            <a:avLst/>
          </a:prstGeom>
        </p:spPr>
      </p:pic>
      <p:sp>
        <p:nvSpPr>
          <p:cNvPr id="29" name="text-247"/>
          <p:cNvSpPr txBox="1"/>
          <p:nvPr/>
        </p:nvSpPr>
        <p:spPr>
          <a:xfrm>
            <a:off x="8412480" y="4206240"/>
            <a:ext cx="2926080" cy="411480"/>
          </a:xfrm>
          <a:prstGeom prst="rect">
            <a:avLst/>
          </a:prstGeom>
          <a:noFill/>
          <a:ln/>
        </p:spPr>
        <p:txBody>
          <a:bodyPr wrap="square" lIns="0" tIns="0" rIns="0" bIns="0" rtlCol="0" anchor="t"/>
          <a:lstStyle/>
          <a:p>
            <a:pPr marL="0" indent="0" algn="l">
              <a:buNone/>
            </a:pPr>
            <a:r>
              <a:rPr lang="en-US" sz="1900" b="1" dirty="0">
                <a:solidFill>
                  <a:schemeClr val="tx2"/>
                </a:solidFill>
              </a:rPr>
              <a:t>Curate it</a:t>
            </a:r>
            <a:endParaRPr lang="en-US" sz="1900" dirty="0"/>
          </a:p>
        </p:txBody>
      </p:sp>
      <p:sp>
        <p:nvSpPr>
          <p:cNvPr id="30" name="text-248"/>
          <p:cNvSpPr txBox="1"/>
          <p:nvPr/>
        </p:nvSpPr>
        <p:spPr>
          <a:xfrm>
            <a:off x="8412480" y="4663440"/>
            <a:ext cx="2971800" cy="1280160"/>
          </a:xfrm>
          <a:prstGeom prst="rect">
            <a:avLst/>
          </a:prstGeom>
          <a:noFill/>
          <a:ln/>
        </p:spPr>
        <p:txBody>
          <a:bodyPr wrap="square" lIns="0" tIns="0" rIns="0" bIns="0" rtlCol="0" anchor="t"/>
          <a:lstStyle/>
          <a:p>
            <a:pPr marL="0" indent="0" algn="l">
              <a:buNone/>
            </a:pPr>
            <a:r>
              <a:rPr lang="en-US" sz="1400" dirty="0">
                <a:solidFill>
                  <a:schemeClr val="tx1"/>
                </a:solidFill>
              </a:rPr>
              <a:t>More tokens = more cost and latency, and key facts can get lost in the noise. Give relevant context, not everything.</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Quantization: smaller numbers, smaller models</a:t>
            </a:r>
            <a:endParaRPr lang="en-US" sz="3400" dirty="0"/>
          </a:p>
        </p:txBody>
      </p:sp>
      <p:graphicFrame>
        <p:nvGraphicFramePr>
          <p:cNvPr id="3" name="Chart 0"/>
          <p:cNvGraphicFramePr/>
          <p:nvPr/>
        </p:nvGraphicFramePr>
        <p:xfrm>
          <a:off x="548640" y="1325880"/>
          <a:ext cx="60350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249"/>
          <p:cNvSpPr/>
          <p:nvPr/>
        </p:nvSpPr>
        <p:spPr>
          <a:xfrm>
            <a:off x="548640" y="5623560"/>
            <a:ext cx="6035040" cy="548640"/>
          </a:xfrm>
          <a:prstGeom prst="roundRect">
            <a:avLst>
              <a:gd name="adj" fmla="val 166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5" name="text-250"/>
          <p:cNvSpPr txBox="1"/>
          <p:nvPr/>
        </p:nvSpPr>
        <p:spPr>
          <a:xfrm>
            <a:off x="777240" y="5623560"/>
            <a:ext cx="5669280" cy="548640"/>
          </a:xfrm>
          <a:prstGeom prst="rect">
            <a:avLst/>
          </a:prstGeom>
          <a:noFill/>
          <a:ln/>
        </p:spPr>
        <p:txBody>
          <a:bodyPr wrap="square" lIns="0" tIns="0" rIns="0" bIns="0" rtlCol="0" anchor="ctr"/>
          <a:lstStyle/>
          <a:p>
            <a:pPr marL="0" indent="0" algn="l">
              <a:buNone/>
            </a:pPr>
            <a:r>
              <a:rPr lang="en-US" sz="1500" b="1" dirty="0">
                <a:solidFill>
                  <a:schemeClr val="tx2"/>
                </a:solidFill>
              </a:rPr>
              <a:t>Memory ≈ parameters × bits ÷ 8</a:t>
            </a:r>
            <a:r>
              <a:rPr lang="en-US" sz="1500" dirty="0">
                <a:solidFill>
                  <a:schemeClr val="accent5"/>
                </a:solidFill>
              </a:rPr>
              <a:t>   (70B × 4 ÷ 8 = 35 GB)</a:t>
            </a:r>
            <a:endParaRPr lang="en-US" sz="1500" dirty="0"/>
          </a:p>
        </p:txBody>
      </p:sp>
      <p:sp>
        <p:nvSpPr>
          <p:cNvPr id="6" name="text-251"/>
          <p:cNvSpPr txBox="1"/>
          <p:nvPr/>
        </p:nvSpPr>
        <p:spPr>
          <a:xfrm>
            <a:off x="7040880" y="1371600"/>
            <a:ext cx="4572000" cy="411480"/>
          </a:xfrm>
          <a:prstGeom prst="rect">
            <a:avLst/>
          </a:prstGeom>
          <a:noFill/>
          <a:ln/>
        </p:spPr>
        <p:txBody>
          <a:bodyPr wrap="square" lIns="0" tIns="0" rIns="0" bIns="0" rtlCol="0" anchor="t"/>
          <a:lstStyle/>
          <a:p>
            <a:pPr marL="0" indent="0" algn="l">
              <a:buNone/>
            </a:pPr>
            <a:r>
              <a:rPr lang="en-US" sz="1900" b="1" dirty="0">
                <a:solidFill>
                  <a:schemeClr val="tx2"/>
                </a:solidFill>
              </a:rPr>
              <a:t>Same idea as rounding</a:t>
            </a:r>
            <a:endParaRPr lang="en-US" sz="1900" dirty="0"/>
          </a:p>
        </p:txBody>
      </p:sp>
      <p:sp>
        <p:nvSpPr>
          <p:cNvPr id="7" name="card-252"/>
          <p:cNvSpPr/>
          <p:nvPr/>
        </p:nvSpPr>
        <p:spPr>
          <a:xfrm>
            <a:off x="7040880" y="1874520"/>
            <a:ext cx="1920240" cy="411480"/>
          </a:xfrm>
          <a:prstGeom prst="roundRect">
            <a:avLst>
              <a:gd name="adj" fmla="val 22222"/>
            </a:avLst>
          </a:prstGeom>
          <a:solidFill>
            <a:schemeClr val="tx2"/>
          </a:solidFill>
          <a:ln w="9525">
            <a:solidFill>
              <a:schemeClr val="tx2"/>
            </a:solidFill>
            <a:prstDash val="solid"/>
          </a:ln>
        </p:spPr>
        <p:txBody>
          <a:bodyPr/>
          <a:lstStyle/>
          <a:p>
            <a:endParaRPr lang="en-US"/>
          </a:p>
        </p:txBody>
      </p:sp>
      <p:sp>
        <p:nvSpPr>
          <p:cNvPr id="8" name="text-253"/>
          <p:cNvSpPr txBox="1"/>
          <p:nvPr/>
        </p:nvSpPr>
        <p:spPr>
          <a:xfrm>
            <a:off x="7040880" y="1874520"/>
            <a:ext cx="1920240" cy="411480"/>
          </a:xfrm>
          <a:prstGeom prst="rect">
            <a:avLst/>
          </a:prstGeom>
          <a:noFill/>
          <a:ln/>
        </p:spPr>
        <p:txBody>
          <a:bodyPr wrap="square" lIns="0" tIns="0" rIns="0" bIns="0" rtlCol="0" anchor="ctr"/>
          <a:lstStyle/>
          <a:p>
            <a:pPr marL="0" indent="0" algn="ctr">
              <a:buNone/>
            </a:pPr>
            <a:r>
              <a:rPr lang="en-US" sz="1500" b="1" dirty="0">
                <a:solidFill>
                  <a:schemeClr val="bg1"/>
                </a:solidFill>
              </a:rPr>
              <a:t>3.14159265</a:t>
            </a:r>
            <a:endParaRPr lang="en-US" sz="1500" dirty="0"/>
          </a:p>
        </p:txBody>
      </p:sp>
      <p:sp>
        <p:nvSpPr>
          <p:cNvPr id="9" name="text-254"/>
          <p:cNvSpPr txBox="1"/>
          <p:nvPr/>
        </p:nvSpPr>
        <p:spPr>
          <a:xfrm>
            <a:off x="9098280" y="1874520"/>
            <a:ext cx="1097280" cy="411480"/>
          </a:xfrm>
          <a:prstGeom prst="rect">
            <a:avLst/>
          </a:prstGeom>
          <a:noFill/>
          <a:ln/>
        </p:spPr>
        <p:txBody>
          <a:bodyPr wrap="square" lIns="0" tIns="0" rIns="0" bIns="0" rtlCol="0" anchor="ctr"/>
          <a:lstStyle/>
          <a:p>
            <a:pPr marL="0" indent="0" algn="l">
              <a:buNone/>
            </a:pPr>
            <a:r>
              <a:rPr lang="en-US" sz="1300" dirty="0">
                <a:solidFill>
                  <a:schemeClr val="accent5"/>
                </a:solidFill>
              </a:rPr>
              <a:t>32-bit</a:t>
            </a:r>
            <a:endParaRPr lang="en-US" sz="1300" dirty="0"/>
          </a:p>
        </p:txBody>
      </p:sp>
      <p:sp>
        <p:nvSpPr>
          <p:cNvPr id="10" name="card-255"/>
          <p:cNvSpPr/>
          <p:nvPr/>
        </p:nvSpPr>
        <p:spPr>
          <a:xfrm>
            <a:off x="7040880" y="2377440"/>
            <a:ext cx="1920240" cy="411480"/>
          </a:xfrm>
          <a:prstGeom prst="roundRect">
            <a:avLst>
              <a:gd name="adj" fmla="val 22222"/>
            </a:avLst>
          </a:prstGeom>
          <a:solidFill>
            <a:schemeClr val="accent3"/>
          </a:solidFill>
          <a:ln w="9525">
            <a:solidFill>
              <a:schemeClr val="accent3"/>
            </a:solidFill>
            <a:prstDash val="solid"/>
          </a:ln>
        </p:spPr>
        <p:txBody>
          <a:bodyPr/>
          <a:lstStyle/>
          <a:p>
            <a:endParaRPr lang="en-US"/>
          </a:p>
        </p:txBody>
      </p:sp>
      <p:sp>
        <p:nvSpPr>
          <p:cNvPr id="11" name="text-256"/>
          <p:cNvSpPr txBox="1"/>
          <p:nvPr/>
        </p:nvSpPr>
        <p:spPr>
          <a:xfrm>
            <a:off x="7040880" y="2377440"/>
            <a:ext cx="1920240" cy="411480"/>
          </a:xfrm>
          <a:prstGeom prst="rect">
            <a:avLst/>
          </a:prstGeom>
          <a:noFill/>
          <a:ln/>
        </p:spPr>
        <p:txBody>
          <a:bodyPr wrap="square" lIns="0" tIns="0" rIns="0" bIns="0" rtlCol="0" anchor="ctr"/>
          <a:lstStyle/>
          <a:p>
            <a:pPr marL="0" indent="0" algn="ctr">
              <a:buNone/>
            </a:pPr>
            <a:r>
              <a:rPr lang="en-US" sz="1500" b="1" dirty="0">
                <a:solidFill>
                  <a:schemeClr val="bg1"/>
                </a:solidFill>
              </a:rPr>
              <a:t>3.1416</a:t>
            </a:r>
            <a:endParaRPr lang="en-US" sz="1500" dirty="0"/>
          </a:p>
        </p:txBody>
      </p:sp>
      <p:sp>
        <p:nvSpPr>
          <p:cNvPr id="12" name="text-257"/>
          <p:cNvSpPr txBox="1"/>
          <p:nvPr/>
        </p:nvSpPr>
        <p:spPr>
          <a:xfrm>
            <a:off x="9098280" y="2377440"/>
            <a:ext cx="1097280" cy="411480"/>
          </a:xfrm>
          <a:prstGeom prst="rect">
            <a:avLst/>
          </a:prstGeom>
          <a:noFill/>
          <a:ln/>
        </p:spPr>
        <p:txBody>
          <a:bodyPr wrap="square" lIns="0" tIns="0" rIns="0" bIns="0" rtlCol="0" anchor="ctr"/>
          <a:lstStyle/>
          <a:p>
            <a:pPr marL="0" indent="0" algn="l">
              <a:buNone/>
            </a:pPr>
            <a:r>
              <a:rPr lang="en-US" sz="1300" dirty="0">
                <a:solidFill>
                  <a:schemeClr val="accent5"/>
                </a:solidFill>
              </a:rPr>
              <a:t>16-bit</a:t>
            </a:r>
            <a:endParaRPr lang="en-US" sz="1300" dirty="0"/>
          </a:p>
        </p:txBody>
      </p:sp>
      <p:sp>
        <p:nvSpPr>
          <p:cNvPr id="13" name="card-258"/>
          <p:cNvSpPr/>
          <p:nvPr/>
        </p:nvSpPr>
        <p:spPr>
          <a:xfrm>
            <a:off x="7040880" y="2880360"/>
            <a:ext cx="1920240" cy="411480"/>
          </a:xfrm>
          <a:prstGeom prst="roundRect">
            <a:avLst>
              <a:gd name="adj" fmla="val 22222"/>
            </a:avLst>
          </a:prstGeom>
          <a:solidFill>
            <a:schemeClr val="accent2"/>
          </a:solidFill>
          <a:ln w="9525">
            <a:solidFill>
              <a:schemeClr val="accent2"/>
            </a:solidFill>
            <a:prstDash val="solid"/>
          </a:ln>
        </p:spPr>
        <p:txBody>
          <a:bodyPr/>
          <a:lstStyle/>
          <a:p>
            <a:endParaRPr lang="en-US"/>
          </a:p>
        </p:txBody>
      </p:sp>
      <p:sp>
        <p:nvSpPr>
          <p:cNvPr id="14" name="text-259"/>
          <p:cNvSpPr txBox="1"/>
          <p:nvPr/>
        </p:nvSpPr>
        <p:spPr>
          <a:xfrm>
            <a:off x="7040880" y="2880360"/>
            <a:ext cx="1920240" cy="411480"/>
          </a:xfrm>
          <a:prstGeom prst="rect">
            <a:avLst/>
          </a:prstGeom>
          <a:noFill/>
          <a:ln/>
        </p:spPr>
        <p:txBody>
          <a:bodyPr wrap="square" lIns="0" tIns="0" rIns="0" bIns="0" rtlCol="0" anchor="ctr"/>
          <a:lstStyle/>
          <a:p>
            <a:pPr marL="0" indent="0" algn="ctr">
              <a:buNone/>
            </a:pPr>
            <a:r>
              <a:rPr lang="en-US" sz="1500" b="1" dirty="0">
                <a:solidFill>
                  <a:schemeClr val="bg1"/>
                </a:solidFill>
              </a:rPr>
              <a:t>3.14</a:t>
            </a:r>
            <a:endParaRPr lang="en-US" sz="1500" dirty="0"/>
          </a:p>
        </p:txBody>
      </p:sp>
      <p:sp>
        <p:nvSpPr>
          <p:cNvPr id="15" name="text-260"/>
          <p:cNvSpPr txBox="1"/>
          <p:nvPr/>
        </p:nvSpPr>
        <p:spPr>
          <a:xfrm>
            <a:off x="9098280" y="2880360"/>
            <a:ext cx="1097280" cy="411480"/>
          </a:xfrm>
          <a:prstGeom prst="rect">
            <a:avLst/>
          </a:prstGeom>
          <a:noFill/>
          <a:ln/>
        </p:spPr>
        <p:txBody>
          <a:bodyPr wrap="square" lIns="0" tIns="0" rIns="0" bIns="0" rtlCol="0" anchor="ctr"/>
          <a:lstStyle/>
          <a:p>
            <a:pPr marL="0" indent="0" algn="l">
              <a:buNone/>
            </a:pPr>
            <a:r>
              <a:rPr lang="en-US" sz="1300" dirty="0">
                <a:solidFill>
                  <a:schemeClr val="accent5"/>
                </a:solidFill>
              </a:rPr>
              <a:t>8-bit</a:t>
            </a:r>
            <a:endParaRPr lang="en-US" sz="1300" dirty="0"/>
          </a:p>
        </p:txBody>
      </p:sp>
      <p:sp>
        <p:nvSpPr>
          <p:cNvPr id="16" name="card-261"/>
          <p:cNvSpPr/>
          <p:nvPr/>
        </p:nvSpPr>
        <p:spPr>
          <a:xfrm>
            <a:off x="7040880" y="3383280"/>
            <a:ext cx="1920240" cy="411480"/>
          </a:xfrm>
          <a:prstGeom prst="roundRect">
            <a:avLst>
              <a:gd name="adj" fmla="val 22222"/>
            </a:avLst>
          </a:prstGeom>
          <a:solidFill>
            <a:schemeClr val="accent1"/>
          </a:solidFill>
          <a:ln w="9525">
            <a:solidFill>
              <a:schemeClr val="accent1"/>
            </a:solidFill>
            <a:prstDash val="solid"/>
          </a:ln>
        </p:spPr>
        <p:txBody>
          <a:bodyPr/>
          <a:lstStyle/>
          <a:p>
            <a:endParaRPr lang="en-US"/>
          </a:p>
        </p:txBody>
      </p:sp>
      <p:sp>
        <p:nvSpPr>
          <p:cNvPr id="17" name="text-262"/>
          <p:cNvSpPr txBox="1"/>
          <p:nvPr/>
        </p:nvSpPr>
        <p:spPr>
          <a:xfrm>
            <a:off x="7040880" y="3383280"/>
            <a:ext cx="1920240" cy="411480"/>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18" name="text-263"/>
          <p:cNvSpPr txBox="1"/>
          <p:nvPr/>
        </p:nvSpPr>
        <p:spPr>
          <a:xfrm>
            <a:off x="9098280" y="3383280"/>
            <a:ext cx="1097280" cy="411480"/>
          </a:xfrm>
          <a:prstGeom prst="rect">
            <a:avLst/>
          </a:prstGeom>
          <a:noFill/>
          <a:ln/>
        </p:spPr>
        <p:txBody>
          <a:bodyPr wrap="square" lIns="0" tIns="0" rIns="0" bIns="0" rtlCol="0" anchor="ctr"/>
          <a:lstStyle/>
          <a:p>
            <a:pPr marL="0" indent="0" algn="l">
              <a:buNone/>
            </a:pPr>
            <a:r>
              <a:rPr lang="en-US" sz="1300" dirty="0">
                <a:solidFill>
                  <a:schemeClr val="accent5"/>
                </a:solidFill>
              </a:rPr>
              <a:t>4-bit</a:t>
            </a:r>
            <a:endParaRPr lang="en-US" sz="1300" dirty="0"/>
          </a:p>
        </p:txBody>
      </p:sp>
      <p:sp>
        <p:nvSpPr>
          <p:cNvPr id="19" name="text-264"/>
          <p:cNvSpPr txBox="1"/>
          <p:nvPr/>
        </p:nvSpPr>
        <p:spPr>
          <a:xfrm>
            <a:off x="7040880" y="4023360"/>
            <a:ext cx="4572000" cy="2103120"/>
          </a:xfrm>
          <a:prstGeom prst="rect">
            <a:avLst/>
          </a:prstGeom>
          <a:noFill/>
          <a:ln/>
        </p:spPr>
        <p:txBody>
          <a:bodyPr wrap="square" lIns="0" tIns="0" rIns="0" bIns="0" rtlCol="0" anchor="t"/>
          <a:lstStyle/>
          <a:p>
            <a:pPr marL="203200" indent="-203200" algn="l">
              <a:buSzPct val="100000"/>
              <a:buChar char="•"/>
            </a:pPr>
            <a:r>
              <a:rPr lang="en-US" sz="1400" b="1" dirty="0">
                <a:solidFill>
                  <a:schemeClr val="accent2"/>
                </a:solidFill>
              </a:rPr>
              <a:t>Pros: </a:t>
            </a:r>
            <a:r>
              <a:rPr lang="en-US" sz="1400" dirty="0">
                <a:solidFill>
                  <a:schemeClr val="tx1"/>
                </a:solidFill>
              </a:rPr>
              <a:t>4–8× less memory, faster and cheaper; big models fit on a laptop GPU</a:t>
            </a:r>
            <a:endParaRPr lang="en-US" sz="1400" dirty="0"/>
          </a:p>
          <a:p>
            <a:pPr marL="203200" indent="-203200" algn="l">
              <a:buSzPct val="100000"/>
              <a:buChar char="•"/>
            </a:pPr>
            <a:r>
              <a:rPr lang="en-US" sz="1400" b="1" dirty="0">
                <a:solidFill>
                  <a:schemeClr val="accent6"/>
                </a:solidFill>
              </a:rPr>
              <a:t>Cons: </a:t>
            </a:r>
            <a:r>
              <a:rPr lang="en-US" sz="1400" dirty="0">
                <a:solidFill>
                  <a:schemeClr val="tx1"/>
                </a:solidFill>
              </a:rPr>
              <a:t>small quality loss, larger at very low bits (≤3-bit)</a:t>
            </a:r>
            <a:endParaRPr lang="en-US" sz="1400" dirty="0"/>
          </a:p>
          <a:p>
            <a:pPr marL="203200" indent="-203200" algn="l">
              <a:buSzPct val="100000"/>
              <a:buChar char="•"/>
            </a:pPr>
            <a:r>
              <a:rPr lang="en-US" sz="1400" b="1" dirty="0">
                <a:solidFill>
                  <a:schemeClr val="tx2"/>
                </a:solidFill>
              </a:rPr>
              <a:t>Where you'll see it: </a:t>
            </a:r>
            <a:r>
              <a:rPr lang="en-US" sz="1400" dirty="0">
                <a:solidFill>
                  <a:schemeClr val="tx1"/>
                </a:solidFill>
              </a:rPr>
              <a:t>local open-weight models (GGUF, llama.cpp, Ollama)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24E8-AF7E-AE2F-421A-B5FFCAAE1A60}"/>
              </a:ext>
            </a:extLst>
          </p:cNvPr>
          <p:cNvSpPr>
            <a:spLocks noGrp="1"/>
          </p:cNvSpPr>
          <p:nvPr>
            <p:ph type="title" idx="100"/>
          </p:nvPr>
        </p:nvSpPr>
        <p:spPr/>
        <p:txBody>
          <a:bodyPr/>
          <a:lstStyle/>
          <a:p>
            <a:r>
              <a:rPr lang="en-US" dirty="0"/>
              <a:t>Local models: biggest that fits, Q4 or better</a:t>
            </a:r>
          </a:p>
        </p:txBody>
      </p:sp>
      <p:sp>
        <p:nvSpPr>
          <p:cNvPr id="100" name="grid-label"/>
          <p:cNvSpPr/>
          <p:nvPr/>
        </p:nvSpPr>
        <p:spPr>
          <a:xfrm>
            <a:off x="546100" y="1320800"/>
            <a:ext cx="6096000" cy="279400"/>
          </a:xfrm>
          <a:prstGeom prst="rect">
            <a:avLst/>
          </a:prstGeom>
          <a:noFill/>
          <a:ln>
            <a:noFill/>
          </a:ln>
        </p:spPr>
        <p:txBody>
          <a:bodyPr wrap="square" lIns="0" tIns="0" rIns="0" bIns="0" anchor="t">
            <a:noAutofit/>
          </a:bodyPr>
          <a:lstStyle/>
          <a:p>
            <a:pPr algn="l">
              <a:buNone/>
            </a:pPr>
            <a:r>
              <a:rPr lang="en-US" sz="1400" b="1" dirty="0">
                <a:solidFill>
                  <a:schemeClr val="tx2"/>
                </a:solidFill>
              </a:rPr>
              <a:t>Memory for model weights, GB (add 2–4 GB for context)</a:t>
            </a:r>
          </a:p>
        </p:txBody>
      </p:sp>
      <p:sp>
        <p:nvSpPr>
          <p:cNvPr id="101" name="zone"/>
          <p:cNvSpPr/>
          <p:nvPr/>
        </p:nvSpPr>
        <p:spPr>
          <a:xfrm>
            <a:off x="1562100" y="1752600"/>
            <a:ext cx="965200" cy="228600"/>
          </a:xfrm>
          <a:prstGeom prst="rect">
            <a:avLst/>
          </a:prstGeom>
          <a:noFill/>
          <a:ln>
            <a:noFill/>
          </a:ln>
        </p:spPr>
        <p:txBody>
          <a:bodyPr wrap="square" lIns="0" tIns="0" rIns="0" bIns="0" anchor="ctr">
            <a:noAutofit/>
          </a:bodyPr>
          <a:lstStyle/>
          <a:p>
            <a:pPr algn="ctr">
              <a:buNone/>
            </a:pPr>
            <a:r>
              <a:rPr lang="en-US" sz="1200" b="1" dirty="0">
                <a:solidFill>
                  <a:srgbClr val="8A90A6"/>
                </a:solidFill>
              </a:rPr>
              <a:t>Avoid</a:t>
            </a:r>
          </a:p>
        </p:txBody>
      </p:sp>
      <p:sp>
        <p:nvSpPr>
          <p:cNvPr id="102" name="zone-rule"/>
          <p:cNvSpPr/>
          <p:nvPr/>
        </p:nvSpPr>
        <p:spPr>
          <a:xfrm>
            <a:off x="1587500" y="1993900"/>
            <a:ext cx="914400" cy="25400"/>
          </a:xfrm>
          <a:prstGeom prst="rect">
            <a:avLst/>
          </a:prstGeom>
          <a:solidFill>
            <a:srgbClr val="8A90A6"/>
          </a:solidFill>
          <a:ln>
            <a:noFill/>
          </a:ln>
        </p:spPr>
        <p:txBody>
          <a:bodyPr wrap="square" lIns="0" tIns="0" rIns="0" bIns="0" anchor="ctr">
            <a:noAutofit/>
          </a:bodyPr>
          <a:lstStyle/>
          <a:p>
            <a:endParaRPr lang="en-US"/>
          </a:p>
        </p:txBody>
      </p:sp>
      <p:sp>
        <p:nvSpPr>
          <p:cNvPr id="103" name="zone"/>
          <p:cNvSpPr/>
          <p:nvPr/>
        </p:nvSpPr>
        <p:spPr>
          <a:xfrm>
            <a:off x="2578100" y="1752600"/>
            <a:ext cx="965200" cy="228600"/>
          </a:xfrm>
          <a:prstGeom prst="rect">
            <a:avLst/>
          </a:prstGeom>
          <a:noFill/>
          <a:ln>
            <a:noFill/>
          </a:ln>
        </p:spPr>
        <p:txBody>
          <a:bodyPr wrap="square" lIns="0" tIns="0" rIns="0" bIns="0" anchor="ctr">
            <a:noAutofit/>
          </a:bodyPr>
          <a:lstStyle/>
          <a:p>
            <a:pPr algn="ctr">
              <a:buNone/>
            </a:pPr>
            <a:r>
              <a:rPr lang="en-US" sz="1200" b="1" dirty="0">
                <a:solidFill>
                  <a:srgbClr val="2A9D8F"/>
                </a:solidFill>
              </a:rPr>
              <a:t>Floor</a:t>
            </a:r>
          </a:p>
        </p:txBody>
      </p:sp>
      <p:sp>
        <p:nvSpPr>
          <p:cNvPr id="104" name="zone-rule"/>
          <p:cNvSpPr/>
          <p:nvPr/>
        </p:nvSpPr>
        <p:spPr>
          <a:xfrm>
            <a:off x="2603500" y="1993900"/>
            <a:ext cx="914400" cy="25400"/>
          </a:xfrm>
          <a:prstGeom prst="rect">
            <a:avLst/>
          </a:prstGeom>
          <a:solidFill>
            <a:srgbClr val="2A9D8F"/>
          </a:solidFill>
          <a:ln>
            <a:noFill/>
          </a:ln>
        </p:spPr>
        <p:txBody>
          <a:bodyPr wrap="square" lIns="0" tIns="0" rIns="0" bIns="0" anchor="ctr">
            <a:noAutofit/>
          </a:bodyPr>
          <a:lstStyle/>
          <a:p>
            <a:endParaRPr lang="en-US"/>
          </a:p>
        </p:txBody>
      </p:sp>
      <p:sp>
        <p:nvSpPr>
          <p:cNvPr id="105" name="zone"/>
          <p:cNvSpPr/>
          <p:nvPr/>
        </p:nvSpPr>
        <p:spPr>
          <a:xfrm>
            <a:off x="3594100" y="1752600"/>
            <a:ext cx="1981200" cy="228600"/>
          </a:xfrm>
          <a:prstGeom prst="rect">
            <a:avLst/>
          </a:prstGeom>
          <a:noFill/>
          <a:ln>
            <a:noFill/>
          </a:ln>
        </p:spPr>
        <p:txBody>
          <a:bodyPr wrap="square" lIns="0" tIns="0" rIns="0" bIns="0" anchor="ctr">
            <a:noAutofit/>
          </a:bodyPr>
          <a:lstStyle/>
          <a:p>
            <a:pPr algn="ctr">
              <a:buNone/>
            </a:pPr>
            <a:r>
              <a:rPr lang="en-US" sz="1200" b="1" dirty="0">
                <a:solidFill>
                  <a:srgbClr val="1E7A6F"/>
                </a:solidFill>
              </a:rPr>
              <a:t>Best balance</a:t>
            </a:r>
          </a:p>
        </p:txBody>
      </p:sp>
      <p:sp>
        <p:nvSpPr>
          <p:cNvPr id="106" name="zone-rule"/>
          <p:cNvSpPr/>
          <p:nvPr/>
        </p:nvSpPr>
        <p:spPr>
          <a:xfrm>
            <a:off x="3619500" y="1993900"/>
            <a:ext cx="1930400" cy="25400"/>
          </a:xfrm>
          <a:prstGeom prst="rect">
            <a:avLst/>
          </a:prstGeom>
          <a:solidFill>
            <a:srgbClr val="1E7A6F"/>
          </a:solidFill>
          <a:ln>
            <a:noFill/>
          </a:ln>
        </p:spPr>
        <p:txBody>
          <a:bodyPr wrap="square" lIns="0" tIns="0" rIns="0" bIns="0" anchor="ctr">
            <a:noAutofit/>
          </a:bodyPr>
          <a:lstStyle/>
          <a:p>
            <a:endParaRPr lang="en-US"/>
          </a:p>
        </p:txBody>
      </p:sp>
      <p:sp>
        <p:nvSpPr>
          <p:cNvPr id="107" name="zone"/>
          <p:cNvSpPr/>
          <p:nvPr/>
        </p:nvSpPr>
        <p:spPr>
          <a:xfrm>
            <a:off x="5626100" y="1752600"/>
            <a:ext cx="965200" cy="228600"/>
          </a:xfrm>
          <a:prstGeom prst="rect">
            <a:avLst/>
          </a:prstGeom>
          <a:noFill/>
          <a:ln>
            <a:noFill/>
          </a:ln>
        </p:spPr>
        <p:txBody>
          <a:bodyPr wrap="square" lIns="0" tIns="0" rIns="0" bIns="0" anchor="ctr">
            <a:noAutofit/>
          </a:bodyPr>
          <a:lstStyle/>
          <a:p>
            <a:pPr algn="ctr">
              <a:buNone/>
            </a:pPr>
            <a:r>
              <a:rPr lang="en-US" sz="1200" b="1" dirty="0">
                <a:solidFill>
                  <a:srgbClr val="2A9D8F"/>
                </a:solidFill>
              </a:rPr>
              <a:t>If room</a:t>
            </a:r>
          </a:p>
        </p:txBody>
      </p:sp>
      <p:sp>
        <p:nvSpPr>
          <p:cNvPr id="108" name="zone-rule"/>
          <p:cNvSpPr/>
          <p:nvPr/>
        </p:nvSpPr>
        <p:spPr>
          <a:xfrm>
            <a:off x="5651500" y="1993900"/>
            <a:ext cx="914400" cy="25400"/>
          </a:xfrm>
          <a:prstGeom prst="rect">
            <a:avLst/>
          </a:prstGeom>
          <a:solidFill>
            <a:srgbClr val="2A9D8F"/>
          </a:solidFill>
          <a:ln>
            <a:noFill/>
          </a:ln>
        </p:spPr>
        <p:txBody>
          <a:bodyPr wrap="square" lIns="0" tIns="0" rIns="0" bIns="0" anchor="ctr">
            <a:noAutofit/>
          </a:bodyPr>
          <a:lstStyle/>
          <a:p>
            <a:endParaRPr lang="en-US"/>
          </a:p>
        </p:txBody>
      </p:sp>
      <p:sp>
        <p:nvSpPr>
          <p:cNvPr id="109" name="col-head"/>
          <p:cNvSpPr/>
          <p:nvPr/>
        </p:nvSpPr>
        <p:spPr>
          <a:xfrm>
            <a:off x="1536700" y="2032000"/>
            <a:ext cx="1016000" cy="330200"/>
          </a:xfrm>
          <a:prstGeom prst="rect">
            <a:avLst/>
          </a:prstGeom>
          <a:noFill/>
          <a:ln>
            <a:noFill/>
          </a:ln>
        </p:spPr>
        <p:txBody>
          <a:bodyPr wrap="square" lIns="0" tIns="0" rIns="0" bIns="0" anchor="ctr">
            <a:noAutofit/>
          </a:bodyPr>
          <a:lstStyle/>
          <a:p>
            <a:pPr algn="ctr">
              <a:buNone/>
            </a:pPr>
            <a:r>
              <a:rPr lang="en-US" sz="1400" b="1" dirty="0">
                <a:solidFill>
                  <a:schemeClr val="tx2"/>
                </a:solidFill>
              </a:rPr>
              <a:t>Q3_K_M</a:t>
            </a:r>
          </a:p>
        </p:txBody>
      </p:sp>
      <p:sp>
        <p:nvSpPr>
          <p:cNvPr id="110" name="col-head"/>
          <p:cNvSpPr/>
          <p:nvPr/>
        </p:nvSpPr>
        <p:spPr>
          <a:xfrm>
            <a:off x="2552700" y="2032000"/>
            <a:ext cx="1016000" cy="330200"/>
          </a:xfrm>
          <a:prstGeom prst="rect">
            <a:avLst/>
          </a:prstGeom>
          <a:noFill/>
          <a:ln>
            <a:noFill/>
          </a:ln>
        </p:spPr>
        <p:txBody>
          <a:bodyPr wrap="square" lIns="0" tIns="0" rIns="0" bIns="0" anchor="ctr">
            <a:noAutofit/>
          </a:bodyPr>
          <a:lstStyle/>
          <a:p>
            <a:pPr algn="ctr">
              <a:buNone/>
            </a:pPr>
            <a:r>
              <a:rPr lang="en-US" sz="1400" b="1" dirty="0">
                <a:solidFill>
                  <a:schemeClr val="tx2"/>
                </a:solidFill>
              </a:rPr>
              <a:t>Q4_K_M</a:t>
            </a:r>
          </a:p>
        </p:txBody>
      </p:sp>
      <p:sp>
        <p:nvSpPr>
          <p:cNvPr id="111" name="col-head"/>
          <p:cNvSpPr/>
          <p:nvPr/>
        </p:nvSpPr>
        <p:spPr>
          <a:xfrm>
            <a:off x="3568700" y="2032000"/>
            <a:ext cx="1016000" cy="330200"/>
          </a:xfrm>
          <a:prstGeom prst="rect">
            <a:avLst/>
          </a:prstGeom>
          <a:noFill/>
          <a:ln>
            <a:noFill/>
          </a:ln>
        </p:spPr>
        <p:txBody>
          <a:bodyPr wrap="square" lIns="0" tIns="0" rIns="0" bIns="0" anchor="ctr">
            <a:noAutofit/>
          </a:bodyPr>
          <a:lstStyle/>
          <a:p>
            <a:pPr algn="ctr">
              <a:buNone/>
            </a:pPr>
            <a:r>
              <a:rPr lang="en-US" sz="1400" b="1" dirty="0">
                <a:solidFill>
                  <a:schemeClr val="tx2"/>
                </a:solidFill>
              </a:rPr>
              <a:t>Q5_K_M</a:t>
            </a:r>
          </a:p>
        </p:txBody>
      </p:sp>
      <p:sp>
        <p:nvSpPr>
          <p:cNvPr id="112" name="col-head"/>
          <p:cNvSpPr/>
          <p:nvPr/>
        </p:nvSpPr>
        <p:spPr>
          <a:xfrm>
            <a:off x="4584700" y="2032000"/>
            <a:ext cx="1016000" cy="330200"/>
          </a:xfrm>
          <a:prstGeom prst="rect">
            <a:avLst/>
          </a:prstGeom>
          <a:noFill/>
          <a:ln>
            <a:noFill/>
          </a:ln>
        </p:spPr>
        <p:txBody>
          <a:bodyPr wrap="square" lIns="0" tIns="0" rIns="0" bIns="0" anchor="ctr">
            <a:noAutofit/>
          </a:bodyPr>
          <a:lstStyle/>
          <a:p>
            <a:pPr algn="ctr">
              <a:buNone/>
            </a:pPr>
            <a:r>
              <a:rPr lang="en-US" sz="1400" b="1" dirty="0">
                <a:solidFill>
                  <a:schemeClr val="tx2"/>
                </a:solidFill>
              </a:rPr>
              <a:t>Q6_K</a:t>
            </a:r>
          </a:p>
        </p:txBody>
      </p:sp>
      <p:sp>
        <p:nvSpPr>
          <p:cNvPr id="113" name="col-head"/>
          <p:cNvSpPr/>
          <p:nvPr/>
        </p:nvSpPr>
        <p:spPr>
          <a:xfrm>
            <a:off x="5600700" y="2032000"/>
            <a:ext cx="1016000" cy="330200"/>
          </a:xfrm>
          <a:prstGeom prst="rect">
            <a:avLst/>
          </a:prstGeom>
          <a:noFill/>
          <a:ln>
            <a:noFill/>
          </a:ln>
        </p:spPr>
        <p:txBody>
          <a:bodyPr wrap="square" lIns="0" tIns="0" rIns="0" bIns="0" anchor="ctr">
            <a:noAutofit/>
          </a:bodyPr>
          <a:lstStyle/>
          <a:p>
            <a:pPr algn="ctr">
              <a:buNone/>
            </a:pPr>
            <a:r>
              <a:rPr lang="en-US" sz="1400" b="1" dirty="0">
                <a:solidFill>
                  <a:schemeClr val="tx2"/>
                </a:solidFill>
              </a:rPr>
              <a:t>Q8_0</a:t>
            </a:r>
          </a:p>
        </p:txBody>
      </p:sp>
      <p:sp>
        <p:nvSpPr>
          <p:cNvPr id="114" name="row-head"/>
          <p:cNvSpPr/>
          <p:nvPr/>
        </p:nvSpPr>
        <p:spPr>
          <a:xfrm>
            <a:off x="546100" y="2413000"/>
            <a:ext cx="990600" cy="889000"/>
          </a:xfrm>
          <a:prstGeom prst="rect">
            <a:avLst/>
          </a:prstGeom>
          <a:noFill/>
          <a:ln>
            <a:noFill/>
          </a:ln>
        </p:spPr>
        <p:txBody>
          <a:bodyPr wrap="square" lIns="0" tIns="0" rIns="0" bIns="0" anchor="ctr">
            <a:noAutofit/>
          </a:bodyPr>
          <a:lstStyle/>
          <a:p>
            <a:pPr algn="l">
              <a:buNone/>
            </a:pPr>
            <a:r>
              <a:rPr lang="en-US" sz="1600" b="1" dirty="0">
                <a:solidFill>
                  <a:schemeClr val="tx2"/>
                </a:solidFill>
              </a:rPr>
              <a:t>7–8B</a:t>
            </a:r>
          </a:p>
        </p:txBody>
      </p:sp>
      <p:sp>
        <p:nvSpPr>
          <p:cNvPr id="115" name="cell"/>
          <p:cNvSpPr/>
          <p:nvPr/>
        </p:nvSpPr>
        <p:spPr>
          <a:xfrm>
            <a:off x="1562100" y="2438400"/>
            <a:ext cx="965200" cy="838200"/>
          </a:xfrm>
          <a:prstGeom prst="rect">
            <a:avLst/>
          </a:prstGeom>
          <a:solidFill>
            <a:srgbClr val="EEF0F6"/>
          </a:solidFill>
          <a:ln>
            <a:noFill/>
          </a:ln>
        </p:spPr>
        <p:txBody>
          <a:bodyPr wrap="square" lIns="0" tIns="0" rIns="0" bIns="0" anchor="ctr">
            <a:noAutofit/>
          </a:bodyPr>
          <a:lstStyle/>
          <a:p>
            <a:pPr algn="ctr">
              <a:buNone/>
            </a:pPr>
            <a:r>
              <a:rPr lang="en-US" sz="1600" b="1" dirty="0">
                <a:solidFill>
                  <a:srgbClr val="5F6479"/>
                </a:solidFill>
              </a:rPr>
              <a:t>~3.9</a:t>
            </a:r>
          </a:p>
        </p:txBody>
      </p:sp>
      <p:sp>
        <p:nvSpPr>
          <p:cNvPr id="116" name="cell"/>
          <p:cNvSpPr/>
          <p:nvPr/>
        </p:nvSpPr>
        <p:spPr>
          <a:xfrm>
            <a:off x="2578100" y="2438400"/>
            <a:ext cx="965200" cy="838200"/>
          </a:xfrm>
          <a:prstGeom prst="rect">
            <a:avLst/>
          </a:prstGeom>
          <a:solidFill>
            <a:srgbClr val="D7EFEC"/>
          </a:solidFill>
          <a:ln>
            <a:noFill/>
          </a:ln>
        </p:spPr>
        <p:txBody>
          <a:bodyPr wrap="square" lIns="0" tIns="0" rIns="0" bIns="0" anchor="ctr">
            <a:noAutofit/>
          </a:bodyPr>
          <a:lstStyle/>
          <a:p>
            <a:pPr algn="ctr">
              <a:buNone/>
            </a:pPr>
            <a:r>
              <a:rPr lang="en-US" sz="1600" b="1" dirty="0">
                <a:solidFill>
                  <a:schemeClr val="tx2"/>
                </a:solidFill>
              </a:rPr>
              <a:t>~4.9</a:t>
            </a:r>
          </a:p>
        </p:txBody>
      </p:sp>
      <p:sp>
        <p:nvSpPr>
          <p:cNvPr id="117" name="cell"/>
          <p:cNvSpPr/>
          <p:nvPr/>
        </p:nvSpPr>
        <p:spPr>
          <a:xfrm>
            <a:off x="3594100" y="2438400"/>
            <a:ext cx="965200" cy="838200"/>
          </a:xfrm>
          <a:prstGeom prst="rect">
            <a:avLst/>
          </a:prstGeom>
          <a:solidFill>
            <a:srgbClr val="2A9D8F"/>
          </a:solidFill>
          <a:ln>
            <a:noFill/>
          </a:ln>
        </p:spPr>
        <p:txBody>
          <a:bodyPr wrap="square" lIns="0" tIns="0" rIns="0" bIns="0" anchor="ctr">
            <a:noAutofit/>
          </a:bodyPr>
          <a:lstStyle/>
          <a:p>
            <a:pPr algn="ctr">
              <a:buNone/>
            </a:pPr>
            <a:r>
              <a:rPr lang="en-US" sz="1600" b="1" dirty="0">
                <a:solidFill>
                  <a:schemeClr val="bg1"/>
                </a:solidFill>
              </a:rPr>
              <a:t>~5.7</a:t>
            </a:r>
          </a:p>
        </p:txBody>
      </p:sp>
      <p:sp>
        <p:nvSpPr>
          <p:cNvPr id="118" name="cell-pick"/>
          <p:cNvSpPr/>
          <p:nvPr/>
        </p:nvSpPr>
        <p:spPr>
          <a:xfrm>
            <a:off x="4610100" y="2438400"/>
            <a:ext cx="965200" cy="838200"/>
          </a:xfrm>
          <a:prstGeom prst="rect">
            <a:avLst/>
          </a:prstGeom>
          <a:solidFill>
            <a:srgbClr val="2A9D8F"/>
          </a:solidFill>
          <a:ln w="38100">
            <a:solidFill>
              <a:schemeClr val="accent1"/>
            </a:solidFill>
          </a:ln>
        </p:spPr>
        <p:txBody>
          <a:bodyPr wrap="square" lIns="0" tIns="0" rIns="0" bIns="0" anchor="ctr">
            <a:noAutofit/>
          </a:bodyPr>
          <a:lstStyle/>
          <a:p>
            <a:pPr algn="ctr">
              <a:buNone/>
            </a:pPr>
            <a:r>
              <a:rPr lang="en-US" sz="1600" b="1" dirty="0">
                <a:solidFill>
                  <a:schemeClr val="bg1"/>
                </a:solidFill>
              </a:rPr>
              <a:t>~6.6</a:t>
            </a:r>
          </a:p>
          <a:p>
            <a:pPr algn="ctr">
              <a:buNone/>
            </a:pPr>
            <a:r>
              <a:rPr lang="en-US" sz="1200" b="1" dirty="0">
                <a:solidFill>
                  <a:schemeClr val="bg1"/>
                </a:solidFill>
              </a:rPr>
              <a:t>8 GB GPU</a:t>
            </a:r>
          </a:p>
        </p:txBody>
      </p:sp>
      <p:sp>
        <p:nvSpPr>
          <p:cNvPr id="119" name="cell"/>
          <p:cNvSpPr/>
          <p:nvPr/>
        </p:nvSpPr>
        <p:spPr>
          <a:xfrm>
            <a:off x="5626100" y="2438400"/>
            <a:ext cx="965200" cy="838200"/>
          </a:xfrm>
          <a:prstGeom prst="rect">
            <a:avLst/>
          </a:prstGeom>
          <a:solidFill>
            <a:srgbClr val="A9DCD5"/>
          </a:solidFill>
          <a:ln>
            <a:noFill/>
          </a:ln>
        </p:spPr>
        <p:txBody>
          <a:bodyPr wrap="square" lIns="0" tIns="0" rIns="0" bIns="0" anchor="ctr">
            <a:noAutofit/>
          </a:bodyPr>
          <a:lstStyle/>
          <a:p>
            <a:pPr algn="ctr">
              <a:buNone/>
            </a:pPr>
            <a:r>
              <a:rPr lang="en-US" sz="1600" b="1" dirty="0">
                <a:solidFill>
                  <a:schemeClr val="tx2"/>
                </a:solidFill>
              </a:rPr>
              <a:t>~8.5</a:t>
            </a:r>
          </a:p>
        </p:txBody>
      </p:sp>
      <p:sp>
        <p:nvSpPr>
          <p:cNvPr id="120" name="row-head"/>
          <p:cNvSpPr/>
          <p:nvPr/>
        </p:nvSpPr>
        <p:spPr>
          <a:xfrm>
            <a:off x="546100" y="3302000"/>
            <a:ext cx="990600" cy="889000"/>
          </a:xfrm>
          <a:prstGeom prst="rect">
            <a:avLst/>
          </a:prstGeom>
          <a:noFill/>
          <a:ln>
            <a:noFill/>
          </a:ln>
        </p:spPr>
        <p:txBody>
          <a:bodyPr wrap="square" lIns="0" tIns="0" rIns="0" bIns="0" anchor="ctr">
            <a:noAutofit/>
          </a:bodyPr>
          <a:lstStyle/>
          <a:p>
            <a:pPr algn="l">
              <a:buNone/>
            </a:pPr>
            <a:r>
              <a:rPr lang="en-US" sz="1600" b="1" dirty="0">
                <a:solidFill>
                  <a:schemeClr val="tx2"/>
                </a:solidFill>
              </a:rPr>
              <a:t>14B</a:t>
            </a:r>
          </a:p>
        </p:txBody>
      </p:sp>
      <p:sp>
        <p:nvSpPr>
          <p:cNvPr id="121" name="cell"/>
          <p:cNvSpPr/>
          <p:nvPr/>
        </p:nvSpPr>
        <p:spPr>
          <a:xfrm>
            <a:off x="1562100" y="3327400"/>
            <a:ext cx="965200" cy="838200"/>
          </a:xfrm>
          <a:prstGeom prst="rect">
            <a:avLst/>
          </a:prstGeom>
          <a:solidFill>
            <a:srgbClr val="EEF0F6"/>
          </a:solidFill>
          <a:ln>
            <a:noFill/>
          </a:ln>
        </p:spPr>
        <p:txBody>
          <a:bodyPr wrap="square" lIns="0" tIns="0" rIns="0" bIns="0" anchor="ctr">
            <a:noAutofit/>
          </a:bodyPr>
          <a:lstStyle/>
          <a:p>
            <a:pPr algn="ctr">
              <a:buNone/>
            </a:pPr>
            <a:r>
              <a:rPr lang="en-US" sz="1600" b="1" dirty="0">
                <a:solidFill>
                  <a:srgbClr val="5F6479"/>
                </a:solidFill>
              </a:rPr>
              <a:t>~6.8</a:t>
            </a:r>
          </a:p>
        </p:txBody>
      </p:sp>
      <p:sp>
        <p:nvSpPr>
          <p:cNvPr id="122" name="cell"/>
          <p:cNvSpPr/>
          <p:nvPr/>
        </p:nvSpPr>
        <p:spPr>
          <a:xfrm>
            <a:off x="2578100" y="3327400"/>
            <a:ext cx="965200" cy="838200"/>
          </a:xfrm>
          <a:prstGeom prst="rect">
            <a:avLst/>
          </a:prstGeom>
          <a:solidFill>
            <a:srgbClr val="D7EFEC"/>
          </a:solidFill>
          <a:ln>
            <a:noFill/>
          </a:ln>
        </p:spPr>
        <p:txBody>
          <a:bodyPr wrap="square" lIns="0" tIns="0" rIns="0" bIns="0" anchor="ctr">
            <a:noAutofit/>
          </a:bodyPr>
          <a:lstStyle/>
          <a:p>
            <a:pPr algn="ctr">
              <a:buNone/>
            </a:pPr>
            <a:r>
              <a:rPr lang="en-US" sz="1600" b="1" dirty="0">
                <a:solidFill>
                  <a:schemeClr val="tx2"/>
                </a:solidFill>
              </a:rPr>
              <a:t>~8.4</a:t>
            </a:r>
          </a:p>
        </p:txBody>
      </p:sp>
      <p:sp>
        <p:nvSpPr>
          <p:cNvPr id="123" name="cell-pick"/>
          <p:cNvSpPr/>
          <p:nvPr/>
        </p:nvSpPr>
        <p:spPr>
          <a:xfrm>
            <a:off x="3594100" y="3327400"/>
            <a:ext cx="965200" cy="838200"/>
          </a:xfrm>
          <a:prstGeom prst="rect">
            <a:avLst/>
          </a:prstGeom>
          <a:solidFill>
            <a:srgbClr val="2A9D8F"/>
          </a:solidFill>
          <a:ln w="38100">
            <a:solidFill>
              <a:schemeClr val="accent1"/>
            </a:solidFill>
          </a:ln>
        </p:spPr>
        <p:txBody>
          <a:bodyPr wrap="square" lIns="0" tIns="0" rIns="0" bIns="0" anchor="ctr">
            <a:noAutofit/>
          </a:bodyPr>
          <a:lstStyle/>
          <a:p>
            <a:pPr algn="ctr">
              <a:buNone/>
            </a:pPr>
            <a:r>
              <a:rPr lang="en-US" sz="1600" b="1" dirty="0">
                <a:solidFill>
                  <a:schemeClr val="bg1"/>
                </a:solidFill>
              </a:rPr>
              <a:t>~10</a:t>
            </a:r>
          </a:p>
          <a:p>
            <a:pPr algn="ctr">
              <a:buNone/>
            </a:pPr>
            <a:r>
              <a:rPr lang="en-US" sz="1200" b="1" dirty="0">
                <a:solidFill>
                  <a:schemeClr val="bg1"/>
                </a:solidFill>
              </a:rPr>
              <a:t>16 GB GPU</a:t>
            </a:r>
          </a:p>
        </p:txBody>
      </p:sp>
      <p:sp>
        <p:nvSpPr>
          <p:cNvPr id="124" name="cell"/>
          <p:cNvSpPr/>
          <p:nvPr/>
        </p:nvSpPr>
        <p:spPr>
          <a:xfrm>
            <a:off x="4610100" y="3327400"/>
            <a:ext cx="965200" cy="838200"/>
          </a:xfrm>
          <a:prstGeom prst="rect">
            <a:avLst/>
          </a:prstGeom>
          <a:solidFill>
            <a:srgbClr val="2A9D8F"/>
          </a:solidFill>
          <a:ln>
            <a:noFill/>
          </a:ln>
        </p:spPr>
        <p:txBody>
          <a:bodyPr wrap="square" lIns="0" tIns="0" rIns="0" bIns="0" anchor="ctr">
            <a:noAutofit/>
          </a:bodyPr>
          <a:lstStyle/>
          <a:p>
            <a:pPr algn="ctr">
              <a:buNone/>
            </a:pPr>
            <a:r>
              <a:rPr lang="en-US" sz="1600" b="1" dirty="0">
                <a:solidFill>
                  <a:schemeClr val="bg1"/>
                </a:solidFill>
              </a:rPr>
              <a:t>~12</a:t>
            </a:r>
          </a:p>
        </p:txBody>
      </p:sp>
      <p:sp>
        <p:nvSpPr>
          <p:cNvPr id="125" name="cell"/>
          <p:cNvSpPr/>
          <p:nvPr/>
        </p:nvSpPr>
        <p:spPr>
          <a:xfrm>
            <a:off x="5626100" y="3327400"/>
            <a:ext cx="965200" cy="838200"/>
          </a:xfrm>
          <a:prstGeom prst="rect">
            <a:avLst/>
          </a:prstGeom>
          <a:solidFill>
            <a:srgbClr val="A9DCD5"/>
          </a:solidFill>
          <a:ln>
            <a:noFill/>
          </a:ln>
        </p:spPr>
        <p:txBody>
          <a:bodyPr wrap="square" lIns="0" tIns="0" rIns="0" bIns="0" anchor="ctr">
            <a:noAutofit/>
          </a:bodyPr>
          <a:lstStyle/>
          <a:p>
            <a:pPr algn="ctr">
              <a:buNone/>
            </a:pPr>
            <a:r>
              <a:rPr lang="en-US" sz="1600" b="1" dirty="0">
                <a:solidFill>
                  <a:schemeClr val="tx2"/>
                </a:solidFill>
              </a:rPr>
              <a:t>~15</a:t>
            </a:r>
          </a:p>
        </p:txBody>
      </p:sp>
      <p:sp>
        <p:nvSpPr>
          <p:cNvPr id="126" name="row-head"/>
          <p:cNvSpPr/>
          <p:nvPr/>
        </p:nvSpPr>
        <p:spPr>
          <a:xfrm>
            <a:off x="546100" y="4191000"/>
            <a:ext cx="990600" cy="889000"/>
          </a:xfrm>
          <a:prstGeom prst="rect">
            <a:avLst/>
          </a:prstGeom>
          <a:noFill/>
          <a:ln>
            <a:noFill/>
          </a:ln>
        </p:spPr>
        <p:txBody>
          <a:bodyPr wrap="square" lIns="0" tIns="0" rIns="0" bIns="0" anchor="ctr">
            <a:noAutofit/>
          </a:bodyPr>
          <a:lstStyle/>
          <a:p>
            <a:pPr algn="l">
              <a:buNone/>
            </a:pPr>
            <a:r>
              <a:rPr lang="en-US" sz="1600" b="1" dirty="0">
                <a:solidFill>
                  <a:schemeClr val="tx2"/>
                </a:solidFill>
              </a:rPr>
              <a:t>32B</a:t>
            </a:r>
          </a:p>
        </p:txBody>
      </p:sp>
      <p:sp>
        <p:nvSpPr>
          <p:cNvPr id="127" name="cell"/>
          <p:cNvSpPr/>
          <p:nvPr/>
        </p:nvSpPr>
        <p:spPr>
          <a:xfrm>
            <a:off x="1562100" y="4216400"/>
            <a:ext cx="965200" cy="838200"/>
          </a:xfrm>
          <a:prstGeom prst="rect">
            <a:avLst/>
          </a:prstGeom>
          <a:solidFill>
            <a:srgbClr val="EEF0F6"/>
          </a:solidFill>
          <a:ln>
            <a:noFill/>
          </a:ln>
        </p:spPr>
        <p:txBody>
          <a:bodyPr wrap="square" lIns="0" tIns="0" rIns="0" bIns="0" anchor="ctr">
            <a:noAutofit/>
          </a:bodyPr>
          <a:lstStyle/>
          <a:p>
            <a:pPr algn="ctr">
              <a:buNone/>
            </a:pPr>
            <a:r>
              <a:rPr lang="en-US" sz="1600" b="1" dirty="0">
                <a:solidFill>
                  <a:srgbClr val="5F6479"/>
                </a:solidFill>
              </a:rPr>
              <a:t>~16</a:t>
            </a:r>
          </a:p>
        </p:txBody>
      </p:sp>
      <p:sp>
        <p:nvSpPr>
          <p:cNvPr id="128" name="cell-pick"/>
          <p:cNvSpPr/>
          <p:nvPr/>
        </p:nvSpPr>
        <p:spPr>
          <a:xfrm>
            <a:off x="2578100" y="4216400"/>
            <a:ext cx="965200" cy="838200"/>
          </a:xfrm>
          <a:prstGeom prst="rect">
            <a:avLst/>
          </a:prstGeom>
          <a:solidFill>
            <a:srgbClr val="D7EFEC"/>
          </a:solidFill>
          <a:ln w="38100">
            <a:solidFill>
              <a:schemeClr val="accent1"/>
            </a:solidFill>
          </a:ln>
        </p:spPr>
        <p:txBody>
          <a:bodyPr wrap="square" lIns="0" tIns="0" rIns="0" bIns="0" anchor="ctr">
            <a:noAutofit/>
          </a:bodyPr>
          <a:lstStyle/>
          <a:p>
            <a:pPr algn="ctr">
              <a:buNone/>
            </a:pPr>
            <a:r>
              <a:rPr lang="en-US" sz="1600" b="1" dirty="0">
                <a:solidFill>
                  <a:schemeClr val="tx2"/>
                </a:solidFill>
              </a:rPr>
              <a:t>~19</a:t>
            </a:r>
          </a:p>
          <a:p>
            <a:pPr algn="ctr">
              <a:buNone/>
            </a:pPr>
            <a:r>
              <a:rPr lang="en-US" sz="1200" b="1" dirty="0">
                <a:solidFill>
                  <a:schemeClr val="tx2"/>
                </a:solidFill>
              </a:rPr>
              <a:t>24 GB GPU</a:t>
            </a:r>
          </a:p>
        </p:txBody>
      </p:sp>
      <p:sp>
        <p:nvSpPr>
          <p:cNvPr id="129" name="cell"/>
          <p:cNvSpPr/>
          <p:nvPr/>
        </p:nvSpPr>
        <p:spPr>
          <a:xfrm>
            <a:off x="3594100" y="4216400"/>
            <a:ext cx="965200" cy="838200"/>
          </a:xfrm>
          <a:prstGeom prst="rect">
            <a:avLst/>
          </a:prstGeom>
          <a:solidFill>
            <a:srgbClr val="2A9D8F"/>
          </a:solidFill>
          <a:ln>
            <a:noFill/>
          </a:ln>
        </p:spPr>
        <p:txBody>
          <a:bodyPr wrap="square" lIns="0" tIns="0" rIns="0" bIns="0" anchor="ctr">
            <a:noAutofit/>
          </a:bodyPr>
          <a:lstStyle/>
          <a:p>
            <a:pPr algn="ctr">
              <a:buNone/>
            </a:pPr>
            <a:r>
              <a:rPr lang="en-US" sz="1600" b="1" dirty="0">
                <a:solidFill>
                  <a:schemeClr val="bg1"/>
                </a:solidFill>
              </a:rPr>
              <a:t>~23</a:t>
            </a:r>
          </a:p>
        </p:txBody>
      </p:sp>
      <p:sp>
        <p:nvSpPr>
          <p:cNvPr id="130" name="cell"/>
          <p:cNvSpPr/>
          <p:nvPr/>
        </p:nvSpPr>
        <p:spPr>
          <a:xfrm>
            <a:off x="4610100" y="4216400"/>
            <a:ext cx="965200" cy="838200"/>
          </a:xfrm>
          <a:prstGeom prst="rect">
            <a:avLst/>
          </a:prstGeom>
          <a:solidFill>
            <a:srgbClr val="2A9D8F"/>
          </a:solidFill>
          <a:ln>
            <a:noFill/>
          </a:ln>
        </p:spPr>
        <p:txBody>
          <a:bodyPr wrap="square" lIns="0" tIns="0" rIns="0" bIns="0" anchor="ctr">
            <a:noAutofit/>
          </a:bodyPr>
          <a:lstStyle/>
          <a:p>
            <a:pPr algn="ctr">
              <a:buNone/>
            </a:pPr>
            <a:r>
              <a:rPr lang="en-US" sz="1600" b="1" dirty="0">
                <a:solidFill>
                  <a:schemeClr val="bg1"/>
                </a:solidFill>
              </a:rPr>
              <a:t>~26</a:t>
            </a:r>
          </a:p>
        </p:txBody>
      </p:sp>
      <p:sp>
        <p:nvSpPr>
          <p:cNvPr id="131" name="cell"/>
          <p:cNvSpPr/>
          <p:nvPr/>
        </p:nvSpPr>
        <p:spPr>
          <a:xfrm>
            <a:off x="5626100" y="4216400"/>
            <a:ext cx="965200" cy="838200"/>
          </a:xfrm>
          <a:prstGeom prst="rect">
            <a:avLst/>
          </a:prstGeom>
          <a:solidFill>
            <a:srgbClr val="A9DCD5"/>
          </a:solidFill>
          <a:ln>
            <a:noFill/>
          </a:ln>
        </p:spPr>
        <p:txBody>
          <a:bodyPr wrap="square" lIns="0" tIns="0" rIns="0" bIns="0" anchor="ctr">
            <a:noAutofit/>
          </a:bodyPr>
          <a:lstStyle/>
          <a:p>
            <a:pPr algn="ctr">
              <a:buNone/>
            </a:pPr>
            <a:r>
              <a:rPr lang="en-US" sz="1600" b="1" dirty="0">
                <a:solidFill>
                  <a:schemeClr val="tx2"/>
                </a:solidFill>
              </a:rPr>
              <a:t>~34</a:t>
            </a:r>
          </a:p>
        </p:txBody>
      </p:sp>
      <p:sp>
        <p:nvSpPr>
          <p:cNvPr id="132" name="legend-swatch"/>
          <p:cNvSpPr/>
          <p:nvPr/>
        </p:nvSpPr>
        <p:spPr>
          <a:xfrm>
            <a:off x="546100" y="5308600"/>
            <a:ext cx="203200" cy="203200"/>
          </a:xfrm>
          <a:prstGeom prst="rect">
            <a:avLst/>
          </a:prstGeom>
          <a:noFill/>
          <a:ln w="38100">
            <a:solidFill>
              <a:schemeClr val="accent1"/>
            </a:solidFill>
          </a:ln>
        </p:spPr>
        <p:txBody>
          <a:bodyPr wrap="square" lIns="0" tIns="0" rIns="0" bIns="0" anchor="ctr">
            <a:noAutofit/>
          </a:bodyPr>
          <a:lstStyle/>
          <a:p>
            <a:endParaRPr lang="en-US"/>
          </a:p>
        </p:txBody>
      </p:sp>
      <p:sp>
        <p:nvSpPr>
          <p:cNvPr id="133" name="legend"/>
          <p:cNvSpPr/>
          <p:nvPr/>
        </p:nvSpPr>
        <p:spPr>
          <a:xfrm>
            <a:off x="876300" y="5283200"/>
            <a:ext cx="5842000" cy="254000"/>
          </a:xfrm>
          <a:prstGeom prst="rect">
            <a:avLst/>
          </a:prstGeom>
          <a:noFill/>
          <a:ln>
            <a:noFill/>
          </a:ln>
        </p:spPr>
        <p:txBody>
          <a:bodyPr wrap="square" lIns="0" tIns="0" rIns="0" bIns="0" anchor="ctr">
            <a:noAutofit/>
          </a:bodyPr>
          <a:lstStyle/>
          <a:p>
            <a:pPr algn="l">
              <a:buNone/>
            </a:pPr>
            <a:r>
              <a:rPr lang="en-US" sz="1400" dirty="0">
                <a:solidFill>
                  <a:srgbClr val="5A6075"/>
                </a:solidFill>
              </a:rPr>
              <a:t>Best pick for that GPU, leaving room for context</a:t>
            </a:r>
          </a:p>
        </p:txBody>
      </p:sp>
      <p:sp>
        <p:nvSpPr>
          <p:cNvPr id="134" name="step-num"/>
          <p:cNvSpPr/>
          <p:nvPr/>
        </p:nvSpPr>
        <p:spPr>
          <a:xfrm>
            <a:off x="7302500" y="1371600"/>
            <a:ext cx="381000" cy="381000"/>
          </a:xfrm>
          <a:prstGeom prst="ellipse">
            <a:avLst/>
          </a:prstGeom>
          <a:solidFill>
            <a:schemeClr val="tx2"/>
          </a:solidFill>
          <a:ln>
            <a:noFill/>
          </a:ln>
        </p:spPr>
        <p:txBody>
          <a:bodyPr wrap="square" lIns="0" tIns="0" rIns="0" bIns="0" anchor="ctr">
            <a:noAutofit/>
          </a:bodyPr>
          <a:lstStyle/>
          <a:p>
            <a:pPr algn="ctr">
              <a:buNone/>
            </a:pPr>
            <a:r>
              <a:rPr lang="en-US" sz="1400" b="1" dirty="0">
                <a:solidFill>
                  <a:schemeClr val="bg1"/>
                </a:solidFill>
              </a:rPr>
              <a:t>1</a:t>
            </a:r>
          </a:p>
        </p:txBody>
      </p:sp>
      <p:sp>
        <p:nvSpPr>
          <p:cNvPr id="135" name="step-text"/>
          <p:cNvSpPr/>
          <p:nvPr/>
        </p:nvSpPr>
        <p:spPr>
          <a:xfrm>
            <a:off x="7861300" y="1397000"/>
            <a:ext cx="3746500" cy="1270000"/>
          </a:xfrm>
          <a:prstGeom prst="rect">
            <a:avLst/>
          </a:prstGeom>
          <a:noFill/>
          <a:ln>
            <a:noFill/>
          </a:ln>
        </p:spPr>
        <p:txBody>
          <a:bodyPr wrap="square" lIns="0" tIns="0" rIns="0" bIns="0" anchor="t">
            <a:noAutofit/>
          </a:bodyPr>
          <a:lstStyle/>
          <a:p>
            <a:pPr algn="l">
              <a:spcAft>
                <a:spcPts val="400"/>
              </a:spcAft>
              <a:buNone/>
            </a:pPr>
            <a:r>
              <a:rPr lang="en-US" sz="1600" b="1" dirty="0">
                <a:solidFill>
                  <a:schemeClr val="tx2"/>
                </a:solidFill>
              </a:rPr>
              <a:t>Set a floor by task</a:t>
            </a:r>
          </a:p>
          <a:p>
            <a:pPr algn="l">
              <a:buNone/>
            </a:pPr>
            <a:r>
              <a:rPr lang="en-US" sz="1400" dirty="0">
                <a:solidFill>
                  <a:srgbClr val="5A6075"/>
                </a:solidFill>
              </a:rPr>
              <a:t>Chat: Q4_K_M is fine. Coding and file agents: Q5_K_M or higher; never below Q4.</a:t>
            </a:r>
          </a:p>
        </p:txBody>
      </p:sp>
      <p:sp>
        <p:nvSpPr>
          <p:cNvPr id="136" name="step-num"/>
          <p:cNvSpPr/>
          <p:nvPr/>
        </p:nvSpPr>
        <p:spPr>
          <a:xfrm>
            <a:off x="7302500" y="2794000"/>
            <a:ext cx="381000" cy="381000"/>
          </a:xfrm>
          <a:prstGeom prst="ellipse">
            <a:avLst/>
          </a:prstGeom>
          <a:solidFill>
            <a:schemeClr val="tx2"/>
          </a:solidFill>
          <a:ln>
            <a:noFill/>
          </a:ln>
        </p:spPr>
        <p:txBody>
          <a:bodyPr wrap="square" lIns="0" tIns="0" rIns="0" bIns="0" anchor="ctr">
            <a:noAutofit/>
          </a:bodyPr>
          <a:lstStyle/>
          <a:p>
            <a:pPr algn="ctr">
              <a:buNone/>
            </a:pPr>
            <a:r>
              <a:rPr lang="en-US" sz="1400" b="1" dirty="0">
                <a:solidFill>
                  <a:schemeClr val="bg1"/>
                </a:solidFill>
              </a:rPr>
              <a:t>2</a:t>
            </a:r>
          </a:p>
        </p:txBody>
      </p:sp>
      <p:sp>
        <p:nvSpPr>
          <p:cNvPr id="137" name="step-text"/>
          <p:cNvSpPr/>
          <p:nvPr/>
        </p:nvSpPr>
        <p:spPr>
          <a:xfrm>
            <a:off x="7861300" y="2819400"/>
            <a:ext cx="3746500" cy="1270000"/>
          </a:xfrm>
          <a:prstGeom prst="rect">
            <a:avLst/>
          </a:prstGeom>
          <a:noFill/>
          <a:ln>
            <a:noFill/>
          </a:ln>
        </p:spPr>
        <p:txBody>
          <a:bodyPr wrap="square" lIns="0" tIns="0" rIns="0" bIns="0" anchor="t">
            <a:noAutofit/>
          </a:bodyPr>
          <a:lstStyle/>
          <a:p>
            <a:pPr algn="l">
              <a:spcAft>
                <a:spcPts val="400"/>
              </a:spcAft>
              <a:buNone/>
            </a:pPr>
            <a:r>
              <a:rPr lang="en-US" sz="1600" b="1" dirty="0">
                <a:solidFill>
                  <a:schemeClr val="tx2"/>
                </a:solidFill>
              </a:rPr>
              <a:t>Take the biggest model that fits</a:t>
            </a:r>
          </a:p>
          <a:p>
            <a:pPr algn="l">
              <a:buNone/>
            </a:pPr>
            <a:r>
              <a:rPr lang="en-US" sz="1400" dirty="0">
                <a:solidFill>
                  <a:srgbClr val="5A6075"/>
                </a:solidFill>
              </a:rPr>
              <a:t>A 14B model at Q4 usually codes better than a 7B model at Q8.</a:t>
            </a:r>
          </a:p>
        </p:txBody>
      </p:sp>
      <p:sp>
        <p:nvSpPr>
          <p:cNvPr id="138" name="step-num"/>
          <p:cNvSpPr/>
          <p:nvPr/>
        </p:nvSpPr>
        <p:spPr>
          <a:xfrm>
            <a:off x="7302500" y="4216400"/>
            <a:ext cx="381000" cy="381000"/>
          </a:xfrm>
          <a:prstGeom prst="ellipse">
            <a:avLst/>
          </a:prstGeom>
          <a:solidFill>
            <a:schemeClr val="tx2"/>
          </a:solidFill>
          <a:ln>
            <a:noFill/>
          </a:ln>
        </p:spPr>
        <p:txBody>
          <a:bodyPr wrap="square" lIns="0" tIns="0" rIns="0" bIns="0" anchor="ctr">
            <a:noAutofit/>
          </a:bodyPr>
          <a:lstStyle/>
          <a:p>
            <a:pPr algn="ctr">
              <a:buNone/>
            </a:pPr>
            <a:r>
              <a:rPr lang="en-US" sz="1400" b="1" dirty="0">
                <a:solidFill>
                  <a:schemeClr val="bg1"/>
                </a:solidFill>
              </a:rPr>
              <a:t>3</a:t>
            </a:r>
          </a:p>
        </p:txBody>
      </p:sp>
      <p:sp>
        <p:nvSpPr>
          <p:cNvPr id="139" name="step-text"/>
          <p:cNvSpPr/>
          <p:nvPr/>
        </p:nvSpPr>
        <p:spPr>
          <a:xfrm>
            <a:off x="7861300" y="4241800"/>
            <a:ext cx="3746500" cy="1270000"/>
          </a:xfrm>
          <a:prstGeom prst="rect">
            <a:avLst/>
          </a:prstGeom>
          <a:noFill/>
          <a:ln>
            <a:noFill/>
          </a:ln>
        </p:spPr>
        <p:txBody>
          <a:bodyPr wrap="square" lIns="0" tIns="0" rIns="0" bIns="0" anchor="t">
            <a:noAutofit/>
          </a:bodyPr>
          <a:lstStyle/>
          <a:p>
            <a:pPr algn="l">
              <a:spcAft>
                <a:spcPts val="400"/>
              </a:spcAft>
              <a:buNone/>
            </a:pPr>
            <a:r>
              <a:rPr lang="en-US" sz="1600" b="1" dirty="0">
                <a:solidFill>
                  <a:schemeClr val="tx2"/>
                </a:solidFill>
              </a:rPr>
              <a:t>Leave 2–4 GB for context</a:t>
            </a:r>
          </a:p>
          <a:p>
            <a:pPr algn="l">
              <a:buNone/>
            </a:pPr>
            <a:r>
              <a:rPr lang="en-US" sz="1400" dirty="0">
                <a:solidFill>
                  <a:srgbClr val="5A6075"/>
                </a:solidFill>
              </a:rPr>
              <a:t>Agents read many files; budget for 16–32K tokens on top of the weights.</a:t>
            </a:r>
          </a:p>
        </p:txBody>
      </p:sp>
      <p:sp>
        <p:nvSpPr>
          <p:cNvPr id="140" name="footnote"/>
          <p:cNvSpPr/>
          <p:nvPr/>
        </p:nvSpPr>
        <p:spPr>
          <a:xfrm>
            <a:off x="546100" y="5969000"/>
            <a:ext cx="11061700" cy="254000"/>
          </a:xfrm>
          <a:prstGeom prst="rect">
            <a:avLst/>
          </a:prstGeom>
          <a:noFill/>
          <a:ln>
            <a:noFill/>
          </a:ln>
        </p:spPr>
        <p:txBody>
          <a:bodyPr wrap="square" lIns="0" tIns="0" rIns="0" bIns="0" anchor="t">
            <a:noAutofit/>
          </a:bodyPr>
          <a:lstStyle/>
          <a:p>
            <a:pPr algn="l">
              <a:buNone/>
            </a:pPr>
            <a:r>
              <a:rPr lang="en-US" sz="1100" i="1" dirty="0">
                <a:solidFill>
                  <a:srgbClr val="8A90A6"/>
                </a:solidFill>
              </a:rPr>
              <a:t>Approximate GGUF sizes for weights only; exact size varies by model and file.</a:t>
            </a:r>
          </a:p>
        </p:txBody>
      </p:sp>
      <p:sp>
        <p:nvSpPr>
          <p:cNvPr id="90"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5"/>
                </a:solidFill>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2277118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What LLMs get wrong — and why</a:t>
            </a:r>
            <a:endParaRPr lang="en-US" sz="3400" dirty="0"/>
          </a:p>
        </p:txBody>
      </p:sp>
      <p:sp>
        <p:nvSpPr>
          <p:cNvPr id="3" name="card-265"/>
          <p:cNvSpPr/>
          <p:nvPr/>
        </p:nvSpPr>
        <p:spPr>
          <a:xfrm>
            <a:off x="548640" y="1371600"/>
            <a:ext cx="544068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icon-bg-266"/>
          <p:cNvSpPr/>
          <p:nvPr/>
        </p:nvSpPr>
        <p:spPr>
          <a:xfrm>
            <a:off x="822960" y="1645920"/>
            <a:ext cx="685800" cy="685800"/>
          </a:xfrm>
          <a:prstGeom prst="ellipse">
            <a:avLst/>
          </a:prstGeom>
          <a:solidFill>
            <a:srgbClr val="E05263"/>
          </a:solidFill>
          <a:ln w="12700">
            <a:solidFill>
              <a:srgbClr val="E05263"/>
            </a:solidFill>
            <a:prstDash val="solid"/>
          </a:ln>
        </p:spPr>
        <p:txBody>
          <a:bodyPr/>
          <a:lstStyle/>
          <a:p>
            <a:endParaRPr lang="en-US"/>
          </a:p>
        </p:txBody>
      </p:sp>
      <p:pic>
        <p:nvPicPr>
          <p:cNvPr id="5" name="icon-267" descr="icon"/>
          <p:cNvPicPr>
            <a:picLocks noChangeAspect="1"/>
          </p:cNvPicPr>
          <p:nvPr/>
        </p:nvPicPr>
        <p:blipFill>
          <a:blip r:embed="rId3"/>
          <a:stretch>
            <a:fillRect/>
          </a:stretch>
        </p:blipFill>
        <p:spPr>
          <a:xfrm>
            <a:off x="994410" y="1817370"/>
            <a:ext cx="342900" cy="342900"/>
          </a:xfrm>
          <a:prstGeom prst="rect">
            <a:avLst/>
          </a:prstGeom>
        </p:spPr>
      </p:pic>
      <p:sp>
        <p:nvSpPr>
          <p:cNvPr id="6" name="text-268"/>
          <p:cNvSpPr txBox="1"/>
          <p:nvPr/>
        </p:nvSpPr>
        <p:spPr>
          <a:xfrm>
            <a:off x="1737360" y="1645920"/>
            <a:ext cx="4023360" cy="411480"/>
          </a:xfrm>
          <a:prstGeom prst="rect">
            <a:avLst/>
          </a:prstGeom>
          <a:noFill/>
          <a:ln/>
        </p:spPr>
        <p:txBody>
          <a:bodyPr wrap="square" lIns="0" tIns="0" rIns="0" bIns="0" rtlCol="0" anchor="t"/>
          <a:lstStyle/>
          <a:p>
            <a:pPr marL="0" indent="0" algn="l">
              <a:buNone/>
            </a:pPr>
            <a:r>
              <a:rPr lang="en-US" sz="1900" b="1" dirty="0">
                <a:solidFill>
                  <a:schemeClr val="tx2"/>
                </a:solidFill>
              </a:rPr>
              <a:t>Hallucination</a:t>
            </a:r>
            <a:endParaRPr lang="en-US" sz="1900" dirty="0"/>
          </a:p>
        </p:txBody>
      </p:sp>
      <p:sp>
        <p:nvSpPr>
          <p:cNvPr id="7" name="text-269"/>
          <p:cNvSpPr txBox="1"/>
          <p:nvPr/>
        </p:nvSpPr>
        <p:spPr>
          <a:xfrm>
            <a:off x="1737360" y="2084832"/>
            <a:ext cx="4069080" cy="822960"/>
          </a:xfrm>
          <a:prstGeom prst="rect">
            <a:avLst/>
          </a:prstGeom>
          <a:noFill/>
          <a:ln/>
        </p:spPr>
        <p:txBody>
          <a:bodyPr wrap="square" lIns="0" tIns="0" rIns="0" bIns="0" rtlCol="0" anchor="t"/>
          <a:lstStyle/>
          <a:p>
            <a:pPr marL="0" indent="0" algn="l">
              <a:buNone/>
            </a:pPr>
            <a:r>
              <a:rPr lang="en-US" sz="1400" dirty="0">
                <a:solidFill>
                  <a:schemeClr val="tx1"/>
                </a:solidFill>
              </a:rPr>
              <a:t>The model produces the most plausible text, not verified truth — so it can state fiction confidently.</a:t>
            </a:r>
            <a:endParaRPr lang="en-US" sz="1400" dirty="0"/>
          </a:p>
        </p:txBody>
      </p:sp>
      <p:sp>
        <p:nvSpPr>
          <p:cNvPr id="8" name="text-270"/>
          <p:cNvSpPr txBox="1"/>
          <p:nvPr/>
        </p:nvSpPr>
        <p:spPr>
          <a:xfrm>
            <a:off x="1737360" y="2971800"/>
            <a:ext cx="4069080" cy="411480"/>
          </a:xfrm>
          <a:prstGeom prst="rect">
            <a:avLst/>
          </a:prstGeom>
          <a:noFill/>
          <a:ln/>
        </p:spPr>
        <p:txBody>
          <a:bodyPr wrap="square" lIns="0" tIns="0" rIns="0" bIns="0" rtlCol="0" anchor="t"/>
          <a:lstStyle/>
          <a:p>
            <a:pPr marL="0" indent="0" algn="l">
              <a:buNone/>
            </a:pPr>
            <a:r>
              <a:rPr lang="en-US" sz="1400" b="1" dirty="0">
                <a:solidFill>
                  <a:schemeClr val="accent1"/>
                </a:solidFill>
              </a:rPr>
              <a:t>Fix → </a:t>
            </a:r>
            <a:r>
              <a:rPr lang="en-US" sz="1400" dirty="0">
                <a:solidFill>
                  <a:schemeClr val="tx1"/>
                </a:solidFill>
              </a:rPr>
              <a:t>Ask for sources; ground it in documents (RAG)</a:t>
            </a:r>
            <a:endParaRPr lang="en-US" sz="1400" dirty="0"/>
          </a:p>
        </p:txBody>
      </p:sp>
      <p:sp>
        <p:nvSpPr>
          <p:cNvPr id="9" name="card-271"/>
          <p:cNvSpPr/>
          <p:nvPr/>
        </p:nvSpPr>
        <p:spPr>
          <a:xfrm>
            <a:off x="6172200" y="1371600"/>
            <a:ext cx="544068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0" name="icon-bg-272"/>
          <p:cNvSpPr/>
          <p:nvPr/>
        </p:nvSpPr>
        <p:spPr>
          <a:xfrm>
            <a:off x="6446520" y="1645920"/>
            <a:ext cx="685800" cy="685800"/>
          </a:xfrm>
          <a:prstGeom prst="ellipse">
            <a:avLst/>
          </a:prstGeom>
          <a:solidFill>
            <a:srgbClr val="E9B949"/>
          </a:solidFill>
          <a:ln w="12700">
            <a:solidFill>
              <a:srgbClr val="E9B949"/>
            </a:solidFill>
            <a:prstDash val="solid"/>
          </a:ln>
        </p:spPr>
        <p:txBody>
          <a:bodyPr/>
          <a:lstStyle/>
          <a:p>
            <a:endParaRPr lang="en-US"/>
          </a:p>
        </p:txBody>
      </p:sp>
      <p:pic>
        <p:nvPicPr>
          <p:cNvPr id="11" name="icon-273" descr="icon"/>
          <p:cNvPicPr>
            <a:picLocks noChangeAspect="1"/>
          </p:cNvPicPr>
          <p:nvPr/>
        </p:nvPicPr>
        <p:blipFill>
          <a:blip r:embed="rId4"/>
          <a:stretch>
            <a:fillRect/>
          </a:stretch>
        </p:blipFill>
        <p:spPr>
          <a:xfrm>
            <a:off x="6617970" y="1817370"/>
            <a:ext cx="342900" cy="342900"/>
          </a:xfrm>
          <a:prstGeom prst="rect">
            <a:avLst/>
          </a:prstGeom>
        </p:spPr>
      </p:pic>
      <p:sp>
        <p:nvSpPr>
          <p:cNvPr id="12" name="text-274"/>
          <p:cNvSpPr txBox="1"/>
          <p:nvPr/>
        </p:nvSpPr>
        <p:spPr>
          <a:xfrm>
            <a:off x="7360920" y="1645920"/>
            <a:ext cx="4023360" cy="411480"/>
          </a:xfrm>
          <a:prstGeom prst="rect">
            <a:avLst/>
          </a:prstGeom>
          <a:noFill/>
          <a:ln/>
        </p:spPr>
        <p:txBody>
          <a:bodyPr wrap="square" lIns="0" tIns="0" rIns="0" bIns="0" rtlCol="0" anchor="t"/>
          <a:lstStyle/>
          <a:p>
            <a:pPr marL="0" indent="0" algn="l">
              <a:buNone/>
            </a:pPr>
            <a:r>
              <a:rPr lang="en-US" sz="1900" b="1" dirty="0">
                <a:solidFill>
                  <a:schemeClr val="tx2"/>
                </a:solidFill>
              </a:rPr>
              <a:t>Knowledge cutoff</a:t>
            </a:r>
            <a:endParaRPr lang="en-US" sz="1900" dirty="0"/>
          </a:p>
        </p:txBody>
      </p:sp>
      <p:sp>
        <p:nvSpPr>
          <p:cNvPr id="13" name="text-275"/>
          <p:cNvSpPr txBox="1"/>
          <p:nvPr/>
        </p:nvSpPr>
        <p:spPr>
          <a:xfrm>
            <a:off x="7360920" y="2084832"/>
            <a:ext cx="4069080" cy="822960"/>
          </a:xfrm>
          <a:prstGeom prst="rect">
            <a:avLst/>
          </a:prstGeom>
          <a:noFill/>
          <a:ln/>
        </p:spPr>
        <p:txBody>
          <a:bodyPr wrap="square" lIns="0" tIns="0" rIns="0" bIns="0" rtlCol="0" anchor="t"/>
          <a:lstStyle/>
          <a:p>
            <a:pPr marL="0" indent="0" algn="l">
              <a:buNone/>
            </a:pPr>
            <a:r>
              <a:rPr lang="en-US" sz="1400" dirty="0">
                <a:solidFill>
                  <a:schemeClr val="tx1"/>
                </a:solidFill>
              </a:rPr>
              <a:t>It only knows what was in its training data up to a certain date.</a:t>
            </a:r>
            <a:endParaRPr lang="en-US" sz="1400" dirty="0"/>
          </a:p>
        </p:txBody>
      </p:sp>
      <p:sp>
        <p:nvSpPr>
          <p:cNvPr id="14" name="text-276"/>
          <p:cNvSpPr txBox="1"/>
          <p:nvPr/>
        </p:nvSpPr>
        <p:spPr>
          <a:xfrm>
            <a:off x="7360920" y="2971800"/>
            <a:ext cx="4069080" cy="411480"/>
          </a:xfrm>
          <a:prstGeom prst="rect">
            <a:avLst/>
          </a:prstGeom>
          <a:noFill/>
          <a:ln/>
        </p:spPr>
        <p:txBody>
          <a:bodyPr wrap="square" lIns="0" tIns="0" rIns="0" bIns="0" rtlCol="0" anchor="t"/>
          <a:lstStyle/>
          <a:p>
            <a:pPr marL="0" indent="0" algn="l">
              <a:buNone/>
            </a:pPr>
            <a:r>
              <a:rPr lang="en-US" sz="1400" b="1" dirty="0">
                <a:solidFill>
                  <a:schemeClr val="accent1"/>
                </a:solidFill>
              </a:rPr>
              <a:t>Fix → </a:t>
            </a:r>
            <a:r>
              <a:rPr lang="en-US" sz="1400" dirty="0">
                <a:solidFill>
                  <a:schemeClr val="tx1"/>
                </a:solidFill>
              </a:rPr>
              <a:t>Give it web search or current documents</a:t>
            </a:r>
            <a:endParaRPr lang="en-US" sz="1400" dirty="0"/>
          </a:p>
        </p:txBody>
      </p:sp>
      <p:sp>
        <p:nvSpPr>
          <p:cNvPr id="15" name="card-277"/>
          <p:cNvSpPr/>
          <p:nvPr/>
        </p:nvSpPr>
        <p:spPr>
          <a:xfrm>
            <a:off x="548640" y="3794760"/>
            <a:ext cx="544068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6" name="icon-bg-278"/>
          <p:cNvSpPr/>
          <p:nvPr/>
        </p:nvSpPr>
        <p:spPr>
          <a:xfrm>
            <a:off x="822960" y="4069080"/>
            <a:ext cx="685800" cy="685800"/>
          </a:xfrm>
          <a:prstGeom prst="ellipse">
            <a:avLst/>
          </a:prstGeom>
          <a:solidFill>
            <a:srgbClr val="6C63FF"/>
          </a:solidFill>
          <a:ln w="12700">
            <a:solidFill>
              <a:srgbClr val="6C63FF"/>
            </a:solidFill>
            <a:prstDash val="solid"/>
          </a:ln>
        </p:spPr>
        <p:txBody>
          <a:bodyPr/>
          <a:lstStyle/>
          <a:p>
            <a:endParaRPr lang="en-US"/>
          </a:p>
        </p:txBody>
      </p:sp>
      <p:pic>
        <p:nvPicPr>
          <p:cNvPr id="17" name="icon-279" descr="icon"/>
          <p:cNvPicPr>
            <a:picLocks noChangeAspect="1"/>
          </p:cNvPicPr>
          <p:nvPr/>
        </p:nvPicPr>
        <p:blipFill>
          <a:blip r:embed="rId5"/>
          <a:stretch>
            <a:fillRect/>
          </a:stretch>
        </p:blipFill>
        <p:spPr>
          <a:xfrm>
            <a:off x="994410" y="4240530"/>
            <a:ext cx="342900" cy="342900"/>
          </a:xfrm>
          <a:prstGeom prst="rect">
            <a:avLst/>
          </a:prstGeom>
        </p:spPr>
      </p:pic>
      <p:sp>
        <p:nvSpPr>
          <p:cNvPr id="18" name="text-280"/>
          <p:cNvSpPr txBox="1"/>
          <p:nvPr/>
        </p:nvSpPr>
        <p:spPr>
          <a:xfrm>
            <a:off x="1737360" y="4069080"/>
            <a:ext cx="4023360" cy="411480"/>
          </a:xfrm>
          <a:prstGeom prst="rect">
            <a:avLst/>
          </a:prstGeom>
          <a:noFill/>
          <a:ln/>
        </p:spPr>
        <p:txBody>
          <a:bodyPr wrap="square" lIns="0" tIns="0" rIns="0" bIns="0" rtlCol="0" anchor="t"/>
          <a:lstStyle/>
          <a:p>
            <a:pPr marL="0" indent="0" algn="l">
              <a:buNone/>
            </a:pPr>
            <a:r>
              <a:rPr lang="en-US" sz="1900" b="1" dirty="0">
                <a:solidFill>
                  <a:schemeClr val="tx2"/>
                </a:solidFill>
              </a:rPr>
              <a:t>Tokens ≠ letters</a:t>
            </a:r>
            <a:endParaRPr lang="en-US" sz="1900" dirty="0"/>
          </a:p>
        </p:txBody>
      </p:sp>
      <p:sp>
        <p:nvSpPr>
          <p:cNvPr id="19" name="text-281"/>
          <p:cNvSpPr txBox="1"/>
          <p:nvPr/>
        </p:nvSpPr>
        <p:spPr>
          <a:xfrm>
            <a:off x="1737360" y="4507992"/>
            <a:ext cx="4069080" cy="822960"/>
          </a:xfrm>
          <a:prstGeom prst="rect">
            <a:avLst/>
          </a:prstGeom>
          <a:noFill/>
          <a:ln/>
        </p:spPr>
        <p:txBody>
          <a:bodyPr wrap="square" lIns="0" tIns="0" rIns="0" bIns="0" rtlCol="0" anchor="t"/>
          <a:lstStyle/>
          <a:p>
            <a:pPr marL="0" indent="0" algn="l">
              <a:buNone/>
            </a:pPr>
            <a:r>
              <a:rPr lang="en-US" sz="1400" dirty="0">
                <a:solidFill>
                  <a:schemeClr val="tx1"/>
                </a:solidFill>
              </a:rPr>
              <a:t>Exact counting, spelling tricks and long arithmetic are awkward at the token level.</a:t>
            </a:r>
            <a:endParaRPr lang="en-US" sz="1400" dirty="0"/>
          </a:p>
        </p:txBody>
      </p:sp>
      <p:sp>
        <p:nvSpPr>
          <p:cNvPr id="20" name="text-282"/>
          <p:cNvSpPr txBox="1"/>
          <p:nvPr/>
        </p:nvSpPr>
        <p:spPr>
          <a:xfrm>
            <a:off x="1737360" y="5394960"/>
            <a:ext cx="4069080" cy="411480"/>
          </a:xfrm>
          <a:prstGeom prst="rect">
            <a:avLst/>
          </a:prstGeom>
          <a:noFill/>
          <a:ln/>
        </p:spPr>
        <p:txBody>
          <a:bodyPr wrap="square" lIns="0" tIns="0" rIns="0" bIns="0" rtlCol="0" anchor="t"/>
          <a:lstStyle/>
          <a:p>
            <a:pPr marL="0" indent="0" algn="l">
              <a:buNone/>
            </a:pPr>
            <a:r>
              <a:rPr lang="en-US" sz="1400" b="1" dirty="0">
                <a:solidFill>
                  <a:schemeClr val="accent1"/>
                </a:solidFill>
              </a:rPr>
              <a:t>Fix → </a:t>
            </a:r>
            <a:r>
              <a:rPr lang="en-US" sz="1400" dirty="0">
                <a:solidFill>
                  <a:schemeClr val="tx1"/>
                </a:solidFill>
              </a:rPr>
              <a:t>Let it use a code tool to compute</a:t>
            </a:r>
            <a:endParaRPr lang="en-US" sz="1400" dirty="0"/>
          </a:p>
        </p:txBody>
      </p:sp>
      <p:sp>
        <p:nvSpPr>
          <p:cNvPr id="21" name="card-283"/>
          <p:cNvSpPr/>
          <p:nvPr/>
        </p:nvSpPr>
        <p:spPr>
          <a:xfrm>
            <a:off x="6172200" y="3794760"/>
            <a:ext cx="544068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2" name="icon-bg-284"/>
          <p:cNvSpPr/>
          <p:nvPr/>
        </p:nvSpPr>
        <p:spPr>
          <a:xfrm>
            <a:off x="6446520" y="4069080"/>
            <a:ext cx="685800" cy="685800"/>
          </a:xfrm>
          <a:prstGeom prst="ellipse">
            <a:avLst/>
          </a:prstGeom>
          <a:solidFill>
            <a:srgbClr val="2A9D8F"/>
          </a:solidFill>
          <a:ln w="12700">
            <a:solidFill>
              <a:srgbClr val="2A9D8F"/>
            </a:solidFill>
            <a:prstDash val="solid"/>
          </a:ln>
        </p:spPr>
        <p:txBody>
          <a:bodyPr/>
          <a:lstStyle/>
          <a:p>
            <a:endParaRPr lang="en-US"/>
          </a:p>
        </p:txBody>
      </p:sp>
      <p:pic>
        <p:nvPicPr>
          <p:cNvPr id="23" name="icon-285" descr="icon"/>
          <p:cNvPicPr>
            <a:picLocks noChangeAspect="1"/>
          </p:cNvPicPr>
          <p:nvPr/>
        </p:nvPicPr>
        <p:blipFill>
          <a:blip r:embed="rId6"/>
          <a:stretch>
            <a:fillRect/>
          </a:stretch>
        </p:blipFill>
        <p:spPr>
          <a:xfrm>
            <a:off x="6617970" y="4240530"/>
            <a:ext cx="342900" cy="342900"/>
          </a:xfrm>
          <a:prstGeom prst="rect">
            <a:avLst/>
          </a:prstGeom>
        </p:spPr>
      </p:pic>
      <p:sp>
        <p:nvSpPr>
          <p:cNvPr id="24" name="text-286"/>
          <p:cNvSpPr txBox="1"/>
          <p:nvPr/>
        </p:nvSpPr>
        <p:spPr>
          <a:xfrm>
            <a:off x="7360920" y="4069080"/>
            <a:ext cx="4023360" cy="411480"/>
          </a:xfrm>
          <a:prstGeom prst="rect">
            <a:avLst/>
          </a:prstGeom>
          <a:noFill/>
          <a:ln/>
        </p:spPr>
        <p:txBody>
          <a:bodyPr wrap="square" lIns="0" tIns="0" rIns="0" bIns="0" rtlCol="0" anchor="t"/>
          <a:lstStyle/>
          <a:p>
            <a:pPr marL="0" indent="0" algn="l">
              <a:buNone/>
            </a:pPr>
            <a:r>
              <a:rPr lang="en-US" sz="1900" b="1" dirty="0">
                <a:solidFill>
                  <a:schemeClr val="tx2"/>
                </a:solidFill>
              </a:rPr>
              <a:t>Sensitivity to prompts</a:t>
            </a:r>
            <a:endParaRPr lang="en-US" sz="1900" dirty="0"/>
          </a:p>
        </p:txBody>
      </p:sp>
      <p:sp>
        <p:nvSpPr>
          <p:cNvPr id="25" name="text-287"/>
          <p:cNvSpPr txBox="1"/>
          <p:nvPr/>
        </p:nvSpPr>
        <p:spPr>
          <a:xfrm>
            <a:off x="7360920" y="4507992"/>
            <a:ext cx="4069080" cy="822960"/>
          </a:xfrm>
          <a:prstGeom prst="rect">
            <a:avLst/>
          </a:prstGeom>
          <a:noFill/>
          <a:ln/>
        </p:spPr>
        <p:txBody>
          <a:bodyPr wrap="square" lIns="0" tIns="0" rIns="0" bIns="0" rtlCol="0" anchor="t"/>
          <a:lstStyle/>
          <a:p>
            <a:pPr marL="0" indent="0" algn="l">
              <a:buNone/>
            </a:pPr>
            <a:r>
              <a:rPr lang="en-US" sz="1400" dirty="0">
                <a:solidFill>
                  <a:schemeClr val="tx1"/>
                </a:solidFill>
              </a:rPr>
              <a:t>Vague or ambiguous instructions produce vague or inconsistent results.</a:t>
            </a:r>
            <a:endParaRPr lang="en-US" sz="1400" dirty="0"/>
          </a:p>
        </p:txBody>
      </p:sp>
      <p:sp>
        <p:nvSpPr>
          <p:cNvPr id="26" name="text-288"/>
          <p:cNvSpPr txBox="1"/>
          <p:nvPr/>
        </p:nvSpPr>
        <p:spPr>
          <a:xfrm>
            <a:off x="7360920" y="5394960"/>
            <a:ext cx="4069080" cy="411480"/>
          </a:xfrm>
          <a:prstGeom prst="rect">
            <a:avLst/>
          </a:prstGeom>
          <a:noFill/>
          <a:ln/>
        </p:spPr>
        <p:txBody>
          <a:bodyPr wrap="square" lIns="0" tIns="0" rIns="0" bIns="0" rtlCol="0" anchor="t"/>
          <a:lstStyle/>
          <a:p>
            <a:pPr marL="0" indent="0" algn="l">
              <a:buNone/>
            </a:pPr>
            <a:r>
              <a:rPr lang="en-US" sz="1400" b="1" dirty="0">
                <a:solidFill>
                  <a:schemeClr val="accent1"/>
                </a:solidFill>
              </a:rPr>
              <a:t>Fix → </a:t>
            </a:r>
            <a:r>
              <a:rPr lang="en-US" sz="1400" dirty="0">
                <a:solidFill>
                  <a:schemeClr val="tx1"/>
                </a:solidFill>
              </a:rPr>
              <a:t>Be specific, give examples and context</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RAG: give the model the right pages before it answers</a:t>
            </a:r>
            <a:endParaRPr lang="en-US" sz="3400" dirty="0"/>
          </a:p>
        </p:txBody>
      </p:sp>
      <p:sp>
        <p:nvSpPr>
          <p:cNvPr id="3" name="icon-bg-289"/>
          <p:cNvSpPr/>
          <p:nvPr/>
        </p:nvSpPr>
        <p:spPr>
          <a:xfrm>
            <a:off x="1417320" y="1463040"/>
            <a:ext cx="914400" cy="914400"/>
          </a:xfrm>
          <a:prstGeom prst="ellipse">
            <a:avLst/>
          </a:prstGeom>
          <a:solidFill>
            <a:srgbClr val="1B1F3B"/>
          </a:solidFill>
          <a:ln w="12700">
            <a:solidFill>
              <a:srgbClr val="1B1F3B"/>
            </a:solidFill>
            <a:prstDash val="solid"/>
          </a:ln>
        </p:spPr>
        <p:txBody>
          <a:bodyPr/>
          <a:lstStyle/>
          <a:p>
            <a:endParaRPr lang="en-US"/>
          </a:p>
        </p:txBody>
      </p:sp>
      <p:pic>
        <p:nvPicPr>
          <p:cNvPr id="4" name="icon-290" descr="icon"/>
          <p:cNvPicPr>
            <a:picLocks noChangeAspect="1"/>
          </p:cNvPicPr>
          <p:nvPr/>
        </p:nvPicPr>
        <p:blipFill>
          <a:blip r:embed="rId3"/>
          <a:stretch>
            <a:fillRect/>
          </a:stretch>
        </p:blipFill>
        <p:spPr>
          <a:xfrm>
            <a:off x="1645920" y="1691640"/>
            <a:ext cx="457200" cy="457200"/>
          </a:xfrm>
          <a:prstGeom prst="rect">
            <a:avLst/>
          </a:prstGeom>
        </p:spPr>
      </p:pic>
      <p:sp>
        <p:nvSpPr>
          <p:cNvPr id="5" name="text-291"/>
          <p:cNvSpPr txBox="1"/>
          <p:nvPr/>
        </p:nvSpPr>
        <p:spPr>
          <a:xfrm>
            <a:off x="548640" y="2514600"/>
            <a:ext cx="2651760" cy="411480"/>
          </a:xfrm>
          <a:prstGeom prst="rect">
            <a:avLst/>
          </a:prstGeom>
          <a:noFill/>
          <a:ln/>
        </p:spPr>
        <p:txBody>
          <a:bodyPr wrap="square" lIns="0" tIns="0" rIns="0" bIns="0" rtlCol="0" anchor="t"/>
          <a:lstStyle/>
          <a:p>
            <a:pPr marL="0" indent="0" algn="ctr">
              <a:buNone/>
            </a:pPr>
            <a:r>
              <a:rPr lang="en-US" sz="1800" b="1" dirty="0">
                <a:solidFill>
                  <a:schemeClr val="tx2"/>
                </a:solidFill>
              </a:rPr>
              <a:t>1 Question</a:t>
            </a:r>
            <a:endParaRPr lang="en-US" sz="1800" dirty="0"/>
          </a:p>
        </p:txBody>
      </p:sp>
      <p:sp>
        <p:nvSpPr>
          <p:cNvPr id="6" name="text-292"/>
          <p:cNvSpPr txBox="1"/>
          <p:nvPr/>
        </p:nvSpPr>
        <p:spPr>
          <a:xfrm>
            <a:off x="640080" y="2926080"/>
            <a:ext cx="2468880" cy="822960"/>
          </a:xfrm>
          <a:prstGeom prst="rect">
            <a:avLst/>
          </a:prstGeom>
          <a:noFill/>
          <a:ln/>
        </p:spPr>
        <p:txBody>
          <a:bodyPr wrap="square" lIns="0" tIns="0" rIns="0" bIns="0" rtlCol="0" anchor="t"/>
          <a:lstStyle/>
          <a:p>
            <a:pPr marL="0" indent="0" algn="ctr">
              <a:buNone/>
            </a:pPr>
            <a:r>
              <a:rPr lang="en-US" sz="1400" dirty="0">
                <a:solidFill>
                  <a:schemeClr val="tx1"/>
                </a:solidFill>
              </a:rPr>
              <a:t>“What's our refund policy?”</a:t>
            </a:r>
            <a:endParaRPr lang="en-US" sz="1400" dirty="0"/>
          </a:p>
        </p:txBody>
      </p:sp>
      <p:sp>
        <p:nvSpPr>
          <p:cNvPr id="7" name="arrow-293"/>
          <p:cNvSpPr/>
          <p:nvPr/>
        </p:nvSpPr>
        <p:spPr>
          <a:xfrm>
            <a:off x="2514600" y="1920240"/>
            <a:ext cx="1645920" cy="914"/>
          </a:xfrm>
          <a:prstGeom prst="line">
            <a:avLst/>
          </a:prstGeom>
          <a:noFill/>
          <a:ln w="25400">
            <a:solidFill>
              <a:schemeClr val="accent5"/>
            </a:solidFill>
            <a:prstDash val="solid"/>
            <a:tailEnd type="triangle"/>
          </a:ln>
        </p:spPr>
        <p:txBody>
          <a:bodyPr/>
          <a:lstStyle/>
          <a:p>
            <a:endParaRPr lang="en-US"/>
          </a:p>
        </p:txBody>
      </p:sp>
      <p:sp>
        <p:nvSpPr>
          <p:cNvPr id="8" name="icon-bg-294"/>
          <p:cNvSpPr/>
          <p:nvPr/>
        </p:nvSpPr>
        <p:spPr>
          <a:xfrm>
            <a:off x="4297680" y="1463040"/>
            <a:ext cx="914400" cy="914400"/>
          </a:xfrm>
          <a:prstGeom prst="ellipse">
            <a:avLst/>
          </a:prstGeom>
          <a:solidFill>
            <a:srgbClr val="2A9D8F"/>
          </a:solidFill>
          <a:ln w="12700">
            <a:solidFill>
              <a:srgbClr val="2A9D8F"/>
            </a:solidFill>
            <a:prstDash val="solid"/>
          </a:ln>
        </p:spPr>
        <p:txBody>
          <a:bodyPr/>
          <a:lstStyle/>
          <a:p>
            <a:endParaRPr lang="en-US"/>
          </a:p>
        </p:txBody>
      </p:sp>
      <p:pic>
        <p:nvPicPr>
          <p:cNvPr id="9" name="icon-295" descr="icon"/>
          <p:cNvPicPr>
            <a:picLocks noChangeAspect="1"/>
          </p:cNvPicPr>
          <p:nvPr/>
        </p:nvPicPr>
        <p:blipFill>
          <a:blip r:embed="rId4"/>
          <a:stretch>
            <a:fillRect/>
          </a:stretch>
        </p:blipFill>
        <p:spPr>
          <a:xfrm>
            <a:off x="4526280" y="1691640"/>
            <a:ext cx="457200" cy="457200"/>
          </a:xfrm>
          <a:prstGeom prst="rect">
            <a:avLst/>
          </a:prstGeom>
        </p:spPr>
      </p:pic>
      <p:sp>
        <p:nvSpPr>
          <p:cNvPr id="10" name="text-296"/>
          <p:cNvSpPr txBox="1"/>
          <p:nvPr/>
        </p:nvSpPr>
        <p:spPr>
          <a:xfrm>
            <a:off x="3429000" y="2514600"/>
            <a:ext cx="2651760" cy="411480"/>
          </a:xfrm>
          <a:prstGeom prst="rect">
            <a:avLst/>
          </a:prstGeom>
          <a:noFill/>
          <a:ln/>
        </p:spPr>
        <p:txBody>
          <a:bodyPr wrap="square" lIns="0" tIns="0" rIns="0" bIns="0" rtlCol="0" anchor="t"/>
          <a:lstStyle/>
          <a:p>
            <a:pPr marL="0" indent="0" algn="ctr">
              <a:buNone/>
            </a:pPr>
            <a:r>
              <a:rPr lang="en-US" sz="1800" b="1" dirty="0">
                <a:solidFill>
                  <a:schemeClr val="tx2"/>
                </a:solidFill>
              </a:rPr>
              <a:t>2 Retrieve</a:t>
            </a:r>
            <a:endParaRPr lang="en-US" sz="1800" dirty="0"/>
          </a:p>
        </p:txBody>
      </p:sp>
      <p:sp>
        <p:nvSpPr>
          <p:cNvPr id="11" name="text-297"/>
          <p:cNvSpPr txBox="1"/>
          <p:nvPr/>
        </p:nvSpPr>
        <p:spPr>
          <a:xfrm>
            <a:off x="3520440" y="2926080"/>
            <a:ext cx="2468880" cy="822960"/>
          </a:xfrm>
          <a:prstGeom prst="rect">
            <a:avLst/>
          </a:prstGeom>
          <a:noFill/>
          <a:ln/>
        </p:spPr>
        <p:txBody>
          <a:bodyPr wrap="square" lIns="0" tIns="0" rIns="0" bIns="0" rtlCol="0" anchor="t"/>
          <a:lstStyle/>
          <a:p>
            <a:pPr marL="0" indent="0" algn="ctr">
              <a:buNone/>
            </a:pPr>
            <a:r>
              <a:rPr lang="en-US" sz="1400" dirty="0">
                <a:solidFill>
                  <a:schemeClr val="tx1"/>
                </a:solidFill>
              </a:rPr>
              <a:t>Embed the question; find the closest document chunks</a:t>
            </a:r>
            <a:endParaRPr lang="en-US" sz="1400" dirty="0"/>
          </a:p>
        </p:txBody>
      </p:sp>
      <p:sp>
        <p:nvSpPr>
          <p:cNvPr id="12" name="arrow-298"/>
          <p:cNvSpPr/>
          <p:nvPr/>
        </p:nvSpPr>
        <p:spPr>
          <a:xfrm>
            <a:off x="5394960" y="1920240"/>
            <a:ext cx="1645920" cy="914"/>
          </a:xfrm>
          <a:prstGeom prst="line">
            <a:avLst/>
          </a:prstGeom>
          <a:noFill/>
          <a:ln w="25400">
            <a:solidFill>
              <a:schemeClr val="accent5"/>
            </a:solidFill>
            <a:prstDash val="solid"/>
            <a:tailEnd type="triangle"/>
          </a:ln>
        </p:spPr>
        <p:txBody>
          <a:bodyPr/>
          <a:lstStyle/>
          <a:p>
            <a:endParaRPr lang="en-US"/>
          </a:p>
        </p:txBody>
      </p:sp>
      <p:sp>
        <p:nvSpPr>
          <p:cNvPr id="13" name="icon-bg-299"/>
          <p:cNvSpPr/>
          <p:nvPr/>
        </p:nvSpPr>
        <p:spPr>
          <a:xfrm>
            <a:off x="7178040" y="1463040"/>
            <a:ext cx="914400" cy="914400"/>
          </a:xfrm>
          <a:prstGeom prst="ellipse">
            <a:avLst/>
          </a:prstGeom>
          <a:solidFill>
            <a:srgbClr val="6C63FF"/>
          </a:solidFill>
          <a:ln w="12700">
            <a:solidFill>
              <a:srgbClr val="6C63FF"/>
            </a:solidFill>
            <a:prstDash val="solid"/>
          </a:ln>
        </p:spPr>
        <p:txBody>
          <a:bodyPr/>
          <a:lstStyle/>
          <a:p>
            <a:endParaRPr lang="en-US"/>
          </a:p>
        </p:txBody>
      </p:sp>
      <p:pic>
        <p:nvPicPr>
          <p:cNvPr id="14" name="icon-300" descr="icon"/>
          <p:cNvPicPr>
            <a:picLocks noChangeAspect="1"/>
          </p:cNvPicPr>
          <p:nvPr/>
        </p:nvPicPr>
        <p:blipFill>
          <a:blip r:embed="rId5"/>
          <a:stretch>
            <a:fillRect/>
          </a:stretch>
        </p:blipFill>
        <p:spPr>
          <a:xfrm>
            <a:off x="7406640" y="1691640"/>
            <a:ext cx="457200" cy="457200"/>
          </a:xfrm>
          <a:prstGeom prst="rect">
            <a:avLst/>
          </a:prstGeom>
        </p:spPr>
      </p:pic>
      <p:sp>
        <p:nvSpPr>
          <p:cNvPr id="15" name="text-301"/>
          <p:cNvSpPr txBox="1"/>
          <p:nvPr/>
        </p:nvSpPr>
        <p:spPr>
          <a:xfrm>
            <a:off x="6309360" y="2514600"/>
            <a:ext cx="2651760" cy="411480"/>
          </a:xfrm>
          <a:prstGeom prst="rect">
            <a:avLst/>
          </a:prstGeom>
          <a:noFill/>
          <a:ln/>
        </p:spPr>
        <p:txBody>
          <a:bodyPr wrap="square" lIns="0" tIns="0" rIns="0" bIns="0" rtlCol="0" anchor="t"/>
          <a:lstStyle/>
          <a:p>
            <a:pPr marL="0" indent="0" algn="ctr">
              <a:buNone/>
            </a:pPr>
            <a:r>
              <a:rPr lang="en-US" sz="1800" b="1" dirty="0">
                <a:solidFill>
                  <a:schemeClr val="tx2"/>
                </a:solidFill>
              </a:rPr>
              <a:t>3 Augment</a:t>
            </a:r>
            <a:endParaRPr lang="en-US" sz="1800" dirty="0"/>
          </a:p>
        </p:txBody>
      </p:sp>
      <p:sp>
        <p:nvSpPr>
          <p:cNvPr id="16" name="text-302"/>
          <p:cNvSpPr txBox="1"/>
          <p:nvPr/>
        </p:nvSpPr>
        <p:spPr>
          <a:xfrm>
            <a:off x="6400800" y="2926080"/>
            <a:ext cx="2468880" cy="822960"/>
          </a:xfrm>
          <a:prstGeom prst="rect">
            <a:avLst/>
          </a:prstGeom>
          <a:noFill/>
          <a:ln/>
        </p:spPr>
        <p:txBody>
          <a:bodyPr wrap="square" lIns="0" tIns="0" rIns="0" bIns="0" rtlCol="0" anchor="t"/>
          <a:lstStyle/>
          <a:p>
            <a:pPr marL="0" indent="0" algn="ctr">
              <a:buNone/>
            </a:pPr>
            <a:r>
              <a:rPr lang="en-US" sz="1400" dirty="0">
                <a:solidFill>
                  <a:schemeClr val="tx1"/>
                </a:solidFill>
              </a:rPr>
              <a:t>Paste top chunks + question into the prompt</a:t>
            </a:r>
            <a:endParaRPr lang="en-US" sz="1400" dirty="0"/>
          </a:p>
        </p:txBody>
      </p:sp>
      <p:sp>
        <p:nvSpPr>
          <p:cNvPr id="17" name="arrow-303"/>
          <p:cNvSpPr/>
          <p:nvPr/>
        </p:nvSpPr>
        <p:spPr>
          <a:xfrm>
            <a:off x="8275320" y="1920240"/>
            <a:ext cx="1645920" cy="914"/>
          </a:xfrm>
          <a:prstGeom prst="line">
            <a:avLst/>
          </a:prstGeom>
          <a:noFill/>
          <a:ln w="25400">
            <a:solidFill>
              <a:schemeClr val="accent5"/>
            </a:solidFill>
            <a:prstDash val="solid"/>
            <a:tailEnd type="triangle"/>
          </a:ln>
        </p:spPr>
        <p:txBody>
          <a:bodyPr/>
          <a:lstStyle/>
          <a:p>
            <a:endParaRPr lang="en-US"/>
          </a:p>
        </p:txBody>
      </p:sp>
      <p:sp>
        <p:nvSpPr>
          <p:cNvPr id="18" name="icon-bg-304"/>
          <p:cNvSpPr/>
          <p:nvPr/>
        </p:nvSpPr>
        <p:spPr>
          <a:xfrm>
            <a:off x="10058400" y="1463040"/>
            <a:ext cx="914400" cy="914400"/>
          </a:xfrm>
          <a:prstGeom prst="ellipse">
            <a:avLst/>
          </a:prstGeom>
          <a:solidFill>
            <a:srgbClr val="D97757"/>
          </a:solidFill>
          <a:ln w="12700">
            <a:solidFill>
              <a:srgbClr val="D97757"/>
            </a:solidFill>
            <a:prstDash val="solid"/>
          </a:ln>
        </p:spPr>
        <p:txBody>
          <a:bodyPr/>
          <a:lstStyle/>
          <a:p>
            <a:endParaRPr lang="en-US"/>
          </a:p>
        </p:txBody>
      </p:sp>
      <p:pic>
        <p:nvPicPr>
          <p:cNvPr id="19" name="icon-305" descr="icon"/>
          <p:cNvPicPr>
            <a:picLocks noChangeAspect="1"/>
          </p:cNvPicPr>
          <p:nvPr/>
        </p:nvPicPr>
        <p:blipFill>
          <a:blip r:embed="rId6"/>
          <a:stretch>
            <a:fillRect/>
          </a:stretch>
        </p:blipFill>
        <p:spPr>
          <a:xfrm>
            <a:off x="10287000" y="1691640"/>
            <a:ext cx="457200" cy="457200"/>
          </a:xfrm>
          <a:prstGeom prst="rect">
            <a:avLst/>
          </a:prstGeom>
        </p:spPr>
      </p:pic>
      <p:sp>
        <p:nvSpPr>
          <p:cNvPr id="20" name="text-306"/>
          <p:cNvSpPr txBox="1"/>
          <p:nvPr/>
        </p:nvSpPr>
        <p:spPr>
          <a:xfrm>
            <a:off x="9189720" y="2514600"/>
            <a:ext cx="2651760" cy="411480"/>
          </a:xfrm>
          <a:prstGeom prst="rect">
            <a:avLst/>
          </a:prstGeom>
          <a:noFill/>
          <a:ln/>
        </p:spPr>
        <p:txBody>
          <a:bodyPr wrap="square" lIns="0" tIns="0" rIns="0" bIns="0" rtlCol="0" anchor="t"/>
          <a:lstStyle/>
          <a:p>
            <a:pPr marL="0" indent="0" algn="ctr">
              <a:buNone/>
            </a:pPr>
            <a:r>
              <a:rPr lang="en-US" sz="1800" b="1" dirty="0">
                <a:solidFill>
                  <a:schemeClr val="tx2"/>
                </a:solidFill>
              </a:rPr>
              <a:t>4 Generate</a:t>
            </a:r>
            <a:endParaRPr lang="en-US" sz="1800" dirty="0"/>
          </a:p>
        </p:txBody>
      </p:sp>
      <p:sp>
        <p:nvSpPr>
          <p:cNvPr id="21" name="text-307"/>
          <p:cNvSpPr txBox="1"/>
          <p:nvPr/>
        </p:nvSpPr>
        <p:spPr>
          <a:xfrm>
            <a:off x="9281160" y="2926080"/>
            <a:ext cx="2468880" cy="822960"/>
          </a:xfrm>
          <a:prstGeom prst="rect">
            <a:avLst/>
          </a:prstGeom>
          <a:noFill/>
          <a:ln/>
        </p:spPr>
        <p:txBody>
          <a:bodyPr wrap="square" lIns="0" tIns="0" rIns="0" bIns="0" rtlCol="0" anchor="t"/>
          <a:lstStyle/>
          <a:p>
            <a:pPr marL="0" indent="0" algn="ctr">
              <a:buNone/>
            </a:pPr>
            <a:r>
              <a:rPr lang="en-US" sz="1400" dirty="0">
                <a:solidFill>
                  <a:schemeClr val="tx1"/>
                </a:solidFill>
              </a:rPr>
              <a:t>LLM answers from the sources, with citations</a:t>
            </a:r>
            <a:endParaRPr lang="en-US" sz="1400" dirty="0"/>
          </a:p>
        </p:txBody>
      </p:sp>
      <p:sp>
        <p:nvSpPr>
          <p:cNvPr id="22" name="card-308"/>
          <p:cNvSpPr/>
          <p:nvPr/>
        </p:nvSpPr>
        <p:spPr>
          <a:xfrm>
            <a:off x="3429000" y="3977640"/>
            <a:ext cx="2651760" cy="914400"/>
          </a:xfrm>
          <a:prstGeom prst="roundRect">
            <a:avLst>
              <a:gd name="adj" fmla="val 10000"/>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3" name="icon-bg-309"/>
          <p:cNvSpPr/>
          <p:nvPr/>
        </p:nvSpPr>
        <p:spPr>
          <a:xfrm>
            <a:off x="3611880" y="4114800"/>
            <a:ext cx="640080" cy="640080"/>
          </a:xfrm>
          <a:prstGeom prst="ellipse">
            <a:avLst/>
          </a:prstGeom>
          <a:solidFill>
            <a:srgbClr val="E9B949"/>
          </a:solidFill>
          <a:ln w="12700">
            <a:solidFill>
              <a:srgbClr val="E9B949"/>
            </a:solidFill>
            <a:prstDash val="solid"/>
          </a:ln>
        </p:spPr>
        <p:txBody>
          <a:bodyPr/>
          <a:lstStyle/>
          <a:p>
            <a:endParaRPr lang="en-US"/>
          </a:p>
        </p:txBody>
      </p:sp>
      <p:pic>
        <p:nvPicPr>
          <p:cNvPr id="24" name="icon-310" descr="icon"/>
          <p:cNvPicPr>
            <a:picLocks noChangeAspect="1"/>
          </p:cNvPicPr>
          <p:nvPr/>
        </p:nvPicPr>
        <p:blipFill>
          <a:blip r:embed="rId7"/>
          <a:stretch>
            <a:fillRect/>
          </a:stretch>
        </p:blipFill>
        <p:spPr>
          <a:xfrm>
            <a:off x="3771900" y="4274820"/>
            <a:ext cx="320040" cy="320040"/>
          </a:xfrm>
          <a:prstGeom prst="rect">
            <a:avLst/>
          </a:prstGeom>
        </p:spPr>
      </p:pic>
      <p:sp>
        <p:nvSpPr>
          <p:cNvPr id="25" name="text-311"/>
          <p:cNvSpPr txBox="1"/>
          <p:nvPr/>
        </p:nvSpPr>
        <p:spPr>
          <a:xfrm>
            <a:off x="4389120" y="3977640"/>
            <a:ext cx="1645920" cy="914400"/>
          </a:xfrm>
          <a:prstGeom prst="rect">
            <a:avLst/>
          </a:prstGeom>
          <a:noFill/>
          <a:ln/>
        </p:spPr>
        <p:txBody>
          <a:bodyPr wrap="square" lIns="0" tIns="0" rIns="0" bIns="0" rtlCol="0" anchor="ctr"/>
          <a:lstStyle/>
          <a:p>
            <a:pPr marL="0" indent="0" algn="l">
              <a:buNone/>
            </a:pPr>
            <a:r>
              <a:rPr lang="en-US" sz="1300" b="1" dirty="0">
                <a:solidFill>
                  <a:schemeClr val="tx2"/>
                </a:solidFill>
              </a:rPr>
              <a:t>Vector store of your documents</a:t>
            </a:r>
            <a:endParaRPr lang="en-US" sz="1300" dirty="0"/>
          </a:p>
        </p:txBody>
      </p:sp>
      <p:sp>
        <p:nvSpPr>
          <p:cNvPr id="26" name="arrow-312"/>
          <p:cNvSpPr/>
          <p:nvPr/>
        </p:nvSpPr>
        <p:spPr>
          <a:xfrm flipV="1">
            <a:off x="4754880" y="3767328"/>
            <a:ext cx="914" cy="210312"/>
          </a:xfrm>
          <a:prstGeom prst="line">
            <a:avLst/>
          </a:prstGeom>
          <a:noFill/>
          <a:ln w="25400">
            <a:solidFill>
              <a:schemeClr val="accent4"/>
            </a:solidFill>
            <a:prstDash val="solid"/>
            <a:tailEnd type="triangle"/>
          </a:ln>
        </p:spPr>
        <p:txBody>
          <a:bodyPr/>
          <a:lstStyle/>
          <a:p>
            <a:endParaRPr lang="en-US"/>
          </a:p>
        </p:txBody>
      </p:sp>
      <p:sp>
        <p:nvSpPr>
          <p:cNvPr id="27" name="card-313"/>
          <p:cNvSpPr/>
          <p:nvPr/>
        </p:nvSpPr>
        <p:spPr>
          <a:xfrm>
            <a:off x="548640" y="5212080"/>
            <a:ext cx="11064240" cy="914400"/>
          </a:xfrm>
          <a:prstGeom prst="roundRect">
            <a:avLst>
              <a:gd name="adj" fmla="val 10000"/>
            </a:avLst>
          </a:prstGeom>
          <a:solidFill>
            <a:schemeClr val="tx2"/>
          </a:solidFill>
          <a:ln w="9525">
            <a:solidFill>
              <a:schemeClr val="tx2"/>
            </a:solidFill>
            <a:prstDash val="solid"/>
          </a:ln>
          <a:effectLst>
            <a:outerShdw blurRad="101600" dist="25400" dir="5400000" algn="bl" rotWithShape="0">
              <a:srgbClr val="000000">
                <a:alpha val="12000"/>
              </a:srgbClr>
            </a:outerShdw>
          </a:effectLst>
        </p:spPr>
        <p:txBody>
          <a:bodyPr/>
          <a:lstStyle/>
          <a:p>
            <a:endParaRPr lang="en-US"/>
          </a:p>
        </p:txBody>
      </p:sp>
      <p:sp>
        <p:nvSpPr>
          <p:cNvPr id="28" name="text-314"/>
          <p:cNvSpPr txBox="1"/>
          <p:nvPr/>
        </p:nvSpPr>
        <p:spPr>
          <a:xfrm>
            <a:off x="822960" y="5212080"/>
            <a:ext cx="10607040" cy="914400"/>
          </a:xfrm>
          <a:prstGeom prst="rect">
            <a:avLst/>
          </a:prstGeom>
          <a:noFill/>
          <a:ln/>
        </p:spPr>
        <p:txBody>
          <a:bodyPr wrap="square" lIns="0" tIns="0" rIns="0" bIns="0" rtlCol="0" anchor="ctr"/>
          <a:lstStyle/>
          <a:p>
            <a:pPr marL="0" indent="0" algn="l">
              <a:buNone/>
            </a:pPr>
            <a:r>
              <a:rPr lang="en-US" sz="1500" b="1" dirty="0">
                <a:solidFill>
                  <a:schemeClr val="accent4"/>
                </a:solidFill>
              </a:rPr>
              <a:t>Why it works: </a:t>
            </a:r>
            <a:r>
              <a:rPr lang="en-US" sz="1500" dirty="0">
                <a:solidFill>
                  <a:schemeClr val="bg1"/>
                </a:solidFill>
              </a:rPr>
              <a:t>the model doesn't need to memorize your data — it reads it at question time. Cheaper than retraining, always up to date, and answers can cite their sources.</a:t>
            </a:r>
            <a:endParaRPr lang="en-US" sz="15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0014-B21A-BF00-B377-448940AD1A09}"/>
              </a:ext>
            </a:extLst>
          </p:cNvPr>
          <p:cNvSpPr>
            <a:spLocks noGrp="1"/>
          </p:cNvSpPr>
          <p:nvPr>
            <p:ph type="title" idx="100"/>
          </p:nvPr>
        </p:nvSpPr>
        <p:spPr/>
        <p:txBody>
          <a:bodyPr/>
          <a:lstStyle/>
          <a:p>
            <a:r>
              <a:rPr lang="en-US" dirty="0"/>
              <a:t>RAG keeps your documents outside the LLM</a:t>
            </a:r>
          </a:p>
        </p:txBody>
      </p:sp>
      <p:sp>
        <p:nvSpPr>
          <p:cNvPr id="100" name="panel-left"/>
          <p:cNvSpPr/>
          <p:nvPr/>
        </p:nvSpPr>
        <p:spPr>
          <a:xfrm>
            <a:off x="546100" y="1320800"/>
            <a:ext cx="6057900" cy="3759200"/>
          </a:xfrm>
          <a:prstGeom prst="roundRect">
            <a:avLst>
              <a:gd name="adj" fmla="val 10000"/>
            </a:avLst>
          </a:prstGeom>
          <a:solidFill>
            <a:schemeClr val="bg2"/>
          </a:solidFill>
          <a:ln>
            <a:noFill/>
          </a:ln>
        </p:spPr>
        <p:txBody>
          <a:bodyPr wrap="square" lIns="0" tIns="0" rIns="0" bIns="0" anchor="ctr">
            <a:noAutofit/>
          </a:bodyPr>
          <a:lstStyle/>
          <a:p>
            <a:endParaRPr lang="en-US"/>
          </a:p>
        </p:txBody>
      </p:sp>
      <p:sp>
        <p:nvSpPr>
          <p:cNvPr id="101" name="panel-head"/>
          <p:cNvSpPr/>
          <p:nvPr/>
        </p:nvSpPr>
        <p:spPr>
          <a:xfrm>
            <a:off x="749300" y="1447800"/>
            <a:ext cx="5651500" cy="279400"/>
          </a:xfrm>
          <a:prstGeom prst="rect">
            <a:avLst/>
          </a:prstGeom>
          <a:noFill/>
          <a:ln>
            <a:noFill/>
          </a:ln>
        </p:spPr>
        <p:txBody>
          <a:bodyPr wrap="square" lIns="0" tIns="0" rIns="0" bIns="0" anchor="t">
            <a:noAutofit/>
          </a:bodyPr>
          <a:lstStyle/>
          <a:p>
            <a:pPr algn="l">
              <a:buNone/>
            </a:pPr>
            <a:r>
              <a:rPr lang="en-US" sz="1400" b="1" dirty="0">
                <a:solidFill>
                  <a:schemeClr val="tx2"/>
                </a:solidFill>
              </a:rPr>
              <a:t>Retrieval system: your code + a database</a:t>
            </a:r>
          </a:p>
        </p:txBody>
      </p:sp>
      <p:sp>
        <p:nvSpPr>
          <p:cNvPr id="102" name="panel-right"/>
          <p:cNvSpPr/>
          <p:nvPr/>
        </p:nvSpPr>
        <p:spPr>
          <a:xfrm>
            <a:off x="6921500" y="1320800"/>
            <a:ext cx="4686300" cy="3759200"/>
          </a:xfrm>
          <a:prstGeom prst="roundRect">
            <a:avLst>
              <a:gd name="adj" fmla="val 10000"/>
            </a:avLst>
          </a:prstGeom>
          <a:solidFill>
            <a:schemeClr val="bg2"/>
          </a:solidFill>
          <a:ln>
            <a:noFill/>
          </a:ln>
        </p:spPr>
        <p:txBody>
          <a:bodyPr wrap="square" lIns="0" tIns="0" rIns="0" bIns="0" anchor="ctr">
            <a:noAutofit/>
          </a:bodyPr>
          <a:lstStyle/>
          <a:p>
            <a:endParaRPr lang="en-US"/>
          </a:p>
        </p:txBody>
      </p:sp>
      <p:sp>
        <p:nvSpPr>
          <p:cNvPr id="103" name="panel-head"/>
          <p:cNvSpPr/>
          <p:nvPr/>
        </p:nvSpPr>
        <p:spPr>
          <a:xfrm>
            <a:off x="7124700" y="1447800"/>
            <a:ext cx="4279900" cy="279400"/>
          </a:xfrm>
          <a:prstGeom prst="rect">
            <a:avLst/>
          </a:prstGeom>
          <a:noFill/>
          <a:ln>
            <a:noFill/>
          </a:ln>
        </p:spPr>
        <p:txBody>
          <a:bodyPr wrap="square" lIns="0" tIns="0" rIns="0" bIns="0" anchor="t">
            <a:noAutofit/>
          </a:bodyPr>
          <a:lstStyle/>
          <a:p>
            <a:pPr algn="l">
              <a:buNone/>
            </a:pPr>
            <a:r>
              <a:rPr lang="en-US" sz="1400" b="1" dirty="0">
                <a:solidFill>
                  <a:schemeClr val="tx2"/>
                </a:solidFill>
              </a:rPr>
              <a:t>LLM: weights never change</a:t>
            </a:r>
          </a:p>
        </p:txBody>
      </p:sp>
      <p:sp>
        <p:nvSpPr>
          <p:cNvPr id="104" name="card"/>
          <p:cNvSpPr/>
          <p:nvPr/>
        </p:nvSpPr>
        <p:spPr>
          <a:xfrm>
            <a:off x="800100" y="1905000"/>
            <a:ext cx="1778000" cy="762000"/>
          </a:xfrm>
          <a:prstGeom prst="roundRect">
            <a:avLst>
              <a:gd name="adj" fmla="val 10000"/>
            </a:avLst>
          </a:prstGeom>
          <a:solidFill>
            <a:schemeClr val="bg1"/>
          </a:solidFill>
          <a:ln w="12700">
            <a:solidFill>
              <a:srgbClr val="D5D8E3"/>
            </a:solidFill>
          </a:ln>
        </p:spPr>
        <p:txBody>
          <a:bodyPr wrap="square" lIns="127000" tIns="0" rIns="127000" bIns="0" anchor="ctr">
            <a:noAutofit/>
          </a:bodyPr>
          <a:lstStyle/>
          <a:p>
            <a:pPr algn="ctr">
              <a:spcAft>
                <a:spcPts val="200"/>
              </a:spcAft>
              <a:buNone/>
            </a:pPr>
            <a:r>
              <a:rPr lang="en-US" sz="1400" b="1" dirty="0">
                <a:solidFill>
                  <a:schemeClr val="tx2"/>
                </a:solidFill>
              </a:rPr>
              <a:t>Your documents</a:t>
            </a:r>
          </a:p>
          <a:p>
            <a:pPr algn="ctr">
              <a:buNone/>
            </a:pPr>
            <a:r>
              <a:rPr lang="en-US" sz="1200" dirty="0">
                <a:solidFill>
                  <a:srgbClr val="5A6075"/>
                </a:solidFill>
              </a:rPr>
              <a:t>split into chunks</a:t>
            </a:r>
          </a:p>
        </p:txBody>
      </p:sp>
      <p:sp>
        <p:nvSpPr>
          <p:cNvPr id="105" name="card"/>
          <p:cNvSpPr/>
          <p:nvPr/>
        </p:nvSpPr>
        <p:spPr>
          <a:xfrm>
            <a:off x="800100" y="3987800"/>
            <a:ext cx="1778000" cy="762000"/>
          </a:xfrm>
          <a:prstGeom prst="roundRect">
            <a:avLst>
              <a:gd name="adj" fmla="val 10000"/>
            </a:avLst>
          </a:prstGeom>
          <a:solidFill>
            <a:schemeClr val="bg1"/>
          </a:solidFill>
          <a:ln w="12700">
            <a:solidFill>
              <a:srgbClr val="D5D8E3"/>
            </a:solidFill>
          </a:ln>
        </p:spPr>
        <p:txBody>
          <a:bodyPr wrap="square" lIns="127000" tIns="0" rIns="127000" bIns="0" anchor="ctr">
            <a:noAutofit/>
          </a:bodyPr>
          <a:lstStyle/>
          <a:p>
            <a:pPr algn="ctr">
              <a:spcAft>
                <a:spcPts val="200"/>
              </a:spcAft>
              <a:buNone/>
            </a:pPr>
            <a:r>
              <a:rPr lang="en-US" sz="1400" b="1" dirty="0">
                <a:solidFill>
                  <a:schemeClr val="tx2"/>
                </a:solidFill>
              </a:rPr>
              <a:t>Question</a:t>
            </a:r>
          </a:p>
          <a:p>
            <a:pPr algn="ctr">
              <a:buNone/>
            </a:pPr>
            <a:r>
              <a:rPr lang="en-US" sz="1200" dirty="0">
                <a:solidFill>
                  <a:srgbClr val="5A6075"/>
                </a:solidFill>
              </a:rPr>
              <a:t>“Refund policy?”</a:t>
            </a:r>
          </a:p>
        </p:txBody>
      </p:sp>
      <p:sp>
        <p:nvSpPr>
          <p:cNvPr id="106" name="card"/>
          <p:cNvSpPr/>
          <p:nvPr/>
        </p:nvSpPr>
        <p:spPr>
          <a:xfrm>
            <a:off x="2946400" y="2819400"/>
            <a:ext cx="1625600" cy="965200"/>
          </a:xfrm>
          <a:prstGeom prst="roundRect">
            <a:avLst>
              <a:gd name="adj" fmla="val 10000"/>
            </a:avLst>
          </a:prstGeom>
          <a:solidFill>
            <a:schemeClr val="accent2"/>
          </a:solidFill>
          <a:ln>
            <a:noFill/>
          </a:ln>
        </p:spPr>
        <p:txBody>
          <a:bodyPr wrap="square" lIns="127000" tIns="0" rIns="127000" bIns="0" anchor="ctr">
            <a:noAutofit/>
          </a:bodyPr>
          <a:lstStyle/>
          <a:p>
            <a:pPr algn="ctr">
              <a:spcAft>
                <a:spcPts val="200"/>
              </a:spcAft>
              <a:buNone/>
            </a:pPr>
            <a:r>
              <a:rPr lang="en-US" sz="1400" b="1" dirty="0">
                <a:solidFill>
                  <a:schemeClr val="bg1"/>
                </a:solidFill>
              </a:rPr>
              <a:t>Embedding model</a:t>
            </a:r>
          </a:p>
          <a:p>
            <a:pPr algn="ctr">
              <a:buNone/>
            </a:pPr>
            <a:r>
              <a:rPr lang="en-US" sz="1200" dirty="0">
                <a:solidFill>
                  <a:schemeClr val="bg1"/>
                </a:solidFill>
              </a:rPr>
              <a:t>same model for both</a:t>
            </a:r>
          </a:p>
        </p:txBody>
      </p:sp>
      <p:sp>
        <p:nvSpPr>
          <p:cNvPr id="107" name="card"/>
          <p:cNvSpPr/>
          <p:nvPr/>
        </p:nvSpPr>
        <p:spPr>
          <a:xfrm>
            <a:off x="4876800" y="2819400"/>
            <a:ext cx="1524000" cy="965200"/>
          </a:xfrm>
          <a:prstGeom prst="roundRect">
            <a:avLst>
              <a:gd name="adj" fmla="val 10000"/>
            </a:avLst>
          </a:prstGeom>
          <a:solidFill>
            <a:schemeClr val="accent4"/>
          </a:solidFill>
          <a:ln>
            <a:noFill/>
          </a:ln>
        </p:spPr>
        <p:txBody>
          <a:bodyPr wrap="square" lIns="127000" tIns="0" rIns="127000" bIns="0" anchor="ctr">
            <a:noAutofit/>
          </a:bodyPr>
          <a:lstStyle/>
          <a:p>
            <a:pPr algn="ctr">
              <a:spcAft>
                <a:spcPts val="200"/>
              </a:spcAft>
              <a:buNone/>
            </a:pPr>
            <a:r>
              <a:rPr lang="en-US" sz="1400" b="1" dirty="0">
                <a:solidFill>
                  <a:schemeClr val="tx2"/>
                </a:solidFill>
              </a:rPr>
              <a:t>Vector store</a:t>
            </a:r>
          </a:p>
          <a:p>
            <a:pPr algn="ctr">
              <a:buNone/>
            </a:pPr>
            <a:r>
              <a:rPr lang="en-US" sz="1200" dirty="0">
                <a:solidFill>
                  <a:srgbClr val="5A6075"/>
                </a:solidFill>
              </a:rPr>
              <a:t>vectors + text</a:t>
            </a:r>
          </a:p>
        </p:txBody>
      </p:sp>
      <p:sp>
        <p:nvSpPr>
          <p:cNvPr id="108" name="arrow"/>
          <p:cNvSpPr/>
          <p:nvPr/>
        </p:nvSpPr>
        <p:spPr>
          <a:xfrm>
            <a:off x="2578100" y="2286000"/>
            <a:ext cx="1181100" cy="508000"/>
          </a:xfrm>
          <a:custGeom>
            <a:avLst/>
            <a:gdLst/>
            <a:ahLst/>
            <a:cxnLst/>
            <a:rect l="0" t="0" r="r" b="b"/>
            <a:pathLst>
              <a:path w="1181100" h="508000" fill="none">
                <a:moveTo>
                  <a:pt x="0" y="0"/>
                </a:moveTo>
                <a:lnTo>
                  <a:pt x="1181100" y="0"/>
                </a:lnTo>
                <a:lnTo>
                  <a:pt x="1181100" y="508000"/>
                </a:lnTo>
              </a:path>
            </a:pathLst>
          </a:custGeom>
          <a:noFill/>
          <a:ln w="19050">
            <a:solidFill>
              <a:srgbClr val="8A90A6"/>
            </a:solidFill>
            <a:prstDash val="dash"/>
            <a:tailEnd type="triangle"/>
          </a:ln>
        </p:spPr>
        <p:txBody>
          <a:bodyPr/>
          <a:lstStyle/>
          <a:p>
            <a:endParaRPr lang="en-US"/>
          </a:p>
        </p:txBody>
      </p:sp>
      <p:sp>
        <p:nvSpPr>
          <p:cNvPr id="109" name="lbl"/>
          <p:cNvSpPr/>
          <p:nvPr/>
        </p:nvSpPr>
        <p:spPr>
          <a:xfrm>
            <a:off x="2667000" y="2032000"/>
            <a:ext cx="1143000" cy="203200"/>
          </a:xfrm>
          <a:prstGeom prst="rect">
            <a:avLst/>
          </a:prstGeom>
          <a:noFill/>
          <a:ln>
            <a:noFill/>
          </a:ln>
        </p:spPr>
        <p:txBody>
          <a:bodyPr wrap="square" lIns="0" tIns="0" rIns="0" bIns="0" anchor="ctr">
            <a:noAutofit/>
          </a:bodyPr>
          <a:lstStyle/>
          <a:p>
            <a:pPr algn="l">
              <a:buNone/>
            </a:pPr>
            <a:r>
              <a:rPr lang="en-US" sz="1100" i="1" dirty="0">
                <a:solidFill>
                  <a:srgbClr val="5A6075"/>
                </a:solidFill>
              </a:rPr>
              <a:t>Ahead of time</a:t>
            </a:r>
          </a:p>
        </p:txBody>
      </p:sp>
      <p:sp>
        <p:nvSpPr>
          <p:cNvPr id="110" name="arrow"/>
          <p:cNvSpPr/>
          <p:nvPr/>
        </p:nvSpPr>
        <p:spPr>
          <a:xfrm>
            <a:off x="2578100" y="3810000"/>
            <a:ext cx="1181100" cy="558800"/>
          </a:xfrm>
          <a:custGeom>
            <a:avLst/>
            <a:gdLst/>
            <a:ahLst/>
            <a:cxnLst/>
            <a:rect l="0" t="0" r="r" b="b"/>
            <a:pathLst>
              <a:path w="1181100" h="558800" fill="none">
                <a:moveTo>
                  <a:pt x="0" y="558800"/>
                </a:moveTo>
                <a:lnTo>
                  <a:pt x="1181100" y="558800"/>
                </a:lnTo>
                <a:lnTo>
                  <a:pt x="1181100" y="0"/>
                </a:lnTo>
              </a:path>
            </a:pathLst>
          </a:custGeom>
          <a:noFill/>
          <a:ln w="22225">
            <a:solidFill>
              <a:schemeClr val="accent1"/>
            </a:solidFill>
            <a:tailEnd type="triangle"/>
          </a:ln>
        </p:spPr>
        <p:txBody>
          <a:bodyPr/>
          <a:lstStyle/>
          <a:p>
            <a:endParaRPr lang="en-US"/>
          </a:p>
        </p:txBody>
      </p:sp>
      <p:sp>
        <p:nvSpPr>
          <p:cNvPr id="111" name="lbl"/>
          <p:cNvSpPr/>
          <p:nvPr/>
        </p:nvSpPr>
        <p:spPr>
          <a:xfrm>
            <a:off x="2667000" y="4419600"/>
            <a:ext cx="1397000" cy="203200"/>
          </a:xfrm>
          <a:prstGeom prst="rect">
            <a:avLst/>
          </a:prstGeom>
          <a:noFill/>
          <a:ln>
            <a:noFill/>
          </a:ln>
        </p:spPr>
        <p:txBody>
          <a:bodyPr wrap="square" lIns="0" tIns="0" rIns="0" bIns="0" anchor="ctr">
            <a:noAutofit/>
          </a:bodyPr>
          <a:lstStyle/>
          <a:p>
            <a:pPr algn="l">
              <a:buNone/>
            </a:pPr>
            <a:r>
              <a:rPr lang="en-US" sz="1100" i="1" dirty="0">
                <a:solidFill>
                  <a:schemeClr val="accent1"/>
                </a:solidFill>
              </a:rPr>
              <a:t>At question time</a:t>
            </a:r>
          </a:p>
        </p:txBody>
      </p:sp>
      <p:sp>
        <p:nvSpPr>
          <p:cNvPr id="112" name="arrow"/>
          <p:cNvSpPr/>
          <p:nvPr/>
        </p:nvSpPr>
        <p:spPr>
          <a:xfrm>
            <a:off x="4572000" y="3302000"/>
            <a:ext cx="279400" cy="6350"/>
          </a:xfrm>
          <a:custGeom>
            <a:avLst/>
            <a:gdLst/>
            <a:ahLst/>
            <a:cxnLst/>
            <a:rect l="0" t="0" r="r" b="b"/>
            <a:pathLst>
              <a:path w="279400" h="6350" fill="none">
                <a:moveTo>
                  <a:pt x="0" y="0"/>
                </a:moveTo>
                <a:lnTo>
                  <a:pt x="279400" y="0"/>
                </a:lnTo>
              </a:path>
            </a:pathLst>
          </a:custGeom>
          <a:noFill/>
          <a:ln w="19050">
            <a:solidFill>
              <a:srgbClr val="8A90A6"/>
            </a:solidFill>
            <a:tailEnd type="triangle"/>
          </a:ln>
        </p:spPr>
        <p:txBody>
          <a:bodyPr/>
          <a:lstStyle/>
          <a:p>
            <a:endParaRPr lang="en-US"/>
          </a:p>
        </p:txBody>
      </p:sp>
      <p:sp>
        <p:nvSpPr>
          <p:cNvPr id="113" name="lbl"/>
          <p:cNvSpPr/>
          <p:nvPr/>
        </p:nvSpPr>
        <p:spPr>
          <a:xfrm>
            <a:off x="4876800" y="3886200"/>
            <a:ext cx="1574800" cy="431800"/>
          </a:xfrm>
          <a:prstGeom prst="rect">
            <a:avLst/>
          </a:prstGeom>
          <a:noFill/>
          <a:ln>
            <a:noFill/>
          </a:ln>
        </p:spPr>
        <p:txBody>
          <a:bodyPr wrap="square" lIns="0" tIns="0" rIns="0" bIns="0" anchor="t">
            <a:noAutofit/>
          </a:bodyPr>
          <a:lstStyle/>
          <a:p>
            <a:pPr algn="ctr">
              <a:buNone/>
            </a:pPr>
            <a:r>
              <a:rPr lang="en-US" sz="1100" b="1" dirty="0">
                <a:solidFill>
                  <a:schemeClr val="accent1"/>
                </a:solidFill>
              </a:rPr>
              <a:t>Top 3 chunks, as text</a:t>
            </a:r>
          </a:p>
        </p:txBody>
      </p:sp>
      <p:sp>
        <p:nvSpPr>
          <p:cNvPr id="114" name="text-arrow"/>
          <p:cNvSpPr/>
          <p:nvPr/>
        </p:nvSpPr>
        <p:spPr>
          <a:xfrm>
            <a:off x="6400800" y="2387600"/>
            <a:ext cx="749300" cy="762000"/>
          </a:xfrm>
          <a:custGeom>
            <a:avLst/>
            <a:gdLst/>
            <a:ahLst/>
            <a:cxnLst/>
            <a:rect l="0" t="0" r="r" b="b"/>
            <a:pathLst>
              <a:path w="749300" h="762000" fill="none">
                <a:moveTo>
                  <a:pt x="0" y="762000"/>
                </a:moveTo>
                <a:lnTo>
                  <a:pt x="355600" y="762000"/>
                </a:lnTo>
                <a:lnTo>
                  <a:pt x="355600" y="0"/>
                </a:lnTo>
                <a:lnTo>
                  <a:pt x="749300" y="0"/>
                </a:lnTo>
              </a:path>
            </a:pathLst>
          </a:custGeom>
          <a:noFill/>
          <a:ln w="22225">
            <a:solidFill>
              <a:schemeClr val="accent1"/>
            </a:solidFill>
            <a:tailEnd type="triangle"/>
          </a:ln>
        </p:spPr>
        <p:txBody>
          <a:bodyPr/>
          <a:lstStyle/>
          <a:p>
            <a:endParaRPr lang="en-US"/>
          </a:p>
        </p:txBody>
      </p:sp>
      <p:sp>
        <p:nvSpPr>
          <p:cNvPr id="115" name="prompt"/>
          <p:cNvSpPr/>
          <p:nvPr/>
        </p:nvSpPr>
        <p:spPr>
          <a:xfrm>
            <a:off x="7175500" y="1905000"/>
            <a:ext cx="4178300" cy="965200"/>
          </a:xfrm>
          <a:prstGeom prst="roundRect">
            <a:avLst>
              <a:gd name="adj" fmla="val 10000"/>
            </a:avLst>
          </a:prstGeom>
          <a:solidFill>
            <a:schemeClr val="bg1"/>
          </a:solidFill>
          <a:ln w="12700">
            <a:solidFill>
              <a:srgbClr val="D5D8E3"/>
            </a:solidFill>
          </a:ln>
        </p:spPr>
        <p:txBody>
          <a:bodyPr wrap="square" lIns="152400" tIns="0" rIns="152400" bIns="0" anchor="ctr">
            <a:noAutofit/>
          </a:bodyPr>
          <a:lstStyle/>
          <a:p>
            <a:pPr algn="l">
              <a:spcAft>
                <a:spcPts val="200"/>
              </a:spcAft>
              <a:buNone/>
            </a:pPr>
            <a:r>
              <a:rPr lang="en-US" sz="1400" b="1" dirty="0">
                <a:solidFill>
                  <a:schemeClr val="tx2"/>
                </a:solidFill>
              </a:rPr>
              <a:t>Prompt (text only)</a:t>
            </a:r>
          </a:p>
          <a:p>
            <a:pPr algn="l">
              <a:buNone/>
            </a:pPr>
            <a:r>
              <a:rPr lang="en-US" sz="1200" dirty="0">
                <a:solidFill>
                  <a:srgbClr val="5A6075"/>
                </a:solidFill>
              </a:rPr>
              <a:t>Sources: “Refunds within 30 days…” “How to return an item…”  Question: Refund policy?</a:t>
            </a:r>
          </a:p>
        </p:txBody>
      </p:sp>
      <p:sp>
        <p:nvSpPr>
          <p:cNvPr id="116" name="arrow"/>
          <p:cNvSpPr/>
          <p:nvPr/>
        </p:nvSpPr>
        <p:spPr>
          <a:xfrm>
            <a:off x="9258300" y="2870200"/>
            <a:ext cx="6350" cy="228600"/>
          </a:xfrm>
          <a:custGeom>
            <a:avLst/>
            <a:gdLst/>
            <a:ahLst/>
            <a:cxnLst/>
            <a:rect l="0" t="0" r="r" b="b"/>
            <a:pathLst>
              <a:path w="6350" h="228600" fill="none">
                <a:moveTo>
                  <a:pt x="0" y="0"/>
                </a:moveTo>
                <a:lnTo>
                  <a:pt x="0" y="228600"/>
                </a:lnTo>
              </a:path>
            </a:pathLst>
          </a:custGeom>
          <a:noFill/>
          <a:ln w="19050">
            <a:solidFill>
              <a:srgbClr val="8A90A6"/>
            </a:solidFill>
            <a:tailEnd type="triangle"/>
          </a:ln>
        </p:spPr>
        <p:txBody>
          <a:bodyPr/>
          <a:lstStyle/>
          <a:p>
            <a:endParaRPr lang="en-US"/>
          </a:p>
        </p:txBody>
      </p:sp>
      <p:sp>
        <p:nvSpPr>
          <p:cNvPr id="117" name="card"/>
          <p:cNvSpPr/>
          <p:nvPr/>
        </p:nvSpPr>
        <p:spPr>
          <a:xfrm>
            <a:off x="7175500" y="3124200"/>
            <a:ext cx="4178300" cy="736600"/>
          </a:xfrm>
          <a:prstGeom prst="roundRect">
            <a:avLst>
              <a:gd name="adj" fmla="val 10000"/>
            </a:avLst>
          </a:prstGeom>
          <a:solidFill>
            <a:schemeClr val="tx2"/>
          </a:solidFill>
          <a:ln>
            <a:noFill/>
          </a:ln>
        </p:spPr>
        <p:txBody>
          <a:bodyPr wrap="square" lIns="127000" tIns="0" rIns="127000" bIns="0" anchor="ctr">
            <a:noAutofit/>
          </a:bodyPr>
          <a:lstStyle/>
          <a:p>
            <a:pPr algn="ctr">
              <a:spcAft>
                <a:spcPts val="200"/>
              </a:spcAft>
              <a:buNone/>
            </a:pPr>
            <a:r>
              <a:rPr lang="en-US" sz="1400" b="1" dirty="0">
                <a:solidFill>
                  <a:schemeClr val="bg1"/>
                </a:solidFill>
              </a:rPr>
              <a:t>LLM</a:t>
            </a:r>
          </a:p>
          <a:p>
            <a:pPr algn="ctr">
              <a:buNone/>
            </a:pPr>
            <a:r>
              <a:rPr lang="en-US" sz="1200" dirty="0">
                <a:solidFill>
                  <a:schemeClr val="bg1"/>
                </a:solidFill>
              </a:rPr>
              <a:t>attention reads the sources, plus its own knowledge</a:t>
            </a:r>
          </a:p>
        </p:txBody>
      </p:sp>
      <p:sp>
        <p:nvSpPr>
          <p:cNvPr id="118" name="arrow"/>
          <p:cNvSpPr/>
          <p:nvPr/>
        </p:nvSpPr>
        <p:spPr>
          <a:xfrm>
            <a:off x="9258300" y="3860800"/>
            <a:ext cx="6350" cy="228600"/>
          </a:xfrm>
          <a:custGeom>
            <a:avLst/>
            <a:gdLst/>
            <a:ahLst/>
            <a:cxnLst/>
            <a:rect l="0" t="0" r="r" b="b"/>
            <a:pathLst>
              <a:path w="6350" h="228600" fill="none">
                <a:moveTo>
                  <a:pt x="0" y="0"/>
                </a:moveTo>
                <a:lnTo>
                  <a:pt x="0" y="228600"/>
                </a:lnTo>
              </a:path>
            </a:pathLst>
          </a:custGeom>
          <a:noFill/>
          <a:ln w="19050">
            <a:solidFill>
              <a:srgbClr val="8A90A6"/>
            </a:solidFill>
            <a:tailEnd type="triangle"/>
          </a:ln>
        </p:spPr>
        <p:txBody>
          <a:bodyPr/>
          <a:lstStyle/>
          <a:p>
            <a:endParaRPr lang="en-US"/>
          </a:p>
        </p:txBody>
      </p:sp>
      <p:sp>
        <p:nvSpPr>
          <p:cNvPr id="119" name="card"/>
          <p:cNvSpPr/>
          <p:nvPr/>
        </p:nvSpPr>
        <p:spPr>
          <a:xfrm>
            <a:off x="7175500" y="4114800"/>
            <a:ext cx="4178300" cy="711200"/>
          </a:xfrm>
          <a:prstGeom prst="roundRect">
            <a:avLst>
              <a:gd name="adj" fmla="val 10000"/>
            </a:avLst>
          </a:prstGeom>
          <a:solidFill>
            <a:schemeClr val="bg1"/>
          </a:solidFill>
          <a:ln w="12700">
            <a:solidFill>
              <a:srgbClr val="D5D8E3"/>
            </a:solidFill>
          </a:ln>
        </p:spPr>
        <p:txBody>
          <a:bodyPr wrap="square" lIns="127000" tIns="0" rIns="127000" bIns="0" anchor="ctr">
            <a:noAutofit/>
          </a:bodyPr>
          <a:lstStyle/>
          <a:p>
            <a:pPr algn="ctr">
              <a:spcAft>
                <a:spcPts val="200"/>
              </a:spcAft>
              <a:buNone/>
            </a:pPr>
            <a:r>
              <a:rPr lang="en-US" sz="1400" b="1" dirty="0">
                <a:solidFill>
                  <a:schemeClr val="tx2"/>
                </a:solidFill>
              </a:rPr>
              <a:t>Answer</a:t>
            </a:r>
          </a:p>
          <a:p>
            <a:pPr algn="ctr">
              <a:buNone/>
            </a:pPr>
            <a:r>
              <a:rPr lang="en-US" sz="1200" dirty="0">
                <a:solidFill>
                  <a:srgbClr val="5A6075"/>
                </a:solidFill>
              </a:rPr>
              <a:t>citing the sources it was given</a:t>
            </a:r>
          </a:p>
        </p:txBody>
      </p:sp>
      <p:sp>
        <p:nvSpPr>
          <p:cNvPr id="120" name="rule"/>
          <p:cNvSpPr/>
          <p:nvPr/>
        </p:nvSpPr>
        <p:spPr>
          <a:xfrm>
            <a:off x="546100" y="5334000"/>
            <a:ext cx="5334000" cy="38100"/>
          </a:xfrm>
          <a:prstGeom prst="rect">
            <a:avLst/>
          </a:prstGeom>
          <a:solidFill>
            <a:schemeClr val="tx2"/>
          </a:solidFill>
          <a:ln>
            <a:noFill/>
          </a:ln>
        </p:spPr>
        <p:txBody>
          <a:bodyPr wrap="square" lIns="0" tIns="0" rIns="0" bIns="0" anchor="ctr">
            <a:noAutofit/>
          </a:bodyPr>
          <a:lstStyle/>
          <a:p>
            <a:endParaRPr lang="en-US"/>
          </a:p>
        </p:txBody>
      </p:sp>
      <p:sp>
        <p:nvSpPr>
          <p:cNvPr id="121" name="note"/>
          <p:cNvSpPr/>
          <p:nvPr/>
        </p:nvSpPr>
        <p:spPr>
          <a:xfrm>
            <a:off x="546100" y="5486400"/>
            <a:ext cx="5334000" cy="889000"/>
          </a:xfrm>
          <a:prstGeom prst="rect">
            <a:avLst/>
          </a:prstGeom>
          <a:noFill/>
          <a:ln>
            <a:noFill/>
          </a:ln>
        </p:spPr>
        <p:txBody>
          <a:bodyPr wrap="square" lIns="0" tIns="0" rIns="0" bIns="0" anchor="t">
            <a:noAutofit/>
          </a:bodyPr>
          <a:lstStyle/>
          <a:p>
            <a:pPr algn="l">
              <a:spcAft>
                <a:spcPts val="400"/>
              </a:spcAft>
              <a:buNone/>
            </a:pPr>
            <a:r>
              <a:rPr lang="en-US" sz="1600" b="1" dirty="0">
                <a:solidFill>
                  <a:schemeClr val="tx2"/>
                </a:solidFill>
              </a:rPr>
              <a:t>Weak match? Use a cut-off</a:t>
            </a:r>
          </a:p>
          <a:p>
            <a:pPr algn="l">
              <a:buNone/>
            </a:pPr>
            <a:r>
              <a:rPr lang="en-US" sz="1400" dirty="0">
                <a:solidFill>
                  <a:srgbClr val="5A6075"/>
                </a:solidFill>
              </a:rPr>
              <a:t>If the best score is low, pass no chunks and say the documents don’t cover it.</a:t>
            </a:r>
          </a:p>
        </p:txBody>
      </p:sp>
      <p:sp>
        <p:nvSpPr>
          <p:cNvPr id="122" name="rule"/>
          <p:cNvSpPr/>
          <p:nvPr/>
        </p:nvSpPr>
        <p:spPr>
          <a:xfrm>
            <a:off x="6273800" y="5334000"/>
            <a:ext cx="5334000" cy="38100"/>
          </a:xfrm>
          <a:prstGeom prst="rect">
            <a:avLst/>
          </a:prstGeom>
          <a:solidFill>
            <a:schemeClr val="tx2"/>
          </a:solidFill>
          <a:ln>
            <a:noFill/>
          </a:ln>
        </p:spPr>
        <p:txBody>
          <a:bodyPr wrap="square" lIns="0" tIns="0" rIns="0" bIns="0" anchor="ctr">
            <a:noAutofit/>
          </a:bodyPr>
          <a:lstStyle/>
          <a:p>
            <a:endParaRPr lang="en-US"/>
          </a:p>
        </p:txBody>
      </p:sp>
      <p:sp>
        <p:nvSpPr>
          <p:cNvPr id="123" name="note"/>
          <p:cNvSpPr/>
          <p:nvPr/>
        </p:nvSpPr>
        <p:spPr>
          <a:xfrm>
            <a:off x="6273800" y="5486400"/>
            <a:ext cx="5334000" cy="889000"/>
          </a:xfrm>
          <a:prstGeom prst="rect">
            <a:avLst/>
          </a:prstGeom>
          <a:noFill/>
          <a:ln>
            <a:noFill/>
          </a:ln>
        </p:spPr>
        <p:txBody>
          <a:bodyPr wrap="square" lIns="0" tIns="0" rIns="0" bIns="0" anchor="t">
            <a:noAutofit/>
          </a:bodyPr>
          <a:lstStyle/>
          <a:p>
            <a:pPr algn="l">
              <a:spcAft>
                <a:spcPts val="400"/>
              </a:spcAft>
              <a:buNone/>
            </a:pPr>
            <a:r>
              <a:rPr lang="en-US" sz="1600" b="1" dirty="0">
                <a:solidFill>
                  <a:schemeClr val="tx2"/>
                </a:solidFill>
              </a:rPr>
              <a:t>Agentic RAG: the LLM decides</a:t>
            </a:r>
          </a:p>
          <a:p>
            <a:pPr algn="l">
              <a:buNone/>
            </a:pPr>
            <a:r>
              <a:rPr lang="en-US" sz="1400" dirty="0">
                <a:solidFill>
                  <a:srgbClr val="5A6075"/>
                </a:solidFill>
              </a:rPr>
              <a:t>The LLM gets a search tool and calls search_docs(“refund policy”) only when it needs to.</a:t>
            </a:r>
          </a:p>
        </p:txBody>
      </p:sp>
      <p:sp>
        <p:nvSpPr>
          <p:cNvPr id="90"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5"/>
                </a:solidFill>
              </a:defRPr>
            </a:lvl1pPr>
          </a:lstStyle>
          <a:p>
            <a:pPr algn="r"/>
            <a:fld id="{F7021451-1387-4CA6-816F-3879F97B5CBC}" type="slidenum">
              <a:rPr lang="en-US" b="0"/>
              <a:t>20</a:t>
            </a:fld>
            <a:endParaRPr lang="en-US"/>
          </a:p>
        </p:txBody>
      </p:sp>
    </p:spTree>
    <p:extLst>
      <p:ext uri="{BB962C8B-B14F-4D97-AF65-F5344CB8AC3E}">
        <p14:creationId xmlns:p14="http://schemas.microsoft.com/office/powerpoint/2010/main" val="4243398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532E-DE67-317E-9BC4-96BF08D9051F}"/>
              </a:ext>
            </a:extLst>
          </p:cNvPr>
          <p:cNvSpPr>
            <a:spLocks noGrp="1"/>
          </p:cNvSpPr>
          <p:nvPr>
            <p:ph type="title" idx="100"/>
          </p:nvPr>
        </p:nvSpPr>
        <p:spPr/>
        <p:txBody>
          <a:bodyPr/>
          <a:lstStyle/>
          <a:p>
            <a:r>
              <a:rPr lang="en-US" dirty="0"/>
              <a:t>Retrieve: find the chunks closest in meaning</a:t>
            </a:r>
          </a:p>
        </p:txBody>
      </p:sp>
      <p:sp>
        <p:nvSpPr>
          <p:cNvPr id="100" name="diagram-label"/>
          <p:cNvSpPr/>
          <p:nvPr/>
        </p:nvSpPr>
        <p:spPr>
          <a:xfrm>
            <a:off x="546100" y="1320800"/>
            <a:ext cx="5334000" cy="279400"/>
          </a:xfrm>
          <a:prstGeom prst="rect">
            <a:avLst/>
          </a:prstGeom>
          <a:noFill/>
          <a:ln>
            <a:noFill/>
          </a:ln>
        </p:spPr>
        <p:txBody>
          <a:bodyPr wrap="square" lIns="0" tIns="0" rIns="0" bIns="0" anchor="t">
            <a:noAutofit/>
          </a:bodyPr>
          <a:lstStyle/>
          <a:p>
            <a:pPr algn="l">
              <a:buNone/>
            </a:pPr>
            <a:r>
              <a:rPr lang="en-US" sz="1400" b="1" dirty="0">
                <a:solidFill>
                  <a:schemeClr val="tx2"/>
                </a:solidFill>
              </a:rPr>
              <a:t>Embedding space, simplified to 2D</a:t>
            </a:r>
          </a:p>
        </p:txBody>
      </p:sp>
      <p:sp>
        <p:nvSpPr>
          <p:cNvPr id="101" name="space-frame"/>
          <p:cNvSpPr/>
          <p:nvPr/>
        </p:nvSpPr>
        <p:spPr>
          <a:xfrm>
            <a:off x="546100" y="1676400"/>
            <a:ext cx="5334000" cy="3175000"/>
          </a:xfrm>
          <a:prstGeom prst="roundRect">
            <a:avLst/>
          </a:prstGeom>
          <a:solidFill>
            <a:schemeClr val="bg2"/>
          </a:solidFill>
          <a:ln>
            <a:noFill/>
          </a:ln>
        </p:spPr>
        <p:txBody>
          <a:bodyPr wrap="square" lIns="0" tIns="0" rIns="0" bIns="0" anchor="ctr">
            <a:noAutofit/>
          </a:bodyPr>
          <a:lstStyle/>
          <a:p>
            <a:endParaRPr lang="en-US"/>
          </a:p>
        </p:txBody>
      </p:sp>
      <p:cxnSp>
        <p:nvCxnSpPr>
          <p:cNvPr id="102" name="sim-line"/>
          <p:cNvCxnSpPr/>
          <p:nvPr/>
        </p:nvCxnSpPr>
        <p:spPr>
          <a:xfrm flipV="1">
            <a:off x="2451100" y="2628900"/>
            <a:ext cx="825500" cy="698500"/>
          </a:xfrm>
          <a:prstGeom prst="line">
            <a:avLst/>
          </a:prstGeom>
          <a:ln w="15875">
            <a:solidFill>
              <a:schemeClr val="accent1"/>
            </a:solidFill>
            <a:prstDash val="dash"/>
          </a:ln>
        </p:spPr>
      </p:cxnSp>
      <p:cxnSp>
        <p:nvCxnSpPr>
          <p:cNvPr id="103" name="sim-line"/>
          <p:cNvCxnSpPr/>
          <p:nvPr/>
        </p:nvCxnSpPr>
        <p:spPr>
          <a:xfrm>
            <a:off x="2451100" y="3327400"/>
            <a:ext cx="1079500" cy="127000"/>
          </a:xfrm>
          <a:prstGeom prst="line">
            <a:avLst/>
          </a:prstGeom>
          <a:ln w="15875">
            <a:solidFill>
              <a:schemeClr val="accent1"/>
            </a:solidFill>
            <a:prstDash val="dash"/>
          </a:ln>
        </p:spPr>
      </p:cxnSp>
      <p:cxnSp>
        <p:nvCxnSpPr>
          <p:cNvPr id="104" name="sim-line"/>
          <p:cNvCxnSpPr/>
          <p:nvPr/>
        </p:nvCxnSpPr>
        <p:spPr>
          <a:xfrm>
            <a:off x="2451100" y="3327400"/>
            <a:ext cx="381000" cy="889000"/>
          </a:xfrm>
          <a:prstGeom prst="line">
            <a:avLst/>
          </a:prstGeom>
          <a:ln w="15875">
            <a:solidFill>
              <a:schemeClr val="accent1"/>
            </a:solidFill>
            <a:prstDash val="dash"/>
          </a:ln>
        </p:spPr>
      </p:cxnSp>
      <p:sp>
        <p:nvSpPr>
          <p:cNvPr id="105" name="chunk-hit"/>
          <p:cNvSpPr/>
          <p:nvPr/>
        </p:nvSpPr>
        <p:spPr>
          <a:xfrm>
            <a:off x="3194050" y="2546350"/>
            <a:ext cx="165100" cy="165100"/>
          </a:xfrm>
          <a:prstGeom prst="ellipse">
            <a:avLst/>
          </a:prstGeom>
          <a:solidFill>
            <a:schemeClr val="accent2"/>
          </a:solidFill>
          <a:ln>
            <a:noFill/>
          </a:ln>
        </p:spPr>
        <p:txBody>
          <a:bodyPr wrap="square" lIns="0" tIns="0" rIns="0" bIns="0" anchor="ctr">
            <a:noAutofit/>
          </a:bodyPr>
          <a:lstStyle/>
          <a:p>
            <a:endParaRPr lang="en-US"/>
          </a:p>
        </p:txBody>
      </p:sp>
      <p:sp>
        <p:nvSpPr>
          <p:cNvPr id="106" name="hit-label"/>
          <p:cNvSpPr/>
          <p:nvPr/>
        </p:nvSpPr>
        <p:spPr>
          <a:xfrm>
            <a:off x="3416300" y="2501900"/>
            <a:ext cx="2413000" cy="254000"/>
          </a:xfrm>
          <a:prstGeom prst="rect">
            <a:avLst/>
          </a:prstGeom>
          <a:noFill/>
          <a:ln>
            <a:noFill/>
          </a:ln>
        </p:spPr>
        <p:txBody>
          <a:bodyPr wrap="square" lIns="0" tIns="0" rIns="0" bIns="0" anchor="ctr">
            <a:noAutofit/>
          </a:bodyPr>
          <a:lstStyle/>
          <a:p>
            <a:pPr algn="l">
              <a:buNone/>
            </a:pPr>
            <a:r>
              <a:rPr lang="en-US" sz="1200" b="1" dirty="0">
                <a:solidFill>
                  <a:schemeClr val="tx2"/>
                </a:solidFill>
              </a:rPr>
              <a:t>Refunds within 30 days  </a:t>
            </a:r>
            <a:r>
              <a:rPr lang="en-US" sz="1200" b="1" dirty="0">
                <a:solidFill>
                  <a:schemeClr val="accent1"/>
                </a:solidFill>
              </a:rPr>
              <a:t>0.91</a:t>
            </a:r>
          </a:p>
        </p:txBody>
      </p:sp>
      <p:sp>
        <p:nvSpPr>
          <p:cNvPr id="107" name="chunk-hit"/>
          <p:cNvSpPr/>
          <p:nvPr/>
        </p:nvSpPr>
        <p:spPr>
          <a:xfrm>
            <a:off x="3448050" y="3371850"/>
            <a:ext cx="165100" cy="165100"/>
          </a:xfrm>
          <a:prstGeom prst="ellipse">
            <a:avLst/>
          </a:prstGeom>
          <a:solidFill>
            <a:schemeClr val="accent2"/>
          </a:solidFill>
          <a:ln>
            <a:noFill/>
          </a:ln>
        </p:spPr>
        <p:txBody>
          <a:bodyPr wrap="square" lIns="0" tIns="0" rIns="0" bIns="0" anchor="ctr">
            <a:noAutofit/>
          </a:bodyPr>
          <a:lstStyle/>
          <a:p>
            <a:endParaRPr lang="en-US"/>
          </a:p>
        </p:txBody>
      </p:sp>
      <p:sp>
        <p:nvSpPr>
          <p:cNvPr id="108" name="hit-label"/>
          <p:cNvSpPr/>
          <p:nvPr/>
        </p:nvSpPr>
        <p:spPr>
          <a:xfrm>
            <a:off x="3670300" y="3327400"/>
            <a:ext cx="2413000" cy="254000"/>
          </a:xfrm>
          <a:prstGeom prst="rect">
            <a:avLst/>
          </a:prstGeom>
          <a:noFill/>
          <a:ln>
            <a:noFill/>
          </a:ln>
        </p:spPr>
        <p:txBody>
          <a:bodyPr wrap="square" lIns="0" tIns="0" rIns="0" bIns="0" anchor="ctr">
            <a:noAutofit/>
          </a:bodyPr>
          <a:lstStyle/>
          <a:p>
            <a:pPr algn="l">
              <a:buNone/>
            </a:pPr>
            <a:r>
              <a:rPr lang="en-US" sz="1200" b="1" dirty="0">
                <a:solidFill>
                  <a:schemeClr val="tx2"/>
                </a:solidFill>
              </a:rPr>
              <a:t>How to return an item  </a:t>
            </a:r>
            <a:r>
              <a:rPr lang="en-US" sz="1200" b="1" dirty="0">
                <a:solidFill>
                  <a:schemeClr val="accent1"/>
                </a:solidFill>
              </a:rPr>
              <a:t>0.87</a:t>
            </a:r>
          </a:p>
        </p:txBody>
      </p:sp>
      <p:sp>
        <p:nvSpPr>
          <p:cNvPr id="109" name="chunk-hit"/>
          <p:cNvSpPr/>
          <p:nvPr/>
        </p:nvSpPr>
        <p:spPr>
          <a:xfrm>
            <a:off x="2749550" y="4133850"/>
            <a:ext cx="165100" cy="165100"/>
          </a:xfrm>
          <a:prstGeom prst="ellipse">
            <a:avLst/>
          </a:prstGeom>
          <a:solidFill>
            <a:schemeClr val="accent2"/>
          </a:solidFill>
          <a:ln>
            <a:noFill/>
          </a:ln>
        </p:spPr>
        <p:txBody>
          <a:bodyPr wrap="square" lIns="0" tIns="0" rIns="0" bIns="0" anchor="ctr">
            <a:noAutofit/>
          </a:bodyPr>
          <a:lstStyle/>
          <a:p>
            <a:endParaRPr lang="en-US"/>
          </a:p>
        </p:txBody>
      </p:sp>
      <p:sp>
        <p:nvSpPr>
          <p:cNvPr id="110" name="hit-label"/>
          <p:cNvSpPr/>
          <p:nvPr/>
        </p:nvSpPr>
        <p:spPr>
          <a:xfrm>
            <a:off x="2971800" y="4089400"/>
            <a:ext cx="2413000" cy="254000"/>
          </a:xfrm>
          <a:prstGeom prst="rect">
            <a:avLst/>
          </a:prstGeom>
          <a:noFill/>
          <a:ln>
            <a:noFill/>
          </a:ln>
        </p:spPr>
        <p:txBody>
          <a:bodyPr wrap="square" lIns="0" tIns="0" rIns="0" bIns="0" anchor="ctr">
            <a:noAutofit/>
          </a:bodyPr>
          <a:lstStyle/>
          <a:p>
            <a:pPr algn="l">
              <a:buNone/>
            </a:pPr>
            <a:r>
              <a:rPr lang="en-US" sz="1200" b="1" dirty="0">
                <a:solidFill>
                  <a:schemeClr val="tx2"/>
                </a:solidFill>
              </a:rPr>
              <a:t>Store credit rules  </a:t>
            </a:r>
            <a:r>
              <a:rPr lang="en-US" sz="1200" b="1" dirty="0">
                <a:solidFill>
                  <a:schemeClr val="accent1"/>
                </a:solidFill>
              </a:rPr>
              <a:t>0.82</a:t>
            </a:r>
          </a:p>
        </p:txBody>
      </p:sp>
      <p:sp>
        <p:nvSpPr>
          <p:cNvPr id="111" name="chunk-other"/>
          <p:cNvSpPr/>
          <p:nvPr/>
        </p:nvSpPr>
        <p:spPr>
          <a:xfrm>
            <a:off x="4286250" y="19621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12" name="chunk-other"/>
          <p:cNvSpPr/>
          <p:nvPr/>
        </p:nvSpPr>
        <p:spPr>
          <a:xfrm>
            <a:off x="4730750" y="18859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13" name="chunk-other"/>
          <p:cNvSpPr/>
          <p:nvPr/>
        </p:nvSpPr>
        <p:spPr>
          <a:xfrm>
            <a:off x="4565650" y="21653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14" name="cluster-label"/>
          <p:cNvSpPr/>
          <p:nvPr/>
        </p:nvSpPr>
        <p:spPr>
          <a:xfrm>
            <a:off x="5054600" y="2006600"/>
            <a:ext cx="762000" cy="228600"/>
          </a:xfrm>
          <a:prstGeom prst="rect">
            <a:avLst/>
          </a:prstGeom>
          <a:noFill/>
          <a:ln>
            <a:noFill/>
          </a:ln>
        </p:spPr>
        <p:txBody>
          <a:bodyPr wrap="square" lIns="0" tIns="0" rIns="0" bIns="0" anchor="ctr">
            <a:noAutofit/>
          </a:bodyPr>
          <a:lstStyle/>
          <a:p>
            <a:pPr algn="l">
              <a:buNone/>
            </a:pPr>
            <a:r>
              <a:rPr lang="en-US" sz="1200" dirty="0">
                <a:solidFill>
                  <a:srgbClr val="5F6479"/>
                </a:solidFill>
              </a:rPr>
              <a:t>Careers</a:t>
            </a:r>
          </a:p>
        </p:txBody>
      </p:sp>
      <p:sp>
        <p:nvSpPr>
          <p:cNvPr id="115" name="chunk-other"/>
          <p:cNvSpPr/>
          <p:nvPr/>
        </p:nvSpPr>
        <p:spPr>
          <a:xfrm>
            <a:off x="984250" y="40830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16" name="chunk-other"/>
          <p:cNvSpPr/>
          <p:nvPr/>
        </p:nvSpPr>
        <p:spPr>
          <a:xfrm>
            <a:off x="1263650" y="42989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17" name="chunk-other"/>
          <p:cNvSpPr/>
          <p:nvPr/>
        </p:nvSpPr>
        <p:spPr>
          <a:xfrm>
            <a:off x="920750" y="44259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18" name="cluster-label"/>
          <p:cNvSpPr/>
          <p:nvPr/>
        </p:nvSpPr>
        <p:spPr>
          <a:xfrm>
            <a:off x="800100" y="4572000"/>
            <a:ext cx="1016000" cy="228600"/>
          </a:xfrm>
          <a:prstGeom prst="rect">
            <a:avLst/>
          </a:prstGeom>
          <a:noFill/>
          <a:ln>
            <a:noFill/>
          </a:ln>
        </p:spPr>
        <p:txBody>
          <a:bodyPr wrap="square" lIns="0" tIns="0" rIns="0" bIns="0" anchor="ctr">
            <a:noAutofit/>
          </a:bodyPr>
          <a:lstStyle/>
          <a:p>
            <a:pPr algn="l">
              <a:buNone/>
            </a:pPr>
            <a:r>
              <a:rPr lang="en-US" sz="1200" dirty="0">
                <a:solidFill>
                  <a:srgbClr val="5F6479"/>
                </a:solidFill>
              </a:rPr>
              <a:t>Shipping</a:t>
            </a:r>
          </a:p>
        </p:txBody>
      </p:sp>
      <p:sp>
        <p:nvSpPr>
          <p:cNvPr id="119" name="chunk-other"/>
          <p:cNvSpPr/>
          <p:nvPr/>
        </p:nvSpPr>
        <p:spPr>
          <a:xfrm>
            <a:off x="1047750" y="21780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20" name="chunk-other"/>
          <p:cNvSpPr/>
          <p:nvPr/>
        </p:nvSpPr>
        <p:spPr>
          <a:xfrm>
            <a:off x="1365250" y="20129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21" name="chunk-other"/>
          <p:cNvSpPr/>
          <p:nvPr/>
        </p:nvSpPr>
        <p:spPr>
          <a:xfrm>
            <a:off x="1238250" y="23939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22" name="cluster-label"/>
          <p:cNvSpPr/>
          <p:nvPr/>
        </p:nvSpPr>
        <p:spPr>
          <a:xfrm>
            <a:off x="800100" y="2590800"/>
            <a:ext cx="1016000" cy="228600"/>
          </a:xfrm>
          <a:prstGeom prst="rect">
            <a:avLst/>
          </a:prstGeom>
          <a:noFill/>
          <a:ln>
            <a:noFill/>
          </a:ln>
        </p:spPr>
        <p:txBody>
          <a:bodyPr wrap="square" lIns="0" tIns="0" rIns="0" bIns="0" anchor="ctr">
            <a:noAutofit/>
          </a:bodyPr>
          <a:lstStyle/>
          <a:p>
            <a:pPr algn="l">
              <a:buNone/>
            </a:pPr>
            <a:r>
              <a:rPr lang="en-US" sz="1200" dirty="0">
                <a:solidFill>
                  <a:srgbClr val="5F6479"/>
                </a:solidFill>
              </a:rPr>
              <a:t>Pricing</a:t>
            </a:r>
          </a:p>
        </p:txBody>
      </p:sp>
      <p:sp>
        <p:nvSpPr>
          <p:cNvPr id="123" name="question-dot"/>
          <p:cNvSpPr/>
          <p:nvPr/>
        </p:nvSpPr>
        <p:spPr>
          <a:xfrm>
            <a:off x="2336800" y="3213100"/>
            <a:ext cx="228600" cy="228600"/>
          </a:xfrm>
          <a:prstGeom prst="ellipse">
            <a:avLst/>
          </a:prstGeom>
          <a:solidFill>
            <a:schemeClr val="accent1"/>
          </a:solidFill>
          <a:ln>
            <a:noFill/>
          </a:ln>
        </p:spPr>
        <p:txBody>
          <a:bodyPr wrap="square" lIns="0" tIns="0" rIns="0" bIns="0" anchor="ctr">
            <a:noAutofit/>
          </a:bodyPr>
          <a:lstStyle/>
          <a:p>
            <a:endParaRPr lang="en-US"/>
          </a:p>
        </p:txBody>
      </p:sp>
      <p:sp>
        <p:nvSpPr>
          <p:cNvPr id="124" name="question-label"/>
          <p:cNvSpPr/>
          <p:nvPr/>
        </p:nvSpPr>
        <p:spPr>
          <a:xfrm>
            <a:off x="800100" y="3213100"/>
            <a:ext cx="1498600" cy="254000"/>
          </a:xfrm>
          <a:prstGeom prst="rect">
            <a:avLst/>
          </a:prstGeom>
          <a:noFill/>
          <a:ln>
            <a:noFill/>
          </a:ln>
        </p:spPr>
        <p:txBody>
          <a:bodyPr wrap="square" lIns="0" tIns="0" rIns="0" bIns="0" anchor="ctr">
            <a:noAutofit/>
          </a:bodyPr>
          <a:lstStyle/>
          <a:p>
            <a:pPr algn="r">
              <a:buNone/>
            </a:pPr>
            <a:r>
              <a:rPr lang="en-US" sz="1200" b="1" dirty="0">
                <a:solidFill>
                  <a:schemeClr val="accent1"/>
                </a:solidFill>
              </a:rPr>
              <a:t>Your question</a:t>
            </a:r>
          </a:p>
        </p:txBody>
      </p:sp>
      <p:sp>
        <p:nvSpPr>
          <p:cNvPr id="125" name="leg-dot"/>
          <p:cNvSpPr/>
          <p:nvPr/>
        </p:nvSpPr>
        <p:spPr>
          <a:xfrm>
            <a:off x="552450" y="5022850"/>
            <a:ext cx="139700" cy="139700"/>
          </a:xfrm>
          <a:prstGeom prst="ellipse">
            <a:avLst/>
          </a:prstGeom>
          <a:solidFill>
            <a:schemeClr val="accent2"/>
          </a:solidFill>
          <a:ln>
            <a:noFill/>
          </a:ln>
        </p:spPr>
        <p:txBody>
          <a:bodyPr wrap="square" lIns="0" tIns="0" rIns="0" bIns="0" anchor="ctr">
            <a:noAutofit/>
          </a:bodyPr>
          <a:lstStyle/>
          <a:p>
            <a:endParaRPr lang="en-US"/>
          </a:p>
        </p:txBody>
      </p:sp>
      <p:sp>
        <p:nvSpPr>
          <p:cNvPr id="126" name="legend"/>
          <p:cNvSpPr/>
          <p:nvPr/>
        </p:nvSpPr>
        <p:spPr>
          <a:xfrm>
            <a:off x="774700" y="4978400"/>
            <a:ext cx="1905000" cy="228600"/>
          </a:xfrm>
          <a:prstGeom prst="rect">
            <a:avLst/>
          </a:prstGeom>
          <a:noFill/>
          <a:ln>
            <a:noFill/>
          </a:ln>
        </p:spPr>
        <p:txBody>
          <a:bodyPr wrap="square" lIns="0" tIns="0" rIns="0" bIns="0" anchor="ctr">
            <a:noAutofit/>
          </a:bodyPr>
          <a:lstStyle/>
          <a:p>
            <a:pPr algn="l">
              <a:buNone/>
            </a:pPr>
            <a:r>
              <a:rPr lang="en-US" sz="1200" dirty="0">
                <a:solidFill>
                  <a:srgbClr val="5A6075"/>
                </a:solidFill>
              </a:rPr>
              <a:t>Top-3 chunks</a:t>
            </a:r>
          </a:p>
        </p:txBody>
      </p:sp>
      <p:sp>
        <p:nvSpPr>
          <p:cNvPr id="127" name="leg-dot"/>
          <p:cNvSpPr/>
          <p:nvPr/>
        </p:nvSpPr>
        <p:spPr>
          <a:xfrm>
            <a:off x="2076450" y="5022850"/>
            <a:ext cx="139700" cy="139700"/>
          </a:xfrm>
          <a:prstGeom prst="ellipse">
            <a:avLst/>
          </a:prstGeom>
          <a:solidFill>
            <a:srgbClr val="8A90A6"/>
          </a:solidFill>
          <a:ln>
            <a:noFill/>
          </a:ln>
        </p:spPr>
        <p:txBody>
          <a:bodyPr wrap="square" lIns="0" tIns="0" rIns="0" bIns="0" anchor="ctr">
            <a:noAutofit/>
          </a:bodyPr>
          <a:lstStyle/>
          <a:p>
            <a:endParaRPr lang="en-US"/>
          </a:p>
        </p:txBody>
      </p:sp>
      <p:sp>
        <p:nvSpPr>
          <p:cNvPr id="128" name="legend"/>
          <p:cNvSpPr/>
          <p:nvPr/>
        </p:nvSpPr>
        <p:spPr>
          <a:xfrm>
            <a:off x="2298700" y="4978400"/>
            <a:ext cx="1524000" cy="228600"/>
          </a:xfrm>
          <a:prstGeom prst="rect">
            <a:avLst/>
          </a:prstGeom>
          <a:noFill/>
          <a:ln>
            <a:noFill/>
          </a:ln>
        </p:spPr>
        <p:txBody>
          <a:bodyPr wrap="square" lIns="0" tIns="0" rIns="0" bIns="0" anchor="ctr">
            <a:noAutofit/>
          </a:bodyPr>
          <a:lstStyle/>
          <a:p>
            <a:pPr algn="l">
              <a:buNone/>
            </a:pPr>
            <a:r>
              <a:rPr lang="en-US" sz="1200" dirty="0">
                <a:solidFill>
                  <a:srgbClr val="5A6075"/>
                </a:solidFill>
              </a:rPr>
              <a:t>Other chunks</a:t>
            </a:r>
          </a:p>
        </p:txBody>
      </p:sp>
      <p:sp>
        <p:nvSpPr>
          <p:cNvPr id="129" name="legend"/>
          <p:cNvSpPr/>
          <p:nvPr/>
        </p:nvSpPr>
        <p:spPr>
          <a:xfrm>
            <a:off x="3568700" y="4978400"/>
            <a:ext cx="2413000" cy="228600"/>
          </a:xfrm>
          <a:prstGeom prst="rect">
            <a:avLst/>
          </a:prstGeom>
          <a:noFill/>
          <a:ln>
            <a:noFill/>
          </a:ln>
        </p:spPr>
        <p:txBody>
          <a:bodyPr wrap="square" lIns="0" tIns="0" rIns="0" bIns="0" anchor="ctr">
            <a:noAutofit/>
          </a:bodyPr>
          <a:lstStyle/>
          <a:p>
            <a:pPr algn="l">
              <a:buNone/>
            </a:pPr>
            <a:r>
              <a:rPr lang="en-US" sz="1200" b="1" dirty="0">
                <a:solidFill>
                  <a:schemeClr val="accent1"/>
                </a:solidFill>
              </a:rPr>
              <a:t>0.91</a:t>
            </a:r>
            <a:r>
              <a:rPr lang="en-US" sz="1200" dirty="0">
                <a:solidFill>
                  <a:srgbClr val="5A6075"/>
                </a:solidFill>
              </a:rPr>
              <a:t> = cosine similarity</a:t>
            </a:r>
          </a:p>
        </p:txBody>
      </p:sp>
      <p:sp>
        <p:nvSpPr>
          <p:cNvPr id="130" name="phase-head"/>
          <p:cNvSpPr/>
          <p:nvPr/>
        </p:nvSpPr>
        <p:spPr>
          <a:xfrm>
            <a:off x="6286500" y="1320800"/>
            <a:ext cx="5321300" cy="279400"/>
          </a:xfrm>
          <a:prstGeom prst="rect">
            <a:avLst/>
          </a:prstGeom>
          <a:noFill/>
          <a:ln>
            <a:noFill/>
          </a:ln>
        </p:spPr>
        <p:txBody>
          <a:bodyPr wrap="square" lIns="0" tIns="0" rIns="0" bIns="0" anchor="t">
            <a:noAutofit/>
          </a:bodyPr>
          <a:lstStyle/>
          <a:p>
            <a:pPr algn="l">
              <a:buNone/>
            </a:pPr>
            <a:r>
              <a:rPr lang="en-US" sz="1600" b="1" dirty="0">
                <a:solidFill>
                  <a:schemeClr val="tx2"/>
                </a:solidFill>
              </a:rPr>
              <a:t>Ahead of time: index your documents</a:t>
            </a:r>
          </a:p>
        </p:txBody>
      </p:sp>
      <p:sp>
        <p:nvSpPr>
          <p:cNvPr id="131" name="phase-rule"/>
          <p:cNvSpPr/>
          <p:nvPr/>
        </p:nvSpPr>
        <p:spPr>
          <a:xfrm>
            <a:off x="6286500" y="1638300"/>
            <a:ext cx="5321300" cy="25400"/>
          </a:xfrm>
          <a:prstGeom prst="rect">
            <a:avLst/>
          </a:prstGeom>
          <a:solidFill>
            <a:schemeClr val="tx2"/>
          </a:solidFill>
          <a:ln>
            <a:noFill/>
          </a:ln>
        </p:spPr>
        <p:txBody>
          <a:bodyPr wrap="square" lIns="0" tIns="0" rIns="0" bIns="0" anchor="ctr">
            <a:noAutofit/>
          </a:bodyPr>
          <a:lstStyle/>
          <a:p>
            <a:endParaRPr lang="en-US"/>
          </a:p>
        </p:txBody>
      </p:sp>
      <p:sp>
        <p:nvSpPr>
          <p:cNvPr id="132" name="step-num"/>
          <p:cNvSpPr/>
          <p:nvPr/>
        </p:nvSpPr>
        <p:spPr>
          <a:xfrm>
            <a:off x="6286500" y="1803400"/>
            <a:ext cx="304800" cy="304800"/>
          </a:xfrm>
          <a:prstGeom prst="ellipse">
            <a:avLst/>
          </a:prstGeom>
          <a:solidFill>
            <a:schemeClr val="tx2"/>
          </a:solidFill>
          <a:ln>
            <a:noFill/>
          </a:ln>
        </p:spPr>
        <p:txBody>
          <a:bodyPr wrap="square" lIns="0" tIns="0" rIns="0" bIns="0" anchor="ctr">
            <a:noAutofit/>
          </a:bodyPr>
          <a:lstStyle/>
          <a:p>
            <a:pPr algn="ctr">
              <a:buNone/>
            </a:pPr>
            <a:r>
              <a:rPr lang="en-US" sz="1200" b="1" dirty="0">
                <a:solidFill>
                  <a:schemeClr val="bg1"/>
                </a:solidFill>
              </a:rPr>
              <a:t>1</a:t>
            </a:r>
          </a:p>
        </p:txBody>
      </p:sp>
      <p:sp>
        <p:nvSpPr>
          <p:cNvPr id="133" name="step-text"/>
          <p:cNvSpPr/>
          <p:nvPr/>
        </p:nvSpPr>
        <p:spPr>
          <a:xfrm>
            <a:off x="6718300" y="1778000"/>
            <a:ext cx="4889500" cy="355600"/>
          </a:xfrm>
          <a:prstGeom prst="rect">
            <a:avLst/>
          </a:prstGeom>
          <a:noFill/>
          <a:ln>
            <a:noFill/>
          </a:ln>
        </p:spPr>
        <p:txBody>
          <a:bodyPr wrap="square" lIns="0" tIns="0" rIns="0" bIns="0" anchor="ctr">
            <a:noAutofit/>
          </a:bodyPr>
          <a:lstStyle/>
          <a:p>
            <a:pPr algn="l">
              <a:buNone/>
            </a:pPr>
            <a:r>
              <a:rPr lang="en-US" sz="1400" b="1" dirty="0">
                <a:solidFill>
                  <a:schemeClr val="tx2"/>
                </a:solidFill>
              </a:rPr>
              <a:t>Split</a:t>
            </a:r>
            <a:r>
              <a:rPr lang="en-US" sz="1400" dirty="0">
                <a:solidFill>
                  <a:srgbClr val="5A6075"/>
                </a:solidFill>
              </a:rPr>
              <a:t> documents into chunks of ~200–500 words</a:t>
            </a:r>
          </a:p>
        </p:txBody>
      </p:sp>
      <p:sp>
        <p:nvSpPr>
          <p:cNvPr id="134" name="step-num"/>
          <p:cNvSpPr/>
          <p:nvPr/>
        </p:nvSpPr>
        <p:spPr>
          <a:xfrm>
            <a:off x="6286500" y="2235200"/>
            <a:ext cx="304800" cy="304800"/>
          </a:xfrm>
          <a:prstGeom prst="ellipse">
            <a:avLst/>
          </a:prstGeom>
          <a:solidFill>
            <a:schemeClr val="tx2"/>
          </a:solidFill>
          <a:ln>
            <a:noFill/>
          </a:ln>
        </p:spPr>
        <p:txBody>
          <a:bodyPr wrap="square" lIns="0" tIns="0" rIns="0" bIns="0" anchor="ctr">
            <a:noAutofit/>
          </a:bodyPr>
          <a:lstStyle/>
          <a:p>
            <a:pPr algn="ctr">
              <a:buNone/>
            </a:pPr>
            <a:r>
              <a:rPr lang="en-US" sz="1200" b="1" dirty="0">
                <a:solidFill>
                  <a:schemeClr val="bg1"/>
                </a:solidFill>
              </a:rPr>
              <a:t>2</a:t>
            </a:r>
          </a:p>
        </p:txBody>
      </p:sp>
      <p:sp>
        <p:nvSpPr>
          <p:cNvPr id="135" name="step-text"/>
          <p:cNvSpPr/>
          <p:nvPr/>
        </p:nvSpPr>
        <p:spPr>
          <a:xfrm>
            <a:off x="6718300" y="2209800"/>
            <a:ext cx="4889500" cy="355600"/>
          </a:xfrm>
          <a:prstGeom prst="rect">
            <a:avLst/>
          </a:prstGeom>
          <a:noFill/>
          <a:ln>
            <a:noFill/>
          </a:ln>
        </p:spPr>
        <p:txBody>
          <a:bodyPr wrap="square" lIns="0" tIns="0" rIns="0" bIns="0" anchor="ctr">
            <a:noAutofit/>
          </a:bodyPr>
          <a:lstStyle/>
          <a:p>
            <a:pPr algn="l">
              <a:buNone/>
            </a:pPr>
            <a:r>
              <a:rPr lang="en-US" sz="1400" b="1" dirty="0">
                <a:solidFill>
                  <a:schemeClr val="tx2"/>
                </a:solidFill>
              </a:rPr>
              <a:t>Embed</a:t>
            </a:r>
            <a:r>
              <a:rPr lang="en-US" sz="1400" dirty="0">
                <a:solidFill>
                  <a:srgbClr val="5A6075"/>
                </a:solidFill>
              </a:rPr>
              <a:t> each chunk into a vector of numbers</a:t>
            </a:r>
          </a:p>
        </p:txBody>
      </p:sp>
      <p:sp>
        <p:nvSpPr>
          <p:cNvPr id="136" name="step-num"/>
          <p:cNvSpPr/>
          <p:nvPr/>
        </p:nvSpPr>
        <p:spPr>
          <a:xfrm>
            <a:off x="6286500" y="2667000"/>
            <a:ext cx="304800" cy="304800"/>
          </a:xfrm>
          <a:prstGeom prst="ellipse">
            <a:avLst/>
          </a:prstGeom>
          <a:solidFill>
            <a:schemeClr val="tx2"/>
          </a:solidFill>
          <a:ln>
            <a:noFill/>
          </a:ln>
        </p:spPr>
        <p:txBody>
          <a:bodyPr wrap="square" lIns="0" tIns="0" rIns="0" bIns="0" anchor="ctr">
            <a:noAutofit/>
          </a:bodyPr>
          <a:lstStyle/>
          <a:p>
            <a:pPr algn="ctr">
              <a:buNone/>
            </a:pPr>
            <a:r>
              <a:rPr lang="en-US" sz="1200" b="1" dirty="0">
                <a:solidFill>
                  <a:schemeClr val="bg1"/>
                </a:solidFill>
              </a:rPr>
              <a:t>3</a:t>
            </a:r>
          </a:p>
        </p:txBody>
      </p:sp>
      <p:sp>
        <p:nvSpPr>
          <p:cNvPr id="137" name="step-text"/>
          <p:cNvSpPr/>
          <p:nvPr/>
        </p:nvSpPr>
        <p:spPr>
          <a:xfrm>
            <a:off x="6718300" y="2641600"/>
            <a:ext cx="4889500" cy="355600"/>
          </a:xfrm>
          <a:prstGeom prst="rect">
            <a:avLst/>
          </a:prstGeom>
          <a:noFill/>
          <a:ln>
            <a:noFill/>
          </a:ln>
        </p:spPr>
        <p:txBody>
          <a:bodyPr wrap="square" lIns="0" tIns="0" rIns="0" bIns="0" anchor="ctr">
            <a:noAutofit/>
          </a:bodyPr>
          <a:lstStyle/>
          <a:p>
            <a:pPr algn="l">
              <a:buNone/>
            </a:pPr>
            <a:r>
              <a:rPr lang="en-US" sz="1400" b="1" dirty="0">
                <a:solidFill>
                  <a:schemeClr val="tx2"/>
                </a:solidFill>
              </a:rPr>
              <a:t>Store</a:t>
            </a:r>
            <a:r>
              <a:rPr lang="en-US" sz="1400" dirty="0">
                <a:solidFill>
                  <a:srgbClr val="5A6075"/>
                </a:solidFill>
              </a:rPr>
              <a:t> vectors with their text and source</a:t>
            </a:r>
          </a:p>
        </p:txBody>
      </p:sp>
      <p:sp>
        <p:nvSpPr>
          <p:cNvPr id="138" name="phase-head"/>
          <p:cNvSpPr/>
          <p:nvPr/>
        </p:nvSpPr>
        <p:spPr>
          <a:xfrm>
            <a:off x="6286500" y="3225800"/>
            <a:ext cx="5321300" cy="279400"/>
          </a:xfrm>
          <a:prstGeom prst="rect">
            <a:avLst/>
          </a:prstGeom>
          <a:noFill/>
          <a:ln>
            <a:noFill/>
          </a:ln>
        </p:spPr>
        <p:txBody>
          <a:bodyPr wrap="square" lIns="0" tIns="0" rIns="0" bIns="0" anchor="t">
            <a:noAutofit/>
          </a:bodyPr>
          <a:lstStyle/>
          <a:p>
            <a:pPr algn="l">
              <a:buNone/>
            </a:pPr>
            <a:r>
              <a:rPr lang="en-US" sz="1600" b="1" dirty="0">
                <a:solidFill>
                  <a:schemeClr val="accent1"/>
                </a:solidFill>
              </a:rPr>
              <a:t>At question time: search</a:t>
            </a:r>
          </a:p>
        </p:txBody>
      </p:sp>
      <p:sp>
        <p:nvSpPr>
          <p:cNvPr id="139" name="phase-rule"/>
          <p:cNvSpPr/>
          <p:nvPr/>
        </p:nvSpPr>
        <p:spPr>
          <a:xfrm>
            <a:off x="6286500" y="3543300"/>
            <a:ext cx="5321300" cy="25400"/>
          </a:xfrm>
          <a:prstGeom prst="rect">
            <a:avLst/>
          </a:prstGeom>
          <a:solidFill>
            <a:schemeClr val="accent1"/>
          </a:solidFill>
          <a:ln>
            <a:noFill/>
          </a:ln>
        </p:spPr>
        <p:txBody>
          <a:bodyPr wrap="square" lIns="0" tIns="0" rIns="0" bIns="0" anchor="ctr">
            <a:noAutofit/>
          </a:bodyPr>
          <a:lstStyle/>
          <a:p>
            <a:endParaRPr lang="en-US"/>
          </a:p>
        </p:txBody>
      </p:sp>
      <p:sp>
        <p:nvSpPr>
          <p:cNvPr id="140" name="step-num"/>
          <p:cNvSpPr/>
          <p:nvPr/>
        </p:nvSpPr>
        <p:spPr>
          <a:xfrm>
            <a:off x="6286500" y="3708400"/>
            <a:ext cx="304800" cy="304800"/>
          </a:xfrm>
          <a:prstGeom prst="ellipse">
            <a:avLst/>
          </a:prstGeom>
          <a:solidFill>
            <a:schemeClr val="accent1"/>
          </a:solidFill>
          <a:ln>
            <a:noFill/>
          </a:ln>
        </p:spPr>
        <p:txBody>
          <a:bodyPr wrap="square" lIns="0" tIns="0" rIns="0" bIns="0" anchor="ctr">
            <a:noAutofit/>
          </a:bodyPr>
          <a:lstStyle/>
          <a:p>
            <a:pPr algn="ctr">
              <a:buNone/>
            </a:pPr>
            <a:r>
              <a:rPr lang="en-US" sz="1200" b="1" dirty="0">
                <a:solidFill>
                  <a:schemeClr val="bg1"/>
                </a:solidFill>
              </a:rPr>
              <a:t>4</a:t>
            </a:r>
          </a:p>
        </p:txBody>
      </p:sp>
      <p:sp>
        <p:nvSpPr>
          <p:cNvPr id="141" name="step-text"/>
          <p:cNvSpPr/>
          <p:nvPr/>
        </p:nvSpPr>
        <p:spPr>
          <a:xfrm>
            <a:off x="6718300" y="3683000"/>
            <a:ext cx="4889500" cy="355600"/>
          </a:xfrm>
          <a:prstGeom prst="rect">
            <a:avLst/>
          </a:prstGeom>
          <a:noFill/>
          <a:ln>
            <a:noFill/>
          </a:ln>
        </p:spPr>
        <p:txBody>
          <a:bodyPr wrap="square" lIns="0" tIns="0" rIns="0" bIns="0" anchor="ctr">
            <a:noAutofit/>
          </a:bodyPr>
          <a:lstStyle/>
          <a:p>
            <a:pPr algn="l">
              <a:buNone/>
            </a:pPr>
            <a:r>
              <a:rPr lang="en-US" sz="1400" b="1" dirty="0">
                <a:solidFill>
                  <a:schemeClr val="tx2"/>
                </a:solidFill>
              </a:rPr>
              <a:t>Embed</a:t>
            </a:r>
            <a:r>
              <a:rPr lang="en-US" sz="1400" dirty="0">
                <a:solidFill>
                  <a:srgbClr val="5A6075"/>
                </a:solidFill>
              </a:rPr>
              <a:t> the question with the same model</a:t>
            </a:r>
          </a:p>
        </p:txBody>
      </p:sp>
      <p:sp>
        <p:nvSpPr>
          <p:cNvPr id="142" name="step-num"/>
          <p:cNvSpPr/>
          <p:nvPr/>
        </p:nvSpPr>
        <p:spPr>
          <a:xfrm>
            <a:off x="6286500" y="4140200"/>
            <a:ext cx="304800" cy="304800"/>
          </a:xfrm>
          <a:prstGeom prst="ellipse">
            <a:avLst/>
          </a:prstGeom>
          <a:solidFill>
            <a:schemeClr val="accent1"/>
          </a:solidFill>
          <a:ln>
            <a:noFill/>
          </a:ln>
        </p:spPr>
        <p:txBody>
          <a:bodyPr wrap="square" lIns="0" tIns="0" rIns="0" bIns="0" anchor="ctr">
            <a:noAutofit/>
          </a:bodyPr>
          <a:lstStyle/>
          <a:p>
            <a:pPr algn="ctr">
              <a:buNone/>
            </a:pPr>
            <a:r>
              <a:rPr lang="en-US" sz="1200" b="1" dirty="0">
                <a:solidFill>
                  <a:schemeClr val="bg1"/>
                </a:solidFill>
              </a:rPr>
              <a:t>5</a:t>
            </a:r>
          </a:p>
        </p:txBody>
      </p:sp>
      <p:sp>
        <p:nvSpPr>
          <p:cNvPr id="143" name="step-text"/>
          <p:cNvSpPr/>
          <p:nvPr/>
        </p:nvSpPr>
        <p:spPr>
          <a:xfrm>
            <a:off x="6718300" y="4114800"/>
            <a:ext cx="4889500" cy="355600"/>
          </a:xfrm>
          <a:prstGeom prst="rect">
            <a:avLst/>
          </a:prstGeom>
          <a:noFill/>
          <a:ln>
            <a:noFill/>
          </a:ln>
        </p:spPr>
        <p:txBody>
          <a:bodyPr wrap="square" lIns="0" tIns="0" rIns="0" bIns="0" anchor="ctr">
            <a:noAutofit/>
          </a:bodyPr>
          <a:lstStyle/>
          <a:p>
            <a:pPr algn="l">
              <a:buNone/>
            </a:pPr>
            <a:r>
              <a:rPr lang="en-US" sz="1400" b="1" dirty="0">
                <a:solidFill>
                  <a:schemeClr val="tx2"/>
                </a:solidFill>
              </a:rPr>
              <a:t>Score</a:t>
            </a:r>
            <a:r>
              <a:rPr lang="en-US" sz="1400" dirty="0">
                <a:solidFill>
                  <a:srgbClr val="5A6075"/>
                </a:solidFill>
              </a:rPr>
              <a:t> every chunk by cosine similarity</a:t>
            </a:r>
          </a:p>
        </p:txBody>
      </p:sp>
      <p:sp>
        <p:nvSpPr>
          <p:cNvPr id="144" name="step-num"/>
          <p:cNvSpPr/>
          <p:nvPr/>
        </p:nvSpPr>
        <p:spPr>
          <a:xfrm>
            <a:off x="6286500" y="4572000"/>
            <a:ext cx="304800" cy="304800"/>
          </a:xfrm>
          <a:prstGeom prst="ellipse">
            <a:avLst/>
          </a:prstGeom>
          <a:solidFill>
            <a:schemeClr val="accent1"/>
          </a:solidFill>
          <a:ln>
            <a:noFill/>
          </a:ln>
        </p:spPr>
        <p:txBody>
          <a:bodyPr wrap="square" lIns="0" tIns="0" rIns="0" bIns="0" anchor="ctr">
            <a:noAutofit/>
          </a:bodyPr>
          <a:lstStyle/>
          <a:p>
            <a:pPr algn="ctr">
              <a:buNone/>
            </a:pPr>
            <a:r>
              <a:rPr lang="en-US" sz="1200" b="1" dirty="0">
                <a:solidFill>
                  <a:schemeClr val="bg1"/>
                </a:solidFill>
              </a:rPr>
              <a:t>6</a:t>
            </a:r>
          </a:p>
        </p:txBody>
      </p:sp>
      <p:sp>
        <p:nvSpPr>
          <p:cNvPr id="145" name="step-text"/>
          <p:cNvSpPr/>
          <p:nvPr/>
        </p:nvSpPr>
        <p:spPr>
          <a:xfrm>
            <a:off x="6718300" y="4546600"/>
            <a:ext cx="4889500" cy="355600"/>
          </a:xfrm>
          <a:prstGeom prst="rect">
            <a:avLst/>
          </a:prstGeom>
          <a:noFill/>
          <a:ln>
            <a:noFill/>
          </a:ln>
        </p:spPr>
        <p:txBody>
          <a:bodyPr wrap="square" lIns="0" tIns="0" rIns="0" bIns="0" anchor="ctr">
            <a:noAutofit/>
          </a:bodyPr>
          <a:lstStyle/>
          <a:p>
            <a:pPr algn="l">
              <a:buNone/>
            </a:pPr>
            <a:r>
              <a:rPr lang="en-US" sz="1400" b="1" dirty="0">
                <a:solidFill>
                  <a:schemeClr val="tx2"/>
                </a:solidFill>
              </a:rPr>
              <a:t>Keep</a:t>
            </a:r>
            <a:r>
              <a:rPr lang="en-US" sz="1400" dirty="0">
                <a:solidFill>
                  <a:srgbClr val="5A6075"/>
                </a:solidFill>
              </a:rPr>
              <a:t> the top 3–5 and paste them into the prompt</a:t>
            </a:r>
          </a:p>
        </p:txBody>
      </p:sp>
      <p:sp>
        <p:nvSpPr>
          <p:cNvPr id="146" name="band"/>
          <p:cNvSpPr/>
          <p:nvPr/>
        </p:nvSpPr>
        <p:spPr>
          <a:xfrm>
            <a:off x="546100" y="5486400"/>
            <a:ext cx="11061700" cy="685800"/>
          </a:xfrm>
          <a:prstGeom prst="roundRect">
            <a:avLst/>
          </a:prstGeom>
          <a:solidFill>
            <a:schemeClr val="tx2"/>
          </a:solidFill>
          <a:ln>
            <a:noFill/>
          </a:ln>
        </p:spPr>
        <p:txBody>
          <a:bodyPr wrap="square" lIns="203200" tIns="0" rIns="203200" bIns="0" anchor="ctr">
            <a:noAutofit/>
          </a:bodyPr>
          <a:lstStyle/>
          <a:p>
            <a:pPr algn="l">
              <a:buNone/>
            </a:pPr>
            <a:r>
              <a:rPr lang="en-US" sz="1400" b="1" dirty="0">
                <a:solidFill>
                  <a:schemeClr val="accent4"/>
                </a:solidFill>
              </a:rPr>
              <a:t>Better retrieval: </a:t>
            </a:r>
            <a:r>
              <a:rPr lang="en-US" sz="1400" dirty="0">
                <a:solidFill>
                  <a:schemeClr val="bg1"/>
                </a:solidFill>
              </a:rPr>
              <a:t>hybrid search adds keyword matching (BM25) for names and product codes, and a reranker re-scores the top ~20 hits and keeps 5.</a:t>
            </a:r>
          </a:p>
        </p:txBody>
      </p:sp>
      <p:sp>
        <p:nvSpPr>
          <p:cNvPr id="90"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5"/>
                </a:solidFill>
              </a:defRPr>
            </a:lvl1pPr>
          </a:lstStyle>
          <a:p>
            <a:pPr algn="r"/>
            <a:fld id="{F7021451-1387-4CA6-816F-3879F97B5CBC}" type="slidenum">
              <a:rPr lang="en-US" b="0"/>
              <a:t>21</a:t>
            </a:fld>
            <a:endParaRPr lang="en-US"/>
          </a:p>
        </p:txBody>
      </p:sp>
    </p:spTree>
    <p:extLst>
      <p:ext uri="{BB962C8B-B14F-4D97-AF65-F5344CB8AC3E}">
        <p14:creationId xmlns:p14="http://schemas.microsoft.com/office/powerpoint/2010/main" val="4024658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7315200" cy="457200"/>
          </a:xfrm>
          <a:prstGeom prst="rect">
            <a:avLst/>
          </a:prstGeom>
          <a:noFill/>
          <a:ln/>
        </p:spPr>
        <p:txBody>
          <a:bodyPr wrap="square" lIns="0" tIns="0" rIns="0" bIns="0" rtlCol="0"/>
          <a:lstStyle/>
          <a:p>
            <a:pPr marL="0" indent="0">
              <a:buNone/>
            </a:pPr>
            <a:r>
              <a:rPr lang="en-US" sz="1600" b="1" kern="0" spc="400" dirty="0">
                <a:solidFill>
                  <a:schemeClr val="accent1"/>
                </a:solidFill>
                <a:latin typeface="Calibri" pitchFamily="34" charset="0"/>
                <a:ea typeface="Calibri" pitchFamily="34" charset="-122"/>
                <a:cs typeface="Calibri" pitchFamily="34" charset="-120"/>
              </a:rPr>
              <a:t>PART 2</a:t>
            </a:r>
            <a:endParaRPr lang="en-US" sz="1600" dirty="0"/>
          </a:p>
        </p:txBody>
      </p:sp>
      <p:sp>
        <p:nvSpPr>
          <p:cNvPr id="3" name="Text 0"/>
          <p:cNvSpPr>
            <a:spLocks noGrp="1"/>
          </p:cNvSpPr>
          <p:nvPr>
            <p:ph type="title" idx="101" hasCustomPrompt="1"/>
          </p:nvPr>
        </p:nvSpPr>
        <p:spPr>
          <a:xfrm>
            <a:off x="731520" y="2331720"/>
            <a:ext cx="7498080" cy="128016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AI agents</a:t>
            </a:r>
            <a:endParaRPr lang="en-US" sz="4400" dirty="0"/>
          </a:p>
        </p:txBody>
      </p:sp>
      <p:sp>
        <p:nvSpPr>
          <p:cNvPr id="4" name="Text 0"/>
          <p:cNvSpPr>
            <a:spLocks noGrp="1"/>
          </p:cNvSpPr>
          <p:nvPr>
            <p:ph type="body" idx="102" hasCustomPrompt="1"/>
          </p:nvPr>
        </p:nvSpPr>
        <p:spPr>
          <a:xfrm>
            <a:off x="731520" y="3703320"/>
            <a:ext cx="6949440" cy="1280160"/>
          </a:xfrm>
          <a:prstGeom prst="rect">
            <a:avLst/>
          </a:prstGeom>
          <a:noFill/>
          <a:ln/>
        </p:spPr>
        <p:txBody>
          <a:bodyPr wrap="square" lIns="0" tIns="0" rIns="0" bIns="0" rtlCol="0" anchor="t"/>
          <a:lstStyle/>
          <a:p>
            <a:pPr marL="0" indent="0" algn="l">
              <a:buNone/>
            </a:pPr>
            <a:r>
              <a:rPr lang="en-US" sz="1800" dirty="0">
                <a:solidFill>
                  <a:schemeClr val="bg2"/>
                </a:solidFill>
                <a:latin typeface="Calibri" pitchFamily="34" charset="0"/>
                <a:ea typeface="Calibri" pitchFamily="34" charset="-122"/>
                <a:cs typeface="Calibri" pitchFamily="34" charset="-120"/>
              </a:rPr>
              <a:t>When an LLM can take actions, see the results and keep going until the job is done.</a:t>
            </a:r>
            <a:endParaRPr lang="en-US" sz="1800" dirty="0"/>
          </a:p>
        </p:txBody>
      </p:sp>
      <p:sp>
        <p:nvSpPr>
          <p:cNvPr id="5" name="card-315"/>
          <p:cNvSpPr/>
          <p:nvPr/>
        </p:nvSpPr>
        <p:spPr>
          <a:xfrm>
            <a:off x="8595360" y="1554480"/>
            <a:ext cx="795528" cy="502920"/>
          </a:xfrm>
          <a:prstGeom prst="roundRect">
            <a:avLst>
              <a:gd name="adj" fmla="val 18182"/>
            </a:avLst>
          </a:prstGeom>
          <a:solidFill>
            <a:schemeClr val="accent1"/>
          </a:solidFill>
          <a:ln w="9525">
            <a:solidFill>
              <a:schemeClr val="accent1"/>
            </a:solidFill>
            <a:prstDash val="solid"/>
          </a:ln>
        </p:spPr>
        <p:txBody>
          <a:bodyPr/>
          <a:lstStyle/>
          <a:p>
            <a:endParaRPr lang="en-US"/>
          </a:p>
        </p:txBody>
      </p:sp>
      <p:sp>
        <p:nvSpPr>
          <p:cNvPr id="6" name="text-316"/>
          <p:cNvSpPr txBox="1"/>
          <p:nvPr/>
        </p:nvSpPr>
        <p:spPr>
          <a:xfrm>
            <a:off x="8595360" y="1554480"/>
            <a:ext cx="795528" cy="502920"/>
          </a:xfrm>
          <a:prstGeom prst="rect">
            <a:avLst/>
          </a:prstGeom>
          <a:noFill/>
          <a:ln/>
        </p:spPr>
        <p:txBody>
          <a:bodyPr wrap="square" lIns="0" tIns="0" rIns="0" bIns="0" rtlCol="0" anchor="ctr"/>
          <a:lstStyle/>
          <a:p>
            <a:pPr marL="0" indent="0" algn="ctr">
              <a:buNone/>
            </a:pPr>
            <a:r>
              <a:rPr lang="en-US" sz="1400" b="1" dirty="0">
                <a:solidFill>
                  <a:schemeClr val="tx2"/>
                </a:solidFill>
              </a:rPr>
              <a:t>Think</a:t>
            </a:r>
            <a:endParaRPr lang="en-US" sz="1400" dirty="0"/>
          </a:p>
        </p:txBody>
      </p:sp>
      <p:sp>
        <p:nvSpPr>
          <p:cNvPr id="7" name="card-317"/>
          <p:cNvSpPr/>
          <p:nvPr/>
        </p:nvSpPr>
        <p:spPr>
          <a:xfrm>
            <a:off x="8915400" y="2240280"/>
            <a:ext cx="557784"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8" name="text-318"/>
          <p:cNvSpPr txBox="1"/>
          <p:nvPr/>
        </p:nvSpPr>
        <p:spPr>
          <a:xfrm>
            <a:off x="8915400" y="2240280"/>
            <a:ext cx="557784" cy="502920"/>
          </a:xfrm>
          <a:prstGeom prst="rect">
            <a:avLst/>
          </a:prstGeom>
          <a:noFill/>
          <a:ln/>
        </p:spPr>
        <p:txBody>
          <a:bodyPr wrap="square" lIns="0" tIns="0" rIns="0" bIns="0" rtlCol="0" anchor="ctr"/>
          <a:lstStyle/>
          <a:p>
            <a:pPr marL="0" indent="0" algn="ctr">
              <a:buNone/>
            </a:pPr>
            <a:r>
              <a:rPr lang="en-US" sz="1400" b="1" dirty="0">
                <a:solidFill>
                  <a:schemeClr val="tx2"/>
                </a:solidFill>
              </a:rPr>
              <a:t>Act</a:t>
            </a:r>
            <a:endParaRPr lang="en-US" sz="1400" dirty="0"/>
          </a:p>
        </p:txBody>
      </p:sp>
      <p:sp>
        <p:nvSpPr>
          <p:cNvPr id="9" name="card-319"/>
          <p:cNvSpPr/>
          <p:nvPr/>
        </p:nvSpPr>
        <p:spPr>
          <a:xfrm>
            <a:off x="9582912" y="2240280"/>
            <a:ext cx="438912" cy="502920"/>
          </a:xfrm>
          <a:prstGeom prst="roundRect">
            <a:avLst>
              <a:gd name="adj" fmla="val 20833"/>
            </a:avLst>
          </a:prstGeom>
          <a:solidFill>
            <a:schemeClr val="accent3"/>
          </a:solidFill>
          <a:ln w="9525">
            <a:solidFill>
              <a:schemeClr val="accent3"/>
            </a:solidFill>
            <a:prstDash val="solid"/>
          </a:ln>
        </p:spPr>
        <p:txBody>
          <a:bodyPr/>
          <a:lstStyle/>
          <a:p>
            <a:endParaRPr lang="en-US"/>
          </a:p>
        </p:txBody>
      </p:sp>
      <p:sp>
        <p:nvSpPr>
          <p:cNvPr id="10" name="text-320"/>
          <p:cNvSpPr txBox="1"/>
          <p:nvPr/>
        </p:nvSpPr>
        <p:spPr>
          <a:xfrm>
            <a:off x="9582912" y="2240280"/>
            <a:ext cx="438912" cy="502920"/>
          </a:xfrm>
          <a:prstGeom prst="rect">
            <a:avLst/>
          </a:prstGeom>
          <a:noFill/>
          <a:ln/>
        </p:spPr>
        <p:txBody>
          <a:bodyPr wrap="square" lIns="0" tIns="0" rIns="0" bIns="0" rtlCol="0" anchor="ctr"/>
          <a:lstStyle/>
          <a:p>
            <a:pPr marL="0" indent="0" algn="ctr">
              <a:buNone/>
            </a:pPr>
            <a:r>
              <a:rPr lang="en-US" sz="1400" b="1" dirty="0">
                <a:solidFill>
                  <a:schemeClr val="tx2"/>
                </a:solidFill>
              </a:rPr>
              <a:t> →</a:t>
            </a:r>
            <a:endParaRPr lang="en-US" sz="1400" dirty="0"/>
          </a:p>
        </p:txBody>
      </p:sp>
      <p:sp>
        <p:nvSpPr>
          <p:cNvPr id="11" name="card-321"/>
          <p:cNvSpPr/>
          <p:nvPr/>
        </p:nvSpPr>
        <p:spPr>
          <a:xfrm>
            <a:off x="10131552" y="2240280"/>
            <a:ext cx="1033272" cy="502920"/>
          </a:xfrm>
          <a:prstGeom prst="roundRect">
            <a:avLst>
              <a:gd name="adj" fmla="val 18182"/>
            </a:avLst>
          </a:prstGeom>
          <a:solidFill>
            <a:schemeClr val="accent4"/>
          </a:solidFill>
          <a:ln w="9525">
            <a:solidFill>
              <a:schemeClr val="accent4"/>
            </a:solidFill>
            <a:prstDash val="solid"/>
          </a:ln>
        </p:spPr>
        <p:txBody>
          <a:bodyPr/>
          <a:lstStyle/>
          <a:p>
            <a:endParaRPr lang="en-US"/>
          </a:p>
        </p:txBody>
      </p:sp>
      <p:sp>
        <p:nvSpPr>
          <p:cNvPr id="12" name="text-322"/>
          <p:cNvSpPr txBox="1"/>
          <p:nvPr/>
        </p:nvSpPr>
        <p:spPr>
          <a:xfrm>
            <a:off x="10131552" y="2240280"/>
            <a:ext cx="1033272" cy="502920"/>
          </a:xfrm>
          <a:prstGeom prst="rect">
            <a:avLst/>
          </a:prstGeom>
          <a:noFill/>
          <a:ln/>
        </p:spPr>
        <p:txBody>
          <a:bodyPr wrap="square" lIns="0" tIns="0" rIns="0" bIns="0" rtlCol="0" anchor="ctr"/>
          <a:lstStyle/>
          <a:p>
            <a:pPr marL="0" indent="0" algn="ctr">
              <a:buNone/>
            </a:pPr>
            <a:r>
              <a:rPr lang="en-US" sz="1400" b="1" dirty="0">
                <a:solidFill>
                  <a:schemeClr val="tx2"/>
                </a:solidFill>
              </a:rPr>
              <a:t>Observe</a:t>
            </a:r>
            <a:endParaRPr lang="en-US" sz="1400" dirty="0"/>
          </a:p>
        </p:txBody>
      </p:sp>
      <p:sp>
        <p:nvSpPr>
          <p:cNvPr id="13" name="card-323"/>
          <p:cNvSpPr/>
          <p:nvPr/>
        </p:nvSpPr>
        <p:spPr>
          <a:xfrm>
            <a:off x="8595360" y="2926080"/>
            <a:ext cx="914400"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4" name="text-324"/>
          <p:cNvSpPr txBox="1"/>
          <p:nvPr/>
        </p:nvSpPr>
        <p:spPr>
          <a:xfrm>
            <a:off x="8595360" y="2926080"/>
            <a:ext cx="914400" cy="502920"/>
          </a:xfrm>
          <a:prstGeom prst="rect">
            <a:avLst/>
          </a:prstGeom>
          <a:noFill/>
          <a:ln/>
        </p:spPr>
        <p:txBody>
          <a:bodyPr wrap="square" lIns="0" tIns="0" rIns="0" bIns="0" rtlCol="0" anchor="ctr"/>
          <a:lstStyle/>
          <a:p>
            <a:pPr marL="0" indent="0" algn="ctr">
              <a:buNone/>
            </a:pPr>
            <a:r>
              <a:rPr lang="en-US" sz="1400" b="1" dirty="0">
                <a:solidFill>
                  <a:schemeClr val="tx2"/>
                </a:solidFill>
              </a:rPr>
              <a:t>Repeat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Agent = LLM + tools + memory + a loop</a:t>
            </a:r>
            <a:endParaRPr lang="en-US" sz="3400" dirty="0"/>
          </a:p>
        </p:txBody>
      </p:sp>
      <p:sp>
        <p:nvSpPr>
          <p:cNvPr id="3" name="icon-bg-325"/>
          <p:cNvSpPr/>
          <p:nvPr/>
        </p:nvSpPr>
        <p:spPr>
          <a:xfrm>
            <a:off x="1325880" y="1371600"/>
            <a:ext cx="1097280" cy="1097280"/>
          </a:xfrm>
          <a:prstGeom prst="ellipse">
            <a:avLst/>
          </a:prstGeom>
          <a:solidFill>
            <a:srgbClr val="1B1F3B"/>
          </a:solidFill>
          <a:ln w="12700">
            <a:solidFill>
              <a:srgbClr val="1B1F3B"/>
            </a:solidFill>
            <a:prstDash val="solid"/>
          </a:ln>
        </p:spPr>
        <p:txBody>
          <a:bodyPr/>
          <a:lstStyle/>
          <a:p>
            <a:endParaRPr lang="en-US"/>
          </a:p>
        </p:txBody>
      </p:sp>
      <p:pic>
        <p:nvPicPr>
          <p:cNvPr id="4" name="icon-326" descr="icon"/>
          <p:cNvPicPr>
            <a:picLocks noChangeAspect="1"/>
          </p:cNvPicPr>
          <p:nvPr/>
        </p:nvPicPr>
        <p:blipFill>
          <a:blip r:embed="rId3"/>
          <a:stretch>
            <a:fillRect/>
          </a:stretch>
        </p:blipFill>
        <p:spPr>
          <a:xfrm>
            <a:off x="1600200" y="1645920"/>
            <a:ext cx="548640" cy="548640"/>
          </a:xfrm>
          <a:prstGeom prst="rect">
            <a:avLst/>
          </a:prstGeom>
        </p:spPr>
      </p:pic>
      <p:sp>
        <p:nvSpPr>
          <p:cNvPr id="5" name="text-327"/>
          <p:cNvSpPr txBox="1"/>
          <p:nvPr/>
        </p:nvSpPr>
        <p:spPr>
          <a:xfrm>
            <a:off x="685800" y="2560320"/>
            <a:ext cx="2377440" cy="411480"/>
          </a:xfrm>
          <a:prstGeom prst="rect">
            <a:avLst/>
          </a:prstGeom>
          <a:noFill/>
          <a:ln/>
        </p:spPr>
        <p:txBody>
          <a:bodyPr wrap="square" lIns="0" tIns="0" rIns="0" bIns="0" rtlCol="0" anchor="t"/>
          <a:lstStyle/>
          <a:p>
            <a:pPr marL="0" indent="0" algn="ctr">
              <a:buNone/>
            </a:pPr>
            <a:r>
              <a:rPr lang="en-US" sz="2000" b="1" dirty="0">
                <a:solidFill>
                  <a:schemeClr val="tx2"/>
                </a:solidFill>
              </a:rPr>
              <a:t>LLM</a:t>
            </a:r>
            <a:endParaRPr lang="en-US" sz="2000" dirty="0"/>
          </a:p>
        </p:txBody>
      </p:sp>
      <p:sp>
        <p:nvSpPr>
          <p:cNvPr id="6" name="text-328"/>
          <p:cNvSpPr txBox="1"/>
          <p:nvPr/>
        </p:nvSpPr>
        <p:spPr>
          <a:xfrm>
            <a:off x="685800" y="297180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The reasoning engine</a:t>
            </a:r>
            <a:endParaRPr lang="en-US" sz="1400" dirty="0"/>
          </a:p>
        </p:txBody>
      </p:sp>
      <p:sp>
        <p:nvSpPr>
          <p:cNvPr id="7" name="text-329"/>
          <p:cNvSpPr txBox="1"/>
          <p:nvPr/>
        </p:nvSpPr>
        <p:spPr>
          <a:xfrm>
            <a:off x="2834640" y="1463040"/>
            <a:ext cx="548640" cy="914400"/>
          </a:xfrm>
          <a:prstGeom prst="rect">
            <a:avLst/>
          </a:prstGeom>
          <a:noFill/>
          <a:ln/>
        </p:spPr>
        <p:txBody>
          <a:bodyPr wrap="square" lIns="0" tIns="0" rIns="0" bIns="0" rtlCol="0" anchor="ctr"/>
          <a:lstStyle/>
          <a:p>
            <a:pPr marL="0" indent="0" algn="ctr">
              <a:buNone/>
            </a:pPr>
            <a:r>
              <a:rPr lang="en-US" sz="3600" b="1" dirty="0">
                <a:solidFill>
                  <a:schemeClr val="accent5"/>
                </a:solidFill>
              </a:rPr>
              <a:t>+</a:t>
            </a:r>
            <a:endParaRPr lang="en-US" sz="3600" dirty="0"/>
          </a:p>
        </p:txBody>
      </p:sp>
      <p:sp>
        <p:nvSpPr>
          <p:cNvPr id="8" name="icon-bg-330"/>
          <p:cNvSpPr/>
          <p:nvPr/>
        </p:nvSpPr>
        <p:spPr>
          <a:xfrm>
            <a:off x="4160520" y="1371600"/>
            <a:ext cx="1097280" cy="1097280"/>
          </a:xfrm>
          <a:prstGeom prst="ellipse">
            <a:avLst/>
          </a:prstGeom>
          <a:solidFill>
            <a:srgbClr val="D97757"/>
          </a:solidFill>
          <a:ln w="12700">
            <a:solidFill>
              <a:srgbClr val="D97757"/>
            </a:solidFill>
            <a:prstDash val="solid"/>
          </a:ln>
        </p:spPr>
        <p:txBody>
          <a:bodyPr/>
          <a:lstStyle/>
          <a:p>
            <a:endParaRPr lang="en-US"/>
          </a:p>
        </p:txBody>
      </p:sp>
      <p:pic>
        <p:nvPicPr>
          <p:cNvPr id="9" name="icon-331" descr="icon"/>
          <p:cNvPicPr>
            <a:picLocks noChangeAspect="1"/>
          </p:cNvPicPr>
          <p:nvPr/>
        </p:nvPicPr>
        <p:blipFill>
          <a:blip r:embed="rId4"/>
          <a:stretch>
            <a:fillRect/>
          </a:stretch>
        </p:blipFill>
        <p:spPr>
          <a:xfrm>
            <a:off x="4434840" y="1645920"/>
            <a:ext cx="548640" cy="548640"/>
          </a:xfrm>
          <a:prstGeom prst="rect">
            <a:avLst/>
          </a:prstGeom>
        </p:spPr>
      </p:pic>
      <p:sp>
        <p:nvSpPr>
          <p:cNvPr id="10" name="text-332"/>
          <p:cNvSpPr txBox="1"/>
          <p:nvPr/>
        </p:nvSpPr>
        <p:spPr>
          <a:xfrm>
            <a:off x="3520440" y="2560320"/>
            <a:ext cx="2377440" cy="411480"/>
          </a:xfrm>
          <a:prstGeom prst="rect">
            <a:avLst/>
          </a:prstGeom>
          <a:noFill/>
          <a:ln/>
        </p:spPr>
        <p:txBody>
          <a:bodyPr wrap="square" lIns="0" tIns="0" rIns="0" bIns="0" rtlCol="0" anchor="t"/>
          <a:lstStyle/>
          <a:p>
            <a:pPr marL="0" indent="0" algn="ctr">
              <a:buNone/>
            </a:pPr>
            <a:r>
              <a:rPr lang="en-US" sz="2000" b="1" dirty="0">
                <a:solidFill>
                  <a:schemeClr val="tx2"/>
                </a:solidFill>
              </a:rPr>
              <a:t>Tools</a:t>
            </a:r>
            <a:endParaRPr lang="en-US" sz="2000" dirty="0"/>
          </a:p>
        </p:txBody>
      </p:sp>
      <p:sp>
        <p:nvSpPr>
          <p:cNvPr id="11" name="text-333"/>
          <p:cNvSpPr txBox="1"/>
          <p:nvPr/>
        </p:nvSpPr>
        <p:spPr>
          <a:xfrm>
            <a:off x="3520440" y="297180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Search, code, APIs, files</a:t>
            </a:r>
            <a:endParaRPr lang="en-US" sz="1400" dirty="0"/>
          </a:p>
        </p:txBody>
      </p:sp>
      <p:sp>
        <p:nvSpPr>
          <p:cNvPr id="12" name="text-334"/>
          <p:cNvSpPr txBox="1"/>
          <p:nvPr/>
        </p:nvSpPr>
        <p:spPr>
          <a:xfrm>
            <a:off x="5669280" y="1463040"/>
            <a:ext cx="548640" cy="914400"/>
          </a:xfrm>
          <a:prstGeom prst="rect">
            <a:avLst/>
          </a:prstGeom>
          <a:noFill/>
          <a:ln/>
        </p:spPr>
        <p:txBody>
          <a:bodyPr wrap="square" lIns="0" tIns="0" rIns="0" bIns="0" rtlCol="0" anchor="ctr"/>
          <a:lstStyle/>
          <a:p>
            <a:pPr marL="0" indent="0" algn="ctr">
              <a:buNone/>
            </a:pPr>
            <a:r>
              <a:rPr lang="en-US" sz="3600" b="1" dirty="0">
                <a:solidFill>
                  <a:schemeClr val="accent5"/>
                </a:solidFill>
              </a:rPr>
              <a:t>+</a:t>
            </a:r>
            <a:endParaRPr lang="en-US" sz="3600" dirty="0"/>
          </a:p>
        </p:txBody>
      </p:sp>
      <p:sp>
        <p:nvSpPr>
          <p:cNvPr id="13" name="icon-bg-335"/>
          <p:cNvSpPr/>
          <p:nvPr/>
        </p:nvSpPr>
        <p:spPr>
          <a:xfrm>
            <a:off x="6995160" y="1371600"/>
            <a:ext cx="1097280" cy="1097280"/>
          </a:xfrm>
          <a:prstGeom prst="ellipse">
            <a:avLst/>
          </a:prstGeom>
          <a:solidFill>
            <a:srgbClr val="2A9D8F"/>
          </a:solidFill>
          <a:ln w="12700">
            <a:solidFill>
              <a:srgbClr val="2A9D8F"/>
            </a:solidFill>
            <a:prstDash val="solid"/>
          </a:ln>
        </p:spPr>
        <p:txBody>
          <a:bodyPr/>
          <a:lstStyle/>
          <a:p>
            <a:endParaRPr lang="en-US"/>
          </a:p>
        </p:txBody>
      </p:sp>
      <p:pic>
        <p:nvPicPr>
          <p:cNvPr id="14" name="icon-336" descr="icon"/>
          <p:cNvPicPr>
            <a:picLocks noChangeAspect="1"/>
          </p:cNvPicPr>
          <p:nvPr/>
        </p:nvPicPr>
        <p:blipFill>
          <a:blip r:embed="rId5"/>
          <a:stretch>
            <a:fillRect/>
          </a:stretch>
        </p:blipFill>
        <p:spPr>
          <a:xfrm>
            <a:off x="7269480" y="1645920"/>
            <a:ext cx="548640" cy="548640"/>
          </a:xfrm>
          <a:prstGeom prst="rect">
            <a:avLst/>
          </a:prstGeom>
        </p:spPr>
      </p:pic>
      <p:sp>
        <p:nvSpPr>
          <p:cNvPr id="15" name="text-337"/>
          <p:cNvSpPr txBox="1"/>
          <p:nvPr/>
        </p:nvSpPr>
        <p:spPr>
          <a:xfrm>
            <a:off x="6355080" y="2560320"/>
            <a:ext cx="2377440" cy="411480"/>
          </a:xfrm>
          <a:prstGeom prst="rect">
            <a:avLst/>
          </a:prstGeom>
          <a:noFill/>
          <a:ln/>
        </p:spPr>
        <p:txBody>
          <a:bodyPr wrap="square" lIns="0" tIns="0" rIns="0" bIns="0" rtlCol="0" anchor="t"/>
          <a:lstStyle/>
          <a:p>
            <a:pPr marL="0" indent="0" algn="ctr">
              <a:buNone/>
            </a:pPr>
            <a:r>
              <a:rPr lang="en-US" sz="2000" b="1" dirty="0">
                <a:solidFill>
                  <a:schemeClr val="tx2"/>
                </a:solidFill>
              </a:rPr>
              <a:t>Memory</a:t>
            </a:r>
            <a:endParaRPr lang="en-US" sz="2000" dirty="0"/>
          </a:p>
        </p:txBody>
      </p:sp>
      <p:sp>
        <p:nvSpPr>
          <p:cNvPr id="16" name="text-338"/>
          <p:cNvSpPr txBox="1"/>
          <p:nvPr/>
        </p:nvSpPr>
        <p:spPr>
          <a:xfrm>
            <a:off x="6355080" y="297180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Context, notes, knowledge</a:t>
            </a:r>
            <a:endParaRPr lang="en-US" sz="1400" dirty="0"/>
          </a:p>
        </p:txBody>
      </p:sp>
      <p:sp>
        <p:nvSpPr>
          <p:cNvPr id="17" name="text-339"/>
          <p:cNvSpPr txBox="1"/>
          <p:nvPr/>
        </p:nvSpPr>
        <p:spPr>
          <a:xfrm>
            <a:off x="8503920" y="1463040"/>
            <a:ext cx="548640" cy="914400"/>
          </a:xfrm>
          <a:prstGeom prst="rect">
            <a:avLst/>
          </a:prstGeom>
          <a:noFill/>
          <a:ln/>
        </p:spPr>
        <p:txBody>
          <a:bodyPr wrap="square" lIns="0" tIns="0" rIns="0" bIns="0" rtlCol="0" anchor="ctr"/>
          <a:lstStyle/>
          <a:p>
            <a:pPr marL="0" indent="0" algn="ctr">
              <a:buNone/>
            </a:pPr>
            <a:r>
              <a:rPr lang="en-US" sz="3600" b="1" dirty="0">
                <a:solidFill>
                  <a:schemeClr val="accent5"/>
                </a:solidFill>
              </a:rPr>
              <a:t>+</a:t>
            </a:r>
            <a:endParaRPr lang="en-US" sz="3600" dirty="0"/>
          </a:p>
        </p:txBody>
      </p:sp>
      <p:sp>
        <p:nvSpPr>
          <p:cNvPr id="18" name="icon-bg-340"/>
          <p:cNvSpPr/>
          <p:nvPr/>
        </p:nvSpPr>
        <p:spPr>
          <a:xfrm>
            <a:off x="9829800" y="1371600"/>
            <a:ext cx="1097280" cy="1097280"/>
          </a:xfrm>
          <a:prstGeom prst="ellipse">
            <a:avLst/>
          </a:prstGeom>
          <a:solidFill>
            <a:srgbClr val="6C63FF"/>
          </a:solidFill>
          <a:ln w="12700">
            <a:solidFill>
              <a:srgbClr val="6C63FF"/>
            </a:solidFill>
            <a:prstDash val="solid"/>
          </a:ln>
        </p:spPr>
        <p:txBody>
          <a:bodyPr/>
          <a:lstStyle/>
          <a:p>
            <a:endParaRPr lang="en-US"/>
          </a:p>
        </p:txBody>
      </p:sp>
      <p:pic>
        <p:nvPicPr>
          <p:cNvPr id="19" name="icon-341" descr="icon"/>
          <p:cNvPicPr>
            <a:picLocks noChangeAspect="1"/>
          </p:cNvPicPr>
          <p:nvPr/>
        </p:nvPicPr>
        <p:blipFill>
          <a:blip r:embed="rId6"/>
          <a:stretch>
            <a:fillRect/>
          </a:stretch>
        </p:blipFill>
        <p:spPr>
          <a:xfrm>
            <a:off x="10104120" y="1645920"/>
            <a:ext cx="548640" cy="548640"/>
          </a:xfrm>
          <a:prstGeom prst="rect">
            <a:avLst/>
          </a:prstGeom>
        </p:spPr>
      </p:pic>
      <p:sp>
        <p:nvSpPr>
          <p:cNvPr id="20" name="text-342"/>
          <p:cNvSpPr txBox="1"/>
          <p:nvPr/>
        </p:nvSpPr>
        <p:spPr>
          <a:xfrm>
            <a:off x="9189720" y="2560320"/>
            <a:ext cx="2377440" cy="411480"/>
          </a:xfrm>
          <a:prstGeom prst="rect">
            <a:avLst/>
          </a:prstGeom>
          <a:noFill/>
          <a:ln/>
        </p:spPr>
        <p:txBody>
          <a:bodyPr wrap="square" lIns="0" tIns="0" rIns="0" bIns="0" rtlCol="0" anchor="t"/>
          <a:lstStyle/>
          <a:p>
            <a:pPr marL="0" indent="0" algn="ctr">
              <a:buNone/>
            </a:pPr>
            <a:r>
              <a:rPr lang="en-US" sz="2000" b="1" dirty="0">
                <a:solidFill>
                  <a:schemeClr val="tx2"/>
                </a:solidFill>
              </a:rPr>
              <a:t>Loop</a:t>
            </a:r>
            <a:endParaRPr lang="en-US" sz="2000" dirty="0"/>
          </a:p>
        </p:txBody>
      </p:sp>
      <p:sp>
        <p:nvSpPr>
          <p:cNvPr id="21" name="text-343"/>
          <p:cNvSpPr txBox="1"/>
          <p:nvPr/>
        </p:nvSpPr>
        <p:spPr>
          <a:xfrm>
            <a:off x="9189720" y="297180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Repeat until the goal is met</a:t>
            </a:r>
            <a:endParaRPr lang="en-US" sz="1400" dirty="0"/>
          </a:p>
        </p:txBody>
      </p:sp>
      <p:sp>
        <p:nvSpPr>
          <p:cNvPr id="22" name="card-344"/>
          <p:cNvSpPr/>
          <p:nvPr/>
        </p:nvSpPr>
        <p:spPr>
          <a:xfrm>
            <a:off x="548640" y="3703320"/>
            <a:ext cx="5440680" cy="1920240"/>
          </a:xfrm>
          <a:prstGeom prst="roundRect">
            <a:avLst>
              <a:gd name="adj" fmla="val 476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3" name="text-345"/>
          <p:cNvSpPr txBox="1"/>
          <p:nvPr/>
        </p:nvSpPr>
        <p:spPr>
          <a:xfrm>
            <a:off x="822960" y="3840480"/>
            <a:ext cx="4937760" cy="411480"/>
          </a:xfrm>
          <a:prstGeom prst="rect">
            <a:avLst/>
          </a:prstGeom>
          <a:noFill/>
          <a:ln/>
        </p:spPr>
        <p:txBody>
          <a:bodyPr wrap="square" lIns="0" tIns="0" rIns="0" bIns="0" rtlCol="0" anchor="t"/>
          <a:lstStyle/>
          <a:p>
            <a:pPr marL="0" indent="0" algn="l">
              <a:buNone/>
            </a:pPr>
            <a:r>
              <a:rPr lang="en-US" sz="1800" b="1" dirty="0">
                <a:solidFill>
                  <a:schemeClr val="accent5"/>
                </a:solidFill>
              </a:rPr>
              <a:t>Chatbot</a:t>
            </a:r>
            <a:endParaRPr lang="en-US" sz="1800" dirty="0"/>
          </a:p>
        </p:txBody>
      </p:sp>
      <p:sp>
        <p:nvSpPr>
          <p:cNvPr id="24" name="text-346"/>
          <p:cNvSpPr txBox="1"/>
          <p:nvPr/>
        </p:nvSpPr>
        <p:spPr>
          <a:xfrm>
            <a:off x="822960" y="4297680"/>
            <a:ext cx="4937760" cy="1737360"/>
          </a:xfrm>
          <a:prstGeom prst="rect">
            <a:avLst/>
          </a:prstGeom>
          <a:noFill/>
          <a:ln/>
        </p:spPr>
        <p:txBody>
          <a:bodyPr wrap="square" lIns="0" tIns="0" rIns="0" bIns="0" rtlCol="0" anchor="t"/>
          <a:lstStyle/>
          <a:p>
            <a:pPr marL="203200" indent="-203200" algn="l">
              <a:spcAft>
                <a:spcPts val="600"/>
              </a:spcAft>
              <a:buSzPct val="100000"/>
              <a:buChar char="•"/>
            </a:pPr>
            <a:r>
              <a:rPr lang="en-US" sz="1400" dirty="0">
                <a:solidFill>
                  <a:schemeClr val="tx1"/>
                </a:solidFill>
              </a:rPr>
              <a:t>One prompt in, one answer out</a:t>
            </a:r>
            <a:endParaRPr lang="en-US" sz="1400" dirty="0"/>
          </a:p>
          <a:p>
            <a:pPr marL="203200" indent="-203200" algn="l">
              <a:spcAft>
                <a:spcPts val="600"/>
              </a:spcAft>
              <a:buSzPct val="100000"/>
              <a:buChar char="•"/>
            </a:pPr>
            <a:r>
              <a:rPr lang="en-US" sz="1400" dirty="0">
                <a:solidFill>
                  <a:schemeClr val="tx1"/>
                </a:solidFill>
              </a:rPr>
              <a:t>You do the steps; it gives advice</a:t>
            </a:r>
            <a:endParaRPr lang="en-US" sz="1400" dirty="0"/>
          </a:p>
          <a:p>
            <a:pPr marL="203200" indent="-203200" algn="l">
              <a:spcAft>
                <a:spcPts val="600"/>
              </a:spcAft>
              <a:buSzPct val="100000"/>
              <a:buChar char="•"/>
            </a:pPr>
            <a:r>
              <a:rPr lang="en-US" sz="1400" dirty="0">
                <a:solidFill>
                  <a:schemeClr val="tx1"/>
                </a:solidFill>
              </a:rPr>
              <a:t>Knows only what's in the chat</a:t>
            </a:r>
            <a:endParaRPr lang="en-US" sz="1400" dirty="0"/>
          </a:p>
        </p:txBody>
      </p:sp>
      <p:sp>
        <p:nvSpPr>
          <p:cNvPr id="25" name="card-347"/>
          <p:cNvSpPr/>
          <p:nvPr/>
        </p:nvSpPr>
        <p:spPr>
          <a:xfrm>
            <a:off x="6172200" y="3703320"/>
            <a:ext cx="5440680" cy="1920240"/>
          </a:xfrm>
          <a:prstGeom prst="roundRect">
            <a:avLst>
              <a:gd name="adj" fmla="val 476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6" name="text-348"/>
          <p:cNvSpPr txBox="1"/>
          <p:nvPr/>
        </p:nvSpPr>
        <p:spPr>
          <a:xfrm>
            <a:off x="6446520" y="3840480"/>
            <a:ext cx="4937760" cy="411480"/>
          </a:xfrm>
          <a:prstGeom prst="rect">
            <a:avLst/>
          </a:prstGeom>
          <a:noFill/>
          <a:ln/>
        </p:spPr>
        <p:txBody>
          <a:bodyPr wrap="square" lIns="0" tIns="0" rIns="0" bIns="0" rtlCol="0" anchor="t"/>
          <a:lstStyle/>
          <a:p>
            <a:pPr marL="0" indent="0" algn="l">
              <a:buNone/>
            </a:pPr>
            <a:r>
              <a:rPr lang="en-US" sz="1800" b="1" dirty="0">
                <a:solidFill>
                  <a:schemeClr val="accent1"/>
                </a:solidFill>
              </a:rPr>
              <a:t>Agent</a:t>
            </a:r>
            <a:endParaRPr lang="en-US" sz="1800" dirty="0"/>
          </a:p>
        </p:txBody>
      </p:sp>
      <p:sp>
        <p:nvSpPr>
          <p:cNvPr id="27" name="text-349"/>
          <p:cNvSpPr txBox="1"/>
          <p:nvPr/>
        </p:nvSpPr>
        <p:spPr>
          <a:xfrm>
            <a:off x="6446520" y="4297680"/>
            <a:ext cx="4937760" cy="1737360"/>
          </a:xfrm>
          <a:prstGeom prst="rect">
            <a:avLst/>
          </a:prstGeom>
          <a:noFill/>
          <a:ln/>
        </p:spPr>
        <p:txBody>
          <a:bodyPr wrap="square" lIns="0" tIns="0" rIns="0" bIns="0" rtlCol="0" anchor="t"/>
          <a:lstStyle/>
          <a:p>
            <a:pPr marL="203200" indent="-203200" algn="l">
              <a:spcAft>
                <a:spcPts val="600"/>
              </a:spcAft>
              <a:buSzPct val="100000"/>
              <a:buChar char="•"/>
            </a:pPr>
            <a:r>
              <a:rPr lang="en-US" sz="1400" dirty="0">
                <a:solidFill>
                  <a:schemeClr val="tx1"/>
                </a:solidFill>
              </a:rPr>
              <a:t>Given a goal, not just a question</a:t>
            </a:r>
            <a:endParaRPr lang="en-US" sz="1400" dirty="0"/>
          </a:p>
          <a:p>
            <a:pPr marL="203200" indent="-203200" algn="l">
              <a:spcAft>
                <a:spcPts val="600"/>
              </a:spcAft>
              <a:buSzPct val="100000"/>
              <a:buChar char="•"/>
            </a:pPr>
            <a:r>
              <a:rPr lang="en-US" sz="1400" dirty="0">
                <a:solidFill>
                  <a:schemeClr val="tx1"/>
                </a:solidFill>
              </a:rPr>
              <a:t>Plans, calls tools, checks results, retries</a:t>
            </a:r>
            <a:endParaRPr lang="en-US" sz="1400" dirty="0"/>
          </a:p>
          <a:p>
            <a:pPr marL="203200" indent="-203200" algn="l">
              <a:spcAft>
                <a:spcPts val="600"/>
              </a:spcAft>
              <a:buSzPct val="100000"/>
              <a:buChar char="•"/>
            </a:pPr>
            <a:r>
              <a:rPr lang="en-US" sz="1400" dirty="0">
                <a:solidFill>
                  <a:schemeClr val="tx1"/>
                </a:solidFill>
              </a:rPr>
              <a:t>Works for many steps, often unattended</a:t>
            </a:r>
            <a:endParaRPr lang="en-US" sz="14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agent loop: think → act → observe</a:t>
            </a:r>
            <a:endParaRPr lang="en-US" sz="3400" dirty="0"/>
          </a:p>
        </p:txBody>
      </p:sp>
      <p:sp>
        <p:nvSpPr>
          <p:cNvPr id="3" name="loop-350"/>
          <p:cNvSpPr/>
          <p:nvPr/>
        </p:nvSpPr>
        <p:spPr>
          <a:xfrm>
            <a:off x="1600200" y="2148840"/>
            <a:ext cx="3200400" cy="3200400"/>
          </a:xfrm>
          <a:prstGeom prst="ellipse">
            <a:avLst/>
          </a:prstGeom>
          <a:solidFill>
            <a:schemeClr val="bg1"/>
          </a:solidFill>
          <a:ln w="25400">
            <a:solidFill>
              <a:schemeClr val="accent5"/>
            </a:solidFill>
            <a:prstDash val="dash"/>
          </a:ln>
        </p:spPr>
        <p:txBody>
          <a:bodyPr/>
          <a:lstStyle/>
          <a:p>
            <a:endParaRPr lang="en-US"/>
          </a:p>
        </p:txBody>
      </p:sp>
      <p:sp>
        <p:nvSpPr>
          <p:cNvPr id="4" name="node-351"/>
          <p:cNvSpPr/>
          <p:nvPr/>
        </p:nvSpPr>
        <p:spPr>
          <a:xfrm>
            <a:off x="2560320" y="1508760"/>
            <a:ext cx="1280160" cy="1280160"/>
          </a:xfrm>
          <a:prstGeom prst="ellipse">
            <a:avLst/>
          </a:prstGeom>
          <a:solidFill>
            <a:srgbClr val="1B1F3B"/>
          </a:solidFill>
          <a:ln w="38100">
            <a:solidFill>
              <a:schemeClr val="bg1"/>
            </a:solidFill>
            <a:prstDash val="solid"/>
          </a:ln>
        </p:spPr>
        <p:txBody>
          <a:bodyPr/>
          <a:lstStyle/>
          <a:p>
            <a:endParaRPr lang="en-US"/>
          </a:p>
        </p:txBody>
      </p:sp>
      <p:sp>
        <p:nvSpPr>
          <p:cNvPr id="5" name="text-352"/>
          <p:cNvSpPr txBox="1"/>
          <p:nvPr/>
        </p:nvSpPr>
        <p:spPr>
          <a:xfrm>
            <a:off x="2560320" y="1801368"/>
            <a:ext cx="1280160" cy="365760"/>
          </a:xfrm>
          <a:prstGeom prst="rect">
            <a:avLst/>
          </a:prstGeom>
          <a:noFill/>
          <a:ln/>
        </p:spPr>
        <p:txBody>
          <a:bodyPr wrap="square" lIns="0" tIns="0" rIns="0" bIns="0" rtlCol="0" anchor="t"/>
          <a:lstStyle/>
          <a:p>
            <a:pPr marL="0" indent="0" algn="ctr">
              <a:buNone/>
            </a:pPr>
            <a:r>
              <a:rPr lang="en-US" sz="1600" b="1" dirty="0">
                <a:solidFill>
                  <a:schemeClr val="bg1"/>
                </a:solidFill>
              </a:rPr>
              <a:t>Think</a:t>
            </a:r>
            <a:endParaRPr lang="en-US" sz="1600" dirty="0"/>
          </a:p>
        </p:txBody>
      </p:sp>
      <p:sp>
        <p:nvSpPr>
          <p:cNvPr id="6" name="text-353"/>
          <p:cNvSpPr txBox="1"/>
          <p:nvPr/>
        </p:nvSpPr>
        <p:spPr>
          <a:xfrm>
            <a:off x="2560320" y="2167128"/>
            <a:ext cx="1280160" cy="365760"/>
          </a:xfrm>
          <a:prstGeom prst="rect">
            <a:avLst/>
          </a:prstGeom>
          <a:noFill/>
          <a:ln/>
        </p:spPr>
        <p:txBody>
          <a:bodyPr wrap="square" lIns="0" tIns="0" rIns="0" bIns="0" rtlCol="0" anchor="t"/>
          <a:lstStyle/>
          <a:p>
            <a:pPr marL="0" indent="0" algn="ctr">
              <a:buNone/>
            </a:pPr>
            <a:r>
              <a:rPr lang="en-US" sz="1100" dirty="0">
                <a:solidFill>
                  <a:schemeClr val="bg1"/>
                </a:solidFill>
              </a:rPr>
              <a:t>plan next step</a:t>
            </a:r>
            <a:endParaRPr lang="en-US" sz="1100" dirty="0"/>
          </a:p>
        </p:txBody>
      </p:sp>
      <p:sp>
        <p:nvSpPr>
          <p:cNvPr id="7" name="node-354"/>
          <p:cNvSpPr/>
          <p:nvPr/>
        </p:nvSpPr>
        <p:spPr>
          <a:xfrm>
            <a:off x="3946134" y="3909060"/>
            <a:ext cx="1280160" cy="1280160"/>
          </a:xfrm>
          <a:prstGeom prst="ellipse">
            <a:avLst/>
          </a:prstGeom>
          <a:solidFill>
            <a:srgbClr val="D97757"/>
          </a:solidFill>
          <a:ln w="38100">
            <a:solidFill>
              <a:schemeClr val="bg1"/>
            </a:solidFill>
            <a:prstDash val="solid"/>
          </a:ln>
        </p:spPr>
        <p:txBody>
          <a:bodyPr/>
          <a:lstStyle/>
          <a:p>
            <a:endParaRPr lang="en-US"/>
          </a:p>
        </p:txBody>
      </p:sp>
      <p:sp>
        <p:nvSpPr>
          <p:cNvPr id="8" name="text-355"/>
          <p:cNvSpPr txBox="1"/>
          <p:nvPr/>
        </p:nvSpPr>
        <p:spPr>
          <a:xfrm>
            <a:off x="3946134" y="4201668"/>
            <a:ext cx="1280160" cy="365760"/>
          </a:xfrm>
          <a:prstGeom prst="rect">
            <a:avLst/>
          </a:prstGeom>
          <a:noFill/>
          <a:ln/>
        </p:spPr>
        <p:txBody>
          <a:bodyPr wrap="square" lIns="0" tIns="0" rIns="0" bIns="0" rtlCol="0" anchor="t"/>
          <a:lstStyle/>
          <a:p>
            <a:pPr marL="0" indent="0" algn="ctr">
              <a:buNone/>
            </a:pPr>
            <a:r>
              <a:rPr lang="en-US" sz="1600" b="1" dirty="0">
                <a:solidFill>
                  <a:schemeClr val="bg1"/>
                </a:solidFill>
              </a:rPr>
              <a:t>Act</a:t>
            </a:r>
            <a:endParaRPr lang="en-US" sz="1600" dirty="0"/>
          </a:p>
        </p:txBody>
      </p:sp>
      <p:sp>
        <p:nvSpPr>
          <p:cNvPr id="9" name="text-356"/>
          <p:cNvSpPr txBox="1"/>
          <p:nvPr/>
        </p:nvSpPr>
        <p:spPr>
          <a:xfrm>
            <a:off x="3946134" y="4567428"/>
            <a:ext cx="1280160" cy="365760"/>
          </a:xfrm>
          <a:prstGeom prst="rect">
            <a:avLst/>
          </a:prstGeom>
          <a:noFill/>
          <a:ln/>
        </p:spPr>
        <p:txBody>
          <a:bodyPr wrap="square" lIns="0" tIns="0" rIns="0" bIns="0" rtlCol="0" anchor="t"/>
          <a:lstStyle/>
          <a:p>
            <a:pPr marL="0" indent="0" algn="ctr">
              <a:buNone/>
            </a:pPr>
            <a:r>
              <a:rPr lang="en-US" sz="1100" dirty="0">
                <a:solidFill>
                  <a:schemeClr val="bg1"/>
                </a:solidFill>
              </a:rPr>
              <a:t>call a tool</a:t>
            </a:r>
            <a:endParaRPr lang="en-US" sz="1100" dirty="0"/>
          </a:p>
        </p:txBody>
      </p:sp>
      <p:sp>
        <p:nvSpPr>
          <p:cNvPr id="10" name="node-357"/>
          <p:cNvSpPr/>
          <p:nvPr/>
        </p:nvSpPr>
        <p:spPr>
          <a:xfrm>
            <a:off x="1174506" y="3909060"/>
            <a:ext cx="1280160" cy="1280160"/>
          </a:xfrm>
          <a:prstGeom prst="ellipse">
            <a:avLst/>
          </a:prstGeom>
          <a:solidFill>
            <a:srgbClr val="2A9D8F"/>
          </a:solidFill>
          <a:ln w="38100">
            <a:solidFill>
              <a:schemeClr val="bg1"/>
            </a:solidFill>
            <a:prstDash val="solid"/>
          </a:ln>
        </p:spPr>
        <p:txBody>
          <a:bodyPr/>
          <a:lstStyle/>
          <a:p>
            <a:endParaRPr lang="en-US"/>
          </a:p>
        </p:txBody>
      </p:sp>
      <p:sp>
        <p:nvSpPr>
          <p:cNvPr id="11" name="text-358"/>
          <p:cNvSpPr txBox="1"/>
          <p:nvPr/>
        </p:nvSpPr>
        <p:spPr>
          <a:xfrm>
            <a:off x="1174506" y="4201668"/>
            <a:ext cx="1280160" cy="365760"/>
          </a:xfrm>
          <a:prstGeom prst="rect">
            <a:avLst/>
          </a:prstGeom>
          <a:noFill/>
          <a:ln/>
        </p:spPr>
        <p:txBody>
          <a:bodyPr wrap="square" lIns="0" tIns="0" rIns="0" bIns="0" rtlCol="0" anchor="t"/>
          <a:lstStyle/>
          <a:p>
            <a:pPr marL="0" indent="0" algn="ctr">
              <a:buNone/>
            </a:pPr>
            <a:r>
              <a:rPr lang="en-US" sz="1600" b="1" dirty="0">
                <a:solidFill>
                  <a:schemeClr val="bg1"/>
                </a:solidFill>
              </a:rPr>
              <a:t>Observe</a:t>
            </a:r>
            <a:endParaRPr lang="en-US" sz="1600" dirty="0"/>
          </a:p>
        </p:txBody>
      </p:sp>
      <p:sp>
        <p:nvSpPr>
          <p:cNvPr id="12" name="text-359"/>
          <p:cNvSpPr txBox="1"/>
          <p:nvPr/>
        </p:nvSpPr>
        <p:spPr>
          <a:xfrm>
            <a:off x="1174506" y="4567428"/>
            <a:ext cx="1280160" cy="365760"/>
          </a:xfrm>
          <a:prstGeom prst="rect">
            <a:avLst/>
          </a:prstGeom>
          <a:noFill/>
          <a:ln/>
        </p:spPr>
        <p:txBody>
          <a:bodyPr wrap="square" lIns="0" tIns="0" rIns="0" bIns="0" rtlCol="0" anchor="t"/>
          <a:lstStyle/>
          <a:p>
            <a:pPr marL="0" indent="0" algn="ctr">
              <a:buNone/>
            </a:pPr>
            <a:r>
              <a:rPr lang="en-US" sz="1100" dirty="0">
                <a:solidFill>
                  <a:schemeClr val="bg1"/>
                </a:solidFill>
              </a:rPr>
              <a:t>read the result</a:t>
            </a:r>
            <a:endParaRPr lang="en-US" sz="1100" dirty="0"/>
          </a:p>
        </p:txBody>
      </p:sp>
      <p:sp>
        <p:nvSpPr>
          <p:cNvPr id="13" name="card-360"/>
          <p:cNvSpPr/>
          <p:nvPr/>
        </p:nvSpPr>
        <p:spPr>
          <a:xfrm>
            <a:off x="548640" y="1371600"/>
            <a:ext cx="1280160" cy="502920"/>
          </a:xfrm>
          <a:prstGeom prst="roundRect">
            <a:avLst>
              <a:gd name="adj" fmla="val 18182"/>
            </a:avLst>
          </a:prstGeom>
          <a:solidFill>
            <a:schemeClr val="accent4"/>
          </a:solidFill>
          <a:ln w="9525">
            <a:solidFill>
              <a:schemeClr val="accent4"/>
            </a:solidFill>
            <a:prstDash val="solid"/>
          </a:ln>
        </p:spPr>
        <p:txBody>
          <a:bodyPr/>
          <a:lstStyle/>
          <a:p>
            <a:endParaRPr lang="en-US"/>
          </a:p>
        </p:txBody>
      </p:sp>
      <p:sp>
        <p:nvSpPr>
          <p:cNvPr id="14" name="text-361"/>
          <p:cNvSpPr txBox="1"/>
          <p:nvPr/>
        </p:nvSpPr>
        <p:spPr>
          <a:xfrm>
            <a:off x="548640" y="1371600"/>
            <a:ext cx="1280160" cy="502920"/>
          </a:xfrm>
          <a:prstGeom prst="rect">
            <a:avLst/>
          </a:prstGeom>
          <a:noFill/>
          <a:ln/>
        </p:spPr>
        <p:txBody>
          <a:bodyPr wrap="square" lIns="0" tIns="0" rIns="0" bIns="0" rtlCol="0" anchor="ctr"/>
          <a:lstStyle/>
          <a:p>
            <a:pPr marL="0" indent="0" algn="ctr">
              <a:buNone/>
            </a:pPr>
            <a:r>
              <a:rPr lang="en-US" sz="1400" b="1" dirty="0">
                <a:solidFill>
                  <a:schemeClr val="tx2"/>
                </a:solidFill>
              </a:rPr>
              <a:t>Goal</a:t>
            </a:r>
            <a:endParaRPr lang="en-US" sz="1400" dirty="0"/>
          </a:p>
        </p:txBody>
      </p:sp>
      <p:sp>
        <p:nvSpPr>
          <p:cNvPr id="15" name="arrow-362"/>
          <p:cNvSpPr/>
          <p:nvPr/>
        </p:nvSpPr>
        <p:spPr>
          <a:xfrm>
            <a:off x="1828800" y="1627632"/>
            <a:ext cx="685800" cy="429768"/>
          </a:xfrm>
          <a:prstGeom prst="line">
            <a:avLst/>
          </a:prstGeom>
          <a:noFill/>
          <a:ln w="25400">
            <a:solidFill>
              <a:schemeClr val="accent5"/>
            </a:solidFill>
            <a:prstDash val="solid"/>
            <a:tailEnd type="triangle"/>
          </a:ln>
        </p:spPr>
        <p:txBody>
          <a:bodyPr/>
          <a:lstStyle/>
          <a:p>
            <a:endParaRPr lang="en-US"/>
          </a:p>
        </p:txBody>
      </p:sp>
      <p:sp>
        <p:nvSpPr>
          <p:cNvPr id="16" name="card-363"/>
          <p:cNvSpPr/>
          <p:nvPr/>
        </p:nvSpPr>
        <p:spPr>
          <a:xfrm>
            <a:off x="4526280" y="1371600"/>
            <a:ext cx="1737360"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17" name="text-364"/>
          <p:cNvSpPr txBox="1"/>
          <p:nvPr/>
        </p:nvSpPr>
        <p:spPr>
          <a:xfrm>
            <a:off x="4526280" y="1371600"/>
            <a:ext cx="1737360" cy="502920"/>
          </a:xfrm>
          <a:prstGeom prst="rect">
            <a:avLst/>
          </a:prstGeom>
          <a:noFill/>
          <a:ln/>
        </p:spPr>
        <p:txBody>
          <a:bodyPr wrap="square" lIns="0" tIns="0" rIns="0" bIns="0" rtlCol="0" anchor="ctr"/>
          <a:lstStyle/>
          <a:p>
            <a:pPr marL="0" indent="0" algn="ctr">
              <a:buNone/>
            </a:pPr>
            <a:r>
              <a:rPr lang="en-US" sz="1400" b="1" dirty="0">
                <a:solidFill>
                  <a:schemeClr val="bg1"/>
                </a:solidFill>
              </a:rPr>
              <a:t>Done → answer</a:t>
            </a:r>
            <a:endParaRPr lang="en-US" sz="1400" dirty="0"/>
          </a:p>
        </p:txBody>
      </p:sp>
      <p:sp>
        <p:nvSpPr>
          <p:cNvPr id="18" name="arrow-365"/>
          <p:cNvSpPr/>
          <p:nvPr/>
        </p:nvSpPr>
        <p:spPr>
          <a:xfrm flipV="1">
            <a:off x="3858768" y="1901952"/>
            <a:ext cx="1261872" cy="109728"/>
          </a:xfrm>
          <a:prstGeom prst="line">
            <a:avLst/>
          </a:prstGeom>
          <a:noFill/>
          <a:ln w="25400">
            <a:solidFill>
              <a:schemeClr val="accent5"/>
            </a:solidFill>
            <a:prstDash val="solid"/>
            <a:tailEnd type="triangle"/>
          </a:ln>
        </p:spPr>
        <p:txBody>
          <a:bodyPr/>
          <a:lstStyle/>
          <a:p>
            <a:endParaRPr lang="en-US"/>
          </a:p>
        </p:txBody>
      </p:sp>
      <p:sp>
        <p:nvSpPr>
          <p:cNvPr id="19" name="text-366"/>
          <p:cNvSpPr txBox="1"/>
          <p:nvPr/>
        </p:nvSpPr>
        <p:spPr>
          <a:xfrm>
            <a:off x="548640" y="5760720"/>
            <a:ext cx="5486400" cy="365760"/>
          </a:xfrm>
          <a:prstGeom prst="rect">
            <a:avLst/>
          </a:prstGeom>
          <a:noFill/>
          <a:ln/>
        </p:spPr>
        <p:txBody>
          <a:bodyPr wrap="square" lIns="0" tIns="0" rIns="0" bIns="0" rtlCol="0" anchor="t"/>
          <a:lstStyle/>
          <a:p>
            <a:pPr marL="0" indent="0" algn="ctr">
              <a:buNone/>
            </a:pPr>
            <a:r>
              <a:rPr lang="en-US" sz="1200" i="1" dirty="0">
                <a:solidFill>
                  <a:schemeClr val="accent5"/>
                </a:solidFill>
              </a:rPr>
              <a:t>“Am I finished?” is decided in the Think step</a:t>
            </a:r>
            <a:endParaRPr lang="en-US" sz="1200" dirty="0"/>
          </a:p>
        </p:txBody>
      </p:sp>
      <p:sp>
        <p:nvSpPr>
          <p:cNvPr id="20" name="card-367"/>
          <p:cNvSpPr/>
          <p:nvPr/>
        </p:nvSpPr>
        <p:spPr>
          <a:xfrm>
            <a:off x="6766560" y="1325880"/>
            <a:ext cx="4846320" cy="4800600"/>
          </a:xfrm>
          <a:prstGeom prst="roundRect">
            <a:avLst>
              <a:gd name="adj" fmla="val 1905"/>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1" name="text-368"/>
          <p:cNvSpPr txBox="1"/>
          <p:nvPr/>
        </p:nvSpPr>
        <p:spPr>
          <a:xfrm>
            <a:off x="6995160" y="1463040"/>
            <a:ext cx="4480560" cy="685800"/>
          </a:xfrm>
          <a:prstGeom prst="rect">
            <a:avLst/>
          </a:prstGeom>
          <a:noFill/>
          <a:ln/>
        </p:spPr>
        <p:txBody>
          <a:bodyPr wrap="square" lIns="0" tIns="0" rIns="0" bIns="0" rtlCol="0" anchor="t"/>
          <a:lstStyle/>
          <a:p>
            <a:pPr marL="0" indent="0" algn="l">
              <a:buNone/>
            </a:pPr>
            <a:r>
              <a:rPr lang="en-US" sz="1400" b="1" dirty="0">
                <a:solidFill>
                  <a:schemeClr val="tx2"/>
                </a:solidFill>
              </a:rPr>
              <a:t>Example trace: “Which of my files mention budget, and what's the total?”</a:t>
            </a:r>
            <a:endParaRPr lang="en-US" sz="1400" dirty="0"/>
          </a:p>
        </p:txBody>
      </p:sp>
      <p:sp>
        <p:nvSpPr>
          <p:cNvPr id="22" name="text-369"/>
          <p:cNvSpPr txBox="1"/>
          <p:nvPr/>
        </p:nvSpPr>
        <p:spPr>
          <a:xfrm>
            <a:off x="6995160" y="2240280"/>
            <a:ext cx="960120" cy="411480"/>
          </a:xfrm>
          <a:prstGeom prst="rect">
            <a:avLst/>
          </a:prstGeom>
          <a:noFill/>
          <a:ln/>
        </p:spPr>
        <p:txBody>
          <a:bodyPr wrap="square" lIns="0" tIns="0" rIns="0" bIns="0" rtlCol="0" anchor="ctr"/>
          <a:lstStyle/>
          <a:p>
            <a:pPr marL="0" indent="0" algn="l">
              <a:buNone/>
            </a:pPr>
            <a:r>
              <a:rPr lang="en-US" sz="1300" b="1" dirty="0">
                <a:solidFill>
                  <a:schemeClr val="tx2"/>
                </a:solidFill>
              </a:rPr>
              <a:t>Think</a:t>
            </a:r>
            <a:endParaRPr lang="en-US" sz="1300" dirty="0"/>
          </a:p>
        </p:txBody>
      </p:sp>
      <p:sp>
        <p:nvSpPr>
          <p:cNvPr id="23" name="text-370"/>
          <p:cNvSpPr txBox="1"/>
          <p:nvPr/>
        </p:nvSpPr>
        <p:spPr>
          <a:xfrm>
            <a:off x="8001000" y="2240280"/>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I should search the folder first</a:t>
            </a:r>
            <a:endParaRPr lang="en-US" sz="1300" dirty="0"/>
          </a:p>
        </p:txBody>
      </p:sp>
      <p:sp>
        <p:nvSpPr>
          <p:cNvPr id="24" name="text-371"/>
          <p:cNvSpPr txBox="1"/>
          <p:nvPr/>
        </p:nvSpPr>
        <p:spPr>
          <a:xfrm>
            <a:off x="6995160" y="2770632"/>
            <a:ext cx="960120" cy="411480"/>
          </a:xfrm>
          <a:prstGeom prst="rect">
            <a:avLst/>
          </a:prstGeom>
          <a:noFill/>
          <a:ln/>
        </p:spPr>
        <p:txBody>
          <a:bodyPr wrap="square" lIns="0" tIns="0" rIns="0" bIns="0" rtlCol="0" anchor="ctr"/>
          <a:lstStyle/>
          <a:p>
            <a:pPr marL="0" indent="0" algn="l">
              <a:buNone/>
            </a:pPr>
            <a:r>
              <a:rPr lang="en-US" sz="1300" b="1" dirty="0">
                <a:solidFill>
                  <a:schemeClr val="accent1"/>
                </a:solidFill>
              </a:rPr>
              <a:t>Act</a:t>
            </a:r>
            <a:endParaRPr lang="en-US" sz="1300" dirty="0"/>
          </a:p>
        </p:txBody>
      </p:sp>
      <p:sp>
        <p:nvSpPr>
          <p:cNvPr id="25" name="text-372"/>
          <p:cNvSpPr txBox="1"/>
          <p:nvPr/>
        </p:nvSpPr>
        <p:spPr>
          <a:xfrm>
            <a:off x="8001000" y="2770632"/>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search_files(“budget”)</a:t>
            </a:r>
            <a:endParaRPr lang="en-US" sz="1300" dirty="0"/>
          </a:p>
        </p:txBody>
      </p:sp>
      <p:sp>
        <p:nvSpPr>
          <p:cNvPr id="26" name="text-373"/>
          <p:cNvSpPr txBox="1"/>
          <p:nvPr/>
        </p:nvSpPr>
        <p:spPr>
          <a:xfrm>
            <a:off x="6995160" y="3300984"/>
            <a:ext cx="960120" cy="411480"/>
          </a:xfrm>
          <a:prstGeom prst="rect">
            <a:avLst/>
          </a:prstGeom>
          <a:noFill/>
          <a:ln/>
        </p:spPr>
        <p:txBody>
          <a:bodyPr wrap="square" lIns="0" tIns="0" rIns="0" bIns="0" rtlCol="0" anchor="ctr"/>
          <a:lstStyle/>
          <a:p>
            <a:pPr marL="0" indent="0" algn="l">
              <a:buNone/>
            </a:pPr>
            <a:r>
              <a:rPr lang="en-US" sz="1300" b="1" dirty="0">
                <a:solidFill>
                  <a:schemeClr val="accent2"/>
                </a:solidFill>
              </a:rPr>
              <a:t>Observe</a:t>
            </a:r>
            <a:endParaRPr lang="en-US" sz="1300" dirty="0"/>
          </a:p>
        </p:txBody>
      </p:sp>
      <p:sp>
        <p:nvSpPr>
          <p:cNvPr id="27" name="text-374"/>
          <p:cNvSpPr txBox="1"/>
          <p:nvPr/>
        </p:nvSpPr>
        <p:spPr>
          <a:xfrm>
            <a:off x="8001000" y="3300984"/>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3 files found</a:t>
            </a:r>
            <a:endParaRPr lang="en-US" sz="1300" dirty="0"/>
          </a:p>
        </p:txBody>
      </p:sp>
      <p:sp>
        <p:nvSpPr>
          <p:cNvPr id="28" name="text-375"/>
          <p:cNvSpPr txBox="1"/>
          <p:nvPr/>
        </p:nvSpPr>
        <p:spPr>
          <a:xfrm>
            <a:off x="6995160" y="3831336"/>
            <a:ext cx="960120" cy="411480"/>
          </a:xfrm>
          <a:prstGeom prst="rect">
            <a:avLst/>
          </a:prstGeom>
          <a:noFill/>
          <a:ln/>
        </p:spPr>
        <p:txBody>
          <a:bodyPr wrap="square" lIns="0" tIns="0" rIns="0" bIns="0" rtlCol="0" anchor="ctr"/>
          <a:lstStyle/>
          <a:p>
            <a:pPr marL="0" indent="0" algn="l">
              <a:buNone/>
            </a:pPr>
            <a:r>
              <a:rPr lang="en-US" sz="1300" b="1" dirty="0">
                <a:solidFill>
                  <a:schemeClr val="tx2"/>
                </a:solidFill>
              </a:rPr>
              <a:t>Think</a:t>
            </a:r>
            <a:endParaRPr lang="en-US" sz="1300" dirty="0"/>
          </a:p>
        </p:txBody>
      </p:sp>
      <p:sp>
        <p:nvSpPr>
          <p:cNvPr id="29" name="text-376"/>
          <p:cNvSpPr txBox="1"/>
          <p:nvPr/>
        </p:nvSpPr>
        <p:spPr>
          <a:xfrm>
            <a:off x="8001000" y="3831336"/>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Open each and extract the amounts</a:t>
            </a:r>
            <a:endParaRPr lang="en-US" sz="1300" dirty="0"/>
          </a:p>
        </p:txBody>
      </p:sp>
      <p:sp>
        <p:nvSpPr>
          <p:cNvPr id="30" name="text-377"/>
          <p:cNvSpPr txBox="1"/>
          <p:nvPr/>
        </p:nvSpPr>
        <p:spPr>
          <a:xfrm>
            <a:off x="6995160" y="4361688"/>
            <a:ext cx="960120" cy="411480"/>
          </a:xfrm>
          <a:prstGeom prst="rect">
            <a:avLst/>
          </a:prstGeom>
          <a:noFill/>
          <a:ln/>
        </p:spPr>
        <p:txBody>
          <a:bodyPr wrap="square" lIns="0" tIns="0" rIns="0" bIns="0" rtlCol="0" anchor="ctr"/>
          <a:lstStyle/>
          <a:p>
            <a:pPr marL="0" indent="0" algn="l">
              <a:buNone/>
            </a:pPr>
            <a:r>
              <a:rPr lang="en-US" sz="1300" b="1" dirty="0">
                <a:solidFill>
                  <a:schemeClr val="accent1"/>
                </a:solidFill>
              </a:rPr>
              <a:t>Act</a:t>
            </a:r>
            <a:endParaRPr lang="en-US" sz="1300" dirty="0"/>
          </a:p>
        </p:txBody>
      </p:sp>
      <p:sp>
        <p:nvSpPr>
          <p:cNvPr id="31" name="text-378"/>
          <p:cNvSpPr txBox="1"/>
          <p:nvPr/>
        </p:nvSpPr>
        <p:spPr>
          <a:xfrm>
            <a:off x="8001000" y="4361688"/>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read_file × 3</a:t>
            </a:r>
            <a:endParaRPr lang="en-US" sz="1300" dirty="0"/>
          </a:p>
        </p:txBody>
      </p:sp>
      <p:sp>
        <p:nvSpPr>
          <p:cNvPr id="32" name="text-379"/>
          <p:cNvSpPr txBox="1"/>
          <p:nvPr/>
        </p:nvSpPr>
        <p:spPr>
          <a:xfrm>
            <a:off x="6995160" y="4892040"/>
            <a:ext cx="960120" cy="411480"/>
          </a:xfrm>
          <a:prstGeom prst="rect">
            <a:avLst/>
          </a:prstGeom>
          <a:noFill/>
          <a:ln/>
        </p:spPr>
        <p:txBody>
          <a:bodyPr wrap="square" lIns="0" tIns="0" rIns="0" bIns="0" rtlCol="0" anchor="ctr"/>
          <a:lstStyle/>
          <a:p>
            <a:pPr marL="0" indent="0" algn="l">
              <a:buNone/>
            </a:pPr>
            <a:r>
              <a:rPr lang="en-US" sz="1300" b="1" dirty="0">
                <a:solidFill>
                  <a:schemeClr val="accent2"/>
                </a:solidFill>
              </a:rPr>
              <a:t>Observe</a:t>
            </a:r>
            <a:endParaRPr lang="en-US" sz="1300" dirty="0"/>
          </a:p>
        </p:txBody>
      </p:sp>
      <p:sp>
        <p:nvSpPr>
          <p:cNvPr id="33" name="text-380"/>
          <p:cNvSpPr txBox="1"/>
          <p:nvPr/>
        </p:nvSpPr>
        <p:spPr>
          <a:xfrm>
            <a:off x="8001000" y="4892040"/>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$1,200 · $850 · $2,400</a:t>
            </a:r>
            <a:endParaRPr lang="en-US" sz="1300" dirty="0"/>
          </a:p>
        </p:txBody>
      </p:sp>
      <p:sp>
        <p:nvSpPr>
          <p:cNvPr id="34" name="text-381"/>
          <p:cNvSpPr txBox="1"/>
          <p:nvPr/>
        </p:nvSpPr>
        <p:spPr>
          <a:xfrm>
            <a:off x="6995160" y="5422392"/>
            <a:ext cx="960120" cy="411480"/>
          </a:xfrm>
          <a:prstGeom prst="rect">
            <a:avLst/>
          </a:prstGeom>
          <a:noFill/>
          <a:ln/>
        </p:spPr>
        <p:txBody>
          <a:bodyPr wrap="square" lIns="0" tIns="0" rIns="0" bIns="0" rtlCol="0" anchor="ctr"/>
          <a:lstStyle/>
          <a:p>
            <a:pPr marL="0" indent="0" algn="l">
              <a:buNone/>
            </a:pPr>
            <a:r>
              <a:rPr lang="en-US" sz="1300" b="1" dirty="0">
                <a:solidFill>
                  <a:schemeClr val="tx2"/>
                </a:solidFill>
              </a:rPr>
              <a:t>Think</a:t>
            </a:r>
            <a:endParaRPr lang="en-US" sz="1300" dirty="0"/>
          </a:p>
        </p:txBody>
      </p:sp>
      <p:sp>
        <p:nvSpPr>
          <p:cNvPr id="35" name="text-382"/>
          <p:cNvSpPr txBox="1"/>
          <p:nvPr/>
        </p:nvSpPr>
        <p:spPr>
          <a:xfrm>
            <a:off x="8001000" y="5422392"/>
            <a:ext cx="3474720" cy="411480"/>
          </a:xfrm>
          <a:prstGeom prst="rect">
            <a:avLst/>
          </a:prstGeom>
          <a:noFill/>
          <a:ln/>
        </p:spPr>
        <p:txBody>
          <a:bodyPr wrap="square" lIns="0" tIns="0" rIns="0" bIns="0" rtlCol="0" anchor="ctr"/>
          <a:lstStyle/>
          <a:p>
            <a:pPr marL="0" indent="0" algn="l">
              <a:buNone/>
            </a:pPr>
            <a:r>
              <a:rPr lang="en-US" sz="1300" dirty="0">
                <a:solidFill>
                  <a:schemeClr val="tx1"/>
                </a:solidFill>
                <a:latin typeface="Courier New" pitchFamily="34" charset="0"/>
                <a:ea typeface="Courier New" pitchFamily="34" charset="-122"/>
                <a:cs typeface="Courier New" pitchFamily="34" charset="-120"/>
              </a:rPr>
              <a:t>Sum them → $4,450. Done.</a:t>
            </a:r>
            <a:endParaRPr lang="en-US" sz="13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Act step: the model asks, your app does</a:t>
            </a:r>
            <a:endParaRPr lang="en-US" sz="3400" dirty="0"/>
          </a:p>
        </p:txBody>
      </p:sp>
      <p:sp>
        <p:nvSpPr>
          <p:cNvPr id="200" name="phase-band-Think"/>
          <p:cNvSpPr/>
          <p:nvPr/>
        </p:nvSpPr>
        <p:spPr>
          <a:xfrm>
            <a:off x="228600" y="2298700"/>
            <a:ext cx="8051800" cy="482600"/>
          </a:xfrm>
          <a:prstGeom prst="rect">
            <a:avLst/>
          </a:prstGeom>
          <a:solidFill>
            <a:srgbClr val="E4E6EE"/>
          </a:solidFill>
          <a:ln>
            <a:noFill/>
          </a:ln>
        </p:spPr>
        <p:txBody>
          <a:bodyPr/>
          <a:lstStyle/>
          <a:p>
            <a:endParaRPr lang="en-US"/>
          </a:p>
        </p:txBody>
      </p:sp>
      <p:sp>
        <p:nvSpPr>
          <p:cNvPr id="202" name="phase-band-Act"/>
          <p:cNvSpPr/>
          <p:nvPr/>
        </p:nvSpPr>
        <p:spPr>
          <a:xfrm>
            <a:off x="228600" y="2806700"/>
            <a:ext cx="8051800" cy="1485900"/>
          </a:xfrm>
          <a:prstGeom prst="rect">
            <a:avLst/>
          </a:prstGeom>
          <a:solidFill>
            <a:srgbClr val="FBE9E2"/>
          </a:solidFill>
          <a:ln>
            <a:noFill/>
          </a:ln>
        </p:spPr>
        <p:txBody>
          <a:bodyPr/>
          <a:lstStyle/>
          <a:p>
            <a:endParaRPr lang="en-US"/>
          </a:p>
        </p:txBody>
      </p:sp>
      <p:sp>
        <p:nvSpPr>
          <p:cNvPr id="204" name="phase-band-Observe"/>
          <p:cNvSpPr/>
          <p:nvPr/>
        </p:nvSpPr>
        <p:spPr>
          <a:xfrm>
            <a:off x="228600" y="4318000"/>
            <a:ext cx="8051800" cy="444500"/>
          </a:xfrm>
          <a:prstGeom prst="rect">
            <a:avLst/>
          </a:prstGeom>
          <a:solidFill>
            <a:srgbClr val="DDF1EE"/>
          </a:solidFill>
          <a:ln>
            <a:noFill/>
          </a:ln>
        </p:spPr>
        <p:txBody>
          <a:bodyPr/>
          <a:lstStyle/>
          <a:p>
            <a:endParaRPr lang="en-US"/>
          </a:p>
        </p:txBody>
      </p:sp>
      <p:sp>
        <p:nvSpPr>
          <p:cNvPr id="206" name="phase-band-Think"/>
          <p:cNvSpPr/>
          <p:nvPr/>
        </p:nvSpPr>
        <p:spPr>
          <a:xfrm>
            <a:off x="228600" y="4787900"/>
            <a:ext cx="8051800" cy="482600"/>
          </a:xfrm>
          <a:prstGeom prst="rect">
            <a:avLst/>
          </a:prstGeom>
          <a:solidFill>
            <a:srgbClr val="E4E6EE"/>
          </a:solidFill>
          <a:ln>
            <a:noFill/>
          </a:ln>
        </p:spPr>
        <p:txBody>
          <a:bodyPr/>
          <a:lstStyle/>
          <a:p>
            <a:endParaRPr lang="en-US"/>
          </a:p>
        </p:txBody>
      </p:sp>
      <p:sp>
        <p:nvSpPr>
          <p:cNvPr id="3" name="card-383"/>
          <p:cNvSpPr/>
          <p:nvPr/>
        </p:nvSpPr>
        <p:spPr>
          <a:xfrm>
            <a:off x="228600" y="1325880"/>
            <a:ext cx="1737360" cy="502920"/>
          </a:xfrm>
          <a:prstGeom prst="roundRect">
            <a:avLst>
              <a:gd name="adj" fmla="val 18182"/>
            </a:avLst>
          </a:prstGeom>
          <a:solidFill>
            <a:srgbClr val="8A90A6"/>
          </a:solidFill>
          <a:ln w="9525">
            <a:solidFill>
              <a:srgbClr val="8A90A6"/>
            </a:solidFill>
            <a:prstDash val="solid"/>
          </a:ln>
        </p:spPr>
        <p:txBody>
          <a:bodyPr/>
          <a:lstStyle/>
          <a:p>
            <a:endParaRPr lang="en-US"/>
          </a:p>
        </p:txBody>
      </p:sp>
      <p:sp>
        <p:nvSpPr>
          <p:cNvPr id="4" name="text-384"/>
          <p:cNvSpPr txBox="1"/>
          <p:nvPr/>
        </p:nvSpPr>
        <p:spPr>
          <a:xfrm>
            <a:off x="228600" y="1325880"/>
            <a:ext cx="1737360" cy="502920"/>
          </a:xfrm>
          <a:prstGeom prst="rect">
            <a:avLst/>
          </a:prstGeom>
          <a:noFill/>
          <a:ln/>
        </p:spPr>
        <p:txBody>
          <a:bodyPr wrap="square" lIns="0" tIns="0" rIns="0" bIns="0" rtlCol="0" anchor="ctr"/>
          <a:lstStyle/>
          <a:p>
            <a:pPr marL="0" indent="0" algn="ctr">
              <a:buNone/>
            </a:pPr>
            <a:r>
              <a:rPr lang="en-US" sz="1300" b="1" dirty="0">
                <a:solidFill>
                  <a:schemeClr val="bg1"/>
                </a:solidFill>
              </a:rPr>
              <a:t>User</a:t>
            </a:r>
            <a:endParaRPr lang="en-US" sz="1300" dirty="0"/>
          </a:p>
        </p:txBody>
      </p:sp>
      <p:sp>
        <p:nvSpPr>
          <p:cNvPr id="5" name="lane-385"/>
          <p:cNvSpPr/>
          <p:nvPr/>
        </p:nvSpPr>
        <p:spPr>
          <a:xfrm>
            <a:off x="1097280" y="1828800"/>
            <a:ext cx="914" cy="4251960"/>
          </a:xfrm>
          <a:prstGeom prst="line">
            <a:avLst/>
          </a:prstGeom>
          <a:noFill/>
          <a:ln w="19050">
            <a:solidFill>
              <a:srgbClr val="DADDE8"/>
            </a:solidFill>
            <a:prstDash val="dash"/>
          </a:ln>
        </p:spPr>
        <p:txBody>
          <a:bodyPr/>
          <a:lstStyle/>
          <a:p>
            <a:endParaRPr lang="en-US"/>
          </a:p>
        </p:txBody>
      </p:sp>
      <p:sp>
        <p:nvSpPr>
          <p:cNvPr id="6" name="card-386"/>
          <p:cNvSpPr/>
          <p:nvPr/>
        </p:nvSpPr>
        <p:spPr>
          <a:xfrm>
            <a:off x="2331720" y="1325880"/>
            <a:ext cx="1737360" cy="502920"/>
          </a:xfrm>
          <a:prstGeom prst="roundRect">
            <a:avLst>
              <a:gd name="adj" fmla="val 18182"/>
            </a:avLst>
          </a:prstGeom>
          <a:solidFill>
            <a:srgbClr val="1B1F3B"/>
          </a:solidFill>
          <a:ln w="9525">
            <a:solidFill>
              <a:srgbClr val="1B1F3B"/>
            </a:solidFill>
            <a:prstDash val="solid"/>
          </a:ln>
        </p:spPr>
        <p:txBody>
          <a:bodyPr/>
          <a:lstStyle/>
          <a:p>
            <a:endParaRPr lang="en-US"/>
          </a:p>
        </p:txBody>
      </p:sp>
      <p:sp>
        <p:nvSpPr>
          <p:cNvPr id="7" name="text-387"/>
          <p:cNvSpPr txBox="1"/>
          <p:nvPr/>
        </p:nvSpPr>
        <p:spPr>
          <a:xfrm>
            <a:off x="2331720" y="1325880"/>
            <a:ext cx="1737360" cy="502920"/>
          </a:xfrm>
          <a:prstGeom prst="rect">
            <a:avLst/>
          </a:prstGeom>
          <a:noFill/>
          <a:ln/>
        </p:spPr>
        <p:txBody>
          <a:bodyPr wrap="square" lIns="0" tIns="0" rIns="0" bIns="0" rtlCol="0" anchor="ctr"/>
          <a:lstStyle/>
          <a:p>
            <a:pPr marL="0" indent="0" algn="ctr">
              <a:buNone/>
            </a:pPr>
            <a:r>
              <a:rPr lang="en-US" sz="1300" b="1" dirty="0">
                <a:solidFill>
                  <a:schemeClr val="bg1"/>
                </a:solidFill>
              </a:rPr>
              <a:t>App / harness</a:t>
            </a:r>
            <a:endParaRPr lang="en-US" sz="1300" dirty="0"/>
          </a:p>
        </p:txBody>
      </p:sp>
      <p:sp>
        <p:nvSpPr>
          <p:cNvPr id="8" name="lane-388"/>
          <p:cNvSpPr/>
          <p:nvPr/>
        </p:nvSpPr>
        <p:spPr>
          <a:xfrm>
            <a:off x="3200400" y="1828800"/>
            <a:ext cx="914" cy="4251960"/>
          </a:xfrm>
          <a:prstGeom prst="line">
            <a:avLst/>
          </a:prstGeom>
          <a:noFill/>
          <a:ln w="19050">
            <a:solidFill>
              <a:srgbClr val="DADDE8"/>
            </a:solidFill>
            <a:prstDash val="dash"/>
          </a:ln>
        </p:spPr>
        <p:txBody>
          <a:bodyPr/>
          <a:lstStyle/>
          <a:p>
            <a:endParaRPr lang="en-US"/>
          </a:p>
        </p:txBody>
      </p:sp>
      <p:sp>
        <p:nvSpPr>
          <p:cNvPr id="9" name="card-389"/>
          <p:cNvSpPr/>
          <p:nvPr/>
        </p:nvSpPr>
        <p:spPr>
          <a:xfrm>
            <a:off x="4434840" y="1325880"/>
            <a:ext cx="1737360" cy="502920"/>
          </a:xfrm>
          <a:prstGeom prst="roundRect">
            <a:avLst>
              <a:gd name="adj" fmla="val 18182"/>
            </a:avLst>
          </a:prstGeom>
          <a:solidFill>
            <a:srgbClr val="D97757"/>
          </a:solidFill>
          <a:ln w="9525">
            <a:solidFill>
              <a:srgbClr val="D97757"/>
            </a:solidFill>
            <a:prstDash val="solid"/>
          </a:ln>
        </p:spPr>
        <p:txBody>
          <a:bodyPr/>
          <a:lstStyle/>
          <a:p>
            <a:endParaRPr lang="en-US"/>
          </a:p>
        </p:txBody>
      </p:sp>
      <p:sp>
        <p:nvSpPr>
          <p:cNvPr id="10" name="text-390"/>
          <p:cNvSpPr txBox="1"/>
          <p:nvPr/>
        </p:nvSpPr>
        <p:spPr>
          <a:xfrm>
            <a:off x="4434840" y="1325880"/>
            <a:ext cx="1737360" cy="502920"/>
          </a:xfrm>
          <a:prstGeom prst="rect">
            <a:avLst/>
          </a:prstGeom>
          <a:noFill/>
          <a:ln/>
        </p:spPr>
        <p:txBody>
          <a:bodyPr wrap="square" lIns="0" tIns="0" rIns="0" bIns="0" rtlCol="0" anchor="ctr"/>
          <a:lstStyle/>
          <a:p>
            <a:pPr marL="0" indent="0" algn="ctr">
              <a:buNone/>
            </a:pPr>
            <a:r>
              <a:rPr lang="en-US" sz="1300" b="1" dirty="0">
                <a:solidFill>
                  <a:schemeClr val="bg1"/>
                </a:solidFill>
              </a:rPr>
              <a:t>LLM</a:t>
            </a:r>
            <a:endParaRPr lang="en-US" sz="1300" dirty="0"/>
          </a:p>
        </p:txBody>
      </p:sp>
      <p:sp>
        <p:nvSpPr>
          <p:cNvPr id="11" name="lane-391"/>
          <p:cNvSpPr/>
          <p:nvPr/>
        </p:nvSpPr>
        <p:spPr>
          <a:xfrm>
            <a:off x="5303520" y="1828800"/>
            <a:ext cx="914" cy="4251960"/>
          </a:xfrm>
          <a:prstGeom prst="line">
            <a:avLst/>
          </a:prstGeom>
          <a:noFill/>
          <a:ln w="19050">
            <a:solidFill>
              <a:srgbClr val="DADDE8"/>
            </a:solidFill>
            <a:prstDash val="dash"/>
          </a:ln>
        </p:spPr>
        <p:txBody>
          <a:bodyPr/>
          <a:lstStyle/>
          <a:p>
            <a:endParaRPr lang="en-US"/>
          </a:p>
        </p:txBody>
      </p:sp>
      <p:sp>
        <p:nvSpPr>
          <p:cNvPr id="12" name="card-392"/>
          <p:cNvSpPr/>
          <p:nvPr/>
        </p:nvSpPr>
        <p:spPr>
          <a:xfrm>
            <a:off x="6537960" y="1325880"/>
            <a:ext cx="1737360" cy="502920"/>
          </a:xfrm>
          <a:prstGeom prst="roundRect">
            <a:avLst>
              <a:gd name="adj" fmla="val 18182"/>
            </a:avLst>
          </a:prstGeom>
          <a:solidFill>
            <a:srgbClr val="2A9D8F"/>
          </a:solidFill>
          <a:ln w="9525">
            <a:solidFill>
              <a:srgbClr val="2A9D8F"/>
            </a:solidFill>
            <a:prstDash val="solid"/>
          </a:ln>
        </p:spPr>
        <p:txBody>
          <a:bodyPr/>
          <a:lstStyle/>
          <a:p>
            <a:endParaRPr lang="en-US"/>
          </a:p>
        </p:txBody>
      </p:sp>
      <p:sp>
        <p:nvSpPr>
          <p:cNvPr id="13" name="text-393"/>
          <p:cNvSpPr txBox="1"/>
          <p:nvPr/>
        </p:nvSpPr>
        <p:spPr>
          <a:xfrm>
            <a:off x="6537960" y="1325880"/>
            <a:ext cx="1737360" cy="502920"/>
          </a:xfrm>
          <a:prstGeom prst="rect">
            <a:avLst/>
          </a:prstGeom>
          <a:noFill/>
          <a:ln/>
        </p:spPr>
        <p:txBody>
          <a:bodyPr wrap="square" lIns="0" tIns="0" rIns="0" bIns="0" rtlCol="0" anchor="ctr"/>
          <a:lstStyle/>
          <a:p>
            <a:pPr marL="0" indent="0" algn="ctr">
              <a:buNone/>
            </a:pPr>
            <a:r>
              <a:rPr lang="en-US" sz="1300" b="1" dirty="0">
                <a:solidFill>
                  <a:schemeClr val="bg1"/>
                </a:solidFill>
              </a:rPr>
              <a:t>Tool (e.g. weather API)</a:t>
            </a:r>
            <a:endParaRPr lang="en-US" sz="1300" dirty="0"/>
          </a:p>
        </p:txBody>
      </p:sp>
      <p:sp>
        <p:nvSpPr>
          <p:cNvPr id="14" name="lane-394"/>
          <p:cNvSpPr/>
          <p:nvPr/>
        </p:nvSpPr>
        <p:spPr>
          <a:xfrm>
            <a:off x="7406640" y="1828800"/>
            <a:ext cx="914" cy="4251960"/>
          </a:xfrm>
          <a:prstGeom prst="line">
            <a:avLst/>
          </a:prstGeom>
          <a:noFill/>
          <a:ln w="19050">
            <a:solidFill>
              <a:srgbClr val="DADDE8"/>
            </a:solidFill>
            <a:prstDash val="dash"/>
          </a:ln>
        </p:spPr>
        <p:txBody>
          <a:bodyPr/>
          <a:lstStyle/>
          <a:p>
            <a:endParaRPr lang="en-US"/>
          </a:p>
        </p:txBody>
      </p:sp>
      <p:sp>
        <p:nvSpPr>
          <p:cNvPr id="15" name="arrow-395"/>
          <p:cNvSpPr/>
          <p:nvPr/>
        </p:nvSpPr>
        <p:spPr>
          <a:xfrm>
            <a:off x="1097280" y="2148840"/>
            <a:ext cx="2103120" cy="914"/>
          </a:xfrm>
          <a:prstGeom prst="line">
            <a:avLst/>
          </a:prstGeom>
          <a:noFill/>
          <a:ln w="22225">
            <a:solidFill>
              <a:schemeClr val="accent5"/>
            </a:solidFill>
            <a:prstDash val="solid"/>
            <a:tailEnd type="triangle"/>
          </a:ln>
        </p:spPr>
        <p:txBody>
          <a:bodyPr/>
          <a:lstStyle/>
          <a:p>
            <a:endParaRPr lang="en-US"/>
          </a:p>
        </p:txBody>
      </p:sp>
      <p:sp>
        <p:nvSpPr>
          <p:cNvPr id="16" name="text-396"/>
          <p:cNvSpPr txBox="1"/>
          <p:nvPr/>
        </p:nvSpPr>
        <p:spPr>
          <a:xfrm>
            <a:off x="1143000" y="1874520"/>
            <a:ext cx="2011680" cy="256032"/>
          </a:xfrm>
          <a:prstGeom prst="rect">
            <a:avLst/>
          </a:prstGeom>
          <a:noFill/>
          <a:ln/>
        </p:spPr>
        <p:txBody>
          <a:bodyPr wrap="square" lIns="0" tIns="0" rIns="0" bIns="0" rtlCol="0" anchor="t"/>
          <a:lstStyle/>
          <a:p>
            <a:pPr marL="0" indent="0" algn="ctr">
              <a:buNone/>
            </a:pPr>
            <a:r>
              <a:rPr lang="en-US" sz="1100" dirty="0">
                <a:solidFill>
                  <a:schemeClr val="tx1"/>
                </a:solidFill>
              </a:rPr>
              <a:t>“Weather in Hanoi?”</a:t>
            </a:r>
            <a:endParaRPr lang="en-US" sz="1100" dirty="0"/>
          </a:p>
        </p:txBody>
      </p:sp>
      <p:sp>
        <p:nvSpPr>
          <p:cNvPr id="17" name="arrow-397"/>
          <p:cNvSpPr/>
          <p:nvPr/>
        </p:nvSpPr>
        <p:spPr>
          <a:xfrm>
            <a:off x="3200400" y="2651760"/>
            <a:ext cx="2103120" cy="914"/>
          </a:xfrm>
          <a:prstGeom prst="line">
            <a:avLst/>
          </a:prstGeom>
          <a:noFill/>
          <a:ln w="22225">
            <a:solidFill>
              <a:schemeClr val="accent1"/>
            </a:solidFill>
            <a:prstDash val="solid"/>
            <a:tailEnd type="triangle"/>
          </a:ln>
        </p:spPr>
        <p:txBody>
          <a:bodyPr/>
          <a:lstStyle/>
          <a:p>
            <a:endParaRPr lang="en-US"/>
          </a:p>
        </p:txBody>
      </p:sp>
      <p:sp>
        <p:nvSpPr>
          <p:cNvPr id="18" name="text-398"/>
          <p:cNvSpPr txBox="1"/>
          <p:nvPr/>
        </p:nvSpPr>
        <p:spPr>
          <a:xfrm>
            <a:off x="3246120" y="2377440"/>
            <a:ext cx="2011680" cy="256032"/>
          </a:xfrm>
          <a:prstGeom prst="rect">
            <a:avLst/>
          </a:prstGeom>
          <a:noFill/>
          <a:ln/>
        </p:spPr>
        <p:txBody>
          <a:bodyPr wrap="square" lIns="0" tIns="0" rIns="0" bIns="0" rtlCol="0" anchor="t"/>
          <a:lstStyle/>
          <a:p>
            <a:pPr marL="0" indent="0" algn="ctr">
              <a:buNone/>
            </a:pPr>
            <a:r>
              <a:rPr lang="en-US" sz="1100" dirty="0">
                <a:solidFill>
                  <a:schemeClr val="tx1"/>
                </a:solidFill>
              </a:rPr>
              <a:t>prompt + tool list</a:t>
            </a:r>
            <a:endParaRPr lang="en-US" sz="1100" dirty="0"/>
          </a:p>
        </p:txBody>
      </p:sp>
      <p:sp>
        <p:nvSpPr>
          <p:cNvPr id="19" name="arrow-399"/>
          <p:cNvSpPr/>
          <p:nvPr/>
        </p:nvSpPr>
        <p:spPr>
          <a:xfrm flipH="1">
            <a:off x="3200400" y="3154680"/>
            <a:ext cx="2103120" cy="914"/>
          </a:xfrm>
          <a:prstGeom prst="line">
            <a:avLst/>
          </a:prstGeom>
          <a:noFill/>
          <a:ln w="22225">
            <a:solidFill>
              <a:schemeClr val="accent2"/>
            </a:solidFill>
            <a:prstDash val="solid"/>
            <a:tailEnd type="triangle"/>
          </a:ln>
        </p:spPr>
        <p:txBody>
          <a:bodyPr/>
          <a:lstStyle/>
          <a:p>
            <a:endParaRPr lang="en-US"/>
          </a:p>
        </p:txBody>
      </p:sp>
      <p:sp>
        <p:nvSpPr>
          <p:cNvPr id="20" name="text-400"/>
          <p:cNvSpPr txBox="1"/>
          <p:nvPr/>
        </p:nvSpPr>
        <p:spPr>
          <a:xfrm>
            <a:off x="3246120" y="2880360"/>
            <a:ext cx="2011680" cy="256032"/>
          </a:xfrm>
          <a:prstGeom prst="rect">
            <a:avLst/>
          </a:prstGeom>
          <a:noFill/>
          <a:ln/>
        </p:spPr>
        <p:txBody>
          <a:bodyPr wrap="square" lIns="0" tIns="0" rIns="0" bIns="0" rtlCol="0" anchor="t"/>
          <a:lstStyle/>
          <a:p>
            <a:pPr marL="0" indent="0" algn="ctr">
              <a:buNone/>
            </a:pPr>
            <a:r>
              <a:rPr lang="en-US" sz="1100" dirty="0">
                <a:solidFill>
                  <a:schemeClr val="tx1"/>
                </a:solidFill>
              </a:rPr>
              <a:t>tool_call: get_weather(“Hanoi”)</a:t>
            </a:r>
            <a:endParaRPr lang="en-US" sz="1100" dirty="0"/>
          </a:p>
        </p:txBody>
      </p:sp>
      <p:sp>
        <p:nvSpPr>
          <p:cNvPr id="21" name="arrow-401"/>
          <p:cNvSpPr/>
          <p:nvPr/>
        </p:nvSpPr>
        <p:spPr>
          <a:xfrm>
            <a:off x="3200400" y="3657600"/>
            <a:ext cx="4206240" cy="914"/>
          </a:xfrm>
          <a:prstGeom prst="line">
            <a:avLst/>
          </a:prstGeom>
          <a:noFill/>
          <a:ln w="22225">
            <a:solidFill>
              <a:schemeClr val="accent5"/>
            </a:solidFill>
            <a:prstDash val="solid"/>
            <a:tailEnd type="triangle"/>
          </a:ln>
        </p:spPr>
        <p:txBody>
          <a:bodyPr/>
          <a:lstStyle/>
          <a:p>
            <a:endParaRPr lang="en-US"/>
          </a:p>
        </p:txBody>
      </p:sp>
      <p:sp>
        <p:nvSpPr>
          <p:cNvPr id="22" name="text-402"/>
          <p:cNvSpPr txBox="1"/>
          <p:nvPr/>
        </p:nvSpPr>
        <p:spPr>
          <a:xfrm>
            <a:off x="3246120" y="3383280"/>
            <a:ext cx="4114800" cy="256032"/>
          </a:xfrm>
          <a:prstGeom prst="rect">
            <a:avLst/>
          </a:prstGeom>
          <a:noFill/>
          <a:ln/>
        </p:spPr>
        <p:txBody>
          <a:bodyPr wrap="square" lIns="0" tIns="0" rIns="0" bIns="0" rtlCol="0" anchor="t"/>
          <a:lstStyle/>
          <a:p>
            <a:pPr marL="0" indent="0" algn="ctr">
              <a:buNone/>
            </a:pPr>
            <a:r>
              <a:rPr lang="en-US" sz="1100" dirty="0">
                <a:solidFill>
                  <a:schemeClr val="tx1"/>
                </a:solidFill>
              </a:rPr>
              <a:t>call the API</a:t>
            </a:r>
            <a:endParaRPr lang="en-US" sz="1100" dirty="0"/>
          </a:p>
        </p:txBody>
      </p:sp>
      <p:sp>
        <p:nvSpPr>
          <p:cNvPr id="23" name="arrow-403"/>
          <p:cNvSpPr/>
          <p:nvPr/>
        </p:nvSpPr>
        <p:spPr>
          <a:xfrm flipH="1">
            <a:off x="3200400" y="4160520"/>
            <a:ext cx="4206240" cy="914"/>
          </a:xfrm>
          <a:prstGeom prst="line">
            <a:avLst/>
          </a:prstGeom>
          <a:noFill/>
          <a:ln w="22225">
            <a:solidFill>
              <a:schemeClr val="accent1"/>
            </a:solidFill>
            <a:prstDash val="solid"/>
            <a:tailEnd type="triangle"/>
          </a:ln>
        </p:spPr>
        <p:txBody>
          <a:bodyPr/>
          <a:lstStyle/>
          <a:p>
            <a:endParaRPr lang="en-US"/>
          </a:p>
        </p:txBody>
      </p:sp>
      <p:sp>
        <p:nvSpPr>
          <p:cNvPr id="24" name="text-404"/>
          <p:cNvSpPr txBox="1"/>
          <p:nvPr/>
        </p:nvSpPr>
        <p:spPr>
          <a:xfrm>
            <a:off x="3246120" y="3886200"/>
            <a:ext cx="4114800" cy="256032"/>
          </a:xfrm>
          <a:prstGeom prst="rect">
            <a:avLst/>
          </a:prstGeom>
          <a:noFill/>
          <a:ln/>
        </p:spPr>
        <p:txBody>
          <a:bodyPr wrap="square" lIns="0" tIns="0" rIns="0" bIns="0" rtlCol="0" anchor="t"/>
          <a:lstStyle/>
          <a:p>
            <a:pPr marL="0" indent="0" algn="ctr">
              <a:buNone/>
            </a:pPr>
            <a:r>
              <a:rPr lang="en-US" sz="1100" dirty="0">
                <a:solidFill>
                  <a:schemeClr val="tx1"/>
                </a:solidFill>
              </a:rPr>
              <a:t>{temp: 27°C, rain}</a:t>
            </a:r>
            <a:endParaRPr lang="en-US" sz="1100" dirty="0"/>
          </a:p>
        </p:txBody>
      </p:sp>
      <p:sp>
        <p:nvSpPr>
          <p:cNvPr id="25" name="arrow-405"/>
          <p:cNvSpPr/>
          <p:nvPr/>
        </p:nvSpPr>
        <p:spPr>
          <a:xfrm>
            <a:off x="3200400" y="4663440"/>
            <a:ext cx="2103120" cy="914"/>
          </a:xfrm>
          <a:prstGeom prst="line">
            <a:avLst/>
          </a:prstGeom>
          <a:noFill/>
          <a:ln w="22225">
            <a:solidFill>
              <a:schemeClr val="accent2"/>
            </a:solidFill>
            <a:prstDash val="solid"/>
            <a:tailEnd type="triangle"/>
          </a:ln>
        </p:spPr>
        <p:txBody>
          <a:bodyPr/>
          <a:lstStyle/>
          <a:p>
            <a:endParaRPr lang="en-US"/>
          </a:p>
        </p:txBody>
      </p:sp>
      <p:sp>
        <p:nvSpPr>
          <p:cNvPr id="26" name="text-406"/>
          <p:cNvSpPr txBox="1"/>
          <p:nvPr/>
        </p:nvSpPr>
        <p:spPr>
          <a:xfrm>
            <a:off x="3246120" y="4389120"/>
            <a:ext cx="2011680" cy="256032"/>
          </a:xfrm>
          <a:prstGeom prst="rect">
            <a:avLst/>
          </a:prstGeom>
          <a:noFill/>
          <a:ln/>
        </p:spPr>
        <p:txBody>
          <a:bodyPr wrap="square" lIns="0" tIns="0" rIns="0" bIns="0" rtlCol="0" anchor="t"/>
          <a:lstStyle/>
          <a:p>
            <a:pPr marL="0" indent="0" algn="ctr">
              <a:buNone/>
            </a:pPr>
            <a:r>
              <a:rPr lang="en-US" sz="1100" dirty="0">
                <a:solidFill>
                  <a:schemeClr val="tx1"/>
                </a:solidFill>
              </a:rPr>
              <a:t>tool result</a:t>
            </a:r>
            <a:endParaRPr lang="en-US" sz="1100" dirty="0"/>
          </a:p>
        </p:txBody>
      </p:sp>
      <p:sp>
        <p:nvSpPr>
          <p:cNvPr id="27" name="arrow-407"/>
          <p:cNvSpPr/>
          <p:nvPr/>
        </p:nvSpPr>
        <p:spPr>
          <a:xfrm flipH="1">
            <a:off x="3200400" y="5166360"/>
            <a:ext cx="2103120" cy="914"/>
          </a:xfrm>
          <a:prstGeom prst="line">
            <a:avLst/>
          </a:prstGeom>
          <a:noFill/>
          <a:ln w="22225">
            <a:solidFill>
              <a:schemeClr val="accent5"/>
            </a:solidFill>
            <a:prstDash val="solid"/>
            <a:tailEnd type="triangle"/>
          </a:ln>
        </p:spPr>
        <p:txBody>
          <a:bodyPr/>
          <a:lstStyle/>
          <a:p>
            <a:endParaRPr lang="en-US"/>
          </a:p>
        </p:txBody>
      </p:sp>
      <p:sp>
        <p:nvSpPr>
          <p:cNvPr id="28" name="text-408"/>
          <p:cNvSpPr txBox="1"/>
          <p:nvPr/>
        </p:nvSpPr>
        <p:spPr>
          <a:xfrm>
            <a:off x="3246120" y="4892040"/>
            <a:ext cx="2011680" cy="256032"/>
          </a:xfrm>
          <a:prstGeom prst="rect">
            <a:avLst/>
          </a:prstGeom>
          <a:noFill/>
          <a:ln/>
        </p:spPr>
        <p:txBody>
          <a:bodyPr wrap="square" lIns="0" tIns="0" rIns="0" bIns="0" rtlCol="0" anchor="t"/>
          <a:lstStyle/>
          <a:p>
            <a:pPr marL="0" indent="0" algn="ctr">
              <a:buNone/>
            </a:pPr>
            <a:r>
              <a:rPr lang="en-US" sz="1100" dirty="0">
                <a:solidFill>
                  <a:schemeClr val="tx1"/>
                </a:solidFill>
              </a:rPr>
              <a:t>“27°C and rainy”</a:t>
            </a:r>
            <a:endParaRPr lang="en-US" sz="1100" dirty="0"/>
          </a:p>
        </p:txBody>
      </p:sp>
      <p:sp>
        <p:nvSpPr>
          <p:cNvPr id="29" name="arrow-409"/>
          <p:cNvSpPr/>
          <p:nvPr/>
        </p:nvSpPr>
        <p:spPr>
          <a:xfrm flipH="1">
            <a:off x="1097280" y="5669280"/>
            <a:ext cx="2103120" cy="914"/>
          </a:xfrm>
          <a:prstGeom prst="line">
            <a:avLst/>
          </a:prstGeom>
          <a:noFill/>
          <a:ln w="22225">
            <a:solidFill>
              <a:schemeClr val="accent1"/>
            </a:solidFill>
            <a:prstDash val="solid"/>
            <a:tailEnd type="triangle"/>
          </a:ln>
        </p:spPr>
        <p:txBody>
          <a:bodyPr/>
          <a:lstStyle/>
          <a:p>
            <a:endParaRPr lang="en-US"/>
          </a:p>
        </p:txBody>
      </p:sp>
      <p:sp>
        <p:nvSpPr>
          <p:cNvPr id="30" name="text-410"/>
          <p:cNvSpPr txBox="1"/>
          <p:nvPr/>
        </p:nvSpPr>
        <p:spPr>
          <a:xfrm>
            <a:off x="1143000" y="5394960"/>
            <a:ext cx="2011680" cy="256032"/>
          </a:xfrm>
          <a:prstGeom prst="rect">
            <a:avLst/>
          </a:prstGeom>
          <a:noFill/>
          <a:ln/>
        </p:spPr>
        <p:txBody>
          <a:bodyPr wrap="square" lIns="0" tIns="0" rIns="0" bIns="0" rtlCol="0" anchor="t"/>
          <a:lstStyle/>
          <a:p>
            <a:pPr marL="0" indent="0" algn="ctr">
              <a:buNone/>
            </a:pPr>
            <a:r>
              <a:rPr lang="en-US" sz="1100" dirty="0">
                <a:solidFill>
                  <a:schemeClr val="tx1"/>
                </a:solidFill>
              </a:rPr>
              <a:t>show answer</a:t>
            </a:r>
            <a:endParaRPr lang="en-US" sz="1100" dirty="0"/>
          </a:p>
        </p:txBody>
      </p:sp>
      <p:sp>
        <p:nvSpPr>
          <p:cNvPr id="31" name="card-411"/>
          <p:cNvSpPr/>
          <p:nvPr/>
        </p:nvSpPr>
        <p:spPr>
          <a:xfrm>
            <a:off x="8778240" y="1325880"/>
            <a:ext cx="2834640" cy="2331720"/>
          </a:xfrm>
          <a:prstGeom prst="roundRect">
            <a:avLst>
              <a:gd name="adj" fmla="val 392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32" name="text-412"/>
          <p:cNvSpPr txBox="1"/>
          <p:nvPr/>
        </p:nvSpPr>
        <p:spPr>
          <a:xfrm>
            <a:off x="9006840" y="1463040"/>
            <a:ext cx="2377440" cy="365760"/>
          </a:xfrm>
          <a:prstGeom prst="rect">
            <a:avLst/>
          </a:prstGeom>
          <a:noFill/>
          <a:ln/>
        </p:spPr>
        <p:txBody>
          <a:bodyPr wrap="square" lIns="0" tIns="0" rIns="0" bIns="0" rtlCol="0" anchor="t"/>
          <a:lstStyle/>
          <a:p>
            <a:pPr marL="0" indent="0" algn="l">
              <a:buNone/>
            </a:pPr>
            <a:r>
              <a:rPr lang="en-US" sz="1700" b="1" dirty="0">
                <a:solidFill>
                  <a:schemeClr val="accent1"/>
                </a:solidFill>
              </a:rPr>
              <a:t>Key idea</a:t>
            </a:r>
            <a:endParaRPr lang="en-US" sz="1700" dirty="0"/>
          </a:p>
        </p:txBody>
      </p:sp>
      <p:sp>
        <p:nvSpPr>
          <p:cNvPr id="33" name="text-413"/>
          <p:cNvSpPr txBox="1"/>
          <p:nvPr/>
        </p:nvSpPr>
        <p:spPr>
          <a:xfrm>
            <a:off x="9006840" y="1828800"/>
            <a:ext cx="2423160" cy="1783080"/>
          </a:xfrm>
          <a:prstGeom prst="rect">
            <a:avLst/>
          </a:prstGeom>
          <a:noFill/>
          <a:ln/>
        </p:spPr>
        <p:txBody>
          <a:bodyPr wrap="square" lIns="0" tIns="0" rIns="0" bIns="0" rtlCol="0" anchor="t"/>
          <a:lstStyle/>
          <a:p>
            <a:pPr marL="0" indent="0" algn="l">
              <a:buNone/>
            </a:pPr>
            <a:r>
              <a:rPr lang="en-US" sz="1300" dirty="0">
                <a:solidFill>
                  <a:schemeClr val="tx1"/>
                </a:solidFill>
              </a:rPr>
              <a:t>This zooms in on one turn of the slide 24 loop. The model never runs anything itself: it writes a structured request (name + JSON arguments); your code executes it and pastes the result back.</a:t>
            </a:r>
            <a:endParaRPr lang="en-US" sz="1300" dirty="0"/>
          </a:p>
        </p:txBody>
      </p:sp>
      <p:sp>
        <p:nvSpPr>
          <p:cNvPr id="34" name="card-414"/>
          <p:cNvSpPr/>
          <p:nvPr/>
        </p:nvSpPr>
        <p:spPr>
          <a:xfrm>
            <a:off x="8778240" y="3840480"/>
            <a:ext cx="2834640" cy="2286000"/>
          </a:xfrm>
          <a:prstGeom prst="roundRect">
            <a:avLst>
              <a:gd name="adj" fmla="val 4000"/>
            </a:avLst>
          </a:prstGeom>
          <a:solidFill>
            <a:schemeClr val="tx2"/>
          </a:solidFill>
          <a:ln w="9525">
            <a:solidFill>
              <a:schemeClr val="tx2"/>
            </a:solidFill>
            <a:prstDash val="solid"/>
          </a:ln>
          <a:effectLst>
            <a:outerShdw blurRad="101600" dist="25400" dir="5400000" algn="bl" rotWithShape="0">
              <a:srgbClr val="000000">
                <a:alpha val="12000"/>
              </a:srgbClr>
            </a:outerShdw>
          </a:effectLst>
        </p:spPr>
        <p:txBody>
          <a:bodyPr/>
          <a:lstStyle/>
          <a:p>
            <a:endParaRPr lang="en-US"/>
          </a:p>
        </p:txBody>
      </p:sp>
      <p:sp>
        <p:nvSpPr>
          <p:cNvPr id="35" name="text-415"/>
          <p:cNvSpPr txBox="1"/>
          <p:nvPr/>
        </p:nvSpPr>
        <p:spPr>
          <a:xfrm>
            <a:off x="9006840" y="3977640"/>
            <a:ext cx="2377440" cy="365760"/>
          </a:xfrm>
          <a:prstGeom prst="rect">
            <a:avLst/>
          </a:prstGeom>
          <a:noFill/>
          <a:ln/>
        </p:spPr>
        <p:txBody>
          <a:bodyPr wrap="square" lIns="0" tIns="0" rIns="0" bIns="0" rtlCol="0" anchor="t"/>
          <a:lstStyle/>
          <a:p>
            <a:pPr marL="0" indent="0" algn="l">
              <a:buNone/>
            </a:pPr>
            <a:r>
              <a:rPr lang="en-US" sz="1700" b="1" dirty="0">
                <a:solidFill>
                  <a:schemeClr val="accent4"/>
                </a:solidFill>
              </a:rPr>
              <a:t>MCP</a:t>
            </a:r>
            <a:endParaRPr lang="en-US" sz="1700" dirty="0"/>
          </a:p>
        </p:txBody>
      </p:sp>
      <p:sp>
        <p:nvSpPr>
          <p:cNvPr id="36" name="text-416"/>
          <p:cNvSpPr txBox="1"/>
          <p:nvPr/>
        </p:nvSpPr>
        <p:spPr>
          <a:xfrm>
            <a:off x="9006840" y="4343400"/>
            <a:ext cx="2423160" cy="1737360"/>
          </a:xfrm>
          <a:prstGeom prst="rect">
            <a:avLst/>
          </a:prstGeom>
          <a:noFill/>
          <a:ln/>
        </p:spPr>
        <p:txBody>
          <a:bodyPr wrap="square" lIns="0" tIns="0" rIns="0" bIns="0" rtlCol="0" anchor="t"/>
          <a:lstStyle/>
          <a:p>
            <a:pPr marL="0" indent="0" algn="l">
              <a:buNone/>
            </a:pPr>
            <a:r>
              <a:rPr lang="en-US" sz="1300" dirty="0">
                <a:solidFill>
                  <a:schemeClr val="bg1"/>
                </a:solidFill>
              </a:rPr>
              <a:t>Model Context Protocol: an open standard “USB-C port” for plugging tools and data (Drive, Slack, GitHub…) into any AI app.</a:t>
            </a:r>
            <a:endParaRPr lang="en-US" sz="13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25</a:t>
            </a:fld>
            <a:endParaRPr lang="en-US"/>
          </a:p>
        </p:txBody>
      </p:sp>
      <p:sp>
        <p:nvSpPr>
          <p:cNvPr id="201" name="phase-label-Think"/>
          <p:cNvSpPr txBox="1"/>
          <p:nvPr/>
        </p:nvSpPr>
        <p:spPr>
          <a:xfrm>
            <a:off x="279400" y="2425700"/>
            <a:ext cx="736600" cy="228600"/>
          </a:xfrm>
          <a:prstGeom prst="rect">
            <a:avLst/>
          </a:prstGeom>
          <a:noFill/>
        </p:spPr>
        <p:txBody>
          <a:bodyPr wrap="none" lIns="0" tIns="0" rIns="0" bIns="0" anchor="ctr">
            <a:noAutofit/>
          </a:bodyPr>
          <a:lstStyle/>
          <a:p>
            <a:pPr algn="l">
              <a:buNone/>
            </a:pPr>
            <a:r>
              <a:rPr lang="en-US" sz="1400" b="1" dirty="0">
                <a:solidFill>
                  <a:schemeClr val="tx2"/>
                </a:solidFill>
              </a:rPr>
              <a:t>Think</a:t>
            </a:r>
          </a:p>
        </p:txBody>
      </p:sp>
      <p:sp>
        <p:nvSpPr>
          <p:cNvPr id="203" name="phase-label-Act"/>
          <p:cNvSpPr txBox="1"/>
          <p:nvPr/>
        </p:nvSpPr>
        <p:spPr>
          <a:xfrm>
            <a:off x="279400" y="3435350"/>
            <a:ext cx="736600" cy="228600"/>
          </a:xfrm>
          <a:prstGeom prst="rect">
            <a:avLst/>
          </a:prstGeom>
          <a:noFill/>
        </p:spPr>
        <p:txBody>
          <a:bodyPr wrap="none" lIns="0" tIns="0" rIns="0" bIns="0" anchor="ctr">
            <a:noAutofit/>
          </a:bodyPr>
          <a:lstStyle/>
          <a:p>
            <a:pPr algn="l">
              <a:buNone/>
            </a:pPr>
            <a:r>
              <a:rPr lang="en-US" sz="1400" b="1" dirty="0">
                <a:solidFill>
                  <a:schemeClr val="accent1"/>
                </a:solidFill>
              </a:rPr>
              <a:t>Act</a:t>
            </a:r>
          </a:p>
        </p:txBody>
      </p:sp>
      <p:sp>
        <p:nvSpPr>
          <p:cNvPr id="205" name="phase-label-Observe"/>
          <p:cNvSpPr txBox="1"/>
          <p:nvPr/>
        </p:nvSpPr>
        <p:spPr>
          <a:xfrm>
            <a:off x="279400" y="4425950"/>
            <a:ext cx="736600" cy="228600"/>
          </a:xfrm>
          <a:prstGeom prst="rect">
            <a:avLst/>
          </a:prstGeom>
          <a:noFill/>
        </p:spPr>
        <p:txBody>
          <a:bodyPr wrap="none" lIns="0" tIns="0" rIns="0" bIns="0" anchor="ctr">
            <a:noAutofit/>
          </a:bodyPr>
          <a:lstStyle/>
          <a:p>
            <a:pPr algn="l">
              <a:buNone/>
            </a:pPr>
            <a:r>
              <a:rPr lang="en-US" sz="1400" b="1" dirty="0">
                <a:solidFill>
                  <a:schemeClr val="accent2"/>
                </a:solidFill>
              </a:rPr>
              <a:t>Observe</a:t>
            </a:r>
          </a:p>
        </p:txBody>
      </p:sp>
      <p:sp>
        <p:nvSpPr>
          <p:cNvPr id="207" name="phase-label-Think"/>
          <p:cNvSpPr txBox="1"/>
          <p:nvPr/>
        </p:nvSpPr>
        <p:spPr>
          <a:xfrm>
            <a:off x="279400" y="4914900"/>
            <a:ext cx="736600" cy="228600"/>
          </a:xfrm>
          <a:prstGeom prst="rect">
            <a:avLst/>
          </a:prstGeom>
          <a:noFill/>
        </p:spPr>
        <p:txBody>
          <a:bodyPr wrap="none" lIns="0" tIns="0" rIns="0" bIns="0" anchor="ctr">
            <a:noAutofit/>
          </a:bodyPr>
          <a:lstStyle/>
          <a:p>
            <a:pPr algn="l">
              <a:buNone/>
            </a:pPr>
            <a:r>
              <a:rPr lang="en-US" sz="1400" b="1" dirty="0">
                <a:solidFill>
                  <a:schemeClr val="tx2"/>
                </a:solidFill>
              </a:rPr>
              <a:t>Think</a:t>
            </a:r>
          </a:p>
        </p:txBody>
      </p:sp>
    </p:spTree>
    <p:extLst>
      <p:ext uri="{BB962C8B-B14F-4D97-AF65-F5344CB8AC3E}">
        <p14:creationId xmlns:p14="http://schemas.microsoft.com/office/powerpoint/2010/main" val="180329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Three kinds of agent memory</a:t>
            </a:r>
            <a:endParaRPr lang="en-US" sz="3400" dirty="0"/>
          </a:p>
        </p:txBody>
      </p:sp>
      <p:sp>
        <p:nvSpPr>
          <p:cNvPr id="3" name="card-417"/>
          <p:cNvSpPr/>
          <p:nvPr/>
        </p:nvSpPr>
        <p:spPr>
          <a:xfrm>
            <a:off x="548640" y="1417320"/>
            <a:ext cx="3474720" cy="4663440"/>
          </a:xfrm>
          <a:prstGeom prst="roundRect">
            <a:avLst>
              <a:gd name="adj" fmla="val 263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icon-bg-418"/>
          <p:cNvSpPr/>
          <p:nvPr/>
        </p:nvSpPr>
        <p:spPr>
          <a:xfrm>
            <a:off x="1783080" y="1691640"/>
            <a:ext cx="1005840" cy="1005840"/>
          </a:xfrm>
          <a:prstGeom prst="ellipse">
            <a:avLst/>
          </a:prstGeom>
          <a:solidFill>
            <a:srgbClr val="D97757"/>
          </a:solidFill>
          <a:ln w="12700">
            <a:solidFill>
              <a:srgbClr val="D97757"/>
            </a:solidFill>
            <a:prstDash val="solid"/>
          </a:ln>
        </p:spPr>
        <p:txBody>
          <a:bodyPr/>
          <a:lstStyle/>
          <a:p>
            <a:endParaRPr lang="en-US"/>
          </a:p>
        </p:txBody>
      </p:sp>
      <p:pic>
        <p:nvPicPr>
          <p:cNvPr id="5" name="icon-419" descr="icon"/>
          <p:cNvPicPr>
            <a:picLocks noChangeAspect="1"/>
          </p:cNvPicPr>
          <p:nvPr/>
        </p:nvPicPr>
        <p:blipFill>
          <a:blip r:embed="rId3"/>
          <a:stretch>
            <a:fillRect/>
          </a:stretch>
        </p:blipFill>
        <p:spPr>
          <a:xfrm>
            <a:off x="2034540" y="1943100"/>
            <a:ext cx="502920" cy="502920"/>
          </a:xfrm>
          <a:prstGeom prst="rect">
            <a:avLst/>
          </a:prstGeom>
        </p:spPr>
      </p:pic>
      <p:sp>
        <p:nvSpPr>
          <p:cNvPr id="6" name="text-420"/>
          <p:cNvSpPr txBox="1"/>
          <p:nvPr/>
        </p:nvSpPr>
        <p:spPr>
          <a:xfrm>
            <a:off x="822960" y="2880360"/>
            <a:ext cx="292608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Cambria" pitchFamily="34" charset="0"/>
                <a:ea typeface="Cambria" pitchFamily="34" charset="-122"/>
                <a:cs typeface="Cambria" pitchFamily="34" charset="-120"/>
              </a:rPr>
              <a:t>Short-term</a:t>
            </a:r>
            <a:endParaRPr lang="en-US" sz="2200" dirty="0"/>
          </a:p>
        </p:txBody>
      </p:sp>
      <p:sp>
        <p:nvSpPr>
          <p:cNvPr id="7" name="text-421"/>
          <p:cNvSpPr txBox="1"/>
          <p:nvPr/>
        </p:nvSpPr>
        <p:spPr>
          <a:xfrm>
            <a:off x="822960" y="3337560"/>
            <a:ext cx="2926080" cy="320040"/>
          </a:xfrm>
          <a:prstGeom prst="rect">
            <a:avLst/>
          </a:prstGeom>
          <a:noFill/>
          <a:ln/>
        </p:spPr>
        <p:txBody>
          <a:bodyPr wrap="square" lIns="0" tIns="0" rIns="0" bIns="0" rtlCol="0" anchor="t"/>
          <a:lstStyle/>
          <a:p>
            <a:pPr marL="0" indent="0" algn="ctr">
              <a:buNone/>
            </a:pPr>
            <a:r>
              <a:rPr lang="en-US" sz="1200" b="1" kern="0" spc="200" dirty="0">
                <a:solidFill>
                  <a:schemeClr val="accent1"/>
                </a:solidFill>
              </a:rPr>
              <a:t>WORKING MEMORY</a:t>
            </a:r>
            <a:endParaRPr lang="en-US" sz="1200" dirty="0"/>
          </a:p>
        </p:txBody>
      </p:sp>
      <p:sp>
        <p:nvSpPr>
          <p:cNvPr id="8" name="text-422"/>
          <p:cNvSpPr txBox="1"/>
          <p:nvPr/>
        </p:nvSpPr>
        <p:spPr>
          <a:xfrm>
            <a:off x="822960" y="3794760"/>
            <a:ext cx="2926080" cy="1188720"/>
          </a:xfrm>
          <a:prstGeom prst="rect">
            <a:avLst/>
          </a:prstGeom>
          <a:noFill/>
          <a:ln/>
        </p:spPr>
        <p:txBody>
          <a:bodyPr wrap="square" lIns="0" tIns="0" rIns="0" bIns="0" rtlCol="0" anchor="t"/>
          <a:lstStyle/>
          <a:p>
            <a:pPr marL="0" indent="0" algn="l">
              <a:buNone/>
            </a:pPr>
            <a:r>
              <a:rPr lang="en-US" sz="1400" dirty="0">
                <a:solidFill>
                  <a:schemeClr val="tx1"/>
                </a:solidFill>
              </a:rPr>
              <a:t>The current context window: the conversation, tool results, scratch notes.</a:t>
            </a:r>
            <a:endParaRPr lang="en-US" sz="1400" dirty="0"/>
          </a:p>
        </p:txBody>
      </p:sp>
      <p:sp>
        <p:nvSpPr>
          <p:cNvPr id="9" name="text-423"/>
          <p:cNvSpPr txBox="1"/>
          <p:nvPr/>
        </p:nvSpPr>
        <p:spPr>
          <a:xfrm>
            <a:off x="822960" y="5257800"/>
            <a:ext cx="2926080" cy="548640"/>
          </a:xfrm>
          <a:prstGeom prst="rect">
            <a:avLst/>
          </a:prstGeom>
          <a:noFill/>
          <a:ln/>
        </p:spPr>
        <p:txBody>
          <a:bodyPr wrap="square" lIns="0" tIns="0" rIns="0" bIns="0" rtlCol="0" anchor="t"/>
          <a:lstStyle/>
          <a:p>
            <a:pPr marL="0" indent="0" algn="l">
              <a:buNone/>
            </a:pPr>
            <a:r>
              <a:rPr lang="en-US" sz="1300" i="1" dirty="0">
                <a:solidFill>
                  <a:schemeClr val="accent5"/>
                </a:solidFill>
              </a:rPr>
              <a:t>Lost when the session ends</a:t>
            </a:r>
            <a:endParaRPr lang="en-US" sz="1300" dirty="0"/>
          </a:p>
        </p:txBody>
      </p:sp>
      <p:sp>
        <p:nvSpPr>
          <p:cNvPr id="10" name="card-424"/>
          <p:cNvSpPr/>
          <p:nvPr/>
        </p:nvSpPr>
        <p:spPr>
          <a:xfrm>
            <a:off x="4343400" y="1417320"/>
            <a:ext cx="3474720" cy="4663440"/>
          </a:xfrm>
          <a:prstGeom prst="roundRect">
            <a:avLst>
              <a:gd name="adj" fmla="val 263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1" name="icon-bg-425"/>
          <p:cNvSpPr/>
          <p:nvPr/>
        </p:nvSpPr>
        <p:spPr>
          <a:xfrm>
            <a:off x="5577840" y="1691640"/>
            <a:ext cx="1005840" cy="1005840"/>
          </a:xfrm>
          <a:prstGeom prst="ellipse">
            <a:avLst/>
          </a:prstGeom>
          <a:solidFill>
            <a:srgbClr val="2A9D8F"/>
          </a:solidFill>
          <a:ln w="12700">
            <a:solidFill>
              <a:srgbClr val="2A9D8F"/>
            </a:solidFill>
            <a:prstDash val="solid"/>
          </a:ln>
        </p:spPr>
        <p:txBody>
          <a:bodyPr/>
          <a:lstStyle/>
          <a:p>
            <a:endParaRPr lang="en-US"/>
          </a:p>
        </p:txBody>
      </p:sp>
      <p:pic>
        <p:nvPicPr>
          <p:cNvPr id="12" name="icon-426" descr="icon"/>
          <p:cNvPicPr>
            <a:picLocks noChangeAspect="1"/>
          </p:cNvPicPr>
          <p:nvPr/>
        </p:nvPicPr>
        <p:blipFill>
          <a:blip r:embed="rId4"/>
          <a:stretch>
            <a:fillRect/>
          </a:stretch>
        </p:blipFill>
        <p:spPr>
          <a:xfrm>
            <a:off x="5829300" y="1943100"/>
            <a:ext cx="502920" cy="502920"/>
          </a:xfrm>
          <a:prstGeom prst="rect">
            <a:avLst/>
          </a:prstGeom>
        </p:spPr>
      </p:pic>
      <p:sp>
        <p:nvSpPr>
          <p:cNvPr id="13" name="text-427"/>
          <p:cNvSpPr txBox="1"/>
          <p:nvPr/>
        </p:nvSpPr>
        <p:spPr>
          <a:xfrm>
            <a:off x="4617720" y="2880360"/>
            <a:ext cx="292608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Cambria" pitchFamily="34" charset="0"/>
                <a:ea typeface="Cambria" pitchFamily="34" charset="-122"/>
                <a:cs typeface="Cambria" pitchFamily="34" charset="-120"/>
              </a:rPr>
              <a:t>Long-term</a:t>
            </a:r>
            <a:endParaRPr lang="en-US" sz="2200" dirty="0"/>
          </a:p>
        </p:txBody>
      </p:sp>
      <p:sp>
        <p:nvSpPr>
          <p:cNvPr id="14" name="text-428"/>
          <p:cNvSpPr txBox="1"/>
          <p:nvPr/>
        </p:nvSpPr>
        <p:spPr>
          <a:xfrm>
            <a:off x="4617720" y="3337560"/>
            <a:ext cx="2926080" cy="320040"/>
          </a:xfrm>
          <a:prstGeom prst="rect">
            <a:avLst/>
          </a:prstGeom>
          <a:noFill/>
          <a:ln/>
        </p:spPr>
        <p:txBody>
          <a:bodyPr wrap="square" lIns="0" tIns="0" rIns="0" bIns="0" rtlCol="0" anchor="t"/>
          <a:lstStyle/>
          <a:p>
            <a:pPr marL="0" indent="0" algn="ctr">
              <a:buNone/>
            </a:pPr>
            <a:r>
              <a:rPr lang="en-US" sz="1200" b="1" kern="0" spc="200" dirty="0">
                <a:solidFill>
                  <a:schemeClr val="accent2"/>
                </a:solidFill>
              </a:rPr>
              <a:t>FACTS &amp; HISTORY</a:t>
            </a:r>
            <a:endParaRPr lang="en-US" sz="1200" dirty="0"/>
          </a:p>
        </p:txBody>
      </p:sp>
      <p:sp>
        <p:nvSpPr>
          <p:cNvPr id="15" name="text-429"/>
          <p:cNvSpPr txBox="1"/>
          <p:nvPr/>
        </p:nvSpPr>
        <p:spPr>
          <a:xfrm>
            <a:off x="4617720" y="3794760"/>
            <a:ext cx="2926080" cy="1188720"/>
          </a:xfrm>
          <a:prstGeom prst="rect">
            <a:avLst/>
          </a:prstGeom>
          <a:noFill/>
          <a:ln/>
        </p:spPr>
        <p:txBody>
          <a:bodyPr wrap="square" lIns="0" tIns="0" rIns="0" bIns="0" rtlCol="0" anchor="t"/>
          <a:lstStyle/>
          <a:p>
            <a:pPr marL="0" indent="0" algn="l">
              <a:buNone/>
            </a:pPr>
            <a:r>
              <a:rPr lang="en-US" sz="1400" dirty="0">
                <a:solidFill>
                  <a:schemeClr val="tx1"/>
                </a:solidFill>
              </a:rPr>
              <a:t>Files, databases, vector stores, saved memories — retrieved when relevant.</a:t>
            </a:r>
            <a:endParaRPr lang="en-US" sz="1400" dirty="0"/>
          </a:p>
        </p:txBody>
      </p:sp>
      <p:sp>
        <p:nvSpPr>
          <p:cNvPr id="16" name="text-430"/>
          <p:cNvSpPr txBox="1"/>
          <p:nvPr/>
        </p:nvSpPr>
        <p:spPr>
          <a:xfrm>
            <a:off x="4617720" y="5257800"/>
            <a:ext cx="2926080" cy="548640"/>
          </a:xfrm>
          <a:prstGeom prst="rect">
            <a:avLst/>
          </a:prstGeom>
          <a:noFill/>
          <a:ln/>
        </p:spPr>
        <p:txBody>
          <a:bodyPr wrap="square" lIns="0" tIns="0" rIns="0" bIns="0" rtlCol="0" anchor="t"/>
          <a:lstStyle/>
          <a:p>
            <a:pPr marL="0" indent="0" algn="l">
              <a:buNone/>
            </a:pPr>
            <a:r>
              <a:rPr lang="en-US" sz="1300" i="1" dirty="0">
                <a:solidFill>
                  <a:schemeClr val="accent5"/>
                </a:solidFill>
              </a:rPr>
              <a:t>Persists across sessions</a:t>
            </a:r>
            <a:endParaRPr lang="en-US" sz="1300" dirty="0"/>
          </a:p>
        </p:txBody>
      </p:sp>
      <p:sp>
        <p:nvSpPr>
          <p:cNvPr id="17" name="card-431"/>
          <p:cNvSpPr/>
          <p:nvPr/>
        </p:nvSpPr>
        <p:spPr>
          <a:xfrm>
            <a:off x="8138160" y="1417320"/>
            <a:ext cx="3474720" cy="4663440"/>
          </a:xfrm>
          <a:prstGeom prst="roundRect">
            <a:avLst>
              <a:gd name="adj" fmla="val 263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8" name="icon-bg-432"/>
          <p:cNvSpPr/>
          <p:nvPr/>
        </p:nvSpPr>
        <p:spPr>
          <a:xfrm>
            <a:off x="9372600" y="1691640"/>
            <a:ext cx="1005840" cy="1005840"/>
          </a:xfrm>
          <a:prstGeom prst="ellipse">
            <a:avLst/>
          </a:prstGeom>
          <a:solidFill>
            <a:srgbClr val="6C63FF"/>
          </a:solidFill>
          <a:ln w="12700">
            <a:solidFill>
              <a:srgbClr val="6C63FF"/>
            </a:solidFill>
            <a:prstDash val="solid"/>
          </a:ln>
        </p:spPr>
        <p:txBody>
          <a:bodyPr/>
          <a:lstStyle/>
          <a:p>
            <a:endParaRPr lang="en-US"/>
          </a:p>
        </p:txBody>
      </p:sp>
      <p:pic>
        <p:nvPicPr>
          <p:cNvPr id="19" name="icon-433" descr="icon"/>
          <p:cNvPicPr>
            <a:picLocks noChangeAspect="1"/>
          </p:cNvPicPr>
          <p:nvPr/>
        </p:nvPicPr>
        <p:blipFill>
          <a:blip r:embed="rId5"/>
          <a:stretch>
            <a:fillRect/>
          </a:stretch>
        </p:blipFill>
        <p:spPr>
          <a:xfrm>
            <a:off x="9624060" y="1943100"/>
            <a:ext cx="502920" cy="502920"/>
          </a:xfrm>
          <a:prstGeom prst="rect">
            <a:avLst/>
          </a:prstGeom>
        </p:spPr>
      </p:pic>
      <p:sp>
        <p:nvSpPr>
          <p:cNvPr id="20" name="text-434"/>
          <p:cNvSpPr txBox="1"/>
          <p:nvPr/>
        </p:nvSpPr>
        <p:spPr>
          <a:xfrm>
            <a:off x="8412480" y="2880360"/>
            <a:ext cx="292608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Cambria" pitchFamily="34" charset="0"/>
                <a:ea typeface="Cambria" pitchFamily="34" charset="-122"/>
                <a:cs typeface="Cambria" pitchFamily="34" charset="-120"/>
              </a:rPr>
              <a:t>Procedural</a:t>
            </a:r>
            <a:endParaRPr lang="en-US" sz="2200" dirty="0"/>
          </a:p>
        </p:txBody>
      </p:sp>
      <p:sp>
        <p:nvSpPr>
          <p:cNvPr id="21" name="text-435"/>
          <p:cNvSpPr txBox="1"/>
          <p:nvPr/>
        </p:nvSpPr>
        <p:spPr>
          <a:xfrm>
            <a:off x="8412480" y="3337560"/>
            <a:ext cx="2926080" cy="320040"/>
          </a:xfrm>
          <a:prstGeom prst="rect">
            <a:avLst/>
          </a:prstGeom>
          <a:noFill/>
          <a:ln/>
        </p:spPr>
        <p:txBody>
          <a:bodyPr wrap="square" lIns="0" tIns="0" rIns="0" bIns="0" rtlCol="0" anchor="t"/>
          <a:lstStyle/>
          <a:p>
            <a:pPr marL="0" indent="0" algn="ctr">
              <a:buNone/>
            </a:pPr>
            <a:r>
              <a:rPr lang="en-US" sz="1200" b="1" kern="0" spc="200" dirty="0">
                <a:solidFill>
                  <a:schemeClr val="accent3"/>
                </a:solidFill>
              </a:rPr>
              <a:t>KNOW-HOW</a:t>
            </a:r>
            <a:endParaRPr lang="en-US" sz="1200" dirty="0"/>
          </a:p>
        </p:txBody>
      </p:sp>
      <p:sp>
        <p:nvSpPr>
          <p:cNvPr id="22" name="text-436"/>
          <p:cNvSpPr txBox="1"/>
          <p:nvPr/>
        </p:nvSpPr>
        <p:spPr>
          <a:xfrm>
            <a:off x="8412480" y="3794760"/>
            <a:ext cx="2926080" cy="1188720"/>
          </a:xfrm>
          <a:prstGeom prst="rect">
            <a:avLst/>
          </a:prstGeom>
          <a:noFill/>
          <a:ln/>
        </p:spPr>
        <p:txBody>
          <a:bodyPr wrap="square" lIns="0" tIns="0" rIns="0" bIns="0" rtlCol="0" anchor="t"/>
          <a:lstStyle/>
          <a:p>
            <a:pPr marL="0" indent="0" algn="l">
              <a:buNone/>
            </a:pPr>
            <a:r>
              <a:rPr lang="en-US" sz="1400" dirty="0">
                <a:solidFill>
                  <a:schemeClr val="tx1"/>
                </a:solidFill>
              </a:rPr>
              <a:t>System prompts, instructions and skills: how to do a kind of task well.</a:t>
            </a:r>
            <a:endParaRPr lang="en-US" sz="1400" dirty="0"/>
          </a:p>
        </p:txBody>
      </p:sp>
      <p:sp>
        <p:nvSpPr>
          <p:cNvPr id="23" name="text-437"/>
          <p:cNvSpPr txBox="1"/>
          <p:nvPr/>
        </p:nvSpPr>
        <p:spPr>
          <a:xfrm>
            <a:off x="8412480" y="5257800"/>
            <a:ext cx="2926080" cy="548640"/>
          </a:xfrm>
          <a:prstGeom prst="rect">
            <a:avLst/>
          </a:prstGeom>
          <a:noFill/>
          <a:ln/>
        </p:spPr>
        <p:txBody>
          <a:bodyPr wrap="square" lIns="0" tIns="0" rIns="0" bIns="0" rtlCol="0" anchor="t"/>
          <a:lstStyle/>
          <a:p>
            <a:pPr marL="0" indent="0" algn="l">
              <a:buNone/>
            </a:pPr>
            <a:r>
              <a:rPr lang="en-US" sz="1300" i="1" dirty="0">
                <a:solidFill>
                  <a:schemeClr val="accent5"/>
                </a:solidFill>
              </a:rPr>
              <a:t>Loaded when the task calls for 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89932-BF81-5A5D-0958-DC80FD931226}"/>
              </a:ext>
            </a:extLst>
          </p:cNvPr>
          <p:cNvSpPr>
            <a:spLocks noGrp="1"/>
          </p:cNvSpPr>
          <p:nvPr>
            <p:ph type="title" idx="100"/>
          </p:nvPr>
        </p:nvSpPr>
        <p:spPr/>
        <p:txBody>
          <a:bodyPr/>
          <a:lstStyle/>
          <a:p>
            <a:r>
              <a:rPr lang="en-US" dirty="0"/>
              <a:t>Where agent memory lives on your PC</a:t>
            </a:r>
          </a:p>
        </p:txBody>
      </p:sp>
      <p:sp>
        <p:nvSpPr>
          <p:cNvPr id="100" name="col-head"/>
          <p:cNvSpPr/>
          <p:nvPr/>
        </p:nvSpPr>
        <p:spPr>
          <a:xfrm>
            <a:off x="2552700" y="1270000"/>
            <a:ext cx="2950633" cy="508000"/>
          </a:xfrm>
          <a:prstGeom prst="rect">
            <a:avLst/>
          </a:prstGeom>
          <a:noFill/>
          <a:ln>
            <a:noFill/>
          </a:ln>
        </p:spPr>
        <p:txBody>
          <a:bodyPr wrap="square" lIns="0" tIns="0" rIns="0" bIns="0" anchor="ctr">
            <a:noAutofit/>
          </a:bodyPr>
          <a:lstStyle/>
          <a:p>
            <a:pPr algn="ctr">
              <a:spcAft>
                <a:spcPts val="100"/>
              </a:spcAft>
              <a:buNone/>
            </a:pPr>
            <a:r>
              <a:rPr lang="en-US" sz="1600" b="1" dirty="0">
                <a:solidFill>
                  <a:schemeClr val="tx2"/>
                </a:solidFill>
              </a:rPr>
              <a:t>Short-term</a:t>
            </a:r>
          </a:p>
          <a:p>
            <a:pPr algn="ctr">
              <a:buNone/>
            </a:pPr>
            <a:r>
              <a:rPr lang="en-US" sz="1000" b="1" spc="150" dirty="0">
                <a:solidFill>
                  <a:schemeClr val="accent1"/>
                </a:solidFill>
              </a:rPr>
              <a:t>WORKING MEMORY</a:t>
            </a:r>
          </a:p>
        </p:txBody>
      </p:sp>
      <p:sp>
        <p:nvSpPr>
          <p:cNvPr id="101" name="col-head"/>
          <p:cNvSpPr/>
          <p:nvPr/>
        </p:nvSpPr>
        <p:spPr>
          <a:xfrm>
            <a:off x="5604933" y="1270000"/>
            <a:ext cx="2950633" cy="508000"/>
          </a:xfrm>
          <a:prstGeom prst="rect">
            <a:avLst/>
          </a:prstGeom>
          <a:noFill/>
          <a:ln>
            <a:noFill/>
          </a:ln>
        </p:spPr>
        <p:txBody>
          <a:bodyPr wrap="square" lIns="0" tIns="0" rIns="0" bIns="0" anchor="ctr">
            <a:noAutofit/>
          </a:bodyPr>
          <a:lstStyle/>
          <a:p>
            <a:pPr algn="ctr">
              <a:spcAft>
                <a:spcPts val="100"/>
              </a:spcAft>
              <a:buNone/>
            </a:pPr>
            <a:r>
              <a:rPr lang="en-US" sz="1600" b="1" dirty="0">
                <a:solidFill>
                  <a:schemeClr val="tx2"/>
                </a:solidFill>
              </a:rPr>
              <a:t>Long-term</a:t>
            </a:r>
          </a:p>
          <a:p>
            <a:pPr algn="ctr">
              <a:buNone/>
            </a:pPr>
            <a:r>
              <a:rPr lang="en-US" sz="1000" b="1" spc="150" dirty="0">
                <a:solidFill>
                  <a:schemeClr val="accent2"/>
                </a:solidFill>
              </a:rPr>
              <a:t>FACTS &amp; HISTORY</a:t>
            </a:r>
          </a:p>
        </p:txBody>
      </p:sp>
      <p:sp>
        <p:nvSpPr>
          <p:cNvPr id="102" name="col-head"/>
          <p:cNvSpPr/>
          <p:nvPr/>
        </p:nvSpPr>
        <p:spPr>
          <a:xfrm>
            <a:off x="8657167" y="1270000"/>
            <a:ext cx="2950633" cy="508000"/>
          </a:xfrm>
          <a:prstGeom prst="rect">
            <a:avLst/>
          </a:prstGeom>
          <a:noFill/>
          <a:ln>
            <a:noFill/>
          </a:ln>
        </p:spPr>
        <p:txBody>
          <a:bodyPr wrap="square" lIns="0" tIns="0" rIns="0" bIns="0" anchor="ctr">
            <a:noAutofit/>
          </a:bodyPr>
          <a:lstStyle/>
          <a:p>
            <a:pPr algn="ctr">
              <a:spcAft>
                <a:spcPts val="100"/>
              </a:spcAft>
              <a:buNone/>
            </a:pPr>
            <a:r>
              <a:rPr lang="en-US" sz="1600" b="1" dirty="0">
                <a:solidFill>
                  <a:schemeClr val="tx2"/>
                </a:solidFill>
              </a:rPr>
              <a:t>Procedural</a:t>
            </a:r>
          </a:p>
          <a:p>
            <a:pPr algn="ctr">
              <a:buNone/>
            </a:pPr>
            <a:r>
              <a:rPr lang="en-US" sz="1000" b="1" spc="150" dirty="0">
                <a:solidFill>
                  <a:schemeClr val="accent3"/>
                </a:solidFill>
              </a:rPr>
              <a:t>KNOW-HOW</a:t>
            </a:r>
          </a:p>
        </p:txBody>
      </p:sp>
      <p:sp>
        <p:nvSpPr>
          <p:cNvPr id="103" name="tier"/>
          <p:cNvSpPr/>
          <p:nvPr/>
        </p:nvSpPr>
        <p:spPr>
          <a:xfrm>
            <a:off x="546100" y="1879600"/>
            <a:ext cx="1905000" cy="762000"/>
          </a:xfrm>
          <a:prstGeom prst="roundRect">
            <a:avLst>
              <a:gd name="adj" fmla="val 12000"/>
            </a:avLst>
          </a:prstGeom>
          <a:solidFill>
            <a:schemeClr val="tx2"/>
          </a:solidFill>
          <a:ln>
            <a:noFill/>
          </a:ln>
        </p:spPr>
        <p:txBody>
          <a:bodyPr wrap="square" lIns="152400" tIns="0" rIns="152400" bIns="0" anchor="ctr">
            <a:noAutofit/>
          </a:bodyPr>
          <a:lstStyle/>
          <a:p>
            <a:pPr algn="l">
              <a:spcAft>
                <a:spcPts val="100"/>
              </a:spcAft>
              <a:buNone/>
            </a:pPr>
            <a:r>
              <a:rPr lang="en-US" sz="1600" b="1" dirty="0">
                <a:solidFill>
                  <a:schemeClr val="bg1"/>
                </a:solidFill>
              </a:rPr>
              <a:t>VRAM</a:t>
            </a:r>
          </a:p>
          <a:p>
            <a:pPr algn="l">
              <a:buNone/>
            </a:pPr>
            <a:r>
              <a:rPr lang="en-US" sz="1200" dirty="0">
                <a:solidFill>
                  <a:srgbClr val="D5D8E3"/>
                </a:solidFill>
              </a:rPr>
              <a:t>GPU · fastest · 8–24 GB</a:t>
            </a:r>
          </a:p>
        </p:txBody>
      </p:sp>
      <p:sp>
        <p:nvSpPr>
          <p:cNvPr id="104" name="cell"/>
          <p:cNvSpPr/>
          <p:nvPr/>
        </p:nvSpPr>
        <p:spPr>
          <a:xfrm>
            <a:off x="2552700" y="1879600"/>
            <a:ext cx="2950633" cy="762000"/>
          </a:xfrm>
          <a:prstGeom prst="roundRect">
            <a:avLst>
              <a:gd name="adj" fmla="val 12000"/>
            </a:avLst>
          </a:prstGeom>
          <a:solidFill>
            <a:srgbClr val="FBE0D6"/>
          </a:solidFill>
          <a:ln w="19050">
            <a:solidFill>
              <a:schemeClr val="accent1"/>
            </a:solidFill>
          </a:ln>
        </p:spPr>
        <p:txBody>
          <a:bodyPr wrap="square" lIns="152400" tIns="0" rIns="152400" bIns="0" anchor="ctr">
            <a:noAutofit/>
          </a:bodyPr>
          <a:lstStyle/>
          <a:p>
            <a:pPr algn="l">
              <a:buNone/>
            </a:pPr>
            <a:r>
              <a:rPr lang="en-US" sz="1400" b="1" dirty="0">
                <a:solidFill>
                  <a:schemeClr val="tx2"/>
                </a:solidFill>
              </a:rPr>
              <a:t>KV cache of the current conversation</a:t>
            </a:r>
          </a:p>
        </p:txBody>
      </p:sp>
      <p:sp>
        <p:nvSpPr>
          <p:cNvPr id="105" name="cell"/>
          <p:cNvSpPr/>
          <p:nvPr/>
        </p:nvSpPr>
        <p:spPr>
          <a:xfrm>
            <a:off x="5604933" y="18796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Only the retrieved chunks, as prompt tokens</a:t>
            </a:r>
          </a:p>
        </p:txBody>
      </p:sp>
      <p:sp>
        <p:nvSpPr>
          <p:cNvPr id="106" name="cell"/>
          <p:cNvSpPr/>
          <p:nvPr/>
        </p:nvSpPr>
        <p:spPr>
          <a:xfrm>
            <a:off x="8657167" y="18796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System prompt + skill, as prompt tokens</a:t>
            </a:r>
          </a:p>
        </p:txBody>
      </p:sp>
      <p:sp>
        <p:nvSpPr>
          <p:cNvPr id="107" name="tier"/>
          <p:cNvSpPr/>
          <p:nvPr/>
        </p:nvSpPr>
        <p:spPr>
          <a:xfrm>
            <a:off x="546100" y="2743200"/>
            <a:ext cx="1905000" cy="762000"/>
          </a:xfrm>
          <a:prstGeom prst="roundRect">
            <a:avLst>
              <a:gd name="adj" fmla="val 12000"/>
            </a:avLst>
          </a:prstGeom>
          <a:solidFill>
            <a:schemeClr val="tx2"/>
          </a:solidFill>
          <a:ln>
            <a:noFill/>
          </a:ln>
        </p:spPr>
        <p:txBody>
          <a:bodyPr wrap="square" lIns="152400" tIns="0" rIns="152400" bIns="0" anchor="ctr">
            <a:noAutofit/>
          </a:bodyPr>
          <a:lstStyle/>
          <a:p>
            <a:pPr algn="l">
              <a:spcAft>
                <a:spcPts val="100"/>
              </a:spcAft>
              <a:buNone/>
            </a:pPr>
            <a:r>
              <a:rPr lang="en-US" sz="1600" b="1" dirty="0">
                <a:solidFill>
                  <a:schemeClr val="bg1"/>
                </a:solidFill>
              </a:rPr>
              <a:t>RAM</a:t>
            </a:r>
          </a:p>
          <a:p>
            <a:pPr algn="l">
              <a:buNone/>
            </a:pPr>
            <a:r>
              <a:rPr lang="en-US" sz="1200" dirty="0">
                <a:solidFill>
                  <a:srgbClr val="D5D8E3"/>
                </a:solidFill>
              </a:rPr>
              <a:t>System · 16–64 GB</a:t>
            </a:r>
          </a:p>
        </p:txBody>
      </p:sp>
      <p:sp>
        <p:nvSpPr>
          <p:cNvPr id="108" name="cell"/>
          <p:cNvSpPr/>
          <p:nvPr/>
        </p:nvSpPr>
        <p:spPr>
          <a:xfrm>
            <a:off x="2552700" y="27432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Conversation text and tool results</a:t>
            </a:r>
          </a:p>
        </p:txBody>
      </p:sp>
      <p:sp>
        <p:nvSpPr>
          <p:cNvPr id="109" name="cell"/>
          <p:cNvSpPr/>
          <p:nvPr/>
        </p:nvSpPr>
        <p:spPr>
          <a:xfrm>
            <a:off x="5604933" y="27432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Vector index, cached for fast search</a:t>
            </a:r>
          </a:p>
        </p:txBody>
      </p:sp>
      <p:sp>
        <p:nvSpPr>
          <p:cNvPr id="110" name="cell"/>
          <p:cNvSpPr/>
          <p:nvPr/>
        </p:nvSpPr>
        <p:spPr>
          <a:xfrm>
            <a:off x="8657167" y="27432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Skill text, once loaded</a:t>
            </a:r>
          </a:p>
        </p:txBody>
      </p:sp>
      <p:sp>
        <p:nvSpPr>
          <p:cNvPr id="111" name="tier"/>
          <p:cNvSpPr/>
          <p:nvPr/>
        </p:nvSpPr>
        <p:spPr>
          <a:xfrm>
            <a:off x="546100" y="3606800"/>
            <a:ext cx="1905000" cy="762000"/>
          </a:xfrm>
          <a:prstGeom prst="roundRect">
            <a:avLst>
              <a:gd name="adj" fmla="val 12000"/>
            </a:avLst>
          </a:prstGeom>
          <a:solidFill>
            <a:schemeClr val="tx2"/>
          </a:solidFill>
          <a:ln>
            <a:noFill/>
          </a:ln>
        </p:spPr>
        <p:txBody>
          <a:bodyPr wrap="square" lIns="152400" tIns="0" rIns="152400" bIns="0" anchor="ctr">
            <a:noAutofit/>
          </a:bodyPr>
          <a:lstStyle/>
          <a:p>
            <a:pPr algn="l">
              <a:spcAft>
                <a:spcPts val="100"/>
              </a:spcAft>
              <a:buNone/>
            </a:pPr>
            <a:r>
              <a:rPr lang="en-US" sz="1600" b="1" dirty="0">
                <a:solidFill>
                  <a:schemeClr val="bg1"/>
                </a:solidFill>
              </a:rPr>
              <a:t>SSD</a:t>
            </a:r>
          </a:p>
          <a:p>
            <a:pPr algn="l">
              <a:buNone/>
            </a:pPr>
            <a:r>
              <a:rPr lang="en-US" sz="1200" dirty="0">
                <a:solidFill>
                  <a:srgbClr val="D5D8E3"/>
                </a:solidFill>
              </a:rPr>
              <a:t>Disk · 3–7 GB/s</a:t>
            </a:r>
          </a:p>
        </p:txBody>
      </p:sp>
      <p:sp>
        <p:nvSpPr>
          <p:cNvPr id="112" name="cell"/>
          <p:cNvSpPr/>
          <p:nvPr/>
        </p:nvSpPr>
        <p:spPr>
          <a:xfrm>
            <a:off x="2552700" y="36068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Saved sessions, if you keep them</a:t>
            </a:r>
          </a:p>
        </p:txBody>
      </p:sp>
      <p:sp>
        <p:nvSpPr>
          <p:cNvPr id="113" name="cell"/>
          <p:cNvSpPr/>
          <p:nvPr/>
        </p:nvSpPr>
        <p:spPr>
          <a:xfrm>
            <a:off x="5604933" y="3606800"/>
            <a:ext cx="2950633" cy="762000"/>
          </a:xfrm>
          <a:prstGeom prst="roundRect">
            <a:avLst>
              <a:gd name="adj" fmla="val 12000"/>
            </a:avLst>
          </a:prstGeom>
          <a:solidFill>
            <a:srgbClr val="D3EEEA"/>
          </a:solidFill>
          <a:ln w="19050">
            <a:solidFill>
              <a:schemeClr val="accent2"/>
            </a:solidFill>
          </a:ln>
        </p:spPr>
        <p:txBody>
          <a:bodyPr wrap="square" lIns="152400" tIns="0" rIns="152400" bIns="0" anchor="ctr">
            <a:noAutofit/>
          </a:bodyPr>
          <a:lstStyle/>
          <a:p>
            <a:pPr algn="l">
              <a:buNone/>
            </a:pPr>
            <a:r>
              <a:rPr lang="en-US" sz="1400" b="1" dirty="0">
                <a:solidFill>
                  <a:schemeClr val="tx2"/>
                </a:solidFill>
              </a:rPr>
              <a:t>Main home: files, databases, vector store</a:t>
            </a:r>
          </a:p>
        </p:txBody>
      </p:sp>
      <p:sp>
        <p:nvSpPr>
          <p:cNvPr id="114" name="cell"/>
          <p:cNvSpPr/>
          <p:nvPr/>
        </p:nvSpPr>
        <p:spPr>
          <a:xfrm>
            <a:off x="8657167" y="3606800"/>
            <a:ext cx="2950633" cy="762000"/>
          </a:xfrm>
          <a:prstGeom prst="roundRect">
            <a:avLst>
              <a:gd name="adj" fmla="val 12000"/>
            </a:avLst>
          </a:prstGeom>
          <a:solidFill>
            <a:srgbClr val="E3E1FF"/>
          </a:solidFill>
          <a:ln w="19050">
            <a:solidFill>
              <a:schemeClr val="accent3"/>
            </a:solidFill>
          </a:ln>
        </p:spPr>
        <p:txBody>
          <a:bodyPr wrap="square" lIns="152400" tIns="0" rIns="152400" bIns="0" anchor="ctr">
            <a:noAutofit/>
          </a:bodyPr>
          <a:lstStyle/>
          <a:p>
            <a:pPr algn="l">
              <a:buNone/>
            </a:pPr>
            <a:r>
              <a:rPr lang="en-US" sz="1400" b="1" dirty="0">
                <a:solidFill>
                  <a:schemeClr val="tx2"/>
                </a:solidFill>
              </a:rPr>
              <a:t>Main home: skill and prompt files</a:t>
            </a:r>
          </a:p>
        </p:txBody>
      </p:sp>
      <p:sp>
        <p:nvSpPr>
          <p:cNvPr id="115" name="tier"/>
          <p:cNvSpPr/>
          <p:nvPr/>
        </p:nvSpPr>
        <p:spPr>
          <a:xfrm>
            <a:off x="546100" y="4470400"/>
            <a:ext cx="1905000" cy="762000"/>
          </a:xfrm>
          <a:prstGeom prst="roundRect">
            <a:avLst>
              <a:gd name="adj" fmla="val 12000"/>
            </a:avLst>
          </a:prstGeom>
          <a:solidFill>
            <a:schemeClr val="tx2"/>
          </a:solidFill>
          <a:ln>
            <a:noFill/>
          </a:ln>
        </p:spPr>
        <p:txBody>
          <a:bodyPr wrap="square" lIns="152400" tIns="0" rIns="152400" bIns="0" anchor="ctr">
            <a:noAutofit/>
          </a:bodyPr>
          <a:lstStyle/>
          <a:p>
            <a:pPr algn="l">
              <a:spcAft>
                <a:spcPts val="100"/>
              </a:spcAft>
              <a:buNone/>
            </a:pPr>
            <a:r>
              <a:rPr lang="en-US" sz="1600" b="1" dirty="0">
                <a:solidFill>
                  <a:schemeClr val="bg1"/>
                </a:solidFill>
              </a:rPr>
              <a:t>HDD</a:t>
            </a:r>
          </a:p>
          <a:p>
            <a:pPr algn="l">
              <a:buNone/>
            </a:pPr>
            <a:r>
              <a:rPr lang="en-US" sz="1200" dirty="0">
                <a:solidFill>
                  <a:srgbClr val="D5D8E3"/>
                </a:solidFill>
              </a:rPr>
              <a:t>Disk · ~150 MB/s</a:t>
            </a:r>
          </a:p>
        </p:txBody>
      </p:sp>
      <p:sp>
        <p:nvSpPr>
          <p:cNvPr id="116" name="cell"/>
          <p:cNvSpPr/>
          <p:nvPr/>
        </p:nvSpPr>
        <p:spPr>
          <a:xfrm>
            <a:off x="2552700" y="44704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ctr">
              <a:buNone/>
            </a:pPr>
            <a:r>
              <a:rPr lang="en-US" sz="1400" dirty="0">
                <a:solidFill>
                  <a:srgbClr val="B0B4C3"/>
                </a:solidFill>
              </a:rPr>
              <a:t>—</a:t>
            </a:r>
          </a:p>
        </p:txBody>
      </p:sp>
      <p:sp>
        <p:nvSpPr>
          <p:cNvPr id="117" name="cell"/>
          <p:cNvSpPr/>
          <p:nvPr/>
        </p:nvSpPr>
        <p:spPr>
          <a:xfrm>
            <a:off x="5604933" y="44704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l">
              <a:buNone/>
            </a:pPr>
            <a:r>
              <a:rPr lang="en-US" sz="1400" dirty="0">
                <a:solidFill>
                  <a:srgbClr val="5A6075"/>
                </a:solidFill>
              </a:rPr>
              <a:t>Archive only: old logs, backups</a:t>
            </a:r>
          </a:p>
        </p:txBody>
      </p:sp>
      <p:sp>
        <p:nvSpPr>
          <p:cNvPr id="118" name="cell"/>
          <p:cNvSpPr/>
          <p:nvPr/>
        </p:nvSpPr>
        <p:spPr>
          <a:xfrm>
            <a:off x="8657167" y="4470400"/>
            <a:ext cx="2950633" cy="762000"/>
          </a:xfrm>
          <a:prstGeom prst="roundRect">
            <a:avLst>
              <a:gd name="adj" fmla="val 12000"/>
            </a:avLst>
          </a:prstGeom>
          <a:solidFill>
            <a:schemeClr val="bg2"/>
          </a:solidFill>
          <a:ln>
            <a:noFill/>
          </a:ln>
        </p:spPr>
        <p:txBody>
          <a:bodyPr wrap="square" lIns="152400" tIns="0" rIns="152400" bIns="0" anchor="ctr">
            <a:noAutofit/>
          </a:bodyPr>
          <a:lstStyle/>
          <a:p>
            <a:pPr algn="ctr">
              <a:buNone/>
            </a:pPr>
            <a:r>
              <a:rPr lang="en-US" sz="1400" dirty="0">
                <a:solidFill>
                  <a:srgbClr val="B0B4C3"/>
                </a:solidFill>
              </a:rPr>
              <a:t>—</a:t>
            </a:r>
          </a:p>
        </p:txBody>
      </p:sp>
      <p:sp>
        <p:nvSpPr>
          <p:cNvPr id="119" name="band"/>
          <p:cNvSpPr/>
          <p:nvPr/>
        </p:nvSpPr>
        <p:spPr>
          <a:xfrm>
            <a:off x="546100" y="5410200"/>
            <a:ext cx="11061700" cy="660400"/>
          </a:xfrm>
          <a:prstGeom prst="roundRect">
            <a:avLst>
              <a:gd name="adj" fmla="val 12000"/>
            </a:avLst>
          </a:prstGeom>
          <a:solidFill>
            <a:schemeClr val="tx2"/>
          </a:solidFill>
          <a:ln>
            <a:noFill/>
          </a:ln>
        </p:spPr>
        <p:txBody>
          <a:bodyPr wrap="square" lIns="203200" tIns="0" rIns="203200" bIns="0" anchor="ctr">
            <a:noAutofit/>
          </a:bodyPr>
          <a:lstStyle/>
          <a:p>
            <a:pPr algn="l">
              <a:buNone/>
            </a:pPr>
            <a:r>
              <a:rPr lang="en-US" sz="1400" b="1" dirty="0">
                <a:solidFill>
                  <a:schemeClr val="accent4"/>
                </a:solidFill>
              </a:rPr>
              <a:t>Rule: </a:t>
            </a:r>
            <a:r>
              <a:rPr lang="en-US" sz="1400" dirty="0">
                <a:solidFill>
                  <a:schemeClr val="bg1"/>
                </a:solidFill>
              </a:rPr>
              <a:t>anything the model uses right now must be tokens in VRAM, next to the model weights. When the session ends, VRAM and RAM clear; only what was saved to SSD carries over.</a:t>
            </a:r>
          </a:p>
        </p:txBody>
      </p:sp>
      <p:sp>
        <p:nvSpPr>
          <p:cNvPr id="90" name="Slide Number Placeholder 0"/>
          <p:cNvSpPr>
            <a:spLocks noGrp="1"/>
          </p:cNvSpPr>
          <p:nvPr>
            <p:ph type="sldNum" sz="quarter" idx="4294967295"/>
          </p:nvPr>
        </p:nvSpPr>
        <p:spPr>
          <a:xfrm>
            <a:off x="11155680" y="6400800"/>
            <a:ext cx="457200" cy="274320"/>
          </a:xfrm>
          <a:prstGeom prst="rect">
            <a:avLst/>
          </a:prstGeom>
        </p:spPr>
        <p:txBody>
          <a:bodyPr/>
          <a:lstStyle>
            <a:lvl1pPr>
              <a:defRPr sz="1000">
                <a:solidFill>
                  <a:schemeClr val="accent5"/>
                </a:solidFill>
              </a:defRPr>
            </a:lvl1pPr>
          </a:lstStyle>
          <a:p>
            <a:pPr algn="r"/>
            <a:fld id="{F7021451-1387-4CA6-816F-3879F97B5CBC}" type="slidenum">
              <a:rPr lang="en-US" b="0"/>
              <a:t>27</a:t>
            </a:fld>
            <a:endParaRPr lang="en-US"/>
          </a:p>
        </p:txBody>
      </p:sp>
    </p:spTree>
    <p:extLst>
      <p:ext uri="{BB962C8B-B14F-4D97-AF65-F5344CB8AC3E}">
        <p14:creationId xmlns:p14="http://schemas.microsoft.com/office/powerpoint/2010/main" val="1265724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Five building-block patterns</a:t>
            </a:r>
            <a:endParaRPr lang="en-US" sz="3400" dirty="0"/>
          </a:p>
        </p:txBody>
      </p:sp>
      <p:sp>
        <p:nvSpPr>
          <p:cNvPr id="3" name="card-438"/>
          <p:cNvSpPr/>
          <p:nvPr/>
        </p:nvSpPr>
        <p:spPr>
          <a:xfrm>
            <a:off x="548640" y="1371600"/>
            <a:ext cx="2103120" cy="4709160"/>
          </a:xfrm>
          <a:prstGeom prst="roundRect">
            <a:avLst>
              <a:gd name="adj" fmla="val 4348"/>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text-439"/>
          <p:cNvSpPr txBox="1"/>
          <p:nvPr/>
        </p:nvSpPr>
        <p:spPr>
          <a:xfrm>
            <a:off x="685800" y="1508760"/>
            <a:ext cx="1828800" cy="685800"/>
          </a:xfrm>
          <a:prstGeom prst="rect">
            <a:avLst/>
          </a:prstGeom>
          <a:noFill/>
          <a:ln/>
        </p:spPr>
        <p:txBody>
          <a:bodyPr wrap="square" lIns="0" tIns="0" rIns="0" bIns="0" rtlCol="0" anchor="ctr"/>
          <a:lstStyle/>
          <a:p>
            <a:pPr marL="0" indent="0" algn="l">
              <a:buNone/>
            </a:pPr>
            <a:r>
              <a:rPr lang="en-US" sz="1600" b="1" dirty="0">
                <a:solidFill>
                  <a:schemeClr val="tx2"/>
                </a:solidFill>
              </a:rPr>
              <a:t>Prompt chaining</a:t>
            </a:r>
            <a:endParaRPr lang="en-US" sz="1600" dirty="0"/>
          </a:p>
        </p:txBody>
      </p:sp>
      <p:sp>
        <p:nvSpPr>
          <p:cNvPr id="5" name="card-440"/>
          <p:cNvSpPr/>
          <p:nvPr/>
        </p:nvSpPr>
        <p:spPr>
          <a:xfrm>
            <a:off x="1371600" y="2377440"/>
            <a:ext cx="457200" cy="347472"/>
          </a:xfrm>
          <a:prstGeom prst="roundRect">
            <a:avLst>
              <a:gd name="adj" fmla="val 26316"/>
            </a:avLst>
          </a:prstGeom>
          <a:solidFill>
            <a:schemeClr val="accent1"/>
          </a:solidFill>
          <a:ln w="9525">
            <a:solidFill>
              <a:schemeClr val="accent1"/>
            </a:solidFill>
            <a:prstDash val="solid"/>
          </a:ln>
        </p:spPr>
        <p:txBody>
          <a:bodyPr/>
          <a:lstStyle/>
          <a:p>
            <a:endParaRPr lang="en-US"/>
          </a:p>
        </p:txBody>
      </p:sp>
      <p:sp>
        <p:nvSpPr>
          <p:cNvPr id="6" name="arrow-441"/>
          <p:cNvSpPr/>
          <p:nvPr/>
        </p:nvSpPr>
        <p:spPr>
          <a:xfrm>
            <a:off x="1600200" y="2724912"/>
            <a:ext cx="914" cy="338328"/>
          </a:xfrm>
          <a:prstGeom prst="line">
            <a:avLst/>
          </a:prstGeom>
          <a:noFill/>
          <a:ln w="25400">
            <a:solidFill>
              <a:schemeClr val="accent5"/>
            </a:solidFill>
            <a:prstDash val="solid"/>
            <a:tailEnd type="triangle"/>
          </a:ln>
        </p:spPr>
        <p:txBody>
          <a:bodyPr/>
          <a:lstStyle/>
          <a:p>
            <a:endParaRPr lang="en-US"/>
          </a:p>
        </p:txBody>
      </p:sp>
      <p:sp>
        <p:nvSpPr>
          <p:cNvPr id="7" name="card-442"/>
          <p:cNvSpPr/>
          <p:nvPr/>
        </p:nvSpPr>
        <p:spPr>
          <a:xfrm>
            <a:off x="1371600" y="3063240"/>
            <a:ext cx="457200" cy="347472"/>
          </a:xfrm>
          <a:prstGeom prst="roundRect">
            <a:avLst>
              <a:gd name="adj" fmla="val 26316"/>
            </a:avLst>
          </a:prstGeom>
          <a:solidFill>
            <a:schemeClr val="accent1"/>
          </a:solidFill>
          <a:ln w="9525">
            <a:solidFill>
              <a:schemeClr val="accent1"/>
            </a:solidFill>
            <a:prstDash val="solid"/>
          </a:ln>
        </p:spPr>
        <p:txBody>
          <a:bodyPr/>
          <a:lstStyle/>
          <a:p>
            <a:endParaRPr lang="en-US"/>
          </a:p>
        </p:txBody>
      </p:sp>
      <p:sp>
        <p:nvSpPr>
          <p:cNvPr id="8" name="arrow-443"/>
          <p:cNvSpPr/>
          <p:nvPr/>
        </p:nvSpPr>
        <p:spPr>
          <a:xfrm>
            <a:off x="1600200" y="3410712"/>
            <a:ext cx="914" cy="338328"/>
          </a:xfrm>
          <a:prstGeom prst="line">
            <a:avLst/>
          </a:prstGeom>
          <a:noFill/>
          <a:ln w="25400">
            <a:solidFill>
              <a:schemeClr val="accent5"/>
            </a:solidFill>
            <a:prstDash val="solid"/>
            <a:tailEnd type="triangle"/>
          </a:ln>
        </p:spPr>
        <p:txBody>
          <a:bodyPr/>
          <a:lstStyle/>
          <a:p>
            <a:endParaRPr lang="en-US"/>
          </a:p>
        </p:txBody>
      </p:sp>
      <p:sp>
        <p:nvSpPr>
          <p:cNvPr id="9" name="card-444"/>
          <p:cNvSpPr/>
          <p:nvPr/>
        </p:nvSpPr>
        <p:spPr>
          <a:xfrm>
            <a:off x="1371600" y="3749040"/>
            <a:ext cx="457200" cy="347472"/>
          </a:xfrm>
          <a:prstGeom prst="roundRect">
            <a:avLst>
              <a:gd name="adj" fmla="val 26316"/>
            </a:avLst>
          </a:prstGeom>
          <a:solidFill>
            <a:schemeClr val="accent1"/>
          </a:solidFill>
          <a:ln w="9525">
            <a:solidFill>
              <a:schemeClr val="accent1"/>
            </a:solidFill>
            <a:prstDash val="solid"/>
          </a:ln>
        </p:spPr>
        <p:txBody>
          <a:bodyPr/>
          <a:lstStyle/>
          <a:p>
            <a:endParaRPr lang="en-US"/>
          </a:p>
        </p:txBody>
      </p:sp>
      <p:sp>
        <p:nvSpPr>
          <p:cNvPr id="10" name="text-445"/>
          <p:cNvSpPr txBox="1"/>
          <p:nvPr/>
        </p:nvSpPr>
        <p:spPr>
          <a:xfrm>
            <a:off x="685800" y="4343400"/>
            <a:ext cx="1828800" cy="822960"/>
          </a:xfrm>
          <a:prstGeom prst="rect">
            <a:avLst/>
          </a:prstGeom>
          <a:noFill/>
          <a:ln/>
        </p:spPr>
        <p:txBody>
          <a:bodyPr wrap="square" lIns="0" tIns="0" rIns="0" bIns="0" rtlCol="0" anchor="t"/>
          <a:lstStyle/>
          <a:p>
            <a:pPr marL="0" indent="0" algn="l">
              <a:buNone/>
            </a:pPr>
            <a:r>
              <a:rPr lang="en-US" sz="1300" dirty="0">
                <a:solidFill>
                  <a:schemeClr val="tx1"/>
                </a:solidFill>
              </a:rPr>
              <a:t>Fixed steps; each output feeds the next</a:t>
            </a:r>
            <a:endParaRPr lang="en-US" sz="1300" dirty="0"/>
          </a:p>
        </p:txBody>
      </p:sp>
      <p:sp>
        <p:nvSpPr>
          <p:cNvPr id="11" name="text-446"/>
          <p:cNvSpPr txBox="1"/>
          <p:nvPr/>
        </p:nvSpPr>
        <p:spPr>
          <a:xfrm>
            <a:off x="685800" y="5212080"/>
            <a:ext cx="1828800" cy="731520"/>
          </a:xfrm>
          <a:prstGeom prst="rect">
            <a:avLst/>
          </a:prstGeom>
          <a:noFill/>
          <a:ln/>
        </p:spPr>
        <p:txBody>
          <a:bodyPr wrap="square" lIns="0" tIns="0" rIns="0" bIns="0" rtlCol="0" anchor="t"/>
          <a:lstStyle/>
          <a:p>
            <a:pPr marL="0" indent="0" algn="l">
              <a:buNone/>
            </a:pPr>
            <a:r>
              <a:rPr lang="en-US" sz="1200" i="1" dirty="0">
                <a:solidFill>
                  <a:schemeClr val="accent5"/>
                </a:solidFill>
              </a:rPr>
              <a:t>e.g. Outline → draft → translate</a:t>
            </a:r>
            <a:endParaRPr lang="en-US" sz="1200" dirty="0"/>
          </a:p>
        </p:txBody>
      </p:sp>
      <p:sp>
        <p:nvSpPr>
          <p:cNvPr id="12" name="card-447"/>
          <p:cNvSpPr/>
          <p:nvPr/>
        </p:nvSpPr>
        <p:spPr>
          <a:xfrm>
            <a:off x="2788920" y="1371600"/>
            <a:ext cx="2103120" cy="4709160"/>
          </a:xfrm>
          <a:prstGeom prst="roundRect">
            <a:avLst>
              <a:gd name="adj" fmla="val 4348"/>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3" name="text-448"/>
          <p:cNvSpPr txBox="1"/>
          <p:nvPr/>
        </p:nvSpPr>
        <p:spPr>
          <a:xfrm>
            <a:off x="2926080" y="1508760"/>
            <a:ext cx="1828800" cy="685800"/>
          </a:xfrm>
          <a:prstGeom prst="rect">
            <a:avLst/>
          </a:prstGeom>
          <a:noFill/>
          <a:ln/>
        </p:spPr>
        <p:txBody>
          <a:bodyPr wrap="square" lIns="0" tIns="0" rIns="0" bIns="0" rtlCol="0" anchor="ctr"/>
          <a:lstStyle/>
          <a:p>
            <a:pPr marL="0" indent="0" algn="l">
              <a:buNone/>
            </a:pPr>
            <a:r>
              <a:rPr lang="en-US" sz="1600" b="1" dirty="0">
                <a:solidFill>
                  <a:schemeClr val="tx2"/>
                </a:solidFill>
              </a:rPr>
              <a:t>Routing</a:t>
            </a:r>
            <a:endParaRPr lang="en-US" sz="1600" dirty="0"/>
          </a:p>
        </p:txBody>
      </p:sp>
      <p:sp>
        <p:nvSpPr>
          <p:cNvPr id="14" name="card-449"/>
          <p:cNvSpPr/>
          <p:nvPr/>
        </p:nvSpPr>
        <p:spPr>
          <a:xfrm>
            <a:off x="3611880" y="2377440"/>
            <a:ext cx="457200" cy="347472"/>
          </a:xfrm>
          <a:prstGeom prst="roundRect">
            <a:avLst>
              <a:gd name="adj" fmla="val 26316"/>
            </a:avLst>
          </a:prstGeom>
          <a:solidFill>
            <a:schemeClr val="accent2"/>
          </a:solidFill>
          <a:ln w="9525">
            <a:solidFill>
              <a:schemeClr val="accent2"/>
            </a:solidFill>
            <a:prstDash val="solid"/>
          </a:ln>
        </p:spPr>
        <p:txBody>
          <a:bodyPr/>
          <a:lstStyle/>
          <a:p>
            <a:endParaRPr lang="en-US"/>
          </a:p>
        </p:txBody>
      </p:sp>
      <p:sp>
        <p:nvSpPr>
          <p:cNvPr id="15" name="arrow-450"/>
          <p:cNvSpPr/>
          <p:nvPr/>
        </p:nvSpPr>
        <p:spPr>
          <a:xfrm flipH="1">
            <a:off x="3154680" y="2724912"/>
            <a:ext cx="685800" cy="704088"/>
          </a:xfrm>
          <a:prstGeom prst="line">
            <a:avLst/>
          </a:prstGeom>
          <a:noFill/>
          <a:ln w="25400">
            <a:solidFill>
              <a:schemeClr val="accent5"/>
            </a:solidFill>
            <a:prstDash val="solid"/>
            <a:tailEnd type="triangle"/>
          </a:ln>
        </p:spPr>
        <p:txBody>
          <a:bodyPr/>
          <a:lstStyle/>
          <a:p>
            <a:endParaRPr lang="en-US"/>
          </a:p>
        </p:txBody>
      </p:sp>
      <p:sp>
        <p:nvSpPr>
          <p:cNvPr id="16" name="card-451"/>
          <p:cNvSpPr/>
          <p:nvPr/>
        </p:nvSpPr>
        <p:spPr>
          <a:xfrm>
            <a:off x="2926080" y="3429000"/>
            <a:ext cx="457200" cy="347472"/>
          </a:xfrm>
          <a:prstGeom prst="roundRect">
            <a:avLst>
              <a:gd name="adj" fmla="val 26316"/>
            </a:avLst>
          </a:prstGeom>
          <a:solidFill>
            <a:schemeClr val="accent5"/>
          </a:solidFill>
          <a:ln w="9525">
            <a:solidFill>
              <a:schemeClr val="accent5"/>
            </a:solidFill>
            <a:prstDash val="solid"/>
          </a:ln>
        </p:spPr>
        <p:txBody>
          <a:bodyPr/>
          <a:lstStyle/>
          <a:p>
            <a:endParaRPr lang="en-US"/>
          </a:p>
        </p:txBody>
      </p:sp>
      <p:sp>
        <p:nvSpPr>
          <p:cNvPr id="17" name="arrow-452"/>
          <p:cNvSpPr/>
          <p:nvPr/>
        </p:nvSpPr>
        <p:spPr>
          <a:xfrm>
            <a:off x="3840480" y="2724912"/>
            <a:ext cx="914" cy="704088"/>
          </a:xfrm>
          <a:prstGeom prst="line">
            <a:avLst/>
          </a:prstGeom>
          <a:noFill/>
          <a:ln w="25400">
            <a:solidFill>
              <a:schemeClr val="accent5"/>
            </a:solidFill>
            <a:prstDash val="solid"/>
            <a:tailEnd type="triangle"/>
          </a:ln>
        </p:spPr>
        <p:txBody>
          <a:bodyPr/>
          <a:lstStyle/>
          <a:p>
            <a:endParaRPr lang="en-US"/>
          </a:p>
        </p:txBody>
      </p:sp>
      <p:sp>
        <p:nvSpPr>
          <p:cNvPr id="18" name="card-453"/>
          <p:cNvSpPr/>
          <p:nvPr/>
        </p:nvSpPr>
        <p:spPr>
          <a:xfrm>
            <a:off x="3611880" y="3429000"/>
            <a:ext cx="457200" cy="347472"/>
          </a:xfrm>
          <a:prstGeom prst="roundRect">
            <a:avLst>
              <a:gd name="adj" fmla="val 26316"/>
            </a:avLst>
          </a:prstGeom>
          <a:solidFill>
            <a:schemeClr val="accent5"/>
          </a:solidFill>
          <a:ln w="9525">
            <a:solidFill>
              <a:schemeClr val="accent5"/>
            </a:solidFill>
            <a:prstDash val="solid"/>
          </a:ln>
        </p:spPr>
        <p:txBody>
          <a:bodyPr/>
          <a:lstStyle/>
          <a:p>
            <a:endParaRPr lang="en-US"/>
          </a:p>
        </p:txBody>
      </p:sp>
      <p:sp>
        <p:nvSpPr>
          <p:cNvPr id="19" name="arrow-454"/>
          <p:cNvSpPr/>
          <p:nvPr/>
        </p:nvSpPr>
        <p:spPr>
          <a:xfrm>
            <a:off x="3840480" y="2724912"/>
            <a:ext cx="685800" cy="704088"/>
          </a:xfrm>
          <a:prstGeom prst="line">
            <a:avLst/>
          </a:prstGeom>
          <a:noFill/>
          <a:ln w="25400">
            <a:solidFill>
              <a:schemeClr val="accent5"/>
            </a:solidFill>
            <a:prstDash val="solid"/>
            <a:tailEnd type="triangle"/>
          </a:ln>
        </p:spPr>
        <p:txBody>
          <a:bodyPr/>
          <a:lstStyle/>
          <a:p>
            <a:endParaRPr lang="en-US"/>
          </a:p>
        </p:txBody>
      </p:sp>
      <p:sp>
        <p:nvSpPr>
          <p:cNvPr id="20" name="card-455"/>
          <p:cNvSpPr/>
          <p:nvPr/>
        </p:nvSpPr>
        <p:spPr>
          <a:xfrm>
            <a:off x="4297680" y="3429000"/>
            <a:ext cx="457200" cy="347472"/>
          </a:xfrm>
          <a:prstGeom prst="roundRect">
            <a:avLst>
              <a:gd name="adj" fmla="val 26316"/>
            </a:avLst>
          </a:prstGeom>
          <a:solidFill>
            <a:schemeClr val="accent5"/>
          </a:solidFill>
          <a:ln w="9525">
            <a:solidFill>
              <a:schemeClr val="accent5"/>
            </a:solidFill>
            <a:prstDash val="solid"/>
          </a:ln>
        </p:spPr>
        <p:txBody>
          <a:bodyPr/>
          <a:lstStyle/>
          <a:p>
            <a:endParaRPr lang="en-US"/>
          </a:p>
        </p:txBody>
      </p:sp>
      <p:sp>
        <p:nvSpPr>
          <p:cNvPr id="21" name="text-456"/>
          <p:cNvSpPr txBox="1"/>
          <p:nvPr/>
        </p:nvSpPr>
        <p:spPr>
          <a:xfrm>
            <a:off x="2926080" y="4343400"/>
            <a:ext cx="1828800" cy="822960"/>
          </a:xfrm>
          <a:prstGeom prst="rect">
            <a:avLst/>
          </a:prstGeom>
          <a:noFill/>
          <a:ln/>
        </p:spPr>
        <p:txBody>
          <a:bodyPr wrap="square" lIns="0" tIns="0" rIns="0" bIns="0" rtlCol="0" anchor="t"/>
          <a:lstStyle/>
          <a:p>
            <a:pPr marL="0" indent="0" algn="l">
              <a:buNone/>
            </a:pPr>
            <a:r>
              <a:rPr lang="en-US" sz="1300" dirty="0">
                <a:solidFill>
                  <a:schemeClr val="tx1"/>
                </a:solidFill>
              </a:rPr>
              <a:t>Classify input, send to a specialist</a:t>
            </a:r>
            <a:endParaRPr lang="en-US" sz="1300" dirty="0"/>
          </a:p>
        </p:txBody>
      </p:sp>
      <p:sp>
        <p:nvSpPr>
          <p:cNvPr id="22" name="text-457"/>
          <p:cNvSpPr txBox="1"/>
          <p:nvPr/>
        </p:nvSpPr>
        <p:spPr>
          <a:xfrm>
            <a:off x="2926080" y="5212080"/>
            <a:ext cx="1828800" cy="731520"/>
          </a:xfrm>
          <a:prstGeom prst="rect">
            <a:avLst/>
          </a:prstGeom>
          <a:noFill/>
          <a:ln/>
        </p:spPr>
        <p:txBody>
          <a:bodyPr wrap="square" lIns="0" tIns="0" rIns="0" bIns="0" rtlCol="0" anchor="t"/>
          <a:lstStyle/>
          <a:p>
            <a:pPr marL="0" indent="0" algn="l">
              <a:buNone/>
            </a:pPr>
            <a:r>
              <a:rPr lang="en-US" sz="1200" i="1" dirty="0">
                <a:solidFill>
                  <a:schemeClr val="accent5"/>
                </a:solidFill>
              </a:rPr>
              <a:t>e.g. Support ticket → billing / tech</a:t>
            </a:r>
            <a:endParaRPr lang="en-US" sz="1200" dirty="0"/>
          </a:p>
        </p:txBody>
      </p:sp>
      <p:sp>
        <p:nvSpPr>
          <p:cNvPr id="23" name="card-458"/>
          <p:cNvSpPr/>
          <p:nvPr/>
        </p:nvSpPr>
        <p:spPr>
          <a:xfrm>
            <a:off x="5029200" y="1371600"/>
            <a:ext cx="2103120" cy="4709160"/>
          </a:xfrm>
          <a:prstGeom prst="roundRect">
            <a:avLst>
              <a:gd name="adj" fmla="val 4348"/>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4" name="text-459"/>
          <p:cNvSpPr txBox="1"/>
          <p:nvPr/>
        </p:nvSpPr>
        <p:spPr>
          <a:xfrm>
            <a:off x="5166360" y="1508760"/>
            <a:ext cx="1828800" cy="685800"/>
          </a:xfrm>
          <a:prstGeom prst="rect">
            <a:avLst/>
          </a:prstGeom>
          <a:noFill/>
          <a:ln/>
        </p:spPr>
        <p:txBody>
          <a:bodyPr wrap="square" lIns="0" tIns="0" rIns="0" bIns="0" rtlCol="0" anchor="ctr"/>
          <a:lstStyle/>
          <a:p>
            <a:pPr marL="0" indent="0" algn="l">
              <a:buNone/>
            </a:pPr>
            <a:r>
              <a:rPr lang="en-US" sz="1600" b="1" dirty="0">
                <a:solidFill>
                  <a:schemeClr val="tx2"/>
                </a:solidFill>
              </a:rPr>
              <a:t>Parallelization</a:t>
            </a:r>
            <a:endParaRPr lang="en-US" sz="1600" dirty="0"/>
          </a:p>
        </p:txBody>
      </p:sp>
      <p:sp>
        <p:nvSpPr>
          <p:cNvPr id="25" name="card-460"/>
          <p:cNvSpPr/>
          <p:nvPr/>
        </p:nvSpPr>
        <p:spPr>
          <a:xfrm>
            <a:off x="5166360" y="2377440"/>
            <a:ext cx="457200" cy="347472"/>
          </a:xfrm>
          <a:prstGeom prst="roundRect">
            <a:avLst>
              <a:gd name="adj" fmla="val 26316"/>
            </a:avLst>
          </a:prstGeom>
          <a:solidFill>
            <a:schemeClr val="accent3"/>
          </a:solidFill>
          <a:ln w="9525">
            <a:solidFill>
              <a:schemeClr val="accent3"/>
            </a:solidFill>
            <a:prstDash val="solid"/>
          </a:ln>
        </p:spPr>
        <p:txBody>
          <a:bodyPr/>
          <a:lstStyle/>
          <a:p>
            <a:endParaRPr lang="en-US"/>
          </a:p>
        </p:txBody>
      </p:sp>
      <p:sp>
        <p:nvSpPr>
          <p:cNvPr id="26" name="arrow-461"/>
          <p:cNvSpPr/>
          <p:nvPr/>
        </p:nvSpPr>
        <p:spPr>
          <a:xfrm>
            <a:off x="5394960" y="2724912"/>
            <a:ext cx="685800" cy="841248"/>
          </a:xfrm>
          <a:prstGeom prst="line">
            <a:avLst/>
          </a:prstGeom>
          <a:noFill/>
          <a:ln w="25400">
            <a:solidFill>
              <a:schemeClr val="accent5"/>
            </a:solidFill>
            <a:prstDash val="solid"/>
            <a:tailEnd type="triangle"/>
          </a:ln>
        </p:spPr>
        <p:txBody>
          <a:bodyPr/>
          <a:lstStyle/>
          <a:p>
            <a:endParaRPr lang="en-US"/>
          </a:p>
        </p:txBody>
      </p:sp>
      <p:sp>
        <p:nvSpPr>
          <p:cNvPr id="27" name="card-462"/>
          <p:cNvSpPr/>
          <p:nvPr/>
        </p:nvSpPr>
        <p:spPr>
          <a:xfrm>
            <a:off x="5852160" y="2377440"/>
            <a:ext cx="457200" cy="347472"/>
          </a:xfrm>
          <a:prstGeom prst="roundRect">
            <a:avLst>
              <a:gd name="adj" fmla="val 26316"/>
            </a:avLst>
          </a:prstGeom>
          <a:solidFill>
            <a:schemeClr val="accent3"/>
          </a:solidFill>
          <a:ln w="9525">
            <a:solidFill>
              <a:schemeClr val="accent3"/>
            </a:solidFill>
            <a:prstDash val="solid"/>
          </a:ln>
        </p:spPr>
        <p:txBody>
          <a:bodyPr/>
          <a:lstStyle/>
          <a:p>
            <a:endParaRPr lang="en-US"/>
          </a:p>
        </p:txBody>
      </p:sp>
      <p:sp>
        <p:nvSpPr>
          <p:cNvPr id="28" name="arrow-463"/>
          <p:cNvSpPr/>
          <p:nvPr/>
        </p:nvSpPr>
        <p:spPr>
          <a:xfrm>
            <a:off x="6080760" y="2724912"/>
            <a:ext cx="914" cy="841248"/>
          </a:xfrm>
          <a:prstGeom prst="line">
            <a:avLst/>
          </a:prstGeom>
          <a:noFill/>
          <a:ln w="25400">
            <a:solidFill>
              <a:schemeClr val="accent5"/>
            </a:solidFill>
            <a:prstDash val="solid"/>
            <a:tailEnd type="triangle"/>
          </a:ln>
        </p:spPr>
        <p:txBody>
          <a:bodyPr/>
          <a:lstStyle/>
          <a:p>
            <a:endParaRPr lang="en-US"/>
          </a:p>
        </p:txBody>
      </p:sp>
      <p:sp>
        <p:nvSpPr>
          <p:cNvPr id="29" name="card-464"/>
          <p:cNvSpPr/>
          <p:nvPr/>
        </p:nvSpPr>
        <p:spPr>
          <a:xfrm>
            <a:off x="6537960" y="2377440"/>
            <a:ext cx="457200" cy="347472"/>
          </a:xfrm>
          <a:prstGeom prst="roundRect">
            <a:avLst>
              <a:gd name="adj" fmla="val 26316"/>
            </a:avLst>
          </a:prstGeom>
          <a:solidFill>
            <a:schemeClr val="accent3"/>
          </a:solidFill>
          <a:ln w="9525">
            <a:solidFill>
              <a:schemeClr val="accent3"/>
            </a:solidFill>
            <a:prstDash val="solid"/>
          </a:ln>
        </p:spPr>
        <p:txBody>
          <a:bodyPr/>
          <a:lstStyle/>
          <a:p>
            <a:endParaRPr lang="en-US"/>
          </a:p>
        </p:txBody>
      </p:sp>
      <p:sp>
        <p:nvSpPr>
          <p:cNvPr id="30" name="arrow-465"/>
          <p:cNvSpPr/>
          <p:nvPr/>
        </p:nvSpPr>
        <p:spPr>
          <a:xfrm flipH="1">
            <a:off x="6080760" y="2724912"/>
            <a:ext cx="685800" cy="841248"/>
          </a:xfrm>
          <a:prstGeom prst="line">
            <a:avLst/>
          </a:prstGeom>
          <a:noFill/>
          <a:ln w="25400">
            <a:solidFill>
              <a:schemeClr val="accent5"/>
            </a:solidFill>
            <a:prstDash val="solid"/>
            <a:tailEnd type="triangle"/>
          </a:ln>
        </p:spPr>
        <p:txBody>
          <a:bodyPr/>
          <a:lstStyle/>
          <a:p>
            <a:endParaRPr lang="en-US"/>
          </a:p>
        </p:txBody>
      </p:sp>
      <p:sp>
        <p:nvSpPr>
          <p:cNvPr id="31" name="card-466"/>
          <p:cNvSpPr/>
          <p:nvPr/>
        </p:nvSpPr>
        <p:spPr>
          <a:xfrm>
            <a:off x="5715000" y="3566160"/>
            <a:ext cx="731520" cy="347472"/>
          </a:xfrm>
          <a:prstGeom prst="roundRect">
            <a:avLst>
              <a:gd name="adj" fmla="val 26316"/>
            </a:avLst>
          </a:prstGeom>
          <a:solidFill>
            <a:schemeClr val="tx2"/>
          </a:solidFill>
          <a:ln w="9525">
            <a:solidFill>
              <a:schemeClr val="tx2"/>
            </a:solidFill>
            <a:prstDash val="solid"/>
          </a:ln>
        </p:spPr>
        <p:txBody>
          <a:bodyPr/>
          <a:lstStyle/>
          <a:p>
            <a:endParaRPr lang="en-US"/>
          </a:p>
        </p:txBody>
      </p:sp>
      <p:sp>
        <p:nvSpPr>
          <p:cNvPr id="32" name="text-467"/>
          <p:cNvSpPr txBox="1"/>
          <p:nvPr/>
        </p:nvSpPr>
        <p:spPr>
          <a:xfrm>
            <a:off x="5166360" y="4343400"/>
            <a:ext cx="1828800" cy="822960"/>
          </a:xfrm>
          <a:prstGeom prst="rect">
            <a:avLst/>
          </a:prstGeom>
          <a:noFill/>
          <a:ln/>
        </p:spPr>
        <p:txBody>
          <a:bodyPr wrap="square" lIns="0" tIns="0" rIns="0" bIns="0" rtlCol="0" anchor="t"/>
          <a:lstStyle/>
          <a:p>
            <a:pPr marL="0" indent="0" algn="l">
              <a:buNone/>
            </a:pPr>
            <a:r>
              <a:rPr lang="en-US" sz="1300" dirty="0">
                <a:solidFill>
                  <a:schemeClr val="tx1"/>
                </a:solidFill>
              </a:rPr>
              <a:t>Run sub-tasks at once, then combine</a:t>
            </a:r>
            <a:endParaRPr lang="en-US" sz="1300" dirty="0"/>
          </a:p>
        </p:txBody>
      </p:sp>
      <p:sp>
        <p:nvSpPr>
          <p:cNvPr id="33" name="text-468"/>
          <p:cNvSpPr txBox="1"/>
          <p:nvPr/>
        </p:nvSpPr>
        <p:spPr>
          <a:xfrm>
            <a:off x="5166360" y="5212080"/>
            <a:ext cx="1828800" cy="731520"/>
          </a:xfrm>
          <a:prstGeom prst="rect">
            <a:avLst/>
          </a:prstGeom>
          <a:noFill/>
          <a:ln/>
        </p:spPr>
        <p:txBody>
          <a:bodyPr wrap="square" lIns="0" tIns="0" rIns="0" bIns="0" rtlCol="0" anchor="t"/>
          <a:lstStyle/>
          <a:p>
            <a:pPr marL="0" indent="0" algn="l">
              <a:buNone/>
            </a:pPr>
            <a:r>
              <a:rPr lang="en-US" sz="1200" i="1" dirty="0">
                <a:solidFill>
                  <a:schemeClr val="accent5"/>
                </a:solidFill>
              </a:rPr>
              <a:t>e.g. Review code for 3 issues at once</a:t>
            </a:r>
            <a:endParaRPr lang="en-US" sz="1200" dirty="0"/>
          </a:p>
        </p:txBody>
      </p:sp>
      <p:sp>
        <p:nvSpPr>
          <p:cNvPr id="34" name="card-469"/>
          <p:cNvSpPr/>
          <p:nvPr/>
        </p:nvSpPr>
        <p:spPr>
          <a:xfrm>
            <a:off x="7269480" y="1371600"/>
            <a:ext cx="2103120" cy="4709160"/>
          </a:xfrm>
          <a:prstGeom prst="roundRect">
            <a:avLst>
              <a:gd name="adj" fmla="val 4348"/>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35" name="text-470"/>
          <p:cNvSpPr txBox="1"/>
          <p:nvPr/>
        </p:nvSpPr>
        <p:spPr>
          <a:xfrm>
            <a:off x="7406640" y="1508760"/>
            <a:ext cx="1828800" cy="685800"/>
          </a:xfrm>
          <a:prstGeom prst="rect">
            <a:avLst/>
          </a:prstGeom>
          <a:noFill/>
          <a:ln/>
        </p:spPr>
        <p:txBody>
          <a:bodyPr wrap="square" lIns="0" tIns="0" rIns="0" bIns="0" rtlCol="0" anchor="ctr"/>
          <a:lstStyle/>
          <a:p>
            <a:pPr marL="0" indent="0" algn="l">
              <a:buNone/>
            </a:pPr>
            <a:r>
              <a:rPr lang="en-US" sz="1600" b="1" dirty="0">
                <a:solidFill>
                  <a:schemeClr val="tx2"/>
                </a:solidFill>
              </a:rPr>
              <a:t>Orchestrator–workers</a:t>
            </a:r>
            <a:endParaRPr lang="en-US" sz="1600" dirty="0"/>
          </a:p>
        </p:txBody>
      </p:sp>
      <p:sp>
        <p:nvSpPr>
          <p:cNvPr id="36" name="card-471"/>
          <p:cNvSpPr/>
          <p:nvPr/>
        </p:nvSpPr>
        <p:spPr>
          <a:xfrm>
            <a:off x="7955280" y="2377440"/>
            <a:ext cx="731520" cy="347472"/>
          </a:xfrm>
          <a:prstGeom prst="roundRect">
            <a:avLst>
              <a:gd name="adj" fmla="val 26316"/>
            </a:avLst>
          </a:prstGeom>
          <a:solidFill>
            <a:schemeClr val="tx2"/>
          </a:solidFill>
          <a:ln w="9525">
            <a:solidFill>
              <a:schemeClr val="tx2"/>
            </a:solidFill>
            <a:prstDash val="solid"/>
          </a:ln>
        </p:spPr>
        <p:txBody>
          <a:bodyPr/>
          <a:lstStyle/>
          <a:p>
            <a:endParaRPr lang="en-US"/>
          </a:p>
        </p:txBody>
      </p:sp>
      <p:sp>
        <p:nvSpPr>
          <p:cNvPr id="37" name="arrow-472"/>
          <p:cNvSpPr/>
          <p:nvPr/>
        </p:nvSpPr>
        <p:spPr>
          <a:xfrm flipH="1">
            <a:off x="7635240" y="2724912"/>
            <a:ext cx="685800" cy="658368"/>
          </a:xfrm>
          <a:prstGeom prst="line">
            <a:avLst/>
          </a:prstGeom>
          <a:noFill/>
          <a:ln w="25400">
            <a:solidFill>
              <a:schemeClr val="accent5"/>
            </a:solidFill>
            <a:prstDash val="solid"/>
            <a:tailEnd type="triangle"/>
          </a:ln>
        </p:spPr>
        <p:txBody>
          <a:bodyPr/>
          <a:lstStyle/>
          <a:p>
            <a:endParaRPr lang="en-US"/>
          </a:p>
        </p:txBody>
      </p:sp>
      <p:sp>
        <p:nvSpPr>
          <p:cNvPr id="38" name="card-473"/>
          <p:cNvSpPr/>
          <p:nvPr/>
        </p:nvSpPr>
        <p:spPr>
          <a:xfrm>
            <a:off x="7406640" y="3383280"/>
            <a:ext cx="457200" cy="347472"/>
          </a:xfrm>
          <a:prstGeom prst="roundRect">
            <a:avLst>
              <a:gd name="adj" fmla="val 26316"/>
            </a:avLst>
          </a:prstGeom>
          <a:solidFill>
            <a:schemeClr val="accent4"/>
          </a:solidFill>
          <a:ln w="9525">
            <a:solidFill>
              <a:schemeClr val="accent4"/>
            </a:solidFill>
            <a:prstDash val="solid"/>
          </a:ln>
        </p:spPr>
        <p:txBody>
          <a:bodyPr/>
          <a:lstStyle/>
          <a:p>
            <a:endParaRPr lang="en-US"/>
          </a:p>
        </p:txBody>
      </p:sp>
      <p:sp>
        <p:nvSpPr>
          <p:cNvPr id="39" name="arrow-474"/>
          <p:cNvSpPr/>
          <p:nvPr/>
        </p:nvSpPr>
        <p:spPr>
          <a:xfrm>
            <a:off x="8321040" y="2724912"/>
            <a:ext cx="914" cy="658368"/>
          </a:xfrm>
          <a:prstGeom prst="line">
            <a:avLst/>
          </a:prstGeom>
          <a:noFill/>
          <a:ln w="25400">
            <a:solidFill>
              <a:schemeClr val="accent5"/>
            </a:solidFill>
            <a:prstDash val="solid"/>
            <a:tailEnd type="triangle"/>
          </a:ln>
        </p:spPr>
        <p:txBody>
          <a:bodyPr/>
          <a:lstStyle/>
          <a:p>
            <a:endParaRPr lang="en-US"/>
          </a:p>
        </p:txBody>
      </p:sp>
      <p:sp>
        <p:nvSpPr>
          <p:cNvPr id="40" name="card-475"/>
          <p:cNvSpPr/>
          <p:nvPr/>
        </p:nvSpPr>
        <p:spPr>
          <a:xfrm>
            <a:off x="8092440" y="3383280"/>
            <a:ext cx="457200" cy="347472"/>
          </a:xfrm>
          <a:prstGeom prst="roundRect">
            <a:avLst>
              <a:gd name="adj" fmla="val 26316"/>
            </a:avLst>
          </a:prstGeom>
          <a:solidFill>
            <a:schemeClr val="accent4"/>
          </a:solidFill>
          <a:ln w="9525">
            <a:solidFill>
              <a:schemeClr val="accent4"/>
            </a:solidFill>
            <a:prstDash val="solid"/>
          </a:ln>
        </p:spPr>
        <p:txBody>
          <a:bodyPr/>
          <a:lstStyle/>
          <a:p>
            <a:endParaRPr lang="en-US"/>
          </a:p>
        </p:txBody>
      </p:sp>
      <p:sp>
        <p:nvSpPr>
          <p:cNvPr id="41" name="arrow-476"/>
          <p:cNvSpPr/>
          <p:nvPr/>
        </p:nvSpPr>
        <p:spPr>
          <a:xfrm>
            <a:off x="8321040" y="2724912"/>
            <a:ext cx="685800" cy="658368"/>
          </a:xfrm>
          <a:prstGeom prst="line">
            <a:avLst/>
          </a:prstGeom>
          <a:noFill/>
          <a:ln w="25400">
            <a:solidFill>
              <a:schemeClr val="accent5"/>
            </a:solidFill>
            <a:prstDash val="solid"/>
            <a:tailEnd type="triangle"/>
          </a:ln>
        </p:spPr>
        <p:txBody>
          <a:bodyPr/>
          <a:lstStyle/>
          <a:p>
            <a:endParaRPr lang="en-US"/>
          </a:p>
        </p:txBody>
      </p:sp>
      <p:sp>
        <p:nvSpPr>
          <p:cNvPr id="42" name="card-477"/>
          <p:cNvSpPr/>
          <p:nvPr/>
        </p:nvSpPr>
        <p:spPr>
          <a:xfrm>
            <a:off x="8778240" y="3383280"/>
            <a:ext cx="457200" cy="347472"/>
          </a:xfrm>
          <a:prstGeom prst="roundRect">
            <a:avLst>
              <a:gd name="adj" fmla="val 26316"/>
            </a:avLst>
          </a:prstGeom>
          <a:solidFill>
            <a:schemeClr val="accent4"/>
          </a:solidFill>
          <a:ln w="9525">
            <a:solidFill>
              <a:schemeClr val="accent4"/>
            </a:solidFill>
            <a:prstDash val="solid"/>
          </a:ln>
        </p:spPr>
        <p:txBody>
          <a:bodyPr/>
          <a:lstStyle/>
          <a:p>
            <a:endParaRPr lang="en-US"/>
          </a:p>
        </p:txBody>
      </p:sp>
      <p:sp>
        <p:nvSpPr>
          <p:cNvPr id="43" name="text-478"/>
          <p:cNvSpPr txBox="1"/>
          <p:nvPr/>
        </p:nvSpPr>
        <p:spPr>
          <a:xfrm>
            <a:off x="7406640" y="3794760"/>
            <a:ext cx="1828800" cy="274320"/>
          </a:xfrm>
          <a:prstGeom prst="rect">
            <a:avLst/>
          </a:prstGeom>
          <a:noFill/>
          <a:ln/>
        </p:spPr>
        <p:txBody>
          <a:bodyPr wrap="square" lIns="0" tIns="0" rIns="0" bIns="0" rtlCol="0" anchor="t"/>
          <a:lstStyle/>
          <a:p>
            <a:pPr marL="0" indent="0" algn="ctr">
              <a:buNone/>
            </a:pPr>
            <a:r>
              <a:rPr lang="en-US" sz="1100" i="1" dirty="0">
                <a:solidFill>
                  <a:schemeClr val="accent5"/>
                </a:solidFill>
              </a:rPr>
              <a:t>workers</a:t>
            </a:r>
            <a:endParaRPr lang="en-US" sz="1100" dirty="0"/>
          </a:p>
        </p:txBody>
      </p:sp>
      <p:sp>
        <p:nvSpPr>
          <p:cNvPr id="44" name="text-479"/>
          <p:cNvSpPr txBox="1"/>
          <p:nvPr/>
        </p:nvSpPr>
        <p:spPr>
          <a:xfrm>
            <a:off x="7406640" y="4343400"/>
            <a:ext cx="1828800" cy="822960"/>
          </a:xfrm>
          <a:prstGeom prst="rect">
            <a:avLst/>
          </a:prstGeom>
          <a:noFill/>
          <a:ln/>
        </p:spPr>
        <p:txBody>
          <a:bodyPr wrap="square" lIns="0" tIns="0" rIns="0" bIns="0" rtlCol="0" anchor="t"/>
          <a:lstStyle/>
          <a:p>
            <a:pPr marL="0" indent="0" algn="l">
              <a:buNone/>
            </a:pPr>
            <a:r>
              <a:rPr lang="en-US" sz="1300" dirty="0">
                <a:solidFill>
                  <a:schemeClr val="tx1"/>
                </a:solidFill>
              </a:rPr>
              <a:t>A lead LLM splits work on the fly</a:t>
            </a:r>
            <a:endParaRPr lang="en-US" sz="1300" dirty="0"/>
          </a:p>
        </p:txBody>
      </p:sp>
      <p:sp>
        <p:nvSpPr>
          <p:cNvPr id="45" name="text-480"/>
          <p:cNvSpPr txBox="1"/>
          <p:nvPr/>
        </p:nvSpPr>
        <p:spPr>
          <a:xfrm>
            <a:off x="7406640" y="5212080"/>
            <a:ext cx="1828800" cy="731520"/>
          </a:xfrm>
          <a:prstGeom prst="rect">
            <a:avLst/>
          </a:prstGeom>
          <a:noFill/>
          <a:ln/>
        </p:spPr>
        <p:txBody>
          <a:bodyPr wrap="square" lIns="0" tIns="0" rIns="0" bIns="0" rtlCol="0" anchor="t"/>
          <a:lstStyle/>
          <a:p>
            <a:pPr marL="0" indent="0" algn="l">
              <a:buNone/>
            </a:pPr>
            <a:r>
              <a:rPr lang="en-US" sz="1200" i="1" dirty="0">
                <a:solidFill>
                  <a:schemeClr val="accent5"/>
                </a:solidFill>
              </a:rPr>
              <a:t>e.g. Edit many files in a codebase</a:t>
            </a:r>
            <a:endParaRPr lang="en-US" sz="1200" dirty="0"/>
          </a:p>
        </p:txBody>
      </p:sp>
      <p:sp>
        <p:nvSpPr>
          <p:cNvPr id="46" name="card-481"/>
          <p:cNvSpPr/>
          <p:nvPr/>
        </p:nvSpPr>
        <p:spPr>
          <a:xfrm>
            <a:off x="9509760" y="1371600"/>
            <a:ext cx="2103120" cy="4709160"/>
          </a:xfrm>
          <a:prstGeom prst="roundRect">
            <a:avLst>
              <a:gd name="adj" fmla="val 4348"/>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7" name="text-482"/>
          <p:cNvSpPr txBox="1"/>
          <p:nvPr/>
        </p:nvSpPr>
        <p:spPr>
          <a:xfrm>
            <a:off x="9646920" y="1508760"/>
            <a:ext cx="1828800" cy="685800"/>
          </a:xfrm>
          <a:prstGeom prst="rect">
            <a:avLst/>
          </a:prstGeom>
          <a:noFill/>
          <a:ln/>
        </p:spPr>
        <p:txBody>
          <a:bodyPr wrap="square" lIns="0" tIns="0" rIns="0" bIns="0" rtlCol="0" anchor="ctr"/>
          <a:lstStyle/>
          <a:p>
            <a:pPr marL="0" indent="0" algn="l">
              <a:buNone/>
            </a:pPr>
            <a:r>
              <a:rPr lang="en-US" sz="1600" b="1" dirty="0">
                <a:solidFill>
                  <a:schemeClr val="tx2"/>
                </a:solidFill>
              </a:rPr>
              <a:t>Evaluator–optimizer</a:t>
            </a:r>
            <a:endParaRPr lang="en-US" sz="1600" dirty="0"/>
          </a:p>
        </p:txBody>
      </p:sp>
      <p:sp>
        <p:nvSpPr>
          <p:cNvPr id="48" name="card-483"/>
          <p:cNvSpPr/>
          <p:nvPr/>
        </p:nvSpPr>
        <p:spPr>
          <a:xfrm>
            <a:off x="9784080" y="2834640"/>
            <a:ext cx="640080" cy="347472"/>
          </a:xfrm>
          <a:prstGeom prst="roundRect">
            <a:avLst>
              <a:gd name="adj" fmla="val 26316"/>
            </a:avLst>
          </a:prstGeom>
          <a:solidFill>
            <a:schemeClr val="accent1"/>
          </a:solidFill>
          <a:ln w="9525">
            <a:solidFill>
              <a:schemeClr val="accent1"/>
            </a:solidFill>
            <a:prstDash val="solid"/>
          </a:ln>
        </p:spPr>
        <p:txBody>
          <a:bodyPr/>
          <a:lstStyle/>
          <a:p>
            <a:endParaRPr lang="en-US"/>
          </a:p>
        </p:txBody>
      </p:sp>
      <p:sp>
        <p:nvSpPr>
          <p:cNvPr id="49" name="card-484"/>
          <p:cNvSpPr/>
          <p:nvPr/>
        </p:nvSpPr>
        <p:spPr>
          <a:xfrm>
            <a:off x="10698480" y="2834640"/>
            <a:ext cx="640080" cy="347472"/>
          </a:xfrm>
          <a:prstGeom prst="roundRect">
            <a:avLst>
              <a:gd name="adj" fmla="val 26316"/>
            </a:avLst>
          </a:prstGeom>
          <a:solidFill>
            <a:schemeClr val="accent2"/>
          </a:solidFill>
          <a:ln w="9525">
            <a:solidFill>
              <a:schemeClr val="accent2"/>
            </a:solidFill>
            <a:prstDash val="solid"/>
          </a:ln>
        </p:spPr>
        <p:txBody>
          <a:bodyPr/>
          <a:lstStyle/>
          <a:p>
            <a:endParaRPr lang="en-US"/>
          </a:p>
        </p:txBody>
      </p:sp>
      <p:sp>
        <p:nvSpPr>
          <p:cNvPr id="50" name="arrow-485"/>
          <p:cNvSpPr/>
          <p:nvPr/>
        </p:nvSpPr>
        <p:spPr>
          <a:xfrm>
            <a:off x="10424160" y="2926080"/>
            <a:ext cx="274320" cy="914"/>
          </a:xfrm>
          <a:prstGeom prst="line">
            <a:avLst/>
          </a:prstGeom>
          <a:noFill/>
          <a:ln w="25400">
            <a:solidFill>
              <a:schemeClr val="accent5"/>
            </a:solidFill>
            <a:prstDash val="solid"/>
            <a:tailEnd type="triangle"/>
          </a:ln>
        </p:spPr>
        <p:txBody>
          <a:bodyPr/>
          <a:lstStyle/>
          <a:p>
            <a:endParaRPr lang="en-US"/>
          </a:p>
        </p:txBody>
      </p:sp>
      <p:sp>
        <p:nvSpPr>
          <p:cNvPr id="51" name="arrow-486"/>
          <p:cNvSpPr/>
          <p:nvPr/>
        </p:nvSpPr>
        <p:spPr>
          <a:xfrm flipH="1">
            <a:off x="10424160" y="3090672"/>
            <a:ext cx="274320" cy="914"/>
          </a:xfrm>
          <a:prstGeom prst="line">
            <a:avLst/>
          </a:prstGeom>
          <a:noFill/>
          <a:ln w="25400">
            <a:solidFill>
              <a:schemeClr val="accent5"/>
            </a:solidFill>
            <a:prstDash val="solid"/>
            <a:tailEnd type="triangle"/>
          </a:ln>
        </p:spPr>
        <p:txBody>
          <a:bodyPr/>
          <a:lstStyle/>
          <a:p>
            <a:endParaRPr lang="en-US"/>
          </a:p>
        </p:txBody>
      </p:sp>
      <p:sp>
        <p:nvSpPr>
          <p:cNvPr id="52" name="text-487"/>
          <p:cNvSpPr txBox="1"/>
          <p:nvPr/>
        </p:nvSpPr>
        <p:spPr>
          <a:xfrm>
            <a:off x="9738360" y="324612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draft</a:t>
            </a:r>
            <a:endParaRPr lang="en-US" sz="1100" dirty="0"/>
          </a:p>
        </p:txBody>
      </p:sp>
      <p:sp>
        <p:nvSpPr>
          <p:cNvPr id="53" name="text-488"/>
          <p:cNvSpPr txBox="1"/>
          <p:nvPr/>
        </p:nvSpPr>
        <p:spPr>
          <a:xfrm>
            <a:off x="10652760" y="324612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critic</a:t>
            </a:r>
            <a:endParaRPr lang="en-US" sz="1100" dirty="0"/>
          </a:p>
        </p:txBody>
      </p:sp>
      <p:sp>
        <p:nvSpPr>
          <p:cNvPr id="54" name="text-489"/>
          <p:cNvSpPr txBox="1"/>
          <p:nvPr/>
        </p:nvSpPr>
        <p:spPr>
          <a:xfrm>
            <a:off x="9646920" y="4343400"/>
            <a:ext cx="1828800" cy="822960"/>
          </a:xfrm>
          <a:prstGeom prst="rect">
            <a:avLst/>
          </a:prstGeom>
          <a:noFill/>
          <a:ln/>
        </p:spPr>
        <p:txBody>
          <a:bodyPr wrap="square" lIns="0" tIns="0" rIns="0" bIns="0" rtlCol="0" anchor="t"/>
          <a:lstStyle/>
          <a:p>
            <a:pPr marL="0" indent="0" algn="l">
              <a:buNone/>
            </a:pPr>
            <a:r>
              <a:rPr lang="en-US" sz="1300" dirty="0">
                <a:solidFill>
                  <a:schemeClr val="tx1"/>
                </a:solidFill>
              </a:rPr>
              <a:t>One drafts, one critiques, repeat</a:t>
            </a:r>
            <a:endParaRPr lang="en-US" sz="1300" dirty="0"/>
          </a:p>
        </p:txBody>
      </p:sp>
      <p:sp>
        <p:nvSpPr>
          <p:cNvPr id="55" name="text-490"/>
          <p:cNvSpPr txBox="1"/>
          <p:nvPr/>
        </p:nvSpPr>
        <p:spPr>
          <a:xfrm>
            <a:off x="9646920" y="5212080"/>
            <a:ext cx="1828800" cy="731520"/>
          </a:xfrm>
          <a:prstGeom prst="rect">
            <a:avLst/>
          </a:prstGeom>
          <a:noFill/>
          <a:ln/>
        </p:spPr>
        <p:txBody>
          <a:bodyPr wrap="square" lIns="0" tIns="0" rIns="0" bIns="0" rtlCol="0" anchor="t"/>
          <a:lstStyle/>
          <a:p>
            <a:pPr marL="0" indent="0" algn="l">
              <a:buNone/>
            </a:pPr>
            <a:r>
              <a:rPr lang="en-US" sz="1200" i="1" dirty="0">
                <a:solidFill>
                  <a:schemeClr val="accent5"/>
                </a:solidFill>
              </a:rPr>
              <a:t>e.g. Polish a translation</a:t>
            </a:r>
            <a:endParaRPr lang="en-US" sz="1200" dirty="0"/>
          </a:p>
        </p:txBody>
      </p:sp>
      <p:sp>
        <p:nvSpPr>
          <p:cNvPr id="5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Start simple: climb the ladder only when it pays</a:t>
            </a:r>
            <a:endParaRPr lang="en-US" sz="3400" dirty="0"/>
          </a:p>
        </p:txBody>
      </p:sp>
      <p:sp>
        <p:nvSpPr>
          <p:cNvPr id="3" name="card-491"/>
          <p:cNvSpPr/>
          <p:nvPr/>
        </p:nvSpPr>
        <p:spPr>
          <a:xfrm>
            <a:off x="548640" y="5029200"/>
            <a:ext cx="1508760" cy="822960"/>
          </a:xfrm>
          <a:prstGeom prst="roundRect">
            <a:avLst>
              <a:gd name="adj" fmla="val 11111"/>
            </a:avLst>
          </a:prstGeom>
          <a:solidFill>
            <a:schemeClr val="bg2"/>
          </a:solidFill>
          <a:ln w="9525">
            <a:solidFill>
              <a:schemeClr val="bg2"/>
            </a:solidFill>
            <a:prstDash val="solid"/>
          </a:ln>
        </p:spPr>
        <p:txBody>
          <a:bodyPr/>
          <a:lstStyle/>
          <a:p>
            <a:endParaRPr lang="en-US"/>
          </a:p>
        </p:txBody>
      </p:sp>
      <p:sp>
        <p:nvSpPr>
          <p:cNvPr id="4" name="text-492"/>
          <p:cNvSpPr txBox="1"/>
          <p:nvPr/>
        </p:nvSpPr>
        <p:spPr>
          <a:xfrm>
            <a:off x="640080" y="5138928"/>
            <a:ext cx="1325880" cy="731520"/>
          </a:xfrm>
          <a:prstGeom prst="rect">
            <a:avLst/>
          </a:prstGeom>
          <a:noFill/>
          <a:ln/>
        </p:spPr>
        <p:txBody>
          <a:bodyPr wrap="square" lIns="0" tIns="0" rIns="0" bIns="0" rtlCol="0" anchor="t"/>
          <a:lstStyle/>
          <a:p>
            <a:pPr marL="0" indent="0" algn="ctr">
              <a:buNone/>
            </a:pPr>
            <a:r>
              <a:rPr lang="en-US" sz="1400" b="1" dirty="0">
                <a:solidFill>
                  <a:schemeClr val="tx2"/>
                </a:solidFill>
              </a:rPr>
              <a:t>Single prompt</a:t>
            </a:r>
            <a:endParaRPr lang="en-US" sz="1400" dirty="0"/>
          </a:p>
        </p:txBody>
      </p:sp>
      <p:sp>
        <p:nvSpPr>
          <p:cNvPr id="5" name="card-493"/>
          <p:cNvSpPr/>
          <p:nvPr/>
        </p:nvSpPr>
        <p:spPr>
          <a:xfrm>
            <a:off x="2148840" y="4251960"/>
            <a:ext cx="1508760" cy="1600200"/>
          </a:xfrm>
          <a:prstGeom prst="roundRect">
            <a:avLst>
              <a:gd name="adj" fmla="val 6061"/>
            </a:avLst>
          </a:prstGeom>
          <a:solidFill>
            <a:schemeClr val="accent4"/>
          </a:solidFill>
          <a:ln w="9525">
            <a:solidFill>
              <a:schemeClr val="accent4"/>
            </a:solidFill>
            <a:prstDash val="solid"/>
          </a:ln>
        </p:spPr>
        <p:txBody>
          <a:bodyPr/>
          <a:lstStyle/>
          <a:p>
            <a:endParaRPr lang="en-US"/>
          </a:p>
        </p:txBody>
      </p:sp>
      <p:sp>
        <p:nvSpPr>
          <p:cNvPr id="6" name="text-494"/>
          <p:cNvSpPr txBox="1"/>
          <p:nvPr/>
        </p:nvSpPr>
        <p:spPr>
          <a:xfrm>
            <a:off x="2240280" y="4361688"/>
            <a:ext cx="1325880" cy="731520"/>
          </a:xfrm>
          <a:prstGeom prst="rect">
            <a:avLst/>
          </a:prstGeom>
          <a:noFill/>
          <a:ln/>
        </p:spPr>
        <p:txBody>
          <a:bodyPr wrap="square" lIns="0" tIns="0" rIns="0" bIns="0" rtlCol="0" anchor="t"/>
          <a:lstStyle/>
          <a:p>
            <a:pPr marL="0" indent="0" algn="ctr">
              <a:buNone/>
            </a:pPr>
            <a:r>
              <a:rPr lang="en-US" sz="1400" b="1" dirty="0">
                <a:solidFill>
                  <a:schemeClr val="tx2"/>
                </a:solidFill>
              </a:rPr>
              <a:t>+ retrieval &amp; tools</a:t>
            </a:r>
            <a:endParaRPr lang="en-US" sz="1400" dirty="0"/>
          </a:p>
        </p:txBody>
      </p:sp>
      <p:sp>
        <p:nvSpPr>
          <p:cNvPr id="7" name="card-495"/>
          <p:cNvSpPr/>
          <p:nvPr/>
        </p:nvSpPr>
        <p:spPr>
          <a:xfrm>
            <a:off x="3749040" y="3474720"/>
            <a:ext cx="1508760" cy="2377440"/>
          </a:xfrm>
          <a:prstGeom prst="roundRect">
            <a:avLst>
              <a:gd name="adj" fmla="val 6061"/>
            </a:avLst>
          </a:prstGeom>
          <a:solidFill>
            <a:schemeClr val="accent2"/>
          </a:solidFill>
          <a:ln w="9525">
            <a:solidFill>
              <a:schemeClr val="accent2"/>
            </a:solidFill>
            <a:prstDash val="solid"/>
          </a:ln>
        </p:spPr>
        <p:txBody>
          <a:bodyPr/>
          <a:lstStyle/>
          <a:p>
            <a:endParaRPr lang="en-US"/>
          </a:p>
        </p:txBody>
      </p:sp>
      <p:sp>
        <p:nvSpPr>
          <p:cNvPr id="8" name="text-496"/>
          <p:cNvSpPr txBox="1"/>
          <p:nvPr/>
        </p:nvSpPr>
        <p:spPr>
          <a:xfrm>
            <a:off x="3840480" y="3584448"/>
            <a:ext cx="1325880" cy="731520"/>
          </a:xfrm>
          <a:prstGeom prst="rect">
            <a:avLst/>
          </a:prstGeom>
          <a:noFill/>
          <a:ln/>
        </p:spPr>
        <p:txBody>
          <a:bodyPr wrap="square" lIns="0" tIns="0" rIns="0" bIns="0" rtlCol="0" anchor="t"/>
          <a:lstStyle/>
          <a:p>
            <a:pPr marL="0" indent="0" algn="ctr">
              <a:buNone/>
            </a:pPr>
            <a:r>
              <a:rPr lang="en-US" sz="1400" b="1" dirty="0">
                <a:solidFill>
                  <a:schemeClr val="bg1"/>
                </a:solidFill>
              </a:rPr>
              <a:t>Workflow (fixed steps)</a:t>
            </a:r>
            <a:endParaRPr lang="en-US" sz="1400" dirty="0"/>
          </a:p>
        </p:txBody>
      </p:sp>
      <p:sp>
        <p:nvSpPr>
          <p:cNvPr id="9" name="card-497"/>
          <p:cNvSpPr/>
          <p:nvPr/>
        </p:nvSpPr>
        <p:spPr>
          <a:xfrm>
            <a:off x="5349240" y="2697480"/>
            <a:ext cx="1508760" cy="3154680"/>
          </a:xfrm>
          <a:prstGeom prst="roundRect">
            <a:avLst>
              <a:gd name="adj" fmla="val 6061"/>
            </a:avLst>
          </a:prstGeom>
          <a:solidFill>
            <a:schemeClr val="accent1"/>
          </a:solidFill>
          <a:ln w="9525">
            <a:solidFill>
              <a:schemeClr val="accent1"/>
            </a:solidFill>
            <a:prstDash val="solid"/>
          </a:ln>
        </p:spPr>
        <p:txBody>
          <a:bodyPr/>
          <a:lstStyle/>
          <a:p>
            <a:endParaRPr lang="en-US"/>
          </a:p>
        </p:txBody>
      </p:sp>
      <p:sp>
        <p:nvSpPr>
          <p:cNvPr id="10" name="text-498"/>
          <p:cNvSpPr txBox="1"/>
          <p:nvPr/>
        </p:nvSpPr>
        <p:spPr>
          <a:xfrm>
            <a:off x="5440680" y="2807208"/>
            <a:ext cx="1325880" cy="731520"/>
          </a:xfrm>
          <a:prstGeom prst="rect">
            <a:avLst/>
          </a:prstGeom>
          <a:noFill/>
          <a:ln/>
        </p:spPr>
        <p:txBody>
          <a:bodyPr wrap="square" lIns="0" tIns="0" rIns="0" bIns="0" rtlCol="0" anchor="t"/>
          <a:lstStyle/>
          <a:p>
            <a:pPr marL="0" indent="0" algn="ctr">
              <a:buNone/>
            </a:pPr>
            <a:r>
              <a:rPr lang="en-US" sz="1400" b="1" dirty="0">
                <a:solidFill>
                  <a:schemeClr val="tx2"/>
                </a:solidFill>
              </a:rPr>
              <a:t>Autonomous agent</a:t>
            </a:r>
            <a:endParaRPr lang="en-US" sz="1400" dirty="0"/>
          </a:p>
        </p:txBody>
      </p:sp>
      <p:sp>
        <p:nvSpPr>
          <p:cNvPr id="11" name="card-499"/>
          <p:cNvSpPr/>
          <p:nvPr/>
        </p:nvSpPr>
        <p:spPr>
          <a:xfrm>
            <a:off x="6949440" y="1920240"/>
            <a:ext cx="1508760" cy="3931920"/>
          </a:xfrm>
          <a:prstGeom prst="roundRect">
            <a:avLst>
              <a:gd name="adj" fmla="val 6061"/>
            </a:avLst>
          </a:prstGeom>
          <a:solidFill>
            <a:schemeClr val="accent3"/>
          </a:solidFill>
          <a:ln w="9525">
            <a:solidFill>
              <a:schemeClr val="accent3"/>
            </a:solidFill>
            <a:prstDash val="solid"/>
          </a:ln>
        </p:spPr>
        <p:txBody>
          <a:bodyPr/>
          <a:lstStyle/>
          <a:p>
            <a:endParaRPr lang="en-US"/>
          </a:p>
        </p:txBody>
      </p:sp>
      <p:sp>
        <p:nvSpPr>
          <p:cNvPr id="12" name="text-500"/>
          <p:cNvSpPr txBox="1"/>
          <p:nvPr/>
        </p:nvSpPr>
        <p:spPr>
          <a:xfrm>
            <a:off x="7040880" y="2029968"/>
            <a:ext cx="1325880" cy="731520"/>
          </a:xfrm>
          <a:prstGeom prst="rect">
            <a:avLst/>
          </a:prstGeom>
          <a:noFill/>
          <a:ln/>
        </p:spPr>
        <p:txBody>
          <a:bodyPr wrap="square" lIns="0" tIns="0" rIns="0" bIns="0" rtlCol="0" anchor="t"/>
          <a:lstStyle/>
          <a:p>
            <a:pPr marL="0" indent="0" algn="ctr">
              <a:buNone/>
            </a:pPr>
            <a:r>
              <a:rPr lang="en-US" sz="1400" b="1" dirty="0">
                <a:solidFill>
                  <a:schemeClr val="bg1"/>
                </a:solidFill>
              </a:rPr>
              <a:t>Multi-agent system</a:t>
            </a:r>
            <a:endParaRPr lang="en-US" sz="1400" dirty="0"/>
          </a:p>
        </p:txBody>
      </p:sp>
      <p:sp>
        <p:nvSpPr>
          <p:cNvPr id="13" name="text-501"/>
          <p:cNvSpPr txBox="1"/>
          <p:nvPr/>
        </p:nvSpPr>
        <p:spPr>
          <a:xfrm>
            <a:off x="548640" y="5943600"/>
            <a:ext cx="7955280" cy="320040"/>
          </a:xfrm>
          <a:prstGeom prst="rect">
            <a:avLst/>
          </a:prstGeom>
          <a:noFill/>
          <a:ln/>
        </p:spPr>
        <p:txBody>
          <a:bodyPr wrap="square" lIns="0" tIns="0" rIns="0" bIns="0" rtlCol="0" anchor="t"/>
          <a:lstStyle/>
          <a:p>
            <a:pPr marL="0" indent="0" algn="l">
              <a:buNone/>
            </a:pPr>
            <a:r>
              <a:rPr lang="en-US" sz="1200" i="1" dirty="0">
                <a:solidFill>
                  <a:schemeClr val="accent5"/>
                </a:solidFill>
              </a:rPr>
              <a:t>more capability, but also more cost, latency and ways to fail  →</a:t>
            </a:r>
            <a:endParaRPr lang="en-US" sz="1200" dirty="0"/>
          </a:p>
        </p:txBody>
      </p:sp>
      <p:sp>
        <p:nvSpPr>
          <p:cNvPr id="14" name="card-502"/>
          <p:cNvSpPr/>
          <p:nvPr/>
        </p:nvSpPr>
        <p:spPr>
          <a:xfrm>
            <a:off x="8778240" y="1371600"/>
            <a:ext cx="2834640" cy="4480560"/>
          </a:xfrm>
          <a:prstGeom prst="roundRect">
            <a:avLst>
              <a:gd name="adj" fmla="val 3226"/>
            </a:avLst>
          </a:prstGeom>
          <a:solidFill>
            <a:schemeClr val="tx2"/>
          </a:solidFill>
          <a:ln w="9525">
            <a:solidFill>
              <a:schemeClr val="tx2"/>
            </a:solidFill>
            <a:prstDash val="solid"/>
          </a:ln>
          <a:effectLst>
            <a:outerShdw blurRad="101600" dist="25400" dir="5400000" algn="bl" rotWithShape="0">
              <a:srgbClr val="000000">
                <a:alpha val="12000"/>
              </a:srgbClr>
            </a:outerShdw>
          </a:effectLst>
        </p:spPr>
        <p:txBody>
          <a:bodyPr/>
          <a:lstStyle/>
          <a:p>
            <a:endParaRPr lang="en-US"/>
          </a:p>
        </p:txBody>
      </p:sp>
      <p:sp>
        <p:nvSpPr>
          <p:cNvPr id="15" name="text-503"/>
          <p:cNvSpPr txBox="1"/>
          <p:nvPr/>
        </p:nvSpPr>
        <p:spPr>
          <a:xfrm>
            <a:off x="9006840" y="1554480"/>
            <a:ext cx="2377440" cy="411480"/>
          </a:xfrm>
          <a:prstGeom prst="rect">
            <a:avLst/>
          </a:prstGeom>
          <a:noFill/>
          <a:ln/>
        </p:spPr>
        <p:txBody>
          <a:bodyPr wrap="square" lIns="0" tIns="0" rIns="0" bIns="0" rtlCol="0" anchor="t"/>
          <a:lstStyle/>
          <a:p>
            <a:pPr marL="0" indent="0" algn="l">
              <a:buNone/>
            </a:pPr>
            <a:r>
              <a:rPr lang="en-US" sz="1800" b="1" dirty="0">
                <a:solidFill>
                  <a:schemeClr val="accent4"/>
                </a:solidFill>
              </a:rPr>
              <a:t>Rules of thumb</a:t>
            </a:r>
            <a:endParaRPr lang="en-US" sz="1800" dirty="0"/>
          </a:p>
        </p:txBody>
      </p:sp>
      <p:sp>
        <p:nvSpPr>
          <p:cNvPr id="16" name="text-504"/>
          <p:cNvSpPr txBox="1"/>
          <p:nvPr/>
        </p:nvSpPr>
        <p:spPr>
          <a:xfrm>
            <a:off x="9006840" y="2057400"/>
            <a:ext cx="2423160" cy="3749040"/>
          </a:xfrm>
          <a:prstGeom prst="rect">
            <a:avLst/>
          </a:prstGeom>
          <a:noFill/>
          <a:ln/>
        </p:spPr>
        <p:txBody>
          <a:bodyPr wrap="square" lIns="0" tIns="0" rIns="0" bIns="0" rtlCol="0" anchor="t"/>
          <a:lstStyle/>
          <a:p>
            <a:pPr marL="203200" indent="-203200" algn="l">
              <a:spcAft>
                <a:spcPts val="600"/>
              </a:spcAft>
              <a:buSzPct val="100000"/>
              <a:buChar char="•"/>
            </a:pPr>
            <a:r>
              <a:rPr lang="en-US" sz="1300" dirty="0">
                <a:solidFill>
                  <a:schemeClr val="bg1"/>
                </a:solidFill>
              </a:rPr>
              <a:t>Try the simplest version first and measure it</a:t>
            </a:r>
            <a:endParaRPr lang="en-US" sz="1300" dirty="0"/>
          </a:p>
          <a:p>
            <a:pPr marL="203200" indent="-203200" algn="l">
              <a:spcAft>
                <a:spcPts val="600"/>
              </a:spcAft>
              <a:buSzPct val="100000"/>
              <a:buChar char="•"/>
            </a:pPr>
            <a:r>
              <a:rPr lang="en-US" sz="1300" dirty="0">
                <a:solidFill>
                  <a:schemeClr val="bg1"/>
                </a:solidFill>
              </a:rPr>
              <a:t>Use a workflow when steps are known in advance</a:t>
            </a:r>
            <a:endParaRPr lang="en-US" sz="1300" dirty="0"/>
          </a:p>
          <a:p>
            <a:pPr marL="203200" indent="-203200" algn="l">
              <a:spcAft>
                <a:spcPts val="600"/>
              </a:spcAft>
              <a:buSzPct val="100000"/>
              <a:buChar char="•"/>
            </a:pPr>
            <a:r>
              <a:rPr lang="en-US" sz="1300" dirty="0">
                <a:solidFill>
                  <a:schemeClr val="bg1"/>
                </a:solidFill>
              </a:rPr>
              <a:t>Use an agent when the path can't be predicted</a:t>
            </a:r>
            <a:endParaRPr lang="en-US" sz="1300" dirty="0"/>
          </a:p>
          <a:p>
            <a:pPr marL="203200" indent="-203200" algn="l">
              <a:spcAft>
                <a:spcPts val="600"/>
              </a:spcAft>
              <a:buSzPct val="100000"/>
              <a:buChar char="•"/>
            </a:pPr>
            <a:r>
              <a:rPr lang="en-US" sz="1300" dirty="0">
                <a:solidFill>
                  <a:schemeClr val="bg1"/>
                </a:solidFill>
              </a:rPr>
              <a:t>Give tools clear names, descriptions and examples</a:t>
            </a:r>
            <a:endParaRPr lang="en-US" sz="1300" dirty="0"/>
          </a:p>
          <a:p>
            <a:pPr marL="203200" indent="-203200" algn="l">
              <a:spcAft>
                <a:spcPts val="600"/>
              </a:spcAft>
              <a:buSzPct val="100000"/>
              <a:buChar char="•"/>
            </a:pPr>
            <a:r>
              <a:rPr lang="en-US" sz="1300" dirty="0">
                <a:solidFill>
                  <a:schemeClr val="bg1"/>
                </a:solidFill>
              </a:rPr>
              <a:t>Add a human checkpoint before irreversible actions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7315200" cy="457200"/>
          </a:xfrm>
          <a:prstGeom prst="rect">
            <a:avLst/>
          </a:prstGeom>
          <a:noFill/>
          <a:ln/>
        </p:spPr>
        <p:txBody>
          <a:bodyPr wrap="square" lIns="0" tIns="0" rIns="0" bIns="0" rtlCol="0"/>
          <a:lstStyle/>
          <a:p>
            <a:pPr marL="0" indent="0">
              <a:buNone/>
            </a:pPr>
            <a:r>
              <a:rPr lang="en-US" sz="1600" b="1" kern="0" spc="400" dirty="0">
                <a:solidFill>
                  <a:schemeClr val="accent1"/>
                </a:solidFill>
                <a:latin typeface="Calibri" pitchFamily="34" charset="0"/>
                <a:ea typeface="Calibri" pitchFamily="34" charset="-122"/>
                <a:cs typeface="Calibri" pitchFamily="34" charset="-120"/>
              </a:rPr>
              <a:t>PART 3</a:t>
            </a:r>
            <a:endParaRPr lang="en-US" sz="1600" dirty="0"/>
          </a:p>
        </p:txBody>
      </p:sp>
      <p:sp>
        <p:nvSpPr>
          <p:cNvPr id="3" name="Text 0"/>
          <p:cNvSpPr>
            <a:spLocks noGrp="1"/>
          </p:cNvSpPr>
          <p:nvPr>
            <p:ph type="title" idx="101" hasCustomPrompt="1"/>
          </p:nvPr>
        </p:nvSpPr>
        <p:spPr>
          <a:xfrm>
            <a:off x="731520" y="2331720"/>
            <a:ext cx="7498080" cy="128016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Multi-agent systems</a:t>
            </a:r>
            <a:endParaRPr lang="en-US" sz="4400" dirty="0"/>
          </a:p>
        </p:txBody>
      </p:sp>
      <p:sp>
        <p:nvSpPr>
          <p:cNvPr id="4" name="Text 0"/>
          <p:cNvSpPr>
            <a:spLocks noGrp="1"/>
          </p:cNvSpPr>
          <p:nvPr>
            <p:ph type="body" idx="102" hasCustomPrompt="1"/>
          </p:nvPr>
        </p:nvSpPr>
        <p:spPr>
          <a:xfrm>
            <a:off x="731520" y="3703320"/>
            <a:ext cx="6949440" cy="1280160"/>
          </a:xfrm>
          <a:prstGeom prst="rect">
            <a:avLst/>
          </a:prstGeom>
          <a:noFill/>
          <a:ln/>
        </p:spPr>
        <p:txBody>
          <a:bodyPr wrap="square" lIns="0" tIns="0" rIns="0" bIns="0" rtlCol="0" anchor="t"/>
          <a:lstStyle/>
          <a:p>
            <a:pPr marL="0" indent="0" algn="l">
              <a:buNone/>
            </a:pPr>
            <a:r>
              <a:rPr lang="en-US" sz="1800" dirty="0">
                <a:solidFill>
                  <a:schemeClr val="bg2"/>
                </a:solidFill>
                <a:latin typeface="Calibri" pitchFamily="34" charset="0"/>
                <a:ea typeface="Calibri" pitchFamily="34" charset="-122"/>
                <a:cs typeface="Calibri" pitchFamily="34" charset="-120"/>
              </a:rPr>
              <a:t>Splitting a big job across several agents — each with its own role, tools and context window.</a:t>
            </a:r>
            <a:endParaRPr lang="en-US" sz="1800" dirty="0"/>
          </a:p>
        </p:txBody>
      </p:sp>
      <p:sp>
        <p:nvSpPr>
          <p:cNvPr id="5" name="card-505"/>
          <p:cNvSpPr/>
          <p:nvPr/>
        </p:nvSpPr>
        <p:spPr>
          <a:xfrm>
            <a:off x="8595360" y="1554480"/>
            <a:ext cx="676656" cy="502920"/>
          </a:xfrm>
          <a:prstGeom prst="roundRect">
            <a:avLst>
              <a:gd name="adj" fmla="val 18182"/>
            </a:avLst>
          </a:prstGeom>
          <a:solidFill>
            <a:schemeClr val="accent1"/>
          </a:solidFill>
          <a:ln w="9525">
            <a:solidFill>
              <a:schemeClr val="accent1"/>
            </a:solidFill>
            <a:prstDash val="solid"/>
          </a:ln>
        </p:spPr>
        <p:txBody>
          <a:bodyPr/>
          <a:lstStyle/>
          <a:p>
            <a:endParaRPr lang="en-US"/>
          </a:p>
        </p:txBody>
      </p:sp>
      <p:sp>
        <p:nvSpPr>
          <p:cNvPr id="6" name="text-506"/>
          <p:cNvSpPr txBox="1"/>
          <p:nvPr/>
        </p:nvSpPr>
        <p:spPr>
          <a:xfrm>
            <a:off x="8595360" y="1554480"/>
            <a:ext cx="676656" cy="502920"/>
          </a:xfrm>
          <a:prstGeom prst="rect">
            <a:avLst/>
          </a:prstGeom>
          <a:noFill/>
          <a:ln/>
        </p:spPr>
        <p:txBody>
          <a:bodyPr wrap="square" lIns="0" tIns="0" rIns="0" bIns="0" rtlCol="0" anchor="ctr"/>
          <a:lstStyle/>
          <a:p>
            <a:pPr marL="0" indent="0" algn="ctr">
              <a:buNone/>
            </a:pPr>
            <a:r>
              <a:rPr lang="en-US" sz="1400" b="1" dirty="0">
                <a:solidFill>
                  <a:schemeClr val="tx2"/>
                </a:solidFill>
              </a:rPr>
              <a:t>Lead</a:t>
            </a:r>
            <a:endParaRPr lang="en-US" sz="1400" dirty="0"/>
          </a:p>
        </p:txBody>
      </p:sp>
      <p:sp>
        <p:nvSpPr>
          <p:cNvPr id="7" name="card-507"/>
          <p:cNvSpPr/>
          <p:nvPr/>
        </p:nvSpPr>
        <p:spPr>
          <a:xfrm>
            <a:off x="8915400" y="2240280"/>
            <a:ext cx="1033272"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8" name="text-508"/>
          <p:cNvSpPr txBox="1"/>
          <p:nvPr/>
        </p:nvSpPr>
        <p:spPr>
          <a:xfrm>
            <a:off x="8915400" y="2240280"/>
            <a:ext cx="1033272" cy="502920"/>
          </a:xfrm>
          <a:prstGeom prst="rect">
            <a:avLst/>
          </a:prstGeom>
          <a:noFill/>
          <a:ln/>
        </p:spPr>
        <p:txBody>
          <a:bodyPr wrap="square" lIns="0" tIns="0" rIns="0" bIns="0" rtlCol="0" anchor="ctr"/>
          <a:lstStyle/>
          <a:p>
            <a:pPr marL="0" indent="0" algn="ctr">
              <a:buNone/>
            </a:pPr>
            <a:r>
              <a:rPr lang="en-US" sz="1400" b="1" dirty="0">
                <a:solidFill>
                  <a:schemeClr val="tx2"/>
                </a:solidFill>
              </a:rPr>
              <a:t>Agent A</a:t>
            </a:r>
            <a:endParaRPr lang="en-US" sz="1400" dirty="0"/>
          </a:p>
        </p:txBody>
      </p:sp>
      <p:sp>
        <p:nvSpPr>
          <p:cNvPr id="9" name="card-509"/>
          <p:cNvSpPr/>
          <p:nvPr/>
        </p:nvSpPr>
        <p:spPr>
          <a:xfrm>
            <a:off x="10058400" y="2240280"/>
            <a:ext cx="1033272"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0" name="text-510"/>
          <p:cNvSpPr txBox="1"/>
          <p:nvPr/>
        </p:nvSpPr>
        <p:spPr>
          <a:xfrm>
            <a:off x="10058400" y="2240280"/>
            <a:ext cx="1033272" cy="502920"/>
          </a:xfrm>
          <a:prstGeom prst="rect">
            <a:avLst/>
          </a:prstGeom>
          <a:noFill/>
          <a:ln/>
        </p:spPr>
        <p:txBody>
          <a:bodyPr wrap="square" lIns="0" tIns="0" rIns="0" bIns="0" rtlCol="0" anchor="ctr"/>
          <a:lstStyle/>
          <a:p>
            <a:pPr marL="0" indent="0" algn="ctr">
              <a:buNone/>
            </a:pPr>
            <a:r>
              <a:rPr lang="en-US" sz="1400" b="1" dirty="0">
                <a:solidFill>
                  <a:schemeClr val="tx2"/>
                </a:solidFill>
              </a:rPr>
              <a:t>Agent B</a:t>
            </a:r>
            <a:endParaRPr lang="en-US" sz="1400" dirty="0"/>
          </a:p>
        </p:txBody>
      </p:sp>
      <p:sp>
        <p:nvSpPr>
          <p:cNvPr id="11" name="card-511"/>
          <p:cNvSpPr/>
          <p:nvPr/>
        </p:nvSpPr>
        <p:spPr>
          <a:xfrm>
            <a:off x="8595360" y="2926080"/>
            <a:ext cx="1033272"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2" name="text-512"/>
          <p:cNvSpPr txBox="1"/>
          <p:nvPr/>
        </p:nvSpPr>
        <p:spPr>
          <a:xfrm>
            <a:off x="8595360" y="2926080"/>
            <a:ext cx="1033272" cy="502920"/>
          </a:xfrm>
          <a:prstGeom prst="rect">
            <a:avLst/>
          </a:prstGeom>
          <a:noFill/>
          <a:ln/>
        </p:spPr>
        <p:txBody>
          <a:bodyPr wrap="square" lIns="0" tIns="0" rIns="0" bIns="0" rtlCol="0" anchor="ctr"/>
          <a:lstStyle/>
          <a:p>
            <a:pPr marL="0" indent="0" algn="ctr">
              <a:buNone/>
            </a:pPr>
            <a:r>
              <a:rPr lang="en-US" sz="1400" b="1" dirty="0">
                <a:solidFill>
                  <a:schemeClr val="tx2"/>
                </a:solidFill>
              </a:rPr>
              <a:t>Agent C</a:t>
            </a:r>
            <a:endParaRPr lang="en-US" sz="1400" dirty="0"/>
          </a:p>
        </p:txBody>
      </p:sp>
      <p:sp>
        <p:nvSpPr>
          <p:cNvPr id="13" name="card-513"/>
          <p:cNvSpPr/>
          <p:nvPr/>
        </p:nvSpPr>
        <p:spPr>
          <a:xfrm>
            <a:off x="9738360" y="2926080"/>
            <a:ext cx="914400" cy="502920"/>
          </a:xfrm>
          <a:prstGeom prst="roundRect">
            <a:avLst>
              <a:gd name="adj" fmla="val 18182"/>
            </a:avLst>
          </a:prstGeom>
          <a:solidFill>
            <a:schemeClr val="accent4"/>
          </a:solidFill>
          <a:ln w="9525">
            <a:solidFill>
              <a:schemeClr val="accent4"/>
            </a:solidFill>
            <a:prstDash val="solid"/>
          </a:ln>
        </p:spPr>
        <p:txBody>
          <a:bodyPr/>
          <a:lstStyle/>
          <a:p>
            <a:endParaRPr lang="en-US"/>
          </a:p>
        </p:txBody>
      </p:sp>
      <p:sp>
        <p:nvSpPr>
          <p:cNvPr id="14" name="text-514"/>
          <p:cNvSpPr txBox="1"/>
          <p:nvPr/>
        </p:nvSpPr>
        <p:spPr>
          <a:xfrm>
            <a:off x="9738360" y="2926080"/>
            <a:ext cx="914400" cy="502920"/>
          </a:xfrm>
          <a:prstGeom prst="rect">
            <a:avLst/>
          </a:prstGeom>
          <a:noFill/>
          <a:ln/>
        </p:spPr>
        <p:txBody>
          <a:bodyPr wrap="square" lIns="0" tIns="0" rIns="0" bIns="0" rtlCol="0" anchor="ctr"/>
          <a:lstStyle/>
          <a:p>
            <a:pPr marL="0" indent="0" algn="ctr">
              <a:buNone/>
            </a:pPr>
            <a:r>
              <a:rPr lang="en-US" sz="1400" b="1" dirty="0">
                <a:solidFill>
                  <a:schemeClr val="tx2"/>
                </a:solidFill>
              </a:rPr>
              <a:t>Review</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Why use several agents instead of one?</a:t>
            </a:r>
            <a:endParaRPr lang="en-US" sz="3400" dirty="0"/>
          </a:p>
        </p:txBody>
      </p:sp>
      <p:sp>
        <p:nvSpPr>
          <p:cNvPr id="3" name="card-515"/>
          <p:cNvSpPr/>
          <p:nvPr/>
        </p:nvSpPr>
        <p:spPr>
          <a:xfrm>
            <a:off x="548640" y="1371600"/>
            <a:ext cx="5394960" cy="1417320"/>
          </a:xfrm>
          <a:prstGeom prst="roundRect">
            <a:avLst>
              <a:gd name="adj" fmla="val 645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icon-bg-516"/>
          <p:cNvSpPr/>
          <p:nvPr/>
        </p:nvSpPr>
        <p:spPr>
          <a:xfrm>
            <a:off x="777240" y="1719072"/>
            <a:ext cx="731520" cy="731520"/>
          </a:xfrm>
          <a:prstGeom prst="ellipse">
            <a:avLst/>
          </a:prstGeom>
          <a:solidFill>
            <a:srgbClr val="D97757"/>
          </a:solidFill>
          <a:ln w="12700">
            <a:solidFill>
              <a:srgbClr val="D97757"/>
            </a:solidFill>
            <a:prstDash val="solid"/>
          </a:ln>
        </p:spPr>
        <p:txBody>
          <a:bodyPr/>
          <a:lstStyle/>
          <a:p>
            <a:endParaRPr lang="en-US"/>
          </a:p>
        </p:txBody>
      </p:sp>
      <p:pic>
        <p:nvPicPr>
          <p:cNvPr id="5" name="icon-517" descr="icon"/>
          <p:cNvPicPr>
            <a:picLocks noChangeAspect="1"/>
          </p:cNvPicPr>
          <p:nvPr/>
        </p:nvPicPr>
        <p:blipFill>
          <a:blip r:embed="rId3"/>
          <a:stretch>
            <a:fillRect/>
          </a:stretch>
        </p:blipFill>
        <p:spPr>
          <a:xfrm>
            <a:off x="960120" y="1901952"/>
            <a:ext cx="365760" cy="365760"/>
          </a:xfrm>
          <a:prstGeom prst="rect">
            <a:avLst/>
          </a:prstGeom>
        </p:spPr>
      </p:pic>
      <p:sp>
        <p:nvSpPr>
          <p:cNvPr id="6" name="text-518"/>
          <p:cNvSpPr txBox="1"/>
          <p:nvPr/>
        </p:nvSpPr>
        <p:spPr>
          <a:xfrm>
            <a:off x="1737360" y="1554480"/>
            <a:ext cx="4023360" cy="411480"/>
          </a:xfrm>
          <a:prstGeom prst="rect">
            <a:avLst/>
          </a:prstGeom>
          <a:noFill/>
          <a:ln/>
        </p:spPr>
        <p:txBody>
          <a:bodyPr wrap="square" lIns="0" tIns="0" rIns="0" bIns="0" rtlCol="0" anchor="t"/>
          <a:lstStyle/>
          <a:p>
            <a:pPr marL="0" indent="0" algn="l">
              <a:buNone/>
            </a:pPr>
            <a:r>
              <a:rPr lang="en-US" sz="1800" b="1" dirty="0">
                <a:solidFill>
                  <a:schemeClr val="tx2"/>
                </a:solidFill>
              </a:rPr>
              <a:t>Specialization</a:t>
            </a:r>
            <a:endParaRPr lang="en-US" sz="1800" dirty="0"/>
          </a:p>
        </p:txBody>
      </p:sp>
      <p:sp>
        <p:nvSpPr>
          <p:cNvPr id="7" name="text-519"/>
          <p:cNvSpPr txBox="1"/>
          <p:nvPr/>
        </p:nvSpPr>
        <p:spPr>
          <a:xfrm>
            <a:off x="1737360" y="1965960"/>
            <a:ext cx="4069080" cy="731520"/>
          </a:xfrm>
          <a:prstGeom prst="rect">
            <a:avLst/>
          </a:prstGeom>
          <a:noFill/>
          <a:ln/>
        </p:spPr>
        <p:txBody>
          <a:bodyPr wrap="square" lIns="0" tIns="0" rIns="0" bIns="0" rtlCol="0" anchor="t"/>
          <a:lstStyle/>
          <a:p>
            <a:pPr marL="0" indent="0" algn="l">
              <a:buNone/>
            </a:pPr>
            <a:r>
              <a:rPr lang="en-US" sz="1400" dirty="0">
                <a:solidFill>
                  <a:schemeClr val="tx1"/>
                </a:solidFill>
              </a:rPr>
              <a:t>Each agent gets a focused role, prompt and toolset (researcher, coder, reviewer).</a:t>
            </a:r>
            <a:endParaRPr lang="en-US" sz="1400" dirty="0"/>
          </a:p>
        </p:txBody>
      </p:sp>
      <p:sp>
        <p:nvSpPr>
          <p:cNvPr id="8" name="card-520"/>
          <p:cNvSpPr/>
          <p:nvPr/>
        </p:nvSpPr>
        <p:spPr>
          <a:xfrm>
            <a:off x="548640" y="2971800"/>
            <a:ext cx="5394960" cy="1417320"/>
          </a:xfrm>
          <a:prstGeom prst="roundRect">
            <a:avLst>
              <a:gd name="adj" fmla="val 645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9" name="icon-bg-521"/>
          <p:cNvSpPr/>
          <p:nvPr/>
        </p:nvSpPr>
        <p:spPr>
          <a:xfrm>
            <a:off x="777240" y="3319272"/>
            <a:ext cx="731520" cy="731520"/>
          </a:xfrm>
          <a:prstGeom prst="ellipse">
            <a:avLst/>
          </a:prstGeom>
          <a:solidFill>
            <a:srgbClr val="2A9D8F"/>
          </a:solidFill>
          <a:ln w="12700">
            <a:solidFill>
              <a:srgbClr val="2A9D8F"/>
            </a:solidFill>
            <a:prstDash val="solid"/>
          </a:ln>
        </p:spPr>
        <p:txBody>
          <a:bodyPr/>
          <a:lstStyle/>
          <a:p>
            <a:endParaRPr lang="en-US"/>
          </a:p>
        </p:txBody>
      </p:sp>
      <p:pic>
        <p:nvPicPr>
          <p:cNvPr id="10" name="icon-522" descr="icon"/>
          <p:cNvPicPr>
            <a:picLocks noChangeAspect="1"/>
          </p:cNvPicPr>
          <p:nvPr/>
        </p:nvPicPr>
        <p:blipFill>
          <a:blip r:embed="rId4"/>
          <a:stretch>
            <a:fillRect/>
          </a:stretch>
        </p:blipFill>
        <p:spPr>
          <a:xfrm>
            <a:off x="960120" y="3502152"/>
            <a:ext cx="365760" cy="365760"/>
          </a:xfrm>
          <a:prstGeom prst="rect">
            <a:avLst/>
          </a:prstGeom>
        </p:spPr>
      </p:pic>
      <p:sp>
        <p:nvSpPr>
          <p:cNvPr id="11" name="text-523"/>
          <p:cNvSpPr txBox="1"/>
          <p:nvPr/>
        </p:nvSpPr>
        <p:spPr>
          <a:xfrm>
            <a:off x="1737360" y="3154680"/>
            <a:ext cx="4023360" cy="411480"/>
          </a:xfrm>
          <a:prstGeom prst="rect">
            <a:avLst/>
          </a:prstGeom>
          <a:noFill/>
          <a:ln/>
        </p:spPr>
        <p:txBody>
          <a:bodyPr wrap="square" lIns="0" tIns="0" rIns="0" bIns="0" rtlCol="0" anchor="t"/>
          <a:lstStyle/>
          <a:p>
            <a:pPr marL="0" indent="0" algn="l">
              <a:buNone/>
            </a:pPr>
            <a:r>
              <a:rPr lang="en-US" sz="1800" b="1" dirty="0">
                <a:solidFill>
                  <a:schemeClr val="tx2"/>
                </a:solidFill>
              </a:rPr>
              <a:t>Parallelism</a:t>
            </a:r>
            <a:endParaRPr lang="en-US" sz="1800" dirty="0"/>
          </a:p>
        </p:txBody>
      </p:sp>
      <p:sp>
        <p:nvSpPr>
          <p:cNvPr id="12" name="text-524"/>
          <p:cNvSpPr txBox="1"/>
          <p:nvPr/>
        </p:nvSpPr>
        <p:spPr>
          <a:xfrm>
            <a:off x="1737360" y="3566160"/>
            <a:ext cx="4069080" cy="731520"/>
          </a:xfrm>
          <a:prstGeom prst="rect">
            <a:avLst/>
          </a:prstGeom>
          <a:noFill/>
          <a:ln/>
        </p:spPr>
        <p:txBody>
          <a:bodyPr wrap="square" lIns="0" tIns="0" rIns="0" bIns="0" rtlCol="0" anchor="t"/>
          <a:lstStyle/>
          <a:p>
            <a:pPr marL="0" indent="0" algn="l">
              <a:buNone/>
            </a:pPr>
            <a:r>
              <a:rPr lang="en-US" sz="1400" dirty="0">
                <a:solidFill>
                  <a:schemeClr val="tx1"/>
                </a:solidFill>
              </a:rPr>
              <a:t>Independent sub-tasks run at the same time, so broad tasks finish faster.</a:t>
            </a:r>
            <a:endParaRPr lang="en-US" sz="1400" dirty="0"/>
          </a:p>
        </p:txBody>
      </p:sp>
      <p:sp>
        <p:nvSpPr>
          <p:cNvPr id="13" name="card-525"/>
          <p:cNvSpPr/>
          <p:nvPr/>
        </p:nvSpPr>
        <p:spPr>
          <a:xfrm>
            <a:off x="548640" y="4572000"/>
            <a:ext cx="5394960" cy="1417320"/>
          </a:xfrm>
          <a:prstGeom prst="roundRect">
            <a:avLst>
              <a:gd name="adj" fmla="val 645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4" name="icon-bg-526"/>
          <p:cNvSpPr/>
          <p:nvPr/>
        </p:nvSpPr>
        <p:spPr>
          <a:xfrm>
            <a:off x="777240" y="4919472"/>
            <a:ext cx="731520" cy="731520"/>
          </a:xfrm>
          <a:prstGeom prst="ellipse">
            <a:avLst/>
          </a:prstGeom>
          <a:solidFill>
            <a:srgbClr val="6C63FF"/>
          </a:solidFill>
          <a:ln w="12700">
            <a:solidFill>
              <a:srgbClr val="6C63FF"/>
            </a:solidFill>
            <a:prstDash val="solid"/>
          </a:ln>
        </p:spPr>
        <p:txBody>
          <a:bodyPr/>
          <a:lstStyle/>
          <a:p>
            <a:endParaRPr lang="en-US"/>
          </a:p>
        </p:txBody>
      </p:sp>
      <p:pic>
        <p:nvPicPr>
          <p:cNvPr id="15" name="icon-527" descr="icon"/>
          <p:cNvPicPr>
            <a:picLocks noChangeAspect="1"/>
          </p:cNvPicPr>
          <p:nvPr/>
        </p:nvPicPr>
        <p:blipFill>
          <a:blip r:embed="rId5"/>
          <a:stretch>
            <a:fillRect/>
          </a:stretch>
        </p:blipFill>
        <p:spPr>
          <a:xfrm>
            <a:off x="960120" y="5102352"/>
            <a:ext cx="365760" cy="365760"/>
          </a:xfrm>
          <a:prstGeom prst="rect">
            <a:avLst/>
          </a:prstGeom>
        </p:spPr>
      </p:pic>
      <p:sp>
        <p:nvSpPr>
          <p:cNvPr id="16" name="text-528"/>
          <p:cNvSpPr txBox="1"/>
          <p:nvPr/>
        </p:nvSpPr>
        <p:spPr>
          <a:xfrm>
            <a:off x="1737360" y="4754880"/>
            <a:ext cx="4023360" cy="411480"/>
          </a:xfrm>
          <a:prstGeom prst="rect">
            <a:avLst/>
          </a:prstGeom>
          <a:noFill/>
          <a:ln/>
        </p:spPr>
        <p:txBody>
          <a:bodyPr wrap="square" lIns="0" tIns="0" rIns="0" bIns="0" rtlCol="0" anchor="t"/>
          <a:lstStyle/>
          <a:p>
            <a:pPr marL="0" indent="0" algn="l">
              <a:buNone/>
            </a:pPr>
            <a:r>
              <a:rPr lang="en-US" sz="1800" b="1" dirty="0">
                <a:solidFill>
                  <a:schemeClr val="tx2"/>
                </a:solidFill>
              </a:rPr>
              <a:t>Context isolation</a:t>
            </a:r>
            <a:endParaRPr lang="en-US" sz="1800" dirty="0"/>
          </a:p>
        </p:txBody>
      </p:sp>
      <p:sp>
        <p:nvSpPr>
          <p:cNvPr id="17" name="text-529"/>
          <p:cNvSpPr txBox="1"/>
          <p:nvPr/>
        </p:nvSpPr>
        <p:spPr>
          <a:xfrm>
            <a:off x="1737360" y="5166360"/>
            <a:ext cx="4069080" cy="731520"/>
          </a:xfrm>
          <a:prstGeom prst="rect">
            <a:avLst/>
          </a:prstGeom>
          <a:noFill/>
          <a:ln/>
        </p:spPr>
        <p:txBody>
          <a:bodyPr wrap="square" lIns="0" tIns="0" rIns="0" bIns="0" rtlCol="0" anchor="t"/>
          <a:lstStyle/>
          <a:p>
            <a:pPr marL="0" indent="0" algn="l">
              <a:buNone/>
            </a:pPr>
            <a:r>
              <a:rPr lang="en-US" sz="1400" dirty="0">
                <a:solidFill>
                  <a:schemeClr val="tx1"/>
                </a:solidFill>
              </a:rPr>
              <a:t>Each sub-agent has a fresh context window; only its summary goes back to the lead.</a:t>
            </a:r>
            <a:endParaRPr lang="en-US" sz="1400" dirty="0"/>
          </a:p>
        </p:txBody>
      </p:sp>
      <p:graphicFrame>
        <p:nvGraphicFramePr>
          <p:cNvPr id="18" name="Chart 0"/>
          <p:cNvGraphicFramePr/>
          <p:nvPr/>
        </p:nvGraphicFramePr>
        <p:xfrm>
          <a:off x="6400800" y="1325880"/>
          <a:ext cx="5212080" cy="393192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530"/>
          <p:cNvSpPr txBox="1"/>
          <p:nvPr/>
        </p:nvSpPr>
        <p:spPr>
          <a:xfrm>
            <a:off x="6400800" y="5349240"/>
            <a:ext cx="5212080" cy="868680"/>
          </a:xfrm>
          <a:prstGeom prst="rect">
            <a:avLst/>
          </a:prstGeom>
          <a:noFill/>
          <a:ln/>
        </p:spPr>
        <p:txBody>
          <a:bodyPr wrap="square" lIns="0" tIns="0" rIns="0" bIns="0" rtlCol="0" anchor="t"/>
          <a:lstStyle/>
          <a:p>
            <a:pPr marL="0" indent="0" algn="l">
              <a:buNone/>
            </a:pPr>
            <a:r>
              <a:rPr lang="en-US" sz="1300" b="1" dirty="0">
                <a:solidFill>
                  <a:schemeClr val="accent1"/>
                </a:solidFill>
              </a:rPr>
              <a:t>The trade-off: </a:t>
            </a:r>
            <a:r>
              <a:rPr lang="en-US" sz="1300" dirty="0">
                <a:solidFill>
                  <a:schemeClr val="tx1"/>
                </a:solidFill>
              </a:rPr>
              <a:t>Anthropic's multi-agent research system beat a single agent by 90% on its internal research eval — while using ~15× the tokens of chat. Worth it only for high-value, parallelizable tasks.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Three common ways to organize agents</a:t>
            </a:r>
            <a:endParaRPr lang="en-US" sz="3400" dirty="0"/>
          </a:p>
        </p:txBody>
      </p:sp>
      <p:sp>
        <p:nvSpPr>
          <p:cNvPr id="3" name="card-531"/>
          <p:cNvSpPr/>
          <p:nvPr/>
        </p:nvSpPr>
        <p:spPr>
          <a:xfrm>
            <a:off x="548640" y="1371600"/>
            <a:ext cx="3474720" cy="4754880"/>
          </a:xfrm>
          <a:prstGeom prst="roundRect">
            <a:avLst>
              <a:gd name="adj" fmla="val 263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text-532"/>
          <p:cNvSpPr txBox="1"/>
          <p:nvPr/>
        </p:nvSpPr>
        <p:spPr>
          <a:xfrm>
            <a:off x="777240" y="1508760"/>
            <a:ext cx="3017520" cy="411480"/>
          </a:xfrm>
          <a:prstGeom prst="rect">
            <a:avLst/>
          </a:prstGeom>
          <a:noFill/>
          <a:ln/>
        </p:spPr>
        <p:txBody>
          <a:bodyPr wrap="square" lIns="0" tIns="0" rIns="0" bIns="0" rtlCol="0" anchor="t"/>
          <a:lstStyle/>
          <a:p>
            <a:pPr marL="0" indent="0" algn="l">
              <a:buNone/>
            </a:pPr>
            <a:r>
              <a:rPr lang="en-US" sz="1800" b="1" dirty="0">
                <a:solidFill>
                  <a:schemeClr val="tx2"/>
                </a:solidFill>
              </a:rPr>
              <a:t>Orchestrator – workers</a:t>
            </a:r>
            <a:endParaRPr lang="en-US" sz="1800" dirty="0"/>
          </a:p>
        </p:txBody>
      </p:sp>
      <p:sp>
        <p:nvSpPr>
          <p:cNvPr id="5" name="text-533"/>
          <p:cNvSpPr txBox="1"/>
          <p:nvPr/>
        </p:nvSpPr>
        <p:spPr>
          <a:xfrm>
            <a:off x="777240" y="4343400"/>
            <a:ext cx="3017520" cy="868680"/>
          </a:xfrm>
          <a:prstGeom prst="rect">
            <a:avLst/>
          </a:prstGeom>
          <a:noFill/>
          <a:ln/>
        </p:spPr>
        <p:txBody>
          <a:bodyPr wrap="square" lIns="0" tIns="0" rIns="0" bIns="0" rtlCol="0" anchor="t"/>
          <a:lstStyle/>
          <a:p>
            <a:pPr marL="0" indent="0" algn="l">
              <a:buNone/>
            </a:pPr>
            <a:r>
              <a:rPr lang="en-US" sz="1400" dirty="0">
                <a:solidFill>
                  <a:schemeClr val="tx1"/>
                </a:solidFill>
              </a:rPr>
              <a:t>A lead agent plans, delegates to sub-agents and merges results.</a:t>
            </a:r>
            <a:endParaRPr lang="en-US" sz="1400" dirty="0"/>
          </a:p>
        </p:txBody>
      </p:sp>
      <p:sp>
        <p:nvSpPr>
          <p:cNvPr id="6" name="text-534"/>
          <p:cNvSpPr txBox="1"/>
          <p:nvPr/>
        </p:nvSpPr>
        <p:spPr>
          <a:xfrm>
            <a:off x="777240" y="5257800"/>
            <a:ext cx="3017520" cy="685800"/>
          </a:xfrm>
          <a:prstGeom prst="rect">
            <a:avLst/>
          </a:prstGeom>
          <a:noFill/>
          <a:ln/>
        </p:spPr>
        <p:txBody>
          <a:bodyPr wrap="square" lIns="0" tIns="0" rIns="0" bIns="0" rtlCol="0" anchor="t"/>
          <a:lstStyle/>
          <a:p>
            <a:pPr marL="0" indent="0" algn="l">
              <a:buNone/>
            </a:pPr>
            <a:r>
              <a:rPr lang="en-US" sz="1300" i="1" dirty="0">
                <a:solidFill>
                  <a:schemeClr val="accent5"/>
                </a:solidFill>
              </a:rPr>
              <a:t>Best for: research, large coding tasks</a:t>
            </a:r>
            <a:endParaRPr lang="en-US" sz="1300" dirty="0"/>
          </a:p>
        </p:txBody>
      </p:sp>
      <p:sp>
        <p:nvSpPr>
          <p:cNvPr id="7" name="card-535"/>
          <p:cNvSpPr/>
          <p:nvPr/>
        </p:nvSpPr>
        <p:spPr>
          <a:xfrm>
            <a:off x="4343400" y="1371600"/>
            <a:ext cx="3474720" cy="4754880"/>
          </a:xfrm>
          <a:prstGeom prst="roundRect">
            <a:avLst>
              <a:gd name="adj" fmla="val 263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8" name="text-536"/>
          <p:cNvSpPr txBox="1"/>
          <p:nvPr/>
        </p:nvSpPr>
        <p:spPr>
          <a:xfrm>
            <a:off x="4572000" y="1508760"/>
            <a:ext cx="3017520" cy="411480"/>
          </a:xfrm>
          <a:prstGeom prst="rect">
            <a:avLst/>
          </a:prstGeom>
          <a:noFill/>
          <a:ln/>
        </p:spPr>
        <p:txBody>
          <a:bodyPr wrap="square" lIns="0" tIns="0" rIns="0" bIns="0" rtlCol="0" anchor="t"/>
          <a:lstStyle/>
          <a:p>
            <a:pPr marL="0" indent="0" algn="l">
              <a:buNone/>
            </a:pPr>
            <a:r>
              <a:rPr lang="en-US" sz="1800" b="1" dirty="0">
                <a:solidFill>
                  <a:schemeClr val="tx2"/>
                </a:solidFill>
              </a:rPr>
              <a:t>Pipeline (hand-offs)</a:t>
            </a:r>
            <a:endParaRPr lang="en-US" sz="1800" dirty="0"/>
          </a:p>
        </p:txBody>
      </p:sp>
      <p:sp>
        <p:nvSpPr>
          <p:cNvPr id="9" name="text-537"/>
          <p:cNvSpPr txBox="1"/>
          <p:nvPr/>
        </p:nvSpPr>
        <p:spPr>
          <a:xfrm>
            <a:off x="4572000" y="4343400"/>
            <a:ext cx="3017520" cy="868680"/>
          </a:xfrm>
          <a:prstGeom prst="rect">
            <a:avLst/>
          </a:prstGeom>
          <a:noFill/>
          <a:ln/>
        </p:spPr>
        <p:txBody>
          <a:bodyPr wrap="square" lIns="0" tIns="0" rIns="0" bIns="0" rtlCol="0" anchor="t"/>
          <a:lstStyle/>
          <a:p>
            <a:pPr marL="0" indent="0" algn="l">
              <a:buNone/>
            </a:pPr>
            <a:r>
              <a:rPr lang="en-US" sz="1400" dirty="0">
                <a:solidFill>
                  <a:schemeClr val="tx1"/>
                </a:solidFill>
              </a:rPr>
              <a:t>Agents work in sequence, each passing its output to the next.</a:t>
            </a:r>
            <a:endParaRPr lang="en-US" sz="1400" dirty="0"/>
          </a:p>
        </p:txBody>
      </p:sp>
      <p:sp>
        <p:nvSpPr>
          <p:cNvPr id="10" name="text-538"/>
          <p:cNvSpPr txBox="1"/>
          <p:nvPr/>
        </p:nvSpPr>
        <p:spPr>
          <a:xfrm>
            <a:off x="4572000" y="5257800"/>
            <a:ext cx="3017520" cy="685800"/>
          </a:xfrm>
          <a:prstGeom prst="rect">
            <a:avLst/>
          </a:prstGeom>
          <a:noFill/>
          <a:ln/>
        </p:spPr>
        <p:txBody>
          <a:bodyPr wrap="square" lIns="0" tIns="0" rIns="0" bIns="0" rtlCol="0" anchor="t"/>
          <a:lstStyle/>
          <a:p>
            <a:pPr marL="0" indent="0" algn="l">
              <a:buNone/>
            </a:pPr>
            <a:r>
              <a:rPr lang="en-US" sz="1300" i="1" dirty="0">
                <a:solidFill>
                  <a:schemeClr val="accent5"/>
                </a:solidFill>
              </a:rPr>
              <a:t>Best for: content production, data processing</a:t>
            </a:r>
            <a:endParaRPr lang="en-US" sz="1300" dirty="0"/>
          </a:p>
        </p:txBody>
      </p:sp>
      <p:sp>
        <p:nvSpPr>
          <p:cNvPr id="11" name="card-539"/>
          <p:cNvSpPr/>
          <p:nvPr/>
        </p:nvSpPr>
        <p:spPr>
          <a:xfrm>
            <a:off x="8138160" y="1371600"/>
            <a:ext cx="3474720" cy="4754880"/>
          </a:xfrm>
          <a:prstGeom prst="roundRect">
            <a:avLst>
              <a:gd name="adj" fmla="val 263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2" name="text-540"/>
          <p:cNvSpPr txBox="1"/>
          <p:nvPr/>
        </p:nvSpPr>
        <p:spPr>
          <a:xfrm>
            <a:off x="8366760" y="1508760"/>
            <a:ext cx="3017520" cy="411480"/>
          </a:xfrm>
          <a:prstGeom prst="rect">
            <a:avLst/>
          </a:prstGeom>
          <a:noFill/>
          <a:ln/>
        </p:spPr>
        <p:txBody>
          <a:bodyPr wrap="square" lIns="0" tIns="0" rIns="0" bIns="0" rtlCol="0" anchor="t"/>
          <a:lstStyle/>
          <a:p>
            <a:pPr marL="0" indent="0" algn="l">
              <a:buNone/>
            </a:pPr>
            <a:r>
              <a:rPr lang="en-US" sz="1800" b="1" dirty="0">
                <a:solidFill>
                  <a:schemeClr val="tx2"/>
                </a:solidFill>
              </a:rPr>
              <a:t>Peer network / debate</a:t>
            </a:r>
            <a:endParaRPr lang="en-US" sz="1800" dirty="0"/>
          </a:p>
        </p:txBody>
      </p:sp>
      <p:sp>
        <p:nvSpPr>
          <p:cNvPr id="13" name="text-541"/>
          <p:cNvSpPr txBox="1"/>
          <p:nvPr/>
        </p:nvSpPr>
        <p:spPr>
          <a:xfrm>
            <a:off x="8366760" y="4343400"/>
            <a:ext cx="3017520" cy="868680"/>
          </a:xfrm>
          <a:prstGeom prst="rect">
            <a:avLst/>
          </a:prstGeom>
          <a:noFill/>
          <a:ln/>
        </p:spPr>
        <p:txBody>
          <a:bodyPr wrap="square" lIns="0" tIns="0" rIns="0" bIns="0" rtlCol="0" anchor="t"/>
          <a:lstStyle/>
          <a:p>
            <a:pPr marL="0" indent="0" algn="l">
              <a:buNone/>
            </a:pPr>
            <a:r>
              <a:rPr lang="en-US" sz="1400" dirty="0">
                <a:solidFill>
                  <a:schemeClr val="tx1"/>
                </a:solidFill>
              </a:rPr>
              <a:t>Agents talk to each other, critique and converge on an answer.</a:t>
            </a:r>
            <a:endParaRPr lang="en-US" sz="1400" dirty="0"/>
          </a:p>
        </p:txBody>
      </p:sp>
      <p:sp>
        <p:nvSpPr>
          <p:cNvPr id="14" name="text-542"/>
          <p:cNvSpPr txBox="1"/>
          <p:nvPr/>
        </p:nvSpPr>
        <p:spPr>
          <a:xfrm>
            <a:off x="8366760" y="5257800"/>
            <a:ext cx="3017520" cy="685800"/>
          </a:xfrm>
          <a:prstGeom prst="rect">
            <a:avLst/>
          </a:prstGeom>
          <a:noFill/>
          <a:ln/>
        </p:spPr>
        <p:txBody>
          <a:bodyPr wrap="square" lIns="0" tIns="0" rIns="0" bIns="0" rtlCol="0" anchor="t"/>
          <a:lstStyle/>
          <a:p>
            <a:pPr marL="0" indent="0" algn="l">
              <a:buNone/>
            </a:pPr>
            <a:r>
              <a:rPr lang="en-US" sz="1300" i="1" dirty="0">
                <a:solidFill>
                  <a:schemeClr val="accent5"/>
                </a:solidFill>
              </a:rPr>
              <a:t>Best for: brainstorming, verification</a:t>
            </a:r>
            <a:endParaRPr lang="en-US" sz="1300" dirty="0"/>
          </a:p>
        </p:txBody>
      </p:sp>
      <p:sp>
        <p:nvSpPr>
          <p:cNvPr id="15" name="arrow-543"/>
          <p:cNvSpPr/>
          <p:nvPr/>
        </p:nvSpPr>
        <p:spPr>
          <a:xfrm flipH="1">
            <a:off x="1234440" y="2697480"/>
            <a:ext cx="1051560" cy="621792"/>
          </a:xfrm>
          <a:prstGeom prst="line">
            <a:avLst/>
          </a:prstGeom>
          <a:noFill/>
          <a:ln w="19050">
            <a:solidFill>
              <a:schemeClr val="accent5"/>
            </a:solidFill>
            <a:prstDash val="solid"/>
            <a:tailEnd type="triangle"/>
          </a:ln>
        </p:spPr>
        <p:txBody>
          <a:bodyPr/>
          <a:lstStyle/>
          <a:p>
            <a:endParaRPr lang="en-US"/>
          </a:p>
        </p:txBody>
      </p:sp>
      <p:sp>
        <p:nvSpPr>
          <p:cNvPr id="16" name="arrow-544"/>
          <p:cNvSpPr/>
          <p:nvPr/>
        </p:nvSpPr>
        <p:spPr>
          <a:xfrm>
            <a:off x="2286000" y="2697480"/>
            <a:ext cx="914" cy="621792"/>
          </a:xfrm>
          <a:prstGeom prst="line">
            <a:avLst/>
          </a:prstGeom>
          <a:noFill/>
          <a:ln w="19050">
            <a:solidFill>
              <a:schemeClr val="accent5"/>
            </a:solidFill>
            <a:prstDash val="solid"/>
            <a:tailEnd type="triangle"/>
          </a:ln>
        </p:spPr>
        <p:txBody>
          <a:bodyPr/>
          <a:lstStyle/>
          <a:p>
            <a:endParaRPr lang="en-US"/>
          </a:p>
        </p:txBody>
      </p:sp>
      <p:sp>
        <p:nvSpPr>
          <p:cNvPr id="17" name="arrow-545"/>
          <p:cNvSpPr/>
          <p:nvPr/>
        </p:nvSpPr>
        <p:spPr>
          <a:xfrm>
            <a:off x="2286000" y="2697480"/>
            <a:ext cx="1051560" cy="621792"/>
          </a:xfrm>
          <a:prstGeom prst="line">
            <a:avLst/>
          </a:prstGeom>
          <a:noFill/>
          <a:ln w="19050">
            <a:solidFill>
              <a:schemeClr val="accent5"/>
            </a:solidFill>
            <a:prstDash val="solid"/>
            <a:tailEnd type="triangle"/>
          </a:ln>
        </p:spPr>
        <p:txBody>
          <a:bodyPr/>
          <a:lstStyle/>
          <a:p>
            <a:endParaRPr lang="en-US"/>
          </a:p>
        </p:txBody>
      </p:sp>
      <p:sp>
        <p:nvSpPr>
          <p:cNvPr id="18" name="node-546"/>
          <p:cNvSpPr/>
          <p:nvPr/>
        </p:nvSpPr>
        <p:spPr>
          <a:xfrm>
            <a:off x="1943100" y="2080260"/>
            <a:ext cx="685800" cy="685800"/>
          </a:xfrm>
          <a:prstGeom prst="ellipse">
            <a:avLst/>
          </a:prstGeom>
          <a:solidFill>
            <a:srgbClr val="1B1F3B"/>
          </a:solidFill>
          <a:ln w="12700">
            <a:solidFill>
              <a:srgbClr val="1B1F3B"/>
            </a:solidFill>
            <a:prstDash val="solid"/>
          </a:ln>
        </p:spPr>
        <p:txBody>
          <a:bodyPr/>
          <a:lstStyle/>
          <a:p>
            <a:endParaRPr lang="en-US"/>
          </a:p>
        </p:txBody>
      </p:sp>
      <p:sp>
        <p:nvSpPr>
          <p:cNvPr id="19" name="text-547"/>
          <p:cNvSpPr txBox="1"/>
          <p:nvPr/>
        </p:nvSpPr>
        <p:spPr>
          <a:xfrm>
            <a:off x="1943100" y="2080260"/>
            <a:ext cx="685800" cy="685800"/>
          </a:xfrm>
          <a:prstGeom prst="rect">
            <a:avLst/>
          </a:prstGeom>
          <a:noFill/>
          <a:ln/>
        </p:spPr>
        <p:txBody>
          <a:bodyPr wrap="square" lIns="0" tIns="0" rIns="0" bIns="0" rtlCol="0" anchor="ctr"/>
          <a:lstStyle/>
          <a:p>
            <a:pPr marL="0" indent="0" algn="ctr">
              <a:buNone/>
            </a:pPr>
            <a:r>
              <a:rPr lang="en-US" sz="1200" b="1" dirty="0">
                <a:solidFill>
                  <a:schemeClr val="bg1"/>
                </a:solidFill>
              </a:rPr>
              <a:t>Lead</a:t>
            </a:r>
            <a:endParaRPr lang="en-US" sz="1200" dirty="0"/>
          </a:p>
        </p:txBody>
      </p:sp>
      <p:sp>
        <p:nvSpPr>
          <p:cNvPr id="20" name="node-548"/>
          <p:cNvSpPr/>
          <p:nvPr/>
        </p:nvSpPr>
        <p:spPr>
          <a:xfrm>
            <a:off x="960120" y="3337560"/>
            <a:ext cx="548640" cy="548640"/>
          </a:xfrm>
          <a:prstGeom prst="ellipse">
            <a:avLst/>
          </a:prstGeom>
          <a:solidFill>
            <a:srgbClr val="D97757"/>
          </a:solidFill>
          <a:ln w="12700">
            <a:solidFill>
              <a:srgbClr val="D97757"/>
            </a:solidFill>
            <a:prstDash val="solid"/>
          </a:ln>
        </p:spPr>
        <p:txBody>
          <a:bodyPr/>
          <a:lstStyle/>
          <a:p>
            <a:endParaRPr lang="en-US"/>
          </a:p>
        </p:txBody>
      </p:sp>
      <p:sp>
        <p:nvSpPr>
          <p:cNvPr id="21" name="text-549"/>
          <p:cNvSpPr txBox="1"/>
          <p:nvPr/>
        </p:nvSpPr>
        <p:spPr>
          <a:xfrm>
            <a:off x="960120" y="3337560"/>
            <a:ext cx="548640" cy="548640"/>
          </a:xfrm>
          <a:prstGeom prst="rect">
            <a:avLst/>
          </a:prstGeom>
          <a:no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22" name="node-550"/>
          <p:cNvSpPr/>
          <p:nvPr/>
        </p:nvSpPr>
        <p:spPr>
          <a:xfrm>
            <a:off x="2011680" y="3337560"/>
            <a:ext cx="548640" cy="548640"/>
          </a:xfrm>
          <a:prstGeom prst="ellipse">
            <a:avLst/>
          </a:prstGeom>
          <a:solidFill>
            <a:srgbClr val="D97757"/>
          </a:solidFill>
          <a:ln w="12700">
            <a:solidFill>
              <a:srgbClr val="D97757"/>
            </a:solidFill>
            <a:prstDash val="solid"/>
          </a:ln>
        </p:spPr>
        <p:txBody>
          <a:bodyPr/>
          <a:lstStyle/>
          <a:p>
            <a:endParaRPr lang="en-US"/>
          </a:p>
        </p:txBody>
      </p:sp>
      <p:sp>
        <p:nvSpPr>
          <p:cNvPr id="23" name="text-551"/>
          <p:cNvSpPr txBox="1"/>
          <p:nvPr/>
        </p:nvSpPr>
        <p:spPr>
          <a:xfrm>
            <a:off x="2011680" y="3337560"/>
            <a:ext cx="548640" cy="548640"/>
          </a:xfrm>
          <a:prstGeom prst="rect">
            <a:avLst/>
          </a:prstGeom>
          <a:no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24" name="node-552"/>
          <p:cNvSpPr/>
          <p:nvPr/>
        </p:nvSpPr>
        <p:spPr>
          <a:xfrm>
            <a:off x="3063240" y="3337560"/>
            <a:ext cx="548640" cy="548640"/>
          </a:xfrm>
          <a:prstGeom prst="ellipse">
            <a:avLst/>
          </a:prstGeom>
          <a:solidFill>
            <a:srgbClr val="D97757"/>
          </a:solidFill>
          <a:ln w="12700">
            <a:solidFill>
              <a:srgbClr val="D97757"/>
            </a:solidFill>
            <a:prstDash val="solid"/>
          </a:ln>
        </p:spPr>
        <p:txBody>
          <a:bodyPr/>
          <a:lstStyle/>
          <a:p>
            <a:endParaRPr lang="en-US"/>
          </a:p>
        </p:txBody>
      </p:sp>
      <p:sp>
        <p:nvSpPr>
          <p:cNvPr id="25" name="text-553"/>
          <p:cNvSpPr txBox="1"/>
          <p:nvPr/>
        </p:nvSpPr>
        <p:spPr>
          <a:xfrm>
            <a:off x="3063240" y="3337560"/>
            <a:ext cx="548640" cy="548640"/>
          </a:xfrm>
          <a:prstGeom prst="rect">
            <a:avLst/>
          </a:prstGeom>
          <a:no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26" name="node-554"/>
          <p:cNvSpPr/>
          <p:nvPr/>
        </p:nvSpPr>
        <p:spPr>
          <a:xfrm>
            <a:off x="4617720" y="2697480"/>
            <a:ext cx="640080" cy="640080"/>
          </a:xfrm>
          <a:prstGeom prst="ellipse">
            <a:avLst/>
          </a:prstGeom>
          <a:solidFill>
            <a:srgbClr val="2A9D8F"/>
          </a:solidFill>
          <a:ln w="12700">
            <a:solidFill>
              <a:srgbClr val="2A9D8F"/>
            </a:solidFill>
            <a:prstDash val="solid"/>
          </a:ln>
        </p:spPr>
        <p:txBody>
          <a:bodyPr/>
          <a:lstStyle/>
          <a:p>
            <a:endParaRPr lang="en-US"/>
          </a:p>
        </p:txBody>
      </p:sp>
      <p:sp>
        <p:nvSpPr>
          <p:cNvPr id="27" name="text-555"/>
          <p:cNvSpPr txBox="1"/>
          <p:nvPr/>
        </p:nvSpPr>
        <p:spPr>
          <a:xfrm>
            <a:off x="4617720" y="2697480"/>
            <a:ext cx="640080" cy="640080"/>
          </a:xfrm>
          <a:prstGeom prst="rect">
            <a:avLst/>
          </a:prstGeom>
          <a:noFill/>
          <a:ln/>
        </p:spPr>
        <p:txBody>
          <a:bodyPr wrap="square" lIns="0" tIns="0" rIns="0" bIns="0" rtlCol="0" anchor="ctr"/>
          <a:lstStyle/>
          <a:p>
            <a:pPr marL="0" indent="0" algn="ctr">
              <a:buNone/>
            </a:pPr>
            <a:r>
              <a:rPr lang="en-US" sz="1200" b="1" dirty="0">
                <a:solidFill>
                  <a:schemeClr val="bg1"/>
                </a:solidFill>
              </a:rPr>
              <a:t>Draft</a:t>
            </a:r>
            <a:endParaRPr lang="en-US" sz="1200" dirty="0"/>
          </a:p>
        </p:txBody>
      </p:sp>
      <p:sp>
        <p:nvSpPr>
          <p:cNvPr id="28" name="arrow-556"/>
          <p:cNvSpPr/>
          <p:nvPr/>
        </p:nvSpPr>
        <p:spPr>
          <a:xfrm>
            <a:off x="5276088" y="3017520"/>
            <a:ext cx="466344" cy="914"/>
          </a:xfrm>
          <a:prstGeom prst="line">
            <a:avLst/>
          </a:prstGeom>
          <a:noFill/>
          <a:ln w="19050">
            <a:solidFill>
              <a:schemeClr val="accent5"/>
            </a:solidFill>
            <a:prstDash val="solid"/>
            <a:tailEnd type="triangle"/>
          </a:ln>
        </p:spPr>
        <p:txBody>
          <a:bodyPr/>
          <a:lstStyle/>
          <a:p>
            <a:endParaRPr lang="en-US"/>
          </a:p>
        </p:txBody>
      </p:sp>
      <p:sp>
        <p:nvSpPr>
          <p:cNvPr id="29" name="node-557"/>
          <p:cNvSpPr/>
          <p:nvPr/>
        </p:nvSpPr>
        <p:spPr>
          <a:xfrm>
            <a:off x="5760720" y="2697480"/>
            <a:ext cx="640080" cy="640080"/>
          </a:xfrm>
          <a:prstGeom prst="ellipse">
            <a:avLst/>
          </a:prstGeom>
          <a:solidFill>
            <a:srgbClr val="6C63FF"/>
          </a:solidFill>
          <a:ln w="12700">
            <a:solidFill>
              <a:srgbClr val="6C63FF"/>
            </a:solidFill>
            <a:prstDash val="solid"/>
          </a:ln>
        </p:spPr>
        <p:txBody>
          <a:bodyPr/>
          <a:lstStyle/>
          <a:p>
            <a:endParaRPr lang="en-US"/>
          </a:p>
        </p:txBody>
      </p:sp>
      <p:sp>
        <p:nvSpPr>
          <p:cNvPr id="30" name="text-558"/>
          <p:cNvSpPr txBox="1"/>
          <p:nvPr/>
        </p:nvSpPr>
        <p:spPr>
          <a:xfrm>
            <a:off x="5760720" y="2697480"/>
            <a:ext cx="640080" cy="640080"/>
          </a:xfrm>
          <a:prstGeom prst="rect">
            <a:avLst/>
          </a:prstGeom>
          <a:noFill/>
          <a:ln/>
        </p:spPr>
        <p:txBody>
          <a:bodyPr wrap="square" lIns="0" tIns="0" rIns="0" bIns="0" rtlCol="0" anchor="ctr"/>
          <a:lstStyle/>
          <a:p>
            <a:pPr marL="0" indent="0" algn="ctr">
              <a:buNone/>
            </a:pPr>
            <a:r>
              <a:rPr lang="en-US" sz="1200" b="1" dirty="0">
                <a:solidFill>
                  <a:schemeClr val="bg1"/>
                </a:solidFill>
              </a:rPr>
              <a:t>Edit</a:t>
            </a:r>
            <a:endParaRPr lang="en-US" sz="1200" dirty="0"/>
          </a:p>
        </p:txBody>
      </p:sp>
      <p:sp>
        <p:nvSpPr>
          <p:cNvPr id="31" name="arrow-559"/>
          <p:cNvSpPr/>
          <p:nvPr/>
        </p:nvSpPr>
        <p:spPr>
          <a:xfrm>
            <a:off x="6419088" y="3017520"/>
            <a:ext cx="466344" cy="914"/>
          </a:xfrm>
          <a:prstGeom prst="line">
            <a:avLst/>
          </a:prstGeom>
          <a:noFill/>
          <a:ln w="19050">
            <a:solidFill>
              <a:schemeClr val="accent5"/>
            </a:solidFill>
            <a:prstDash val="solid"/>
            <a:tailEnd type="triangle"/>
          </a:ln>
        </p:spPr>
        <p:txBody>
          <a:bodyPr/>
          <a:lstStyle/>
          <a:p>
            <a:endParaRPr lang="en-US"/>
          </a:p>
        </p:txBody>
      </p:sp>
      <p:sp>
        <p:nvSpPr>
          <p:cNvPr id="32" name="node-560"/>
          <p:cNvSpPr/>
          <p:nvPr/>
        </p:nvSpPr>
        <p:spPr>
          <a:xfrm>
            <a:off x="6903720" y="2697480"/>
            <a:ext cx="640080" cy="640080"/>
          </a:xfrm>
          <a:prstGeom prst="ellipse">
            <a:avLst/>
          </a:prstGeom>
          <a:solidFill>
            <a:srgbClr val="D97757"/>
          </a:solidFill>
          <a:ln w="12700">
            <a:solidFill>
              <a:srgbClr val="D97757"/>
            </a:solidFill>
            <a:prstDash val="solid"/>
          </a:ln>
        </p:spPr>
        <p:txBody>
          <a:bodyPr/>
          <a:lstStyle/>
          <a:p>
            <a:endParaRPr lang="en-US"/>
          </a:p>
        </p:txBody>
      </p:sp>
      <p:sp>
        <p:nvSpPr>
          <p:cNvPr id="33" name="text-561"/>
          <p:cNvSpPr txBox="1"/>
          <p:nvPr/>
        </p:nvSpPr>
        <p:spPr>
          <a:xfrm>
            <a:off x="6903720" y="2697480"/>
            <a:ext cx="640080" cy="640080"/>
          </a:xfrm>
          <a:prstGeom prst="rect">
            <a:avLst/>
          </a:prstGeom>
          <a:noFill/>
          <a:ln/>
        </p:spPr>
        <p:txBody>
          <a:bodyPr wrap="square" lIns="0" tIns="0" rIns="0" bIns="0" rtlCol="0" anchor="ctr"/>
          <a:lstStyle/>
          <a:p>
            <a:pPr marL="0" indent="0" algn="ctr">
              <a:buNone/>
            </a:pPr>
            <a:r>
              <a:rPr lang="en-US" sz="1200" b="1" dirty="0">
                <a:solidFill>
                  <a:schemeClr val="tx2"/>
                </a:solidFill>
              </a:rPr>
              <a:t>Check</a:t>
            </a:r>
            <a:endParaRPr lang="en-US" sz="1200" dirty="0"/>
          </a:p>
        </p:txBody>
      </p:sp>
      <p:sp>
        <p:nvSpPr>
          <p:cNvPr id="34" name="edge-562"/>
          <p:cNvSpPr/>
          <p:nvPr/>
        </p:nvSpPr>
        <p:spPr>
          <a:xfrm flipH="1">
            <a:off x="8961120" y="2331720"/>
            <a:ext cx="914400" cy="1280160"/>
          </a:xfrm>
          <a:prstGeom prst="line">
            <a:avLst/>
          </a:prstGeom>
          <a:noFill/>
          <a:ln w="19050">
            <a:solidFill>
              <a:srgbClr val="8A90A6"/>
            </a:solidFill>
            <a:prstDash val="solid"/>
            <a:headEnd type="triangle"/>
            <a:tailEnd type="triangle"/>
          </a:ln>
        </p:spPr>
        <p:txBody>
          <a:bodyPr/>
          <a:lstStyle/>
          <a:p>
            <a:endParaRPr lang="en-US"/>
          </a:p>
        </p:txBody>
      </p:sp>
      <p:sp>
        <p:nvSpPr>
          <p:cNvPr id="35" name="edge-563"/>
          <p:cNvSpPr/>
          <p:nvPr/>
        </p:nvSpPr>
        <p:spPr>
          <a:xfrm>
            <a:off x="8961120" y="3611880"/>
            <a:ext cx="1828800" cy="914"/>
          </a:xfrm>
          <a:prstGeom prst="line">
            <a:avLst/>
          </a:prstGeom>
          <a:noFill/>
          <a:ln w="19050">
            <a:solidFill>
              <a:srgbClr val="8A90A6"/>
            </a:solidFill>
            <a:prstDash val="solid"/>
            <a:headEnd type="triangle"/>
            <a:tailEnd type="triangle"/>
          </a:ln>
        </p:spPr>
        <p:txBody>
          <a:bodyPr/>
          <a:lstStyle/>
          <a:p>
            <a:endParaRPr lang="en-US"/>
          </a:p>
        </p:txBody>
      </p:sp>
      <p:sp>
        <p:nvSpPr>
          <p:cNvPr id="36" name="edge-564"/>
          <p:cNvSpPr/>
          <p:nvPr/>
        </p:nvSpPr>
        <p:spPr>
          <a:xfrm>
            <a:off x="9875520" y="2331720"/>
            <a:ext cx="914400" cy="1280160"/>
          </a:xfrm>
          <a:prstGeom prst="line">
            <a:avLst/>
          </a:prstGeom>
          <a:noFill/>
          <a:ln w="19050">
            <a:solidFill>
              <a:srgbClr val="8A90A6"/>
            </a:solidFill>
            <a:prstDash val="solid"/>
            <a:headEnd type="triangle"/>
            <a:tailEnd type="triangle"/>
          </a:ln>
        </p:spPr>
        <p:txBody>
          <a:bodyPr/>
          <a:lstStyle/>
          <a:p>
            <a:endParaRPr lang="en-US"/>
          </a:p>
        </p:txBody>
      </p:sp>
      <p:sp>
        <p:nvSpPr>
          <p:cNvPr id="37" name="node-565"/>
          <p:cNvSpPr/>
          <p:nvPr/>
        </p:nvSpPr>
        <p:spPr>
          <a:xfrm>
            <a:off x="9578340" y="2034540"/>
            <a:ext cx="594360" cy="594360"/>
          </a:xfrm>
          <a:prstGeom prst="ellipse">
            <a:avLst/>
          </a:prstGeom>
          <a:solidFill>
            <a:srgbClr val="2A9D8F"/>
          </a:solidFill>
          <a:ln w="12700">
            <a:solidFill>
              <a:srgbClr val="2A9D8F"/>
            </a:solidFill>
            <a:prstDash val="solid"/>
          </a:ln>
        </p:spPr>
        <p:txBody>
          <a:bodyPr/>
          <a:lstStyle/>
          <a:p>
            <a:endParaRPr lang="en-US"/>
          </a:p>
        </p:txBody>
      </p:sp>
      <p:sp>
        <p:nvSpPr>
          <p:cNvPr id="38" name="text-566"/>
          <p:cNvSpPr txBox="1"/>
          <p:nvPr/>
        </p:nvSpPr>
        <p:spPr>
          <a:xfrm>
            <a:off x="9578340" y="2034540"/>
            <a:ext cx="594360" cy="594360"/>
          </a:xfrm>
          <a:prstGeom prst="rect">
            <a:avLst/>
          </a:prstGeom>
          <a:no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39" name="node-567"/>
          <p:cNvSpPr/>
          <p:nvPr/>
        </p:nvSpPr>
        <p:spPr>
          <a:xfrm>
            <a:off x="8663940" y="3314700"/>
            <a:ext cx="594360" cy="594360"/>
          </a:xfrm>
          <a:prstGeom prst="ellipse">
            <a:avLst/>
          </a:prstGeom>
          <a:solidFill>
            <a:srgbClr val="6C63FF"/>
          </a:solidFill>
          <a:ln w="12700">
            <a:solidFill>
              <a:srgbClr val="6C63FF"/>
            </a:solidFill>
            <a:prstDash val="solid"/>
          </a:ln>
        </p:spPr>
        <p:txBody>
          <a:bodyPr/>
          <a:lstStyle/>
          <a:p>
            <a:endParaRPr lang="en-US"/>
          </a:p>
        </p:txBody>
      </p:sp>
      <p:sp>
        <p:nvSpPr>
          <p:cNvPr id="40" name="text-568"/>
          <p:cNvSpPr txBox="1"/>
          <p:nvPr/>
        </p:nvSpPr>
        <p:spPr>
          <a:xfrm>
            <a:off x="8663940" y="3314700"/>
            <a:ext cx="594360" cy="594360"/>
          </a:xfrm>
          <a:prstGeom prst="rect">
            <a:avLst/>
          </a:prstGeom>
          <a:no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41" name="node-569"/>
          <p:cNvSpPr/>
          <p:nvPr/>
        </p:nvSpPr>
        <p:spPr>
          <a:xfrm>
            <a:off x="10492740" y="3314700"/>
            <a:ext cx="594360" cy="594360"/>
          </a:xfrm>
          <a:prstGeom prst="ellipse">
            <a:avLst/>
          </a:prstGeom>
          <a:solidFill>
            <a:srgbClr val="E9B949"/>
          </a:solidFill>
          <a:ln w="12700">
            <a:solidFill>
              <a:srgbClr val="E9B949"/>
            </a:solidFill>
            <a:prstDash val="solid"/>
          </a:ln>
        </p:spPr>
        <p:txBody>
          <a:bodyPr/>
          <a:lstStyle/>
          <a:p>
            <a:endParaRPr lang="en-US"/>
          </a:p>
        </p:txBody>
      </p:sp>
      <p:sp>
        <p:nvSpPr>
          <p:cNvPr id="42" name="text-570"/>
          <p:cNvSpPr txBox="1"/>
          <p:nvPr/>
        </p:nvSpPr>
        <p:spPr>
          <a:xfrm>
            <a:off x="10492740" y="3314700"/>
            <a:ext cx="594360" cy="594360"/>
          </a:xfrm>
          <a:prstGeom prst="rect">
            <a:avLst/>
          </a:prstGeom>
          <a:noFill/>
          <a:ln/>
        </p:spPr>
        <p:txBody>
          <a:bodyPr wrap="square" lIns="0" tIns="0" rIns="0" bIns="0" rtlCol="0" anchor="ctr"/>
          <a:lstStyle/>
          <a:p>
            <a:pPr marL="0" indent="0" algn="ctr">
              <a:buNone/>
            </a:pPr>
            <a:r>
              <a:rPr lang="en-US" sz="1200" b="1" dirty="0">
                <a:solidFill>
                  <a:schemeClr val="tx2"/>
                </a:solidFill>
              </a:rPr>
              <a:t>C</a:t>
            </a:r>
            <a:endParaRPr lang="en-US" sz="1200" dirty="0"/>
          </a:p>
        </p:txBody>
      </p:sp>
      <p:sp>
        <p:nvSpPr>
          <p:cNvPr id="4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Worked example: a multi-agent research system</a:t>
            </a:r>
            <a:endParaRPr lang="en-US" sz="3400" dirty="0"/>
          </a:p>
        </p:txBody>
      </p:sp>
      <p:sp>
        <p:nvSpPr>
          <p:cNvPr id="3" name="card-571"/>
          <p:cNvSpPr/>
          <p:nvPr/>
        </p:nvSpPr>
        <p:spPr>
          <a:xfrm>
            <a:off x="548640" y="1371600"/>
            <a:ext cx="4206240" cy="685800"/>
          </a:xfrm>
          <a:prstGeom prst="roundRect">
            <a:avLst>
              <a:gd name="adj" fmla="val 13333"/>
            </a:avLst>
          </a:prstGeom>
          <a:solidFill>
            <a:schemeClr val="bg2"/>
          </a:solidFill>
          <a:ln w="9525">
            <a:solidFill>
              <a:schemeClr val="bg2"/>
            </a:solidFill>
            <a:prstDash val="solid"/>
          </a:ln>
        </p:spPr>
        <p:txBody>
          <a:bodyPr/>
          <a:lstStyle/>
          <a:p>
            <a:endParaRPr lang="en-US"/>
          </a:p>
        </p:txBody>
      </p:sp>
      <p:sp>
        <p:nvSpPr>
          <p:cNvPr id="4" name="text-572"/>
          <p:cNvSpPr txBox="1"/>
          <p:nvPr/>
        </p:nvSpPr>
        <p:spPr>
          <a:xfrm>
            <a:off x="548640" y="1371600"/>
            <a:ext cx="4206240" cy="685800"/>
          </a:xfrm>
          <a:prstGeom prst="rect">
            <a:avLst/>
          </a:prstGeom>
          <a:noFill/>
          <a:ln/>
        </p:spPr>
        <p:txBody>
          <a:bodyPr wrap="square" lIns="0" tIns="0" rIns="0" bIns="0" rtlCol="0" anchor="ctr"/>
          <a:lstStyle/>
          <a:p>
            <a:pPr marL="0" indent="0" algn="ctr">
              <a:buNone/>
            </a:pPr>
            <a:r>
              <a:rPr lang="en-US" sz="1300" b="1" dirty="0">
                <a:solidFill>
                  <a:schemeClr val="tx2"/>
                </a:solidFill>
              </a:rPr>
              <a:t>User: “Compare the top 3 open-source vector databases”</a:t>
            </a:r>
            <a:endParaRPr lang="en-US" sz="1300" dirty="0"/>
          </a:p>
        </p:txBody>
      </p:sp>
      <p:sp>
        <p:nvSpPr>
          <p:cNvPr id="5" name="arrow-573"/>
          <p:cNvSpPr/>
          <p:nvPr/>
        </p:nvSpPr>
        <p:spPr>
          <a:xfrm>
            <a:off x="4800600" y="1719072"/>
            <a:ext cx="457200" cy="914"/>
          </a:xfrm>
          <a:prstGeom prst="line">
            <a:avLst/>
          </a:prstGeom>
          <a:noFill/>
          <a:ln w="25400">
            <a:solidFill>
              <a:schemeClr val="accent5"/>
            </a:solidFill>
            <a:prstDash val="solid"/>
            <a:tailEnd type="triangle"/>
          </a:ln>
        </p:spPr>
        <p:txBody>
          <a:bodyPr/>
          <a:lstStyle/>
          <a:p>
            <a:endParaRPr lang="en-US"/>
          </a:p>
        </p:txBody>
      </p:sp>
      <p:sp>
        <p:nvSpPr>
          <p:cNvPr id="6" name="card-574"/>
          <p:cNvSpPr/>
          <p:nvPr/>
        </p:nvSpPr>
        <p:spPr>
          <a:xfrm>
            <a:off x="5303520" y="1371600"/>
            <a:ext cx="3108960" cy="685800"/>
          </a:xfrm>
          <a:prstGeom prst="roundRect">
            <a:avLst>
              <a:gd name="adj" fmla="val 13333"/>
            </a:avLst>
          </a:prstGeom>
          <a:solidFill>
            <a:schemeClr val="tx2"/>
          </a:solidFill>
          <a:ln w="9525">
            <a:solidFill>
              <a:schemeClr val="tx2"/>
            </a:solidFill>
            <a:prstDash val="solid"/>
          </a:ln>
        </p:spPr>
        <p:txBody>
          <a:bodyPr/>
          <a:lstStyle/>
          <a:p>
            <a:endParaRPr lang="en-US"/>
          </a:p>
        </p:txBody>
      </p:sp>
      <p:sp>
        <p:nvSpPr>
          <p:cNvPr id="7" name="text-575"/>
          <p:cNvSpPr txBox="1"/>
          <p:nvPr/>
        </p:nvSpPr>
        <p:spPr>
          <a:xfrm>
            <a:off x="5303520" y="1371600"/>
            <a:ext cx="3108960" cy="685800"/>
          </a:xfrm>
          <a:prstGeom prst="rect">
            <a:avLst/>
          </a:prstGeom>
          <a:noFill/>
          <a:ln/>
        </p:spPr>
        <p:txBody>
          <a:bodyPr wrap="square" lIns="0" tIns="0" rIns="0" bIns="0" rtlCol="0" anchor="ctr"/>
          <a:lstStyle/>
          <a:p>
            <a:pPr marL="0" indent="0" algn="ctr">
              <a:buNone/>
            </a:pPr>
            <a:r>
              <a:rPr lang="en-US" sz="1300" b="1" dirty="0">
                <a:solidFill>
                  <a:schemeClr val="bg1"/>
                </a:solidFill>
              </a:rPr>
              <a:t>Lead agent: plan &amp; split into sub-questions</a:t>
            </a:r>
            <a:endParaRPr lang="en-US" sz="1300" dirty="0"/>
          </a:p>
        </p:txBody>
      </p:sp>
      <p:sp>
        <p:nvSpPr>
          <p:cNvPr id="8" name="arrow-576"/>
          <p:cNvSpPr/>
          <p:nvPr/>
        </p:nvSpPr>
        <p:spPr>
          <a:xfrm flipH="1">
            <a:off x="4892040" y="2057400"/>
            <a:ext cx="1965960" cy="640080"/>
          </a:xfrm>
          <a:prstGeom prst="line">
            <a:avLst/>
          </a:prstGeom>
          <a:noFill/>
          <a:ln w="19050">
            <a:solidFill>
              <a:schemeClr val="accent5"/>
            </a:solidFill>
            <a:prstDash val="solid"/>
            <a:tailEnd type="triangle"/>
          </a:ln>
        </p:spPr>
        <p:txBody>
          <a:bodyPr/>
          <a:lstStyle/>
          <a:p>
            <a:endParaRPr lang="en-US"/>
          </a:p>
        </p:txBody>
      </p:sp>
      <p:sp>
        <p:nvSpPr>
          <p:cNvPr id="9" name="card-577"/>
          <p:cNvSpPr/>
          <p:nvPr/>
        </p:nvSpPr>
        <p:spPr>
          <a:xfrm>
            <a:off x="3840480" y="2697480"/>
            <a:ext cx="2103120" cy="868680"/>
          </a:xfrm>
          <a:prstGeom prst="roundRect">
            <a:avLst>
              <a:gd name="adj" fmla="val 10526"/>
            </a:avLst>
          </a:prstGeom>
          <a:solidFill>
            <a:schemeClr val="accent1"/>
          </a:solidFill>
          <a:ln w="9525">
            <a:solidFill>
              <a:schemeClr val="accent1"/>
            </a:solidFill>
            <a:prstDash val="solid"/>
          </a:ln>
        </p:spPr>
        <p:txBody>
          <a:bodyPr/>
          <a:lstStyle/>
          <a:p>
            <a:endParaRPr lang="en-US"/>
          </a:p>
        </p:txBody>
      </p:sp>
      <p:sp>
        <p:nvSpPr>
          <p:cNvPr id="10" name="text-578"/>
          <p:cNvSpPr txBox="1"/>
          <p:nvPr/>
        </p:nvSpPr>
        <p:spPr>
          <a:xfrm>
            <a:off x="3840480" y="2697480"/>
            <a:ext cx="2103120" cy="868680"/>
          </a:xfrm>
          <a:prstGeom prst="rect">
            <a:avLst/>
          </a:prstGeom>
          <a:noFill/>
          <a:ln/>
        </p:spPr>
        <p:txBody>
          <a:bodyPr wrap="square" lIns="0" tIns="0" rIns="0" bIns="0" rtlCol="0" anchor="ctr"/>
          <a:lstStyle/>
          <a:p>
            <a:pPr marL="0" indent="0" algn="ctr">
              <a:buNone/>
            </a:pPr>
            <a:r>
              <a:rPr lang="en-US" sz="1300" b="1" dirty="0">
                <a:solidFill>
                  <a:schemeClr val="tx2"/>
                </a:solidFill>
              </a:rPr>
              <a:t>Sub-agent 1: features &amp; performance</a:t>
            </a:r>
            <a:endParaRPr lang="en-US" sz="1300" dirty="0"/>
          </a:p>
        </p:txBody>
      </p:sp>
      <p:sp>
        <p:nvSpPr>
          <p:cNvPr id="11" name="text-579"/>
          <p:cNvSpPr txBox="1"/>
          <p:nvPr/>
        </p:nvSpPr>
        <p:spPr>
          <a:xfrm>
            <a:off x="3840480" y="3611880"/>
            <a:ext cx="2103120" cy="457200"/>
          </a:xfrm>
          <a:prstGeom prst="rect">
            <a:avLst/>
          </a:prstGeom>
          <a:noFill/>
          <a:ln/>
        </p:spPr>
        <p:txBody>
          <a:bodyPr wrap="square" lIns="0" tIns="0" rIns="0" bIns="0" rtlCol="0" anchor="t"/>
          <a:lstStyle/>
          <a:p>
            <a:pPr marL="0" indent="0" algn="ctr">
              <a:buNone/>
            </a:pPr>
            <a:r>
              <a:rPr lang="en-US" sz="1100" i="1" dirty="0">
                <a:solidFill>
                  <a:schemeClr val="accent5"/>
                </a:solidFill>
              </a:rPr>
              <a:t>searches web · reads pages · writes summary</a:t>
            </a:r>
            <a:endParaRPr lang="en-US" sz="1100" dirty="0"/>
          </a:p>
        </p:txBody>
      </p:sp>
      <p:sp>
        <p:nvSpPr>
          <p:cNvPr id="12" name="arrow-580"/>
          <p:cNvSpPr/>
          <p:nvPr/>
        </p:nvSpPr>
        <p:spPr>
          <a:xfrm>
            <a:off x="4892040" y="4114800"/>
            <a:ext cx="1965960" cy="457200"/>
          </a:xfrm>
          <a:prstGeom prst="line">
            <a:avLst/>
          </a:prstGeom>
          <a:noFill/>
          <a:ln w="19050">
            <a:solidFill>
              <a:schemeClr val="accent5"/>
            </a:solidFill>
            <a:prstDash val="solid"/>
            <a:tailEnd type="triangle"/>
          </a:ln>
        </p:spPr>
        <p:txBody>
          <a:bodyPr/>
          <a:lstStyle/>
          <a:p>
            <a:endParaRPr lang="en-US"/>
          </a:p>
        </p:txBody>
      </p:sp>
      <p:sp>
        <p:nvSpPr>
          <p:cNvPr id="13" name="arrow-581"/>
          <p:cNvSpPr/>
          <p:nvPr/>
        </p:nvSpPr>
        <p:spPr>
          <a:xfrm>
            <a:off x="6858000" y="2057400"/>
            <a:ext cx="365760" cy="640080"/>
          </a:xfrm>
          <a:prstGeom prst="line">
            <a:avLst/>
          </a:prstGeom>
          <a:noFill/>
          <a:ln w="19050">
            <a:solidFill>
              <a:schemeClr val="accent5"/>
            </a:solidFill>
            <a:prstDash val="solid"/>
            <a:tailEnd type="triangle"/>
          </a:ln>
        </p:spPr>
        <p:txBody>
          <a:bodyPr/>
          <a:lstStyle/>
          <a:p>
            <a:endParaRPr lang="en-US"/>
          </a:p>
        </p:txBody>
      </p:sp>
      <p:sp>
        <p:nvSpPr>
          <p:cNvPr id="14" name="card-582"/>
          <p:cNvSpPr/>
          <p:nvPr/>
        </p:nvSpPr>
        <p:spPr>
          <a:xfrm>
            <a:off x="6172200" y="2697480"/>
            <a:ext cx="2103120" cy="868680"/>
          </a:xfrm>
          <a:prstGeom prst="roundRect">
            <a:avLst>
              <a:gd name="adj" fmla="val 10526"/>
            </a:avLst>
          </a:prstGeom>
          <a:solidFill>
            <a:schemeClr val="accent1"/>
          </a:solidFill>
          <a:ln w="9525">
            <a:solidFill>
              <a:schemeClr val="accent1"/>
            </a:solidFill>
            <a:prstDash val="solid"/>
          </a:ln>
        </p:spPr>
        <p:txBody>
          <a:bodyPr/>
          <a:lstStyle/>
          <a:p>
            <a:endParaRPr lang="en-US"/>
          </a:p>
        </p:txBody>
      </p:sp>
      <p:sp>
        <p:nvSpPr>
          <p:cNvPr id="15" name="text-583"/>
          <p:cNvSpPr txBox="1"/>
          <p:nvPr/>
        </p:nvSpPr>
        <p:spPr>
          <a:xfrm>
            <a:off x="6172200" y="2697480"/>
            <a:ext cx="2103120" cy="868680"/>
          </a:xfrm>
          <a:prstGeom prst="rect">
            <a:avLst/>
          </a:prstGeom>
          <a:noFill/>
          <a:ln/>
        </p:spPr>
        <p:txBody>
          <a:bodyPr wrap="square" lIns="0" tIns="0" rIns="0" bIns="0" rtlCol="0" anchor="ctr"/>
          <a:lstStyle/>
          <a:p>
            <a:pPr marL="0" indent="0" algn="ctr">
              <a:buNone/>
            </a:pPr>
            <a:r>
              <a:rPr lang="en-US" sz="1300" b="1" dirty="0">
                <a:solidFill>
                  <a:schemeClr val="tx2"/>
                </a:solidFill>
              </a:rPr>
              <a:t>Sub-agent 2: pricing &amp; licensing</a:t>
            </a:r>
            <a:endParaRPr lang="en-US" sz="1300" dirty="0"/>
          </a:p>
        </p:txBody>
      </p:sp>
      <p:sp>
        <p:nvSpPr>
          <p:cNvPr id="16" name="text-584"/>
          <p:cNvSpPr txBox="1"/>
          <p:nvPr/>
        </p:nvSpPr>
        <p:spPr>
          <a:xfrm>
            <a:off x="6172200" y="3611880"/>
            <a:ext cx="2103120" cy="457200"/>
          </a:xfrm>
          <a:prstGeom prst="rect">
            <a:avLst/>
          </a:prstGeom>
          <a:noFill/>
          <a:ln/>
        </p:spPr>
        <p:txBody>
          <a:bodyPr wrap="square" lIns="0" tIns="0" rIns="0" bIns="0" rtlCol="0" anchor="t"/>
          <a:lstStyle/>
          <a:p>
            <a:pPr marL="0" indent="0" algn="ctr">
              <a:buNone/>
            </a:pPr>
            <a:r>
              <a:rPr lang="en-US" sz="1100" i="1" dirty="0">
                <a:solidFill>
                  <a:schemeClr val="accent5"/>
                </a:solidFill>
              </a:rPr>
              <a:t>searches web · reads pages · writes summary</a:t>
            </a:r>
            <a:endParaRPr lang="en-US" sz="1100" dirty="0"/>
          </a:p>
        </p:txBody>
      </p:sp>
      <p:sp>
        <p:nvSpPr>
          <p:cNvPr id="17" name="arrow-585"/>
          <p:cNvSpPr/>
          <p:nvPr/>
        </p:nvSpPr>
        <p:spPr>
          <a:xfrm flipH="1">
            <a:off x="6858000" y="4114800"/>
            <a:ext cx="365760" cy="457200"/>
          </a:xfrm>
          <a:prstGeom prst="line">
            <a:avLst/>
          </a:prstGeom>
          <a:noFill/>
          <a:ln w="19050">
            <a:solidFill>
              <a:schemeClr val="accent5"/>
            </a:solidFill>
            <a:prstDash val="solid"/>
            <a:tailEnd type="triangle"/>
          </a:ln>
        </p:spPr>
        <p:txBody>
          <a:bodyPr/>
          <a:lstStyle/>
          <a:p>
            <a:endParaRPr lang="en-US"/>
          </a:p>
        </p:txBody>
      </p:sp>
      <p:sp>
        <p:nvSpPr>
          <p:cNvPr id="18" name="arrow-586"/>
          <p:cNvSpPr/>
          <p:nvPr/>
        </p:nvSpPr>
        <p:spPr>
          <a:xfrm>
            <a:off x="6858000" y="2057400"/>
            <a:ext cx="2697480" cy="640080"/>
          </a:xfrm>
          <a:prstGeom prst="line">
            <a:avLst/>
          </a:prstGeom>
          <a:noFill/>
          <a:ln w="19050">
            <a:solidFill>
              <a:schemeClr val="accent5"/>
            </a:solidFill>
            <a:prstDash val="solid"/>
            <a:tailEnd type="triangle"/>
          </a:ln>
        </p:spPr>
        <p:txBody>
          <a:bodyPr/>
          <a:lstStyle/>
          <a:p>
            <a:endParaRPr lang="en-US"/>
          </a:p>
        </p:txBody>
      </p:sp>
      <p:sp>
        <p:nvSpPr>
          <p:cNvPr id="19" name="card-587"/>
          <p:cNvSpPr/>
          <p:nvPr/>
        </p:nvSpPr>
        <p:spPr>
          <a:xfrm>
            <a:off x="8503920" y="2697480"/>
            <a:ext cx="2103120" cy="868680"/>
          </a:xfrm>
          <a:prstGeom prst="roundRect">
            <a:avLst>
              <a:gd name="adj" fmla="val 10526"/>
            </a:avLst>
          </a:prstGeom>
          <a:solidFill>
            <a:schemeClr val="accent1"/>
          </a:solidFill>
          <a:ln w="9525">
            <a:solidFill>
              <a:schemeClr val="accent1"/>
            </a:solidFill>
            <a:prstDash val="solid"/>
          </a:ln>
        </p:spPr>
        <p:txBody>
          <a:bodyPr/>
          <a:lstStyle/>
          <a:p>
            <a:endParaRPr lang="en-US"/>
          </a:p>
        </p:txBody>
      </p:sp>
      <p:sp>
        <p:nvSpPr>
          <p:cNvPr id="20" name="text-588"/>
          <p:cNvSpPr txBox="1"/>
          <p:nvPr/>
        </p:nvSpPr>
        <p:spPr>
          <a:xfrm>
            <a:off x="8503920" y="2697480"/>
            <a:ext cx="2103120" cy="868680"/>
          </a:xfrm>
          <a:prstGeom prst="rect">
            <a:avLst/>
          </a:prstGeom>
          <a:noFill/>
          <a:ln/>
        </p:spPr>
        <p:txBody>
          <a:bodyPr wrap="square" lIns="0" tIns="0" rIns="0" bIns="0" rtlCol="0" anchor="ctr"/>
          <a:lstStyle/>
          <a:p>
            <a:pPr marL="0" indent="0" algn="ctr">
              <a:buNone/>
            </a:pPr>
            <a:r>
              <a:rPr lang="en-US" sz="1300" b="1" dirty="0">
                <a:solidFill>
                  <a:schemeClr val="tx2"/>
                </a:solidFill>
              </a:rPr>
              <a:t>Sub-agent 3: community &amp; docs</a:t>
            </a:r>
            <a:endParaRPr lang="en-US" sz="1300" dirty="0"/>
          </a:p>
        </p:txBody>
      </p:sp>
      <p:sp>
        <p:nvSpPr>
          <p:cNvPr id="21" name="text-589"/>
          <p:cNvSpPr txBox="1"/>
          <p:nvPr/>
        </p:nvSpPr>
        <p:spPr>
          <a:xfrm>
            <a:off x="8503920" y="3611880"/>
            <a:ext cx="2103120" cy="457200"/>
          </a:xfrm>
          <a:prstGeom prst="rect">
            <a:avLst/>
          </a:prstGeom>
          <a:noFill/>
          <a:ln/>
        </p:spPr>
        <p:txBody>
          <a:bodyPr wrap="square" lIns="0" tIns="0" rIns="0" bIns="0" rtlCol="0" anchor="t"/>
          <a:lstStyle/>
          <a:p>
            <a:pPr marL="0" indent="0" algn="ctr">
              <a:buNone/>
            </a:pPr>
            <a:r>
              <a:rPr lang="en-US" sz="1100" i="1" dirty="0">
                <a:solidFill>
                  <a:schemeClr val="accent5"/>
                </a:solidFill>
              </a:rPr>
              <a:t>searches web · reads pages · writes summary</a:t>
            </a:r>
            <a:endParaRPr lang="en-US" sz="1100" dirty="0"/>
          </a:p>
        </p:txBody>
      </p:sp>
      <p:sp>
        <p:nvSpPr>
          <p:cNvPr id="22" name="arrow-590"/>
          <p:cNvSpPr/>
          <p:nvPr/>
        </p:nvSpPr>
        <p:spPr>
          <a:xfrm flipH="1">
            <a:off x="6858000" y="4114800"/>
            <a:ext cx="2697480" cy="457200"/>
          </a:xfrm>
          <a:prstGeom prst="line">
            <a:avLst/>
          </a:prstGeom>
          <a:noFill/>
          <a:ln w="19050">
            <a:solidFill>
              <a:schemeClr val="accent5"/>
            </a:solidFill>
            <a:prstDash val="solid"/>
            <a:tailEnd type="triangle"/>
          </a:ln>
        </p:spPr>
        <p:txBody>
          <a:bodyPr/>
          <a:lstStyle/>
          <a:p>
            <a:endParaRPr lang="en-US"/>
          </a:p>
        </p:txBody>
      </p:sp>
      <p:sp>
        <p:nvSpPr>
          <p:cNvPr id="23" name="card-591"/>
          <p:cNvSpPr/>
          <p:nvPr/>
        </p:nvSpPr>
        <p:spPr>
          <a:xfrm>
            <a:off x="5303520" y="4572000"/>
            <a:ext cx="3108960" cy="548640"/>
          </a:xfrm>
          <a:prstGeom prst="roundRect">
            <a:avLst>
              <a:gd name="adj" fmla="val 16667"/>
            </a:avLst>
          </a:prstGeom>
          <a:solidFill>
            <a:schemeClr val="tx2"/>
          </a:solidFill>
          <a:ln w="9525">
            <a:solidFill>
              <a:schemeClr val="tx2"/>
            </a:solidFill>
            <a:prstDash val="solid"/>
          </a:ln>
        </p:spPr>
        <p:txBody>
          <a:bodyPr/>
          <a:lstStyle/>
          <a:p>
            <a:endParaRPr lang="en-US"/>
          </a:p>
        </p:txBody>
      </p:sp>
      <p:sp>
        <p:nvSpPr>
          <p:cNvPr id="24" name="text-592"/>
          <p:cNvSpPr txBox="1"/>
          <p:nvPr/>
        </p:nvSpPr>
        <p:spPr>
          <a:xfrm>
            <a:off x="5303520" y="4572000"/>
            <a:ext cx="3108960" cy="548640"/>
          </a:xfrm>
          <a:prstGeom prst="rect">
            <a:avLst/>
          </a:prstGeom>
          <a:noFill/>
          <a:ln/>
        </p:spPr>
        <p:txBody>
          <a:bodyPr wrap="square" lIns="0" tIns="0" rIns="0" bIns="0" rtlCol="0" anchor="ctr"/>
          <a:lstStyle/>
          <a:p>
            <a:pPr marL="0" indent="0" algn="ctr">
              <a:buNone/>
            </a:pPr>
            <a:r>
              <a:rPr lang="en-US" sz="1300" b="1" dirty="0">
                <a:solidFill>
                  <a:schemeClr val="bg1"/>
                </a:solidFill>
              </a:rPr>
              <a:t>Lead agent: synthesize findings</a:t>
            </a:r>
            <a:endParaRPr lang="en-US" sz="1300" dirty="0"/>
          </a:p>
        </p:txBody>
      </p:sp>
      <p:sp>
        <p:nvSpPr>
          <p:cNvPr id="25" name="arrow-593"/>
          <p:cNvSpPr/>
          <p:nvPr/>
        </p:nvSpPr>
        <p:spPr>
          <a:xfrm>
            <a:off x="8458200" y="4846320"/>
            <a:ext cx="457200" cy="914"/>
          </a:xfrm>
          <a:prstGeom prst="line">
            <a:avLst/>
          </a:prstGeom>
          <a:noFill/>
          <a:ln w="25400">
            <a:solidFill>
              <a:schemeClr val="accent5"/>
            </a:solidFill>
            <a:prstDash val="solid"/>
            <a:tailEnd type="triangle"/>
          </a:ln>
        </p:spPr>
        <p:txBody>
          <a:bodyPr/>
          <a:lstStyle/>
          <a:p>
            <a:endParaRPr lang="en-US"/>
          </a:p>
        </p:txBody>
      </p:sp>
      <p:sp>
        <p:nvSpPr>
          <p:cNvPr id="26" name="card-594"/>
          <p:cNvSpPr/>
          <p:nvPr/>
        </p:nvSpPr>
        <p:spPr>
          <a:xfrm>
            <a:off x="8961120" y="4572000"/>
            <a:ext cx="1463040" cy="54864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27" name="text-595"/>
          <p:cNvSpPr txBox="1"/>
          <p:nvPr/>
        </p:nvSpPr>
        <p:spPr>
          <a:xfrm>
            <a:off x="8961120" y="4572000"/>
            <a:ext cx="1463040" cy="548640"/>
          </a:xfrm>
          <a:prstGeom prst="rect">
            <a:avLst/>
          </a:prstGeom>
          <a:noFill/>
          <a:ln/>
        </p:spPr>
        <p:txBody>
          <a:bodyPr wrap="square" lIns="0" tIns="0" rIns="0" bIns="0" rtlCol="0" anchor="ctr"/>
          <a:lstStyle/>
          <a:p>
            <a:pPr marL="0" indent="0" algn="ctr">
              <a:buNone/>
            </a:pPr>
            <a:r>
              <a:rPr lang="en-US" sz="1300" b="1" dirty="0">
                <a:solidFill>
                  <a:schemeClr val="bg1"/>
                </a:solidFill>
              </a:rPr>
              <a:t>Citation check</a:t>
            </a:r>
            <a:endParaRPr lang="en-US" sz="1300" dirty="0"/>
          </a:p>
        </p:txBody>
      </p:sp>
      <p:sp>
        <p:nvSpPr>
          <p:cNvPr id="28" name="arrow-596"/>
          <p:cNvSpPr/>
          <p:nvPr/>
        </p:nvSpPr>
        <p:spPr>
          <a:xfrm>
            <a:off x="10469880" y="4846320"/>
            <a:ext cx="274320" cy="914"/>
          </a:xfrm>
          <a:prstGeom prst="line">
            <a:avLst/>
          </a:prstGeom>
          <a:noFill/>
          <a:ln w="25400">
            <a:solidFill>
              <a:schemeClr val="accent5"/>
            </a:solidFill>
            <a:prstDash val="solid"/>
            <a:tailEnd type="triangle"/>
          </a:ln>
        </p:spPr>
        <p:txBody>
          <a:bodyPr/>
          <a:lstStyle/>
          <a:p>
            <a:endParaRPr lang="en-US"/>
          </a:p>
        </p:txBody>
      </p:sp>
      <p:sp>
        <p:nvSpPr>
          <p:cNvPr id="29" name="card-597"/>
          <p:cNvSpPr/>
          <p:nvPr/>
        </p:nvSpPr>
        <p:spPr>
          <a:xfrm>
            <a:off x="10789920" y="4572000"/>
            <a:ext cx="822960" cy="548640"/>
          </a:xfrm>
          <a:prstGeom prst="roundRect">
            <a:avLst>
              <a:gd name="adj" fmla="val 16667"/>
            </a:avLst>
          </a:prstGeom>
          <a:solidFill>
            <a:schemeClr val="accent4"/>
          </a:solidFill>
          <a:ln w="9525">
            <a:solidFill>
              <a:schemeClr val="accent4"/>
            </a:solidFill>
            <a:prstDash val="solid"/>
          </a:ln>
        </p:spPr>
        <p:txBody>
          <a:bodyPr/>
          <a:lstStyle/>
          <a:p>
            <a:endParaRPr lang="en-US"/>
          </a:p>
        </p:txBody>
      </p:sp>
      <p:sp>
        <p:nvSpPr>
          <p:cNvPr id="30" name="text-598"/>
          <p:cNvSpPr txBox="1"/>
          <p:nvPr/>
        </p:nvSpPr>
        <p:spPr>
          <a:xfrm>
            <a:off x="10789920" y="4572000"/>
            <a:ext cx="822960" cy="548640"/>
          </a:xfrm>
          <a:prstGeom prst="rect">
            <a:avLst/>
          </a:prstGeom>
          <a:noFill/>
          <a:ln/>
        </p:spPr>
        <p:txBody>
          <a:bodyPr wrap="square" lIns="0" tIns="0" rIns="0" bIns="0" rtlCol="0" anchor="ctr"/>
          <a:lstStyle/>
          <a:p>
            <a:pPr marL="0" indent="0" algn="ctr">
              <a:buNone/>
            </a:pPr>
            <a:r>
              <a:rPr lang="en-US" sz="1300" b="1" dirty="0">
                <a:solidFill>
                  <a:schemeClr val="tx2"/>
                </a:solidFill>
              </a:rPr>
              <a:t>Report</a:t>
            </a:r>
            <a:endParaRPr lang="en-US" sz="1300" dirty="0"/>
          </a:p>
        </p:txBody>
      </p:sp>
      <p:sp>
        <p:nvSpPr>
          <p:cNvPr id="31" name="text-599"/>
          <p:cNvSpPr txBox="1"/>
          <p:nvPr/>
        </p:nvSpPr>
        <p:spPr>
          <a:xfrm>
            <a:off x="548640" y="2880360"/>
            <a:ext cx="3017520" cy="457200"/>
          </a:xfrm>
          <a:prstGeom prst="rect">
            <a:avLst/>
          </a:prstGeom>
          <a:noFill/>
          <a:ln/>
        </p:spPr>
        <p:txBody>
          <a:bodyPr wrap="square" lIns="0" tIns="0" rIns="0" bIns="0" rtlCol="0" anchor="t"/>
          <a:lstStyle/>
          <a:p>
            <a:pPr marL="0" indent="0" algn="r">
              <a:buNone/>
            </a:pPr>
            <a:r>
              <a:rPr lang="en-US" sz="1800" b="1" i="1" dirty="0">
                <a:solidFill>
                  <a:schemeClr val="accent1"/>
                </a:solidFill>
              </a:rPr>
              <a:t>run in parallel</a:t>
            </a:r>
            <a:endParaRPr lang="en-US" sz="1800" dirty="0"/>
          </a:p>
        </p:txBody>
      </p:sp>
      <p:sp>
        <p:nvSpPr>
          <p:cNvPr id="32" name="card-600"/>
          <p:cNvSpPr/>
          <p:nvPr/>
        </p:nvSpPr>
        <p:spPr>
          <a:xfrm>
            <a:off x="548640" y="5440680"/>
            <a:ext cx="4480560" cy="731520"/>
          </a:xfrm>
          <a:prstGeom prst="roundRect">
            <a:avLst>
              <a:gd name="adj" fmla="val 12500"/>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33" name="text-601"/>
          <p:cNvSpPr txBox="1"/>
          <p:nvPr/>
        </p:nvSpPr>
        <p:spPr>
          <a:xfrm>
            <a:off x="731520" y="5440680"/>
            <a:ext cx="4206240" cy="731520"/>
          </a:xfrm>
          <a:prstGeom prst="rect">
            <a:avLst/>
          </a:prstGeom>
          <a:noFill/>
          <a:ln/>
        </p:spPr>
        <p:txBody>
          <a:bodyPr wrap="square" lIns="0" tIns="0" rIns="0" bIns="0" rtlCol="0" anchor="ctr"/>
          <a:lstStyle/>
          <a:p>
            <a:pPr marL="0" indent="0" algn="l">
              <a:buNone/>
            </a:pPr>
            <a:r>
              <a:rPr lang="en-US" sz="1200" dirty="0">
                <a:solidFill>
                  <a:schemeClr val="tx1"/>
                </a:solidFill>
              </a:rPr>
              <a:t>Lessons Anthropic reported: teach the lead to delegate clearly, scale effort to the query, and let sub-agents start broad then narrow down.</a:t>
            </a:r>
            <a:endParaRPr lang="en-US" sz="12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What goes wrong — and how to prevent it</a:t>
            </a:r>
            <a:endParaRPr lang="en-US" sz="3400" dirty="0"/>
          </a:p>
        </p:txBody>
      </p:sp>
      <p:sp>
        <p:nvSpPr>
          <p:cNvPr id="3" name="text-602"/>
          <p:cNvSpPr txBox="1"/>
          <p:nvPr/>
        </p:nvSpPr>
        <p:spPr>
          <a:xfrm>
            <a:off x="822960" y="1325880"/>
            <a:ext cx="2743200" cy="365760"/>
          </a:xfrm>
          <a:prstGeom prst="rect">
            <a:avLst/>
          </a:prstGeom>
          <a:noFill/>
          <a:ln/>
        </p:spPr>
        <p:txBody>
          <a:bodyPr wrap="square" lIns="0" tIns="0" rIns="0" bIns="0" rtlCol="0" anchor="t"/>
          <a:lstStyle/>
          <a:p>
            <a:pPr marL="0" indent="0" algn="l">
              <a:buNone/>
            </a:pPr>
            <a:r>
              <a:rPr lang="en-US" sz="1400" b="1" dirty="0">
                <a:solidFill>
                  <a:schemeClr val="accent6"/>
                </a:solidFill>
              </a:rPr>
              <a:t>Failure mode</a:t>
            </a:r>
            <a:endParaRPr lang="en-US" sz="1400" dirty="0"/>
          </a:p>
        </p:txBody>
      </p:sp>
      <p:sp>
        <p:nvSpPr>
          <p:cNvPr id="4" name="text-603"/>
          <p:cNvSpPr txBox="1"/>
          <p:nvPr/>
        </p:nvSpPr>
        <p:spPr>
          <a:xfrm>
            <a:off x="3749040" y="1325880"/>
            <a:ext cx="3200400" cy="365760"/>
          </a:xfrm>
          <a:prstGeom prst="rect">
            <a:avLst/>
          </a:prstGeom>
          <a:noFill/>
          <a:ln/>
        </p:spPr>
        <p:txBody>
          <a:bodyPr wrap="square" lIns="0" tIns="0" rIns="0" bIns="0" rtlCol="0" anchor="t"/>
          <a:lstStyle/>
          <a:p>
            <a:pPr marL="0" indent="0" algn="l">
              <a:buNone/>
            </a:pPr>
            <a:r>
              <a:rPr lang="en-US" sz="1400" b="1" dirty="0">
                <a:solidFill>
                  <a:schemeClr val="accent5"/>
                </a:solidFill>
              </a:rPr>
              <a:t>What you'll see</a:t>
            </a:r>
            <a:endParaRPr lang="en-US" sz="1400" dirty="0"/>
          </a:p>
        </p:txBody>
      </p:sp>
      <p:sp>
        <p:nvSpPr>
          <p:cNvPr id="5" name="text-604"/>
          <p:cNvSpPr txBox="1"/>
          <p:nvPr/>
        </p:nvSpPr>
        <p:spPr>
          <a:xfrm>
            <a:off x="7589520" y="1325880"/>
            <a:ext cx="3200400" cy="365760"/>
          </a:xfrm>
          <a:prstGeom prst="rect">
            <a:avLst/>
          </a:prstGeom>
          <a:noFill/>
          <a:ln/>
        </p:spPr>
        <p:txBody>
          <a:bodyPr wrap="square" lIns="0" tIns="0" rIns="0" bIns="0" rtlCol="0" anchor="t"/>
          <a:lstStyle/>
          <a:p>
            <a:pPr marL="0" indent="0" algn="l">
              <a:buNone/>
            </a:pPr>
            <a:r>
              <a:rPr lang="en-US" sz="1400" b="1" dirty="0">
                <a:solidFill>
                  <a:schemeClr val="accent2"/>
                </a:solidFill>
              </a:rPr>
              <a:t>Fix</a:t>
            </a:r>
            <a:endParaRPr lang="en-US" sz="1400" dirty="0"/>
          </a:p>
        </p:txBody>
      </p:sp>
      <p:sp>
        <p:nvSpPr>
          <p:cNvPr id="6" name="card-605"/>
          <p:cNvSpPr/>
          <p:nvPr/>
        </p:nvSpPr>
        <p:spPr>
          <a:xfrm>
            <a:off x="548640" y="1783080"/>
            <a:ext cx="11064240" cy="731520"/>
          </a:xfrm>
          <a:prstGeom prst="roundRect">
            <a:avLst>
              <a:gd name="adj" fmla="val 12500"/>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7" name="text-606"/>
          <p:cNvSpPr txBox="1"/>
          <p:nvPr/>
        </p:nvSpPr>
        <p:spPr>
          <a:xfrm>
            <a:off x="822960" y="1783080"/>
            <a:ext cx="2743200" cy="731520"/>
          </a:xfrm>
          <a:prstGeom prst="rect">
            <a:avLst/>
          </a:prstGeom>
          <a:noFill/>
          <a:ln/>
        </p:spPr>
        <p:txBody>
          <a:bodyPr wrap="square" lIns="0" tIns="0" rIns="0" bIns="0" rtlCol="0" anchor="ctr"/>
          <a:lstStyle/>
          <a:p>
            <a:pPr marL="0" indent="0" algn="l">
              <a:buNone/>
            </a:pPr>
            <a:r>
              <a:rPr lang="en-US" sz="1500" b="1" dirty="0">
                <a:solidFill>
                  <a:schemeClr val="tx2"/>
                </a:solidFill>
              </a:rPr>
              <a:t>Vague delegation</a:t>
            </a:r>
            <a:endParaRPr lang="en-US" sz="1500" dirty="0"/>
          </a:p>
        </p:txBody>
      </p:sp>
      <p:sp>
        <p:nvSpPr>
          <p:cNvPr id="8" name="text-607"/>
          <p:cNvSpPr txBox="1"/>
          <p:nvPr/>
        </p:nvSpPr>
        <p:spPr>
          <a:xfrm>
            <a:off x="3749040" y="1783080"/>
            <a:ext cx="3566160" cy="731520"/>
          </a:xfrm>
          <a:prstGeom prst="rect">
            <a:avLst/>
          </a:prstGeom>
          <a:noFill/>
          <a:ln/>
        </p:spPr>
        <p:txBody>
          <a:bodyPr wrap="square" lIns="0" tIns="0" rIns="0" bIns="0" rtlCol="0" anchor="ctr"/>
          <a:lstStyle/>
          <a:p>
            <a:pPr marL="0" indent="0" algn="l">
              <a:buNone/>
            </a:pPr>
            <a:r>
              <a:rPr lang="en-US" sz="1400" dirty="0">
                <a:solidFill>
                  <a:schemeClr val="tx1"/>
                </a:solidFill>
              </a:rPr>
              <a:t>Sub-agents duplicate work or wander off</a:t>
            </a:r>
            <a:endParaRPr lang="en-US" sz="1400" dirty="0"/>
          </a:p>
        </p:txBody>
      </p:sp>
      <p:sp>
        <p:nvSpPr>
          <p:cNvPr id="9" name="text-608"/>
          <p:cNvSpPr txBox="1"/>
          <p:nvPr/>
        </p:nvSpPr>
        <p:spPr>
          <a:xfrm>
            <a:off x="7178040" y="1783080"/>
            <a:ext cx="365760" cy="731520"/>
          </a:xfrm>
          <a:prstGeom prst="rect">
            <a:avLst/>
          </a:prstGeom>
          <a:noFill/>
          <a:ln/>
        </p:spPr>
        <p:txBody>
          <a:bodyPr wrap="square" lIns="0" tIns="0" rIns="0" bIns="0" rtlCol="0" anchor="ctr"/>
          <a:lstStyle/>
          <a:p>
            <a:pPr marL="0" indent="0" algn="l">
              <a:buNone/>
            </a:pPr>
            <a:r>
              <a:rPr lang="en-US" sz="1800" b="1" dirty="0">
                <a:solidFill>
                  <a:schemeClr val="accent2"/>
                </a:solidFill>
              </a:rPr>
              <a:t>→</a:t>
            </a:r>
            <a:endParaRPr lang="en-US" sz="1800" dirty="0"/>
          </a:p>
        </p:txBody>
      </p:sp>
      <p:sp>
        <p:nvSpPr>
          <p:cNvPr id="10" name="text-609"/>
          <p:cNvSpPr txBox="1"/>
          <p:nvPr/>
        </p:nvSpPr>
        <p:spPr>
          <a:xfrm>
            <a:off x="7589520" y="1783080"/>
            <a:ext cx="3840480" cy="731520"/>
          </a:xfrm>
          <a:prstGeom prst="rect">
            <a:avLst/>
          </a:prstGeom>
          <a:noFill/>
          <a:ln/>
        </p:spPr>
        <p:txBody>
          <a:bodyPr wrap="square" lIns="0" tIns="0" rIns="0" bIns="0" rtlCol="0" anchor="ctr"/>
          <a:lstStyle/>
          <a:p>
            <a:pPr marL="0" indent="0" algn="l">
              <a:buNone/>
            </a:pPr>
            <a:r>
              <a:rPr lang="en-US" sz="1400" b="1" dirty="0">
                <a:solidFill>
                  <a:schemeClr val="tx1"/>
                </a:solidFill>
              </a:rPr>
              <a:t>Brief each one: goal, scope, tools, output format</a:t>
            </a:r>
            <a:endParaRPr lang="en-US" sz="1400" dirty="0"/>
          </a:p>
        </p:txBody>
      </p:sp>
      <p:sp>
        <p:nvSpPr>
          <p:cNvPr id="11" name="card-610"/>
          <p:cNvSpPr/>
          <p:nvPr/>
        </p:nvSpPr>
        <p:spPr>
          <a:xfrm>
            <a:off x="548640" y="2651760"/>
            <a:ext cx="11064240" cy="731520"/>
          </a:xfrm>
          <a:prstGeom prst="roundRect">
            <a:avLst>
              <a:gd name="adj" fmla="val 12500"/>
            </a:avLst>
          </a:prstGeom>
          <a:solidFill>
            <a:schemeClr val="bg1"/>
          </a:solidFill>
          <a:ln w="9525">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sp>
        <p:nvSpPr>
          <p:cNvPr id="12" name="text-611"/>
          <p:cNvSpPr txBox="1"/>
          <p:nvPr/>
        </p:nvSpPr>
        <p:spPr>
          <a:xfrm>
            <a:off x="822960" y="2651760"/>
            <a:ext cx="2743200" cy="731520"/>
          </a:xfrm>
          <a:prstGeom prst="rect">
            <a:avLst/>
          </a:prstGeom>
          <a:noFill/>
          <a:ln/>
        </p:spPr>
        <p:txBody>
          <a:bodyPr wrap="square" lIns="0" tIns="0" rIns="0" bIns="0" rtlCol="0" anchor="ctr"/>
          <a:lstStyle/>
          <a:p>
            <a:pPr marL="0" indent="0" algn="l">
              <a:buNone/>
            </a:pPr>
            <a:r>
              <a:rPr lang="en-US" sz="1500" b="1" dirty="0">
                <a:solidFill>
                  <a:schemeClr val="tx2"/>
                </a:solidFill>
              </a:rPr>
              <a:t>Telephone game</a:t>
            </a:r>
            <a:endParaRPr lang="en-US" sz="1500" dirty="0"/>
          </a:p>
        </p:txBody>
      </p:sp>
      <p:sp>
        <p:nvSpPr>
          <p:cNvPr id="13" name="text-612"/>
          <p:cNvSpPr txBox="1"/>
          <p:nvPr/>
        </p:nvSpPr>
        <p:spPr>
          <a:xfrm>
            <a:off x="3749040" y="2651760"/>
            <a:ext cx="3566160" cy="731520"/>
          </a:xfrm>
          <a:prstGeom prst="rect">
            <a:avLst/>
          </a:prstGeom>
          <a:noFill/>
          <a:ln/>
        </p:spPr>
        <p:txBody>
          <a:bodyPr wrap="square" lIns="0" tIns="0" rIns="0" bIns="0" rtlCol="0" anchor="ctr"/>
          <a:lstStyle/>
          <a:p>
            <a:pPr marL="0" indent="0" algn="l">
              <a:buNone/>
            </a:pPr>
            <a:r>
              <a:rPr lang="en-US" sz="1400" dirty="0">
                <a:solidFill>
                  <a:schemeClr val="tx1"/>
                </a:solidFill>
              </a:rPr>
              <a:t>Details lost passing summaries around</a:t>
            </a:r>
            <a:endParaRPr lang="en-US" sz="1400" dirty="0"/>
          </a:p>
        </p:txBody>
      </p:sp>
      <p:sp>
        <p:nvSpPr>
          <p:cNvPr id="14" name="text-613"/>
          <p:cNvSpPr txBox="1"/>
          <p:nvPr/>
        </p:nvSpPr>
        <p:spPr>
          <a:xfrm>
            <a:off x="7178040" y="2651760"/>
            <a:ext cx="365760" cy="731520"/>
          </a:xfrm>
          <a:prstGeom prst="rect">
            <a:avLst/>
          </a:prstGeom>
          <a:noFill/>
          <a:ln/>
        </p:spPr>
        <p:txBody>
          <a:bodyPr wrap="square" lIns="0" tIns="0" rIns="0" bIns="0" rtlCol="0" anchor="ctr"/>
          <a:lstStyle/>
          <a:p>
            <a:pPr marL="0" indent="0" algn="l">
              <a:buNone/>
            </a:pPr>
            <a:r>
              <a:rPr lang="en-US" sz="1800" b="1" dirty="0">
                <a:solidFill>
                  <a:schemeClr val="accent2"/>
                </a:solidFill>
              </a:rPr>
              <a:t>→</a:t>
            </a:r>
            <a:endParaRPr lang="en-US" sz="1800" dirty="0"/>
          </a:p>
        </p:txBody>
      </p:sp>
      <p:sp>
        <p:nvSpPr>
          <p:cNvPr id="15" name="text-614"/>
          <p:cNvSpPr txBox="1"/>
          <p:nvPr/>
        </p:nvSpPr>
        <p:spPr>
          <a:xfrm>
            <a:off x="7589520" y="2651760"/>
            <a:ext cx="3840480" cy="731520"/>
          </a:xfrm>
          <a:prstGeom prst="rect">
            <a:avLst/>
          </a:prstGeom>
          <a:noFill/>
          <a:ln/>
        </p:spPr>
        <p:txBody>
          <a:bodyPr wrap="square" lIns="0" tIns="0" rIns="0" bIns="0" rtlCol="0" anchor="ctr"/>
          <a:lstStyle/>
          <a:p>
            <a:pPr marL="0" indent="0" algn="l">
              <a:buNone/>
            </a:pPr>
            <a:r>
              <a:rPr lang="en-US" sz="1400" b="1" dirty="0">
                <a:solidFill>
                  <a:schemeClr val="tx1"/>
                </a:solidFill>
              </a:rPr>
              <a:t>Share files/artifacts, not just chat messages</a:t>
            </a:r>
            <a:endParaRPr lang="en-US" sz="1400" dirty="0"/>
          </a:p>
        </p:txBody>
      </p:sp>
      <p:sp>
        <p:nvSpPr>
          <p:cNvPr id="16" name="card-615"/>
          <p:cNvSpPr/>
          <p:nvPr/>
        </p:nvSpPr>
        <p:spPr>
          <a:xfrm>
            <a:off x="548640" y="3520440"/>
            <a:ext cx="11064240" cy="731520"/>
          </a:xfrm>
          <a:prstGeom prst="roundRect">
            <a:avLst>
              <a:gd name="adj" fmla="val 12500"/>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7" name="text-616"/>
          <p:cNvSpPr txBox="1"/>
          <p:nvPr/>
        </p:nvSpPr>
        <p:spPr>
          <a:xfrm>
            <a:off x="822960" y="3520440"/>
            <a:ext cx="2743200" cy="731520"/>
          </a:xfrm>
          <a:prstGeom prst="rect">
            <a:avLst/>
          </a:prstGeom>
          <a:noFill/>
          <a:ln/>
        </p:spPr>
        <p:txBody>
          <a:bodyPr wrap="square" lIns="0" tIns="0" rIns="0" bIns="0" rtlCol="0" anchor="ctr"/>
          <a:lstStyle/>
          <a:p>
            <a:pPr marL="0" indent="0" algn="l">
              <a:buNone/>
            </a:pPr>
            <a:r>
              <a:rPr lang="en-US" sz="1500" b="1" dirty="0">
                <a:solidFill>
                  <a:schemeClr val="tx2"/>
                </a:solidFill>
              </a:rPr>
              <a:t>Error cascades</a:t>
            </a:r>
            <a:endParaRPr lang="en-US" sz="1500" dirty="0"/>
          </a:p>
        </p:txBody>
      </p:sp>
      <p:sp>
        <p:nvSpPr>
          <p:cNvPr id="18" name="text-617"/>
          <p:cNvSpPr txBox="1"/>
          <p:nvPr/>
        </p:nvSpPr>
        <p:spPr>
          <a:xfrm>
            <a:off x="3749040" y="3520440"/>
            <a:ext cx="3566160" cy="731520"/>
          </a:xfrm>
          <a:prstGeom prst="rect">
            <a:avLst/>
          </a:prstGeom>
          <a:noFill/>
          <a:ln/>
        </p:spPr>
        <p:txBody>
          <a:bodyPr wrap="square" lIns="0" tIns="0" rIns="0" bIns="0" rtlCol="0" anchor="ctr"/>
          <a:lstStyle/>
          <a:p>
            <a:pPr marL="0" indent="0" algn="l">
              <a:buNone/>
            </a:pPr>
            <a:r>
              <a:rPr lang="en-US" sz="1400" dirty="0">
                <a:solidFill>
                  <a:schemeClr val="tx1"/>
                </a:solidFill>
              </a:rPr>
              <a:t>One bad result poisons the final answer</a:t>
            </a:r>
            <a:endParaRPr lang="en-US" sz="1400" dirty="0"/>
          </a:p>
        </p:txBody>
      </p:sp>
      <p:sp>
        <p:nvSpPr>
          <p:cNvPr id="19" name="text-618"/>
          <p:cNvSpPr txBox="1"/>
          <p:nvPr/>
        </p:nvSpPr>
        <p:spPr>
          <a:xfrm>
            <a:off x="7178040" y="3520440"/>
            <a:ext cx="365760" cy="731520"/>
          </a:xfrm>
          <a:prstGeom prst="rect">
            <a:avLst/>
          </a:prstGeom>
          <a:noFill/>
          <a:ln/>
        </p:spPr>
        <p:txBody>
          <a:bodyPr wrap="square" lIns="0" tIns="0" rIns="0" bIns="0" rtlCol="0" anchor="ctr"/>
          <a:lstStyle/>
          <a:p>
            <a:pPr marL="0" indent="0" algn="l">
              <a:buNone/>
            </a:pPr>
            <a:r>
              <a:rPr lang="en-US" sz="1800" b="1" dirty="0">
                <a:solidFill>
                  <a:schemeClr val="accent2"/>
                </a:solidFill>
              </a:rPr>
              <a:t>→</a:t>
            </a:r>
            <a:endParaRPr lang="en-US" sz="1800" dirty="0"/>
          </a:p>
        </p:txBody>
      </p:sp>
      <p:sp>
        <p:nvSpPr>
          <p:cNvPr id="20" name="text-619"/>
          <p:cNvSpPr txBox="1"/>
          <p:nvPr/>
        </p:nvSpPr>
        <p:spPr>
          <a:xfrm>
            <a:off x="7589520" y="3520440"/>
            <a:ext cx="3840480" cy="731520"/>
          </a:xfrm>
          <a:prstGeom prst="rect">
            <a:avLst/>
          </a:prstGeom>
          <a:noFill/>
          <a:ln/>
        </p:spPr>
        <p:txBody>
          <a:bodyPr wrap="square" lIns="0" tIns="0" rIns="0" bIns="0" rtlCol="0" anchor="ctr"/>
          <a:lstStyle/>
          <a:p>
            <a:pPr marL="0" indent="0" algn="l">
              <a:buNone/>
            </a:pPr>
            <a:r>
              <a:rPr lang="en-US" sz="1400" b="1" dirty="0">
                <a:solidFill>
                  <a:schemeClr val="tx1"/>
                </a:solidFill>
              </a:rPr>
              <a:t>Add a verifier or evaluator step</a:t>
            </a:r>
            <a:endParaRPr lang="en-US" sz="1400" dirty="0"/>
          </a:p>
        </p:txBody>
      </p:sp>
      <p:sp>
        <p:nvSpPr>
          <p:cNvPr id="21" name="card-620"/>
          <p:cNvSpPr/>
          <p:nvPr/>
        </p:nvSpPr>
        <p:spPr>
          <a:xfrm>
            <a:off x="548640" y="4389120"/>
            <a:ext cx="11064240" cy="731520"/>
          </a:xfrm>
          <a:prstGeom prst="roundRect">
            <a:avLst>
              <a:gd name="adj" fmla="val 12500"/>
            </a:avLst>
          </a:prstGeom>
          <a:solidFill>
            <a:schemeClr val="bg1"/>
          </a:solidFill>
          <a:ln w="9525">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sp>
        <p:nvSpPr>
          <p:cNvPr id="22" name="text-621"/>
          <p:cNvSpPr txBox="1"/>
          <p:nvPr/>
        </p:nvSpPr>
        <p:spPr>
          <a:xfrm>
            <a:off x="822960" y="4389120"/>
            <a:ext cx="2743200" cy="731520"/>
          </a:xfrm>
          <a:prstGeom prst="rect">
            <a:avLst/>
          </a:prstGeom>
          <a:noFill/>
          <a:ln/>
        </p:spPr>
        <p:txBody>
          <a:bodyPr wrap="square" lIns="0" tIns="0" rIns="0" bIns="0" rtlCol="0" anchor="ctr"/>
          <a:lstStyle/>
          <a:p>
            <a:pPr marL="0" indent="0" algn="l">
              <a:buNone/>
            </a:pPr>
            <a:r>
              <a:rPr lang="en-US" sz="1500" b="1" dirty="0">
                <a:solidFill>
                  <a:schemeClr val="tx2"/>
                </a:solidFill>
              </a:rPr>
              <a:t>Runaway cost</a:t>
            </a:r>
            <a:endParaRPr lang="en-US" sz="1500" dirty="0"/>
          </a:p>
        </p:txBody>
      </p:sp>
      <p:sp>
        <p:nvSpPr>
          <p:cNvPr id="23" name="text-622"/>
          <p:cNvSpPr txBox="1"/>
          <p:nvPr/>
        </p:nvSpPr>
        <p:spPr>
          <a:xfrm>
            <a:off x="3749040" y="4389120"/>
            <a:ext cx="3566160" cy="731520"/>
          </a:xfrm>
          <a:prstGeom prst="rect">
            <a:avLst/>
          </a:prstGeom>
          <a:noFill/>
          <a:ln/>
        </p:spPr>
        <p:txBody>
          <a:bodyPr wrap="square" lIns="0" tIns="0" rIns="0" bIns="0" rtlCol="0" anchor="ctr"/>
          <a:lstStyle/>
          <a:p>
            <a:pPr marL="0" indent="0" algn="l">
              <a:buNone/>
            </a:pPr>
            <a:r>
              <a:rPr lang="en-US" sz="1400" dirty="0">
                <a:solidFill>
                  <a:schemeClr val="tx1"/>
                </a:solidFill>
              </a:rPr>
              <a:t>Too many agents, too many tool calls</a:t>
            </a:r>
            <a:endParaRPr lang="en-US" sz="1400" dirty="0"/>
          </a:p>
        </p:txBody>
      </p:sp>
      <p:sp>
        <p:nvSpPr>
          <p:cNvPr id="24" name="text-623"/>
          <p:cNvSpPr txBox="1"/>
          <p:nvPr/>
        </p:nvSpPr>
        <p:spPr>
          <a:xfrm>
            <a:off x="7178040" y="4389120"/>
            <a:ext cx="365760" cy="731520"/>
          </a:xfrm>
          <a:prstGeom prst="rect">
            <a:avLst/>
          </a:prstGeom>
          <a:noFill/>
          <a:ln/>
        </p:spPr>
        <p:txBody>
          <a:bodyPr wrap="square" lIns="0" tIns="0" rIns="0" bIns="0" rtlCol="0" anchor="ctr"/>
          <a:lstStyle/>
          <a:p>
            <a:pPr marL="0" indent="0" algn="l">
              <a:buNone/>
            </a:pPr>
            <a:r>
              <a:rPr lang="en-US" sz="1800" b="1" dirty="0">
                <a:solidFill>
                  <a:schemeClr val="accent2"/>
                </a:solidFill>
              </a:rPr>
              <a:t>→</a:t>
            </a:r>
            <a:endParaRPr lang="en-US" sz="1800" dirty="0"/>
          </a:p>
        </p:txBody>
      </p:sp>
      <p:sp>
        <p:nvSpPr>
          <p:cNvPr id="25" name="text-624"/>
          <p:cNvSpPr txBox="1"/>
          <p:nvPr/>
        </p:nvSpPr>
        <p:spPr>
          <a:xfrm>
            <a:off x="7589520" y="4389120"/>
            <a:ext cx="3840480" cy="731520"/>
          </a:xfrm>
          <a:prstGeom prst="rect">
            <a:avLst/>
          </a:prstGeom>
          <a:noFill/>
          <a:ln/>
        </p:spPr>
        <p:txBody>
          <a:bodyPr wrap="square" lIns="0" tIns="0" rIns="0" bIns="0" rtlCol="0" anchor="ctr"/>
          <a:lstStyle/>
          <a:p>
            <a:pPr marL="0" indent="0" algn="l">
              <a:buNone/>
            </a:pPr>
            <a:r>
              <a:rPr lang="en-US" sz="1400" b="1" dirty="0">
                <a:solidFill>
                  <a:schemeClr val="tx1"/>
                </a:solidFill>
              </a:rPr>
              <a:t>Budget effort to the task; cap steps</a:t>
            </a:r>
            <a:endParaRPr lang="en-US" sz="1400" dirty="0"/>
          </a:p>
        </p:txBody>
      </p:sp>
      <p:sp>
        <p:nvSpPr>
          <p:cNvPr id="26" name="card-625"/>
          <p:cNvSpPr/>
          <p:nvPr/>
        </p:nvSpPr>
        <p:spPr>
          <a:xfrm>
            <a:off x="548640" y="5257800"/>
            <a:ext cx="11064240" cy="731520"/>
          </a:xfrm>
          <a:prstGeom prst="roundRect">
            <a:avLst>
              <a:gd name="adj" fmla="val 12500"/>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7" name="text-626"/>
          <p:cNvSpPr txBox="1"/>
          <p:nvPr/>
        </p:nvSpPr>
        <p:spPr>
          <a:xfrm>
            <a:off x="822960" y="5257800"/>
            <a:ext cx="2743200" cy="731520"/>
          </a:xfrm>
          <a:prstGeom prst="rect">
            <a:avLst/>
          </a:prstGeom>
          <a:noFill/>
          <a:ln/>
        </p:spPr>
        <p:txBody>
          <a:bodyPr wrap="square" lIns="0" tIns="0" rIns="0" bIns="0" rtlCol="0" anchor="ctr"/>
          <a:lstStyle/>
          <a:p>
            <a:pPr marL="0" indent="0" algn="l">
              <a:buNone/>
            </a:pPr>
            <a:r>
              <a:rPr lang="en-US" sz="1500" b="1" dirty="0">
                <a:solidFill>
                  <a:schemeClr val="tx2"/>
                </a:solidFill>
              </a:rPr>
              <a:t>Irreversible actions</a:t>
            </a:r>
            <a:endParaRPr lang="en-US" sz="1500" dirty="0"/>
          </a:p>
        </p:txBody>
      </p:sp>
      <p:sp>
        <p:nvSpPr>
          <p:cNvPr id="28" name="text-627"/>
          <p:cNvSpPr txBox="1"/>
          <p:nvPr/>
        </p:nvSpPr>
        <p:spPr>
          <a:xfrm>
            <a:off x="3749040" y="5257800"/>
            <a:ext cx="3566160" cy="731520"/>
          </a:xfrm>
          <a:prstGeom prst="rect">
            <a:avLst/>
          </a:prstGeom>
          <a:noFill/>
          <a:ln/>
        </p:spPr>
        <p:txBody>
          <a:bodyPr wrap="square" lIns="0" tIns="0" rIns="0" bIns="0" rtlCol="0" anchor="ctr"/>
          <a:lstStyle/>
          <a:p>
            <a:pPr marL="0" indent="0" algn="l">
              <a:buNone/>
            </a:pPr>
            <a:r>
              <a:rPr lang="en-US" sz="1400" dirty="0">
                <a:solidFill>
                  <a:schemeClr val="tx1"/>
                </a:solidFill>
              </a:rPr>
              <a:t>An agent sends, deletes or buys by mistake</a:t>
            </a:r>
            <a:endParaRPr lang="en-US" sz="1400" dirty="0"/>
          </a:p>
        </p:txBody>
      </p:sp>
      <p:sp>
        <p:nvSpPr>
          <p:cNvPr id="29" name="text-628"/>
          <p:cNvSpPr txBox="1"/>
          <p:nvPr/>
        </p:nvSpPr>
        <p:spPr>
          <a:xfrm>
            <a:off x="7178040" y="5257800"/>
            <a:ext cx="365760" cy="731520"/>
          </a:xfrm>
          <a:prstGeom prst="rect">
            <a:avLst/>
          </a:prstGeom>
          <a:noFill/>
          <a:ln/>
        </p:spPr>
        <p:txBody>
          <a:bodyPr wrap="square" lIns="0" tIns="0" rIns="0" bIns="0" rtlCol="0" anchor="ctr"/>
          <a:lstStyle/>
          <a:p>
            <a:pPr marL="0" indent="0" algn="l">
              <a:buNone/>
            </a:pPr>
            <a:r>
              <a:rPr lang="en-US" sz="1800" b="1" dirty="0">
                <a:solidFill>
                  <a:schemeClr val="accent2"/>
                </a:solidFill>
              </a:rPr>
              <a:t>→</a:t>
            </a:r>
            <a:endParaRPr lang="en-US" sz="1800" dirty="0"/>
          </a:p>
        </p:txBody>
      </p:sp>
      <p:sp>
        <p:nvSpPr>
          <p:cNvPr id="30" name="text-629"/>
          <p:cNvSpPr txBox="1"/>
          <p:nvPr/>
        </p:nvSpPr>
        <p:spPr>
          <a:xfrm>
            <a:off x="7589520" y="5257800"/>
            <a:ext cx="3840480" cy="731520"/>
          </a:xfrm>
          <a:prstGeom prst="rect">
            <a:avLst/>
          </a:prstGeom>
          <a:noFill/>
          <a:ln/>
        </p:spPr>
        <p:txBody>
          <a:bodyPr wrap="square" lIns="0" tIns="0" rIns="0" bIns="0" rtlCol="0" anchor="ctr"/>
          <a:lstStyle/>
          <a:p>
            <a:pPr marL="0" indent="0" algn="l">
              <a:buNone/>
            </a:pPr>
            <a:r>
              <a:rPr lang="en-US" sz="1400" b="1" dirty="0">
                <a:solidFill>
                  <a:schemeClr val="tx1"/>
                </a:solidFill>
              </a:rPr>
              <a:t>Human approval before anything permanent</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7315200" cy="457200"/>
          </a:xfrm>
          <a:prstGeom prst="rect">
            <a:avLst/>
          </a:prstGeom>
          <a:noFill/>
          <a:ln/>
        </p:spPr>
        <p:txBody>
          <a:bodyPr wrap="square" lIns="0" tIns="0" rIns="0" bIns="0" rtlCol="0"/>
          <a:lstStyle/>
          <a:p>
            <a:pPr marL="0" indent="0">
              <a:buNone/>
            </a:pPr>
            <a:r>
              <a:rPr lang="en-US" sz="1600" b="1" kern="0" spc="400" dirty="0">
                <a:solidFill>
                  <a:schemeClr val="accent1"/>
                </a:solidFill>
                <a:latin typeface="Calibri" pitchFamily="34" charset="0"/>
                <a:ea typeface="Calibri" pitchFamily="34" charset="-122"/>
                <a:cs typeface="Calibri" pitchFamily="34" charset="-120"/>
              </a:rPr>
              <a:t>BONUS</a:t>
            </a:r>
            <a:endParaRPr lang="en-US" sz="1600" dirty="0"/>
          </a:p>
        </p:txBody>
      </p:sp>
      <p:sp>
        <p:nvSpPr>
          <p:cNvPr id="3" name="Text 0"/>
          <p:cNvSpPr>
            <a:spLocks noGrp="1"/>
          </p:cNvSpPr>
          <p:nvPr>
            <p:ph type="title" idx="101" hasCustomPrompt="1"/>
          </p:nvPr>
        </p:nvSpPr>
        <p:spPr>
          <a:xfrm>
            <a:off x="731520" y="2331720"/>
            <a:ext cx="7498080" cy="128016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Using Claude well</a:t>
            </a:r>
            <a:endParaRPr lang="en-US" sz="4400" dirty="0"/>
          </a:p>
        </p:txBody>
      </p:sp>
      <p:sp>
        <p:nvSpPr>
          <p:cNvPr id="4" name="Text 0"/>
          <p:cNvSpPr>
            <a:spLocks noGrp="1"/>
          </p:cNvSpPr>
          <p:nvPr>
            <p:ph type="body" idx="102" hasCustomPrompt="1"/>
          </p:nvPr>
        </p:nvSpPr>
        <p:spPr>
          <a:xfrm>
            <a:off x="731520" y="3703320"/>
            <a:ext cx="6949440" cy="1280160"/>
          </a:xfrm>
          <a:prstGeom prst="rect">
            <a:avLst/>
          </a:prstGeom>
          <a:noFill/>
          <a:ln/>
        </p:spPr>
        <p:txBody>
          <a:bodyPr wrap="square" lIns="0" tIns="0" rIns="0" bIns="0" rtlCol="0" anchor="t"/>
          <a:lstStyle/>
          <a:p>
            <a:pPr marL="0" indent="0" algn="l">
              <a:buNone/>
            </a:pPr>
            <a:r>
              <a:rPr lang="en-US" sz="1800" dirty="0">
                <a:solidFill>
                  <a:schemeClr val="bg2"/>
                </a:solidFill>
                <a:latin typeface="Calibri" pitchFamily="34" charset="0"/>
                <a:ea typeface="Calibri" pitchFamily="34" charset="-122"/>
                <a:cs typeface="Calibri" pitchFamily="34" charset="-120"/>
              </a:rPr>
              <a:t>Turning the concepts into everyday habits — and where each idea shows up in Claude.</a:t>
            </a:r>
            <a:endParaRPr lang="en-US" sz="1800" dirty="0"/>
          </a:p>
        </p:txBody>
      </p:sp>
      <p:sp>
        <p:nvSpPr>
          <p:cNvPr id="5" name="card-630"/>
          <p:cNvSpPr/>
          <p:nvPr/>
        </p:nvSpPr>
        <p:spPr>
          <a:xfrm>
            <a:off x="8595360" y="1554480"/>
            <a:ext cx="438912" cy="502920"/>
          </a:xfrm>
          <a:prstGeom prst="roundRect">
            <a:avLst>
              <a:gd name="adj" fmla="val 20833"/>
            </a:avLst>
          </a:prstGeom>
          <a:solidFill>
            <a:schemeClr val="accent1"/>
          </a:solidFill>
          <a:ln w="9525">
            <a:solidFill>
              <a:schemeClr val="accent1"/>
            </a:solidFill>
            <a:prstDash val="solid"/>
          </a:ln>
        </p:spPr>
        <p:txBody>
          <a:bodyPr/>
          <a:lstStyle/>
          <a:p>
            <a:endParaRPr lang="en-US"/>
          </a:p>
        </p:txBody>
      </p:sp>
      <p:sp>
        <p:nvSpPr>
          <p:cNvPr id="6" name="text-631"/>
          <p:cNvSpPr txBox="1"/>
          <p:nvPr/>
        </p:nvSpPr>
        <p:spPr>
          <a:xfrm>
            <a:off x="8595360" y="1554480"/>
            <a:ext cx="438912" cy="502920"/>
          </a:xfrm>
          <a:prstGeom prst="rect">
            <a:avLst/>
          </a:prstGeom>
          <a:noFill/>
          <a:ln/>
        </p:spPr>
        <p:txBody>
          <a:bodyPr wrap="square" lIns="0" tIns="0" rIns="0" bIns="0" rtlCol="0" anchor="ctr"/>
          <a:lstStyle/>
          <a:p>
            <a:pPr marL="0" indent="0" algn="ctr">
              <a:buNone/>
            </a:pPr>
            <a:r>
              <a:rPr lang="en-US" sz="1400" b="1" dirty="0">
                <a:solidFill>
                  <a:schemeClr val="tx2"/>
                </a:solidFill>
              </a:rPr>
              <a:t>Be</a:t>
            </a:r>
            <a:endParaRPr lang="en-US" sz="1400" dirty="0"/>
          </a:p>
        </p:txBody>
      </p:sp>
      <p:sp>
        <p:nvSpPr>
          <p:cNvPr id="7" name="card-632"/>
          <p:cNvSpPr/>
          <p:nvPr/>
        </p:nvSpPr>
        <p:spPr>
          <a:xfrm>
            <a:off x="9144000" y="1554480"/>
            <a:ext cx="1271016"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8" name="text-633"/>
          <p:cNvSpPr txBox="1"/>
          <p:nvPr/>
        </p:nvSpPr>
        <p:spPr>
          <a:xfrm>
            <a:off x="9144000" y="1554480"/>
            <a:ext cx="1271016" cy="502920"/>
          </a:xfrm>
          <a:prstGeom prst="rect">
            <a:avLst/>
          </a:prstGeom>
          <a:noFill/>
          <a:ln/>
        </p:spPr>
        <p:txBody>
          <a:bodyPr wrap="square" lIns="0" tIns="0" rIns="0" bIns="0" rtlCol="0" anchor="ctr"/>
          <a:lstStyle/>
          <a:p>
            <a:pPr marL="0" indent="0" algn="ctr">
              <a:buNone/>
            </a:pPr>
            <a:r>
              <a:rPr lang="en-US" sz="1400" b="1" dirty="0">
                <a:solidFill>
                  <a:schemeClr val="tx2"/>
                </a:solidFill>
              </a:rPr>
              <a:t> specific</a:t>
            </a:r>
            <a:endParaRPr lang="en-US" sz="1400" dirty="0"/>
          </a:p>
        </p:txBody>
      </p:sp>
      <p:sp>
        <p:nvSpPr>
          <p:cNvPr id="9" name="card-634"/>
          <p:cNvSpPr/>
          <p:nvPr/>
        </p:nvSpPr>
        <p:spPr>
          <a:xfrm>
            <a:off x="8915400" y="2240280"/>
            <a:ext cx="676656" cy="502920"/>
          </a:xfrm>
          <a:prstGeom prst="roundRect">
            <a:avLst>
              <a:gd name="adj" fmla="val 18182"/>
            </a:avLst>
          </a:prstGeom>
          <a:solidFill>
            <a:schemeClr val="accent2"/>
          </a:solidFill>
          <a:ln w="9525">
            <a:solidFill>
              <a:schemeClr val="accent2"/>
            </a:solidFill>
            <a:prstDash val="solid"/>
          </a:ln>
        </p:spPr>
        <p:txBody>
          <a:bodyPr/>
          <a:lstStyle/>
          <a:p>
            <a:endParaRPr lang="en-US"/>
          </a:p>
        </p:txBody>
      </p:sp>
      <p:sp>
        <p:nvSpPr>
          <p:cNvPr id="10" name="text-635"/>
          <p:cNvSpPr txBox="1"/>
          <p:nvPr/>
        </p:nvSpPr>
        <p:spPr>
          <a:xfrm>
            <a:off x="8915400" y="2240280"/>
            <a:ext cx="676656" cy="502920"/>
          </a:xfrm>
          <a:prstGeom prst="rect">
            <a:avLst/>
          </a:prstGeom>
          <a:noFill/>
          <a:ln/>
        </p:spPr>
        <p:txBody>
          <a:bodyPr wrap="square" lIns="0" tIns="0" rIns="0" bIns="0" rtlCol="0" anchor="ctr"/>
          <a:lstStyle/>
          <a:p>
            <a:pPr marL="0" indent="0" algn="ctr">
              <a:buNone/>
            </a:pPr>
            <a:r>
              <a:rPr lang="en-US" sz="1400" b="1" dirty="0">
                <a:solidFill>
                  <a:schemeClr val="tx2"/>
                </a:solidFill>
              </a:rPr>
              <a:t>Give</a:t>
            </a:r>
            <a:endParaRPr lang="en-US" sz="1400" dirty="0"/>
          </a:p>
        </p:txBody>
      </p:sp>
      <p:sp>
        <p:nvSpPr>
          <p:cNvPr id="11" name="card-636"/>
          <p:cNvSpPr/>
          <p:nvPr/>
        </p:nvSpPr>
        <p:spPr>
          <a:xfrm>
            <a:off x="9701784" y="2240280"/>
            <a:ext cx="1152144"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2" name="text-637"/>
          <p:cNvSpPr txBox="1"/>
          <p:nvPr/>
        </p:nvSpPr>
        <p:spPr>
          <a:xfrm>
            <a:off x="9701784" y="2240280"/>
            <a:ext cx="1152144" cy="502920"/>
          </a:xfrm>
          <a:prstGeom prst="rect">
            <a:avLst/>
          </a:prstGeom>
          <a:noFill/>
          <a:ln/>
        </p:spPr>
        <p:txBody>
          <a:bodyPr wrap="square" lIns="0" tIns="0" rIns="0" bIns="0" rtlCol="0" anchor="ctr"/>
          <a:lstStyle/>
          <a:p>
            <a:pPr marL="0" indent="0" algn="ctr">
              <a:buNone/>
            </a:pPr>
            <a:r>
              <a:rPr lang="en-US" sz="1400" b="1" dirty="0">
                <a:solidFill>
                  <a:schemeClr val="tx2"/>
                </a:solidFill>
              </a:rPr>
              <a:t> context</a:t>
            </a:r>
            <a:endParaRPr lang="en-US" sz="1400" dirty="0"/>
          </a:p>
        </p:txBody>
      </p:sp>
      <p:sp>
        <p:nvSpPr>
          <p:cNvPr id="13" name="card-638"/>
          <p:cNvSpPr/>
          <p:nvPr/>
        </p:nvSpPr>
        <p:spPr>
          <a:xfrm>
            <a:off x="8595360" y="2926080"/>
            <a:ext cx="1033272" cy="502920"/>
          </a:xfrm>
          <a:prstGeom prst="roundRect">
            <a:avLst>
              <a:gd name="adj" fmla="val 18182"/>
            </a:avLst>
          </a:prstGeom>
          <a:solidFill>
            <a:schemeClr val="accent3"/>
          </a:solidFill>
          <a:ln w="9525">
            <a:solidFill>
              <a:schemeClr val="accent3"/>
            </a:solidFill>
            <a:prstDash val="solid"/>
          </a:ln>
        </p:spPr>
        <p:txBody>
          <a:bodyPr/>
          <a:lstStyle/>
          <a:p>
            <a:endParaRPr lang="en-US"/>
          </a:p>
        </p:txBody>
      </p:sp>
      <p:sp>
        <p:nvSpPr>
          <p:cNvPr id="14" name="text-639"/>
          <p:cNvSpPr txBox="1"/>
          <p:nvPr/>
        </p:nvSpPr>
        <p:spPr>
          <a:xfrm>
            <a:off x="8595360" y="2926080"/>
            <a:ext cx="1033272" cy="502920"/>
          </a:xfrm>
          <a:prstGeom prst="rect">
            <a:avLst/>
          </a:prstGeom>
          <a:noFill/>
          <a:ln/>
        </p:spPr>
        <p:txBody>
          <a:bodyPr wrap="square" lIns="0" tIns="0" rIns="0" bIns="0" rtlCol="0" anchor="ctr"/>
          <a:lstStyle/>
          <a:p>
            <a:pPr marL="0" indent="0" algn="ctr">
              <a:buNone/>
            </a:pPr>
            <a:r>
              <a:rPr lang="en-US" sz="1400" b="1" dirty="0">
                <a:solidFill>
                  <a:schemeClr val="tx2"/>
                </a:solidFill>
              </a:rPr>
              <a:t>Iterate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Six prompting habits that make the biggest difference</a:t>
            </a:r>
            <a:endParaRPr lang="en-US" sz="3400" dirty="0"/>
          </a:p>
        </p:txBody>
      </p:sp>
      <p:sp>
        <p:nvSpPr>
          <p:cNvPr id="3" name="card-640"/>
          <p:cNvSpPr/>
          <p:nvPr/>
        </p:nvSpPr>
        <p:spPr>
          <a:xfrm>
            <a:off x="548640" y="1371600"/>
            <a:ext cx="352044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4" name="icon-bg-641"/>
          <p:cNvSpPr/>
          <p:nvPr/>
        </p:nvSpPr>
        <p:spPr>
          <a:xfrm>
            <a:off x="822960" y="1645920"/>
            <a:ext cx="685800" cy="685800"/>
          </a:xfrm>
          <a:prstGeom prst="ellipse">
            <a:avLst/>
          </a:prstGeom>
          <a:solidFill>
            <a:srgbClr val="D97757"/>
          </a:solidFill>
          <a:ln w="12700">
            <a:solidFill>
              <a:srgbClr val="D97757"/>
            </a:solidFill>
            <a:prstDash val="solid"/>
          </a:ln>
        </p:spPr>
        <p:txBody>
          <a:bodyPr/>
          <a:lstStyle/>
          <a:p>
            <a:endParaRPr lang="en-US"/>
          </a:p>
        </p:txBody>
      </p:sp>
      <p:pic>
        <p:nvPicPr>
          <p:cNvPr id="5" name="icon-642" descr="icon"/>
          <p:cNvPicPr>
            <a:picLocks noChangeAspect="1"/>
          </p:cNvPicPr>
          <p:nvPr/>
        </p:nvPicPr>
        <p:blipFill>
          <a:blip r:embed="rId3"/>
          <a:stretch>
            <a:fillRect/>
          </a:stretch>
        </p:blipFill>
        <p:spPr>
          <a:xfrm>
            <a:off x="994410" y="1817370"/>
            <a:ext cx="342900" cy="342900"/>
          </a:xfrm>
          <a:prstGeom prst="rect">
            <a:avLst/>
          </a:prstGeom>
        </p:spPr>
      </p:pic>
      <p:sp>
        <p:nvSpPr>
          <p:cNvPr id="6" name="text-643"/>
          <p:cNvSpPr txBox="1"/>
          <p:nvPr/>
        </p:nvSpPr>
        <p:spPr>
          <a:xfrm>
            <a:off x="822960" y="2468880"/>
            <a:ext cx="3017520" cy="411480"/>
          </a:xfrm>
          <a:prstGeom prst="rect">
            <a:avLst/>
          </a:prstGeom>
          <a:noFill/>
          <a:ln/>
        </p:spPr>
        <p:txBody>
          <a:bodyPr wrap="square" lIns="0" tIns="0" rIns="0" bIns="0" rtlCol="0" anchor="t"/>
          <a:lstStyle/>
          <a:p>
            <a:pPr marL="0" indent="0" algn="l">
              <a:buNone/>
            </a:pPr>
            <a:r>
              <a:rPr lang="en-US" sz="1700" b="1" dirty="0">
                <a:solidFill>
                  <a:schemeClr val="tx2"/>
                </a:solidFill>
              </a:rPr>
              <a:t>Be clear and specific</a:t>
            </a:r>
            <a:endParaRPr lang="en-US" sz="1700" dirty="0"/>
          </a:p>
        </p:txBody>
      </p:sp>
      <p:sp>
        <p:nvSpPr>
          <p:cNvPr id="7" name="text-644"/>
          <p:cNvSpPr txBox="1"/>
          <p:nvPr/>
        </p:nvSpPr>
        <p:spPr>
          <a:xfrm>
            <a:off x="822960" y="2880360"/>
            <a:ext cx="3017520" cy="640080"/>
          </a:xfrm>
          <a:prstGeom prst="rect">
            <a:avLst/>
          </a:prstGeom>
          <a:noFill/>
          <a:ln/>
        </p:spPr>
        <p:txBody>
          <a:bodyPr wrap="square" lIns="0" tIns="0" rIns="0" bIns="0" rtlCol="0" anchor="t"/>
          <a:lstStyle/>
          <a:p>
            <a:pPr marL="0" indent="0" algn="l">
              <a:buNone/>
            </a:pPr>
            <a:r>
              <a:rPr lang="en-US" sz="1400" dirty="0">
                <a:solidFill>
                  <a:schemeClr val="tx1"/>
                </a:solidFill>
              </a:rPr>
              <a:t>Say the goal, audience, length and format you want.</a:t>
            </a:r>
            <a:endParaRPr lang="en-US" sz="1400" dirty="0"/>
          </a:p>
        </p:txBody>
      </p:sp>
      <p:sp>
        <p:nvSpPr>
          <p:cNvPr id="8" name="card-645"/>
          <p:cNvSpPr/>
          <p:nvPr/>
        </p:nvSpPr>
        <p:spPr>
          <a:xfrm>
            <a:off x="4297680" y="1371600"/>
            <a:ext cx="352044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9" name="icon-bg-646"/>
          <p:cNvSpPr/>
          <p:nvPr/>
        </p:nvSpPr>
        <p:spPr>
          <a:xfrm>
            <a:off x="4572000" y="1645920"/>
            <a:ext cx="685800" cy="685800"/>
          </a:xfrm>
          <a:prstGeom prst="ellipse">
            <a:avLst/>
          </a:prstGeom>
          <a:solidFill>
            <a:srgbClr val="2A9D8F"/>
          </a:solidFill>
          <a:ln w="12700">
            <a:solidFill>
              <a:srgbClr val="2A9D8F"/>
            </a:solidFill>
            <a:prstDash val="solid"/>
          </a:ln>
        </p:spPr>
        <p:txBody>
          <a:bodyPr/>
          <a:lstStyle/>
          <a:p>
            <a:endParaRPr lang="en-US"/>
          </a:p>
        </p:txBody>
      </p:sp>
      <p:pic>
        <p:nvPicPr>
          <p:cNvPr id="10" name="icon-647" descr="icon"/>
          <p:cNvPicPr>
            <a:picLocks noChangeAspect="1"/>
          </p:cNvPicPr>
          <p:nvPr/>
        </p:nvPicPr>
        <p:blipFill>
          <a:blip r:embed="rId4"/>
          <a:stretch>
            <a:fillRect/>
          </a:stretch>
        </p:blipFill>
        <p:spPr>
          <a:xfrm>
            <a:off x="4743450" y="1817370"/>
            <a:ext cx="342900" cy="342900"/>
          </a:xfrm>
          <a:prstGeom prst="rect">
            <a:avLst/>
          </a:prstGeom>
        </p:spPr>
      </p:pic>
      <p:sp>
        <p:nvSpPr>
          <p:cNvPr id="11" name="text-648"/>
          <p:cNvSpPr txBox="1"/>
          <p:nvPr/>
        </p:nvSpPr>
        <p:spPr>
          <a:xfrm>
            <a:off x="4572000" y="2468880"/>
            <a:ext cx="3017520" cy="411480"/>
          </a:xfrm>
          <a:prstGeom prst="rect">
            <a:avLst/>
          </a:prstGeom>
          <a:noFill/>
          <a:ln/>
        </p:spPr>
        <p:txBody>
          <a:bodyPr wrap="square" lIns="0" tIns="0" rIns="0" bIns="0" rtlCol="0" anchor="t"/>
          <a:lstStyle/>
          <a:p>
            <a:pPr marL="0" indent="0" algn="l">
              <a:buNone/>
            </a:pPr>
            <a:r>
              <a:rPr lang="en-US" sz="1700" b="1" dirty="0">
                <a:solidFill>
                  <a:schemeClr val="tx2"/>
                </a:solidFill>
              </a:rPr>
              <a:t>Explain the why</a:t>
            </a:r>
            <a:endParaRPr lang="en-US" sz="1700" dirty="0"/>
          </a:p>
        </p:txBody>
      </p:sp>
      <p:sp>
        <p:nvSpPr>
          <p:cNvPr id="12" name="text-649"/>
          <p:cNvSpPr txBox="1"/>
          <p:nvPr/>
        </p:nvSpPr>
        <p:spPr>
          <a:xfrm>
            <a:off x="4572000" y="2880360"/>
            <a:ext cx="3017520" cy="640080"/>
          </a:xfrm>
          <a:prstGeom prst="rect">
            <a:avLst/>
          </a:prstGeom>
          <a:noFill/>
          <a:ln/>
        </p:spPr>
        <p:txBody>
          <a:bodyPr wrap="square" lIns="0" tIns="0" rIns="0" bIns="0" rtlCol="0" anchor="t"/>
          <a:lstStyle/>
          <a:p>
            <a:pPr marL="0" indent="0" algn="l">
              <a:buNone/>
            </a:pPr>
            <a:r>
              <a:rPr lang="en-US" sz="1400" dirty="0">
                <a:solidFill>
                  <a:schemeClr val="tx1"/>
                </a:solidFill>
              </a:rPr>
              <a:t>Context about purpose helps Claude make good judgment calls.</a:t>
            </a:r>
            <a:endParaRPr lang="en-US" sz="1400" dirty="0"/>
          </a:p>
        </p:txBody>
      </p:sp>
      <p:sp>
        <p:nvSpPr>
          <p:cNvPr id="13" name="card-650"/>
          <p:cNvSpPr/>
          <p:nvPr/>
        </p:nvSpPr>
        <p:spPr>
          <a:xfrm>
            <a:off x="8046720" y="1371600"/>
            <a:ext cx="352044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4" name="icon-bg-651"/>
          <p:cNvSpPr/>
          <p:nvPr/>
        </p:nvSpPr>
        <p:spPr>
          <a:xfrm>
            <a:off x="8321040" y="1645920"/>
            <a:ext cx="685800" cy="685800"/>
          </a:xfrm>
          <a:prstGeom prst="ellipse">
            <a:avLst/>
          </a:prstGeom>
          <a:solidFill>
            <a:srgbClr val="6C63FF"/>
          </a:solidFill>
          <a:ln w="12700">
            <a:solidFill>
              <a:srgbClr val="6C63FF"/>
            </a:solidFill>
            <a:prstDash val="solid"/>
          </a:ln>
        </p:spPr>
        <p:txBody>
          <a:bodyPr/>
          <a:lstStyle/>
          <a:p>
            <a:endParaRPr lang="en-US"/>
          </a:p>
        </p:txBody>
      </p:sp>
      <p:pic>
        <p:nvPicPr>
          <p:cNvPr id="15" name="icon-652" descr="icon"/>
          <p:cNvPicPr>
            <a:picLocks noChangeAspect="1"/>
          </p:cNvPicPr>
          <p:nvPr/>
        </p:nvPicPr>
        <p:blipFill>
          <a:blip r:embed="rId5"/>
          <a:stretch>
            <a:fillRect/>
          </a:stretch>
        </p:blipFill>
        <p:spPr>
          <a:xfrm>
            <a:off x="8492490" y="1817370"/>
            <a:ext cx="342900" cy="342900"/>
          </a:xfrm>
          <a:prstGeom prst="rect">
            <a:avLst/>
          </a:prstGeom>
        </p:spPr>
      </p:pic>
      <p:sp>
        <p:nvSpPr>
          <p:cNvPr id="16" name="text-653"/>
          <p:cNvSpPr txBox="1"/>
          <p:nvPr/>
        </p:nvSpPr>
        <p:spPr>
          <a:xfrm>
            <a:off x="8321040" y="2468880"/>
            <a:ext cx="3017520" cy="411480"/>
          </a:xfrm>
          <a:prstGeom prst="rect">
            <a:avLst/>
          </a:prstGeom>
          <a:noFill/>
          <a:ln/>
        </p:spPr>
        <p:txBody>
          <a:bodyPr wrap="square" lIns="0" tIns="0" rIns="0" bIns="0" rtlCol="0" anchor="t"/>
          <a:lstStyle/>
          <a:p>
            <a:pPr marL="0" indent="0" algn="l">
              <a:buNone/>
            </a:pPr>
            <a:r>
              <a:rPr lang="en-US" sz="1700" b="1" dirty="0">
                <a:solidFill>
                  <a:schemeClr val="tx2"/>
                </a:solidFill>
              </a:rPr>
              <a:t>Show examples</a:t>
            </a:r>
            <a:endParaRPr lang="en-US" sz="1700" dirty="0"/>
          </a:p>
        </p:txBody>
      </p:sp>
      <p:sp>
        <p:nvSpPr>
          <p:cNvPr id="17" name="text-654"/>
          <p:cNvSpPr txBox="1"/>
          <p:nvPr/>
        </p:nvSpPr>
        <p:spPr>
          <a:xfrm>
            <a:off x="8321040" y="2880360"/>
            <a:ext cx="3017520" cy="640080"/>
          </a:xfrm>
          <a:prstGeom prst="rect">
            <a:avLst/>
          </a:prstGeom>
          <a:noFill/>
          <a:ln/>
        </p:spPr>
        <p:txBody>
          <a:bodyPr wrap="square" lIns="0" tIns="0" rIns="0" bIns="0" rtlCol="0" anchor="t"/>
          <a:lstStyle/>
          <a:p>
            <a:pPr marL="0" indent="0" algn="l">
              <a:buNone/>
            </a:pPr>
            <a:r>
              <a:rPr lang="en-US" sz="1400" dirty="0">
                <a:solidFill>
                  <a:schemeClr val="tx1"/>
                </a:solidFill>
              </a:rPr>
              <a:t>One or two good (and bad) examples beat paragraphs of rules.</a:t>
            </a:r>
            <a:endParaRPr lang="en-US" sz="1400" dirty="0"/>
          </a:p>
        </p:txBody>
      </p:sp>
      <p:sp>
        <p:nvSpPr>
          <p:cNvPr id="18" name="card-655"/>
          <p:cNvSpPr/>
          <p:nvPr/>
        </p:nvSpPr>
        <p:spPr>
          <a:xfrm>
            <a:off x="548640" y="3794760"/>
            <a:ext cx="352044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9" name="icon-bg-656"/>
          <p:cNvSpPr/>
          <p:nvPr/>
        </p:nvSpPr>
        <p:spPr>
          <a:xfrm>
            <a:off x="822960" y="4069080"/>
            <a:ext cx="685800" cy="685800"/>
          </a:xfrm>
          <a:prstGeom prst="ellipse">
            <a:avLst/>
          </a:prstGeom>
          <a:solidFill>
            <a:srgbClr val="E9B949"/>
          </a:solidFill>
          <a:ln w="12700">
            <a:solidFill>
              <a:srgbClr val="E9B949"/>
            </a:solidFill>
            <a:prstDash val="solid"/>
          </a:ln>
        </p:spPr>
        <p:txBody>
          <a:bodyPr/>
          <a:lstStyle/>
          <a:p>
            <a:endParaRPr lang="en-US"/>
          </a:p>
        </p:txBody>
      </p:sp>
      <p:pic>
        <p:nvPicPr>
          <p:cNvPr id="20" name="icon-657" descr="icon"/>
          <p:cNvPicPr>
            <a:picLocks noChangeAspect="1"/>
          </p:cNvPicPr>
          <p:nvPr/>
        </p:nvPicPr>
        <p:blipFill>
          <a:blip r:embed="rId6"/>
          <a:stretch>
            <a:fillRect/>
          </a:stretch>
        </p:blipFill>
        <p:spPr>
          <a:xfrm>
            <a:off x="994410" y="4240530"/>
            <a:ext cx="342900" cy="342900"/>
          </a:xfrm>
          <a:prstGeom prst="rect">
            <a:avLst/>
          </a:prstGeom>
        </p:spPr>
      </p:pic>
      <p:sp>
        <p:nvSpPr>
          <p:cNvPr id="21" name="text-658"/>
          <p:cNvSpPr txBox="1"/>
          <p:nvPr/>
        </p:nvSpPr>
        <p:spPr>
          <a:xfrm>
            <a:off x="822960" y="4892040"/>
            <a:ext cx="3017520" cy="411480"/>
          </a:xfrm>
          <a:prstGeom prst="rect">
            <a:avLst/>
          </a:prstGeom>
          <a:noFill/>
          <a:ln/>
        </p:spPr>
        <p:txBody>
          <a:bodyPr wrap="square" lIns="0" tIns="0" rIns="0" bIns="0" rtlCol="0" anchor="t"/>
          <a:lstStyle/>
          <a:p>
            <a:pPr marL="0" indent="0" algn="l">
              <a:buNone/>
            </a:pPr>
            <a:r>
              <a:rPr lang="en-US" sz="1700" b="1" dirty="0">
                <a:solidFill>
                  <a:schemeClr val="tx2"/>
                </a:solidFill>
              </a:rPr>
              <a:t>Structure long prompts</a:t>
            </a:r>
            <a:endParaRPr lang="en-US" sz="1700" dirty="0"/>
          </a:p>
        </p:txBody>
      </p:sp>
      <p:sp>
        <p:nvSpPr>
          <p:cNvPr id="22" name="text-659"/>
          <p:cNvSpPr txBox="1"/>
          <p:nvPr/>
        </p:nvSpPr>
        <p:spPr>
          <a:xfrm>
            <a:off x="822960" y="5303520"/>
            <a:ext cx="3017520" cy="640080"/>
          </a:xfrm>
          <a:prstGeom prst="rect">
            <a:avLst/>
          </a:prstGeom>
          <a:noFill/>
          <a:ln/>
        </p:spPr>
        <p:txBody>
          <a:bodyPr wrap="square" lIns="0" tIns="0" rIns="0" bIns="0" rtlCol="0" anchor="t"/>
          <a:lstStyle/>
          <a:p>
            <a:pPr marL="0" indent="0" algn="l">
              <a:buNone/>
            </a:pPr>
            <a:r>
              <a:rPr lang="en-US" sz="1400" dirty="0">
                <a:solidFill>
                  <a:schemeClr val="tx1"/>
                </a:solidFill>
              </a:rPr>
              <a:t>Separate instructions, data and examples, e.g. with &lt;document&gt; tags.</a:t>
            </a:r>
            <a:endParaRPr lang="en-US" sz="1400" dirty="0"/>
          </a:p>
        </p:txBody>
      </p:sp>
      <p:sp>
        <p:nvSpPr>
          <p:cNvPr id="23" name="card-660"/>
          <p:cNvSpPr/>
          <p:nvPr/>
        </p:nvSpPr>
        <p:spPr>
          <a:xfrm>
            <a:off x="4297680" y="3794760"/>
            <a:ext cx="352044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4" name="icon-bg-661"/>
          <p:cNvSpPr/>
          <p:nvPr/>
        </p:nvSpPr>
        <p:spPr>
          <a:xfrm>
            <a:off x="4572000" y="4069080"/>
            <a:ext cx="685800" cy="685800"/>
          </a:xfrm>
          <a:prstGeom prst="ellipse">
            <a:avLst/>
          </a:prstGeom>
          <a:solidFill>
            <a:srgbClr val="1B1F3B"/>
          </a:solidFill>
          <a:ln w="12700">
            <a:solidFill>
              <a:srgbClr val="1B1F3B"/>
            </a:solidFill>
            <a:prstDash val="solid"/>
          </a:ln>
        </p:spPr>
        <p:txBody>
          <a:bodyPr/>
          <a:lstStyle/>
          <a:p>
            <a:endParaRPr lang="en-US"/>
          </a:p>
        </p:txBody>
      </p:sp>
      <p:pic>
        <p:nvPicPr>
          <p:cNvPr id="25" name="icon-662" descr="icon"/>
          <p:cNvPicPr>
            <a:picLocks noChangeAspect="1"/>
          </p:cNvPicPr>
          <p:nvPr/>
        </p:nvPicPr>
        <p:blipFill>
          <a:blip r:embed="rId7"/>
          <a:stretch>
            <a:fillRect/>
          </a:stretch>
        </p:blipFill>
        <p:spPr>
          <a:xfrm>
            <a:off x="4743450" y="4240530"/>
            <a:ext cx="342900" cy="342900"/>
          </a:xfrm>
          <a:prstGeom prst="rect">
            <a:avLst/>
          </a:prstGeom>
        </p:spPr>
      </p:pic>
      <p:sp>
        <p:nvSpPr>
          <p:cNvPr id="26" name="text-663"/>
          <p:cNvSpPr txBox="1"/>
          <p:nvPr/>
        </p:nvSpPr>
        <p:spPr>
          <a:xfrm>
            <a:off x="4572000" y="4892040"/>
            <a:ext cx="3017520" cy="411480"/>
          </a:xfrm>
          <a:prstGeom prst="rect">
            <a:avLst/>
          </a:prstGeom>
          <a:noFill/>
          <a:ln/>
        </p:spPr>
        <p:txBody>
          <a:bodyPr wrap="square" lIns="0" tIns="0" rIns="0" bIns="0" rtlCol="0" anchor="t"/>
          <a:lstStyle/>
          <a:p>
            <a:pPr marL="0" indent="0" algn="l">
              <a:buNone/>
            </a:pPr>
            <a:r>
              <a:rPr lang="en-US" sz="1700" b="1" dirty="0">
                <a:solidFill>
                  <a:schemeClr val="tx2"/>
                </a:solidFill>
              </a:rPr>
              <a:t>Ask it to think first</a:t>
            </a:r>
            <a:endParaRPr lang="en-US" sz="1700" dirty="0"/>
          </a:p>
        </p:txBody>
      </p:sp>
      <p:sp>
        <p:nvSpPr>
          <p:cNvPr id="27" name="text-664"/>
          <p:cNvSpPr txBox="1"/>
          <p:nvPr/>
        </p:nvSpPr>
        <p:spPr>
          <a:xfrm>
            <a:off x="4572000" y="5303520"/>
            <a:ext cx="3017520" cy="640080"/>
          </a:xfrm>
          <a:prstGeom prst="rect">
            <a:avLst/>
          </a:prstGeom>
          <a:noFill/>
          <a:ln/>
        </p:spPr>
        <p:txBody>
          <a:bodyPr wrap="square" lIns="0" tIns="0" rIns="0" bIns="0" rtlCol="0" anchor="t"/>
          <a:lstStyle/>
          <a:p>
            <a:pPr marL="0" indent="0" algn="l">
              <a:buNone/>
            </a:pPr>
            <a:r>
              <a:rPr lang="en-US" sz="1400" dirty="0">
                <a:solidFill>
                  <a:schemeClr val="tx1"/>
                </a:solidFill>
              </a:rPr>
              <a:t>For hard problems, ask for reasoning or a plan before the answer.</a:t>
            </a:r>
            <a:endParaRPr lang="en-US" sz="1400" dirty="0"/>
          </a:p>
        </p:txBody>
      </p:sp>
      <p:sp>
        <p:nvSpPr>
          <p:cNvPr id="28" name="card-665"/>
          <p:cNvSpPr/>
          <p:nvPr/>
        </p:nvSpPr>
        <p:spPr>
          <a:xfrm>
            <a:off x="8046720" y="3794760"/>
            <a:ext cx="3520440" cy="2194560"/>
          </a:xfrm>
          <a:prstGeom prst="roundRect">
            <a:avLst>
              <a:gd name="adj" fmla="val 4167"/>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9" name="icon-bg-666"/>
          <p:cNvSpPr/>
          <p:nvPr/>
        </p:nvSpPr>
        <p:spPr>
          <a:xfrm>
            <a:off x="8321040" y="4069080"/>
            <a:ext cx="685800" cy="685800"/>
          </a:xfrm>
          <a:prstGeom prst="ellipse">
            <a:avLst/>
          </a:prstGeom>
          <a:solidFill>
            <a:srgbClr val="E05263"/>
          </a:solidFill>
          <a:ln w="12700">
            <a:solidFill>
              <a:srgbClr val="E05263"/>
            </a:solidFill>
            <a:prstDash val="solid"/>
          </a:ln>
        </p:spPr>
        <p:txBody>
          <a:bodyPr/>
          <a:lstStyle/>
          <a:p>
            <a:endParaRPr lang="en-US"/>
          </a:p>
        </p:txBody>
      </p:sp>
      <p:pic>
        <p:nvPicPr>
          <p:cNvPr id="30" name="icon-667" descr="icon"/>
          <p:cNvPicPr>
            <a:picLocks noChangeAspect="1"/>
          </p:cNvPicPr>
          <p:nvPr/>
        </p:nvPicPr>
        <p:blipFill>
          <a:blip r:embed="rId8"/>
          <a:stretch>
            <a:fillRect/>
          </a:stretch>
        </p:blipFill>
        <p:spPr>
          <a:xfrm>
            <a:off x="8492490" y="4240530"/>
            <a:ext cx="342900" cy="342900"/>
          </a:xfrm>
          <a:prstGeom prst="rect">
            <a:avLst/>
          </a:prstGeom>
        </p:spPr>
      </p:pic>
      <p:sp>
        <p:nvSpPr>
          <p:cNvPr id="31" name="text-668"/>
          <p:cNvSpPr txBox="1"/>
          <p:nvPr/>
        </p:nvSpPr>
        <p:spPr>
          <a:xfrm>
            <a:off x="8321040" y="4892040"/>
            <a:ext cx="3017520" cy="411480"/>
          </a:xfrm>
          <a:prstGeom prst="rect">
            <a:avLst/>
          </a:prstGeom>
          <a:noFill/>
          <a:ln/>
        </p:spPr>
        <p:txBody>
          <a:bodyPr wrap="square" lIns="0" tIns="0" rIns="0" bIns="0" rtlCol="0" anchor="t"/>
          <a:lstStyle/>
          <a:p>
            <a:pPr marL="0" indent="0" algn="l">
              <a:buNone/>
            </a:pPr>
            <a:r>
              <a:rPr lang="en-US" sz="1700" b="1" dirty="0">
                <a:solidFill>
                  <a:schemeClr val="tx2"/>
                </a:solidFill>
              </a:rPr>
              <a:t>Iterate</a:t>
            </a:r>
            <a:endParaRPr lang="en-US" sz="1700" dirty="0"/>
          </a:p>
        </p:txBody>
      </p:sp>
      <p:sp>
        <p:nvSpPr>
          <p:cNvPr id="32" name="text-669"/>
          <p:cNvSpPr txBox="1"/>
          <p:nvPr/>
        </p:nvSpPr>
        <p:spPr>
          <a:xfrm>
            <a:off x="8321040" y="5303520"/>
            <a:ext cx="3017520" cy="640080"/>
          </a:xfrm>
          <a:prstGeom prst="rect">
            <a:avLst/>
          </a:prstGeom>
          <a:noFill/>
          <a:ln/>
        </p:spPr>
        <p:txBody>
          <a:bodyPr wrap="square" lIns="0" tIns="0" rIns="0" bIns="0" rtlCol="0" anchor="t"/>
          <a:lstStyle/>
          <a:p>
            <a:pPr marL="0" indent="0" algn="l">
              <a:buNone/>
            </a:pPr>
            <a:r>
              <a:rPr lang="en-US" sz="1400" dirty="0">
                <a:solidFill>
                  <a:schemeClr val="tx1"/>
                </a:solidFill>
              </a:rPr>
              <a:t>Treat the first answer as a draft: give feedback, refine, repeat.</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Where each concept shows up when you use Claude</a:t>
            </a:r>
            <a:endParaRPr lang="en-US" sz="3400" dirty="0"/>
          </a:p>
        </p:txBody>
      </p:sp>
      <p:sp>
        <p:nvSpPr>
          <p:cNvPr id="3" name="card-670"/>
          <p:cNvSpPr/>
          <p:nvPr/>
        </p:nvSpPr>
        <p:spPr>
          <a:xfrm>
            <a:off x="548640" y="1325880"/>
            <a:ext cx="11064240" cy="603504"/>
          </a:xfrm>
          <a:prstGeom prst="roundRect">
            <a:avLst>
              <a:gd name="adj" fmla="val 15152"/>
            </a:avLst>
          </a:prstGeom>
          <a:solidFill>
            <a:schemeClr val="tx2"/>
          </a:solidFill>
          <a:ln w="9525">
            <a:solidFill>
              <a:schemeClr val="tx2"/>
            </a:solidFill>
            <a:prstDash val="solid"/>
          </a:ln>
          <a:effectLst>
            <a:outerShdw blurRad="101600" dist="25400" dir="5400000" algn="bl" rotWithShape="0">
              <a:srgbClr val="000000">
                <a:alpha val="12000"/>
              </a:srgbClr>
            </a:outerShdw>
          </a:effectLst>
        </p:spPr>
        <p:txBody>
          <a:bodyPr/>
          <a:lstStyle/>
          <a:p>
            <a:endParaRPr lang="en-US"/>
          </a:p>
        </p:txBody>
      </p:sp>
      <p:sp>
        <p:nvSpPr>
          <p:cNvPr id="4" name="text-671"/>
          <p:cNvSpPr txBox="1"/>
          <p:nvPr/>
        </p:nvSpPr>
        <p:spPr>
          <a:xfrm>
            <a:off x="777240" y="1325880"/>
            <a:ext cx="2194560" cy="603504"/>
          </a:xfrm>
          <a:prstGeom prst="rect">
            <a:avLst/>
          </a:prstGeom>
          <a:noFill/>
          <a:ln/>
        </p:spPr>
        <p:txBody>
          <a:bodyPr wrap="square" lIns="0" tIns="0" rIns="0" bIns="0" rtlCol="0" anchor="ctr"/>
          <a:lstStyle/>
          <a:p>
            <a:pPr marL="0" indent="0" algn="l">
              <a:buNone/>
            </a:pPr>
            <a:r>
              <a:rPr lang="en-US" sz="1500" b="1" dirty="0">
                <a:solidFill>
                  <a:schemeClr val="bg1"/>
                </a:solidFill>
              </a:rPr>
              <a:t>Concept</a:t>
            </a:r>
            <a:endParaRPr lang="en-US" sz="1500" dirty="0"/>
          </a:p>
        </p:txBody>
      </p:sp>
      <p:sp>
        <p:nvSpPr>
          <p:cNvPr id="5" name="text-672"/>
          <p:cNvSpPr txBox="1"/>
          <p:nvPr/>
        </p:nvSpPr>
        <p:spPr>
          <a:xfrm>
            <a:off x="3337560" y="1325880"/>
            <a:ext cx="3291840" cy="603504"/>
          </a:xfrm>
          <a:prstGeom prst="rect">
            <a:avLst/>
          </a:prstGeom>
          <a:noFill/>
          <a:ln/>
        </p:spPr>
        <p:txBody>
          <a:bodyPr wrap="square" lIns="0" tIns="0" rIns="0" bIns="0" rtlCol="0" anchor="ctr"/>
          <a:lstStyle/>
          <a:p>
            <a:pPr marL="0" indent="0" algn="l">
              <a:buNone/>
            </a:pPr>
            <a:r>
              <a:rPr lang="en-US" sz="1500" b="1" dirty="0">
                <a:solidFill>
                  <a:schemeClr val="bg1"/>
                </a:solidFill>
              </a:rPr>
              <a:t>In Claude</a:t>
            </a:r>
            <a:endParaRPr lang="en-US" sz="1500" dirty="0"/>
          </a:p>
        </p:txBody>
      </p:sp>
      <p:sp>
        <p:nvSpPr>
          <p:cNvPr id="6" name="text-673"/>
          <p:cNvSpPr txBox="1"/>
          <p:nvPr/>
        </p:nvSpPr>
        <p:spPr>
          <a:xfrm>
            <a:off x="6995160" y="1325880"/>
            <a:ext cx="4572000" cy="603504"/>
          </a:xfrm>
          <a:prstGeom prst="rect">
            <a:avLst/>
          </a:prstGeom>
          <a:noFill/>
          <a:ln/>
        </p:spPr>
        <p:txBody>
          <a:bodyPr wrap="square" lIns="0" tIns="0" rIns="0" bIns="0" rtlCol="0" anchor="ctr"/>
          <a:lstStyle/>
          <a:p>
            <a:pPr marL="0" indent="0" algn="l">
              <a:buNone/>
            </a:pPr>
            <a:r>
              <a:rPr lang="en-US" sz="1500" b="1" dirty="0">
                <a:solidFill>
                  <a:schemeClr val="bg1"/>
                </a:solidFill>
              </a:rPr>
              <a:t>Try this</a:t>
            </a:r>
            <a:endParaRPr lang="en-US" sz="1500" dirty="0"/>
          </a:p>
        </p:txBody>
      </p:sp>
      <p:sp>
        <p:nvSpPr>
          <p:cNvPr id="7" name="card-674"/>
          <p:cNvSpPr/>
          <p:nvPr/>
        </p:nvSpPr>
        <p:spPr>
          <a:xfrm>
            <a:off x="548640" y="2039112"/>
            <a:ext cx="11064240" cy="603504"/>
          </a:xfrm>
          <a:prstGeom prst="roundRect">
            <a:avLst>
              <a:gd name="adj" fmla="val 1515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8" name="text-675"/>
          <p:cNvSpPr txBox="1"/>
          <p:nvPr/>
        </p:nvSpPr>
        <p:spPr>
          <a:xfrm>
            <a:off x="777240" y="2039112"/>
            <a:ext cx="2194560" cy="603504"/>
          </a:xfrm>
          <a:prstGeom prst="rect">
            <a:avLst/>
          </a:prstGeom>
          <a:noFill/>
          <a:ln/>
        </p:spPr>
        <p:txBody>
          <a:bodyPr wrap="square" lIns="0" tIns="0" rIns="0" bIns="0" rtlCol="0" anchor="ctr"/>
          <a:lstStyle/>
          <a:p>
            <a:pPr marL="0" indent="0" algn="l">
              <a:buNone/>
            </a:pPr>
            <a:r>
              <a:rPr lang="en-US" sz="1400" b="1" dirty="0">
                <a:solidFill>
                  <a:schemeClr val="accent1"/>
                </a:solidFill>
              </a:rPr>
              <a:t>Context window</a:t>
            </a:r>
            <a:endParaRPr lang="en-US" sz="1400" dirty="0"/>
          </a:p>
        </p:txBody>
      </p:sp>
      <p:sp>
        <p:nvSpPr>
          <p:cNvPr id="9" name="text-676"/>
          <p:cNvSpPr txBox="1"/>
          <p:nvPr/>
        </p:nvSpPr>
        <p:spPr>
          <a:xfrm>
            <a:off x="3337560" y="2039112"/>
            <a:ext cx="3291840" cy="603504"/>
          </a:xfrm>
          <a:prstGeom prst="rect">
            <a:avLst/>
          </a:prstGeom>
          <a:noFill/>
          <a:ln/>
        </p:spPr>
        <p:txBody>
          <a:bodyPr wrap="square" lIns="0" tIns="0" rIns="0" bIns="0" rtlCol="0" anchor="ctr"/>
          <a:lstStyle/>
          <a:p>
            <a:pPr marL="0" indent="0" algn="l">
              <a:buNone/>
            </a:pPr>
            <a:r>
              <a:rPr lang="en-US" sz="1400" dirty="0">
                <a:solidFill>
                  <a:schemeClr val="tx1"/>
                </a:solidFill>
              </a:rPr>
              <a:t>Projects &amp; file uploads</a:t>
            </a:r>
            <a:endParaRPr lang="en-US" sz="1400" dirty="0"/>
          </a:p>
        </p:txBody>
      </p:sp>
      <p:sp>
        <p:nvSpPr>
          <p:cNvPr id="10" name="text-677"/>
          <p:cNvSpPr txBox="1"/>
          <p:nvPr/>
        </p:nvSpPr>
        <p:spPr>
          <a:xfrm>
            <a:off x="6995160" y="2039112"/>
            <a:ext cx="4572000" cy="603504"/>
          </a:xfrm>
          <a:prstGeom prst="rect">
            <a:avLst/>
          </a:prstGeom>
          <a:noFill/>
          <a:ln/>
        </p:spPr>
        <p:txBody>
          <a:bodyPr wrap="square" lIns="0" tIns="0" rIns="0" bIns="0" rtlCol="0" anchor="ctr"/>
          <a:lstStyle/>
          <a:p>
            <a:pPr marL="0" indent="0" algn="l">
              <a:buNone/>
            </a:pPr>
            <a:r>
              <a:rPr lang="en-US" sz="1400" dirty="0">
                <a:solidFill>
                  <a:schemeClr val="tx1"/>
                </a:solidFill>
              </a:rPr>
              <a:t>Put reference docs and instructions where every chat can see them</a:t>
            </a:r>
            <a:endParaRPr lang="en-US" sz="1400" dirty="0"/>
          </a:p>
        </p:txBody>
      </p:sp>
      <p:sp>
        <p:nvSpPr>
          <p:cNvPr id="11" name="card-678"/>
          <p:cNvSpPr/>
          <p:nvPr/>
        </p:nvSpPr>
        <p:spPr>
          <a:xfrm>
            <a:off x="548640" y="2752344"/>
            <a:ext cx="11064240" cy="603504"/>
          </a:xfrm>
          <a:prstGeom prst="roundRect">
            <a:avLst>
              <a:gd name="adj" fmla="val 15152"/>
            </a:avLst>
          </a:prstGeom>
          <a:solidFill>
            <a:schemeClr val="bg1"/>
          </a:solidFill>
          <a:ln w="9525">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sp>
        <p:nvSpPr>
          <p:cNvPr id="12" name="text-679"/>
          <p:cNvSpPr txBox="1"/>
          <p:nvPr/>
        </p:nvSpPr>
        <p:spPr>
          <a:xfrm>
            <a:off x="777240" y="2752344"/>
            <a:ext cx="2194560" cy="603504"/>
          </a:xfrm>
          <a:prstGeom prst="rect">
            <a:avLst/>
          </a:prstGeom>
          <a:noFill/>
          <a:ln/>
        </p:spPr>
        <p:txBody>
          <a:bodyPr wrap="square" lIns="0" tIns="0" rIns="0" bIns="0" rtlCol="0" anchor="ctr"/>
          <a:lstStyle/>
          <a:p>
            <a:pPr marL="0" indent="0" algn="l">
              <a:buNone/>
            </a:pPr>
            <a:r>
              <a:rPr lang="en-US" sz="1400" b="1" dirty="0">
                <a:solidFill>
                  <a:schemeClr val="accent1"/>
                </a:solidFill>
              </a:rPr>
              <a:t>RAG / grounding</a:t>
            </a:r>
            <a:endParaRPr lang="en-US" sz="1400" dirty="0"/>
          </a:p>
        </p:txBody>
      </p:sp>
      <p:sp>
        <p:nvSpPr>
          <p:cNvPr id="13" name="text-680"/>
          <p:cNvSpPr txBox="1"/>
          <p:nvPr/>
        </p:nvSpPr>
        <p:spPr>
          <a:xfrm>
            <a:off x="3337560" y="2752344"/>
            <a:ext cx="3291840" cy="603504"/>
          </a:xfrm>
          <a:prstGeom prst="rect">
            <a:avLst/>
          </a:prstGeom>
          <a:noFill/>
          <a:ln/>
        </p:spPr>
        <p:txBody>
          <a:bodyPr wrap="square" lIns="0" tIns="0" rIns="0" bIns="0" rtlCol="0" anchor="ctr"/>
          <a:lstStyle/>
          <a:p>
            <a:pPr marL="0" indent="0" algn="l">
              <a:buNone/>
            </a:pPr>
            <a:r>
              <a:rPr lang="en-US" sz="1400" dirty="0">
                <a:solidFill>
                  <a:schemeClr val="tx1"/>
                </a:solidFill>
              </a:rPr>
              <a:t>Web search, Project knowledge</a:t>
            </a:r>
            <a:endParaRPr lang="en-US" sz="1400" dirty="0"/>
          </a:p>
        </p:txBody>
      </p:sp>
      <p:sp>
        <p:nvSpPr>
          <p:cNvPr id="14" name="text-681"/>
          <p:cNvSpPr txBox="1"/>
          <p:nvPr/>
        </p:nvSpPr>
        <p:spPr>
          <a:xfrm>
            <a:off x="6995160" y="2752344"/>
            <a:ext cx="4572000" cy="603504"/>
          </a:xfrm>
          <a:prstGeom prst="rect">
            <a:avLst/>
          </a:prstGeom>
          <a:noFill/>
          <a:ln/>
        </p:spPr>
        <p:txBody>
          <a:bodyPr wrap="square" lIns="0" tIns="0" rIns="0" bIns="0" rtlCol="0" anchor="ctr"/>
          <a:lstStyle/>
          <a:p>
            <a:pPr marL="0" indent="0" algn="l">
              <a:buNone/>
            </a:pPr>
            <a:r>
              <a:rPr lang="en-US" sz="1400" dirty="0">
                <a:solidFill>
                  <a:schemeClr val="tx1"/>
                </a:solidFill>
              </a:rPr>
              <a:t>Ask Claude to cite sources so you can check its work</a:t>
            </a:r>
            <a:endParaRPr lang="en-US" sz="1400" dirty="0"/>
          </a:p>
        </p:txBody>
      </p:sp>
      <p:sp>
        <p:nvSpPr>
          <p:cNvPr id="15" name="card-682"/>
          <p:cNvSpPr/>
          <p:nvPr/>
        </p:nvSpPr>
        <p:spPr>
          <a:xfrm>
            <a:off x="548640" y="3465576"/>
            <a:ext cx="11064240" cy="603504"/>
          </a:xfrm>
          <a:prstGeom prst="roundRect">
            <a:avLst>
              <a:gd name="adj" fmla="val 1515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16" name="text-683"/>
          <p:cNvSpPr txBox="1"/>
          <p:nvPr/>
        </p:nvSpPr>
        <p:spPr>
          <a:xfrm>
            <a:off x="777240" y="3465576"/>
            <a:ext cx="2194560" cy="603504"/>
          </a:xfrm>
          <a:prstGeom prst="rect">
            <a:avLst/>
          </a:prstGeom>
          <a:noFill/>
          <a:ln/>
        </p:spPr>
        <p:txBody>
          <a:bodyPr wrap="square" lIns="0" tIns="0" rIns="0" bIns="0" rtlCol="0" anchor="ctr"/>
          <a:lstStyle/>
          <a:p>
            <a:pPr marL="0" indent="0" algn="l">
              <a:buNone/>
            </a:pPr>
            <a:r>
              <a:rPr lang="en-US" sz="1400" b="1" dirty="0">
                <a:solidFill>
                  <a:schemeClr val="accent1"/>
                </a:solidFill>
              </a:rPr>
              <a:t>Tools &amp; MCP</a:t>
            </a:r>
            <a:endParaRPr lang="en-US" sz="1400" dirty="0"/>
          </a:p>
        </p:txBody>
      </p:sp>
      <p:sp>
        <p:nvSpPr>
          <p:cNvPr id="17" name="text-684"/>
          <p:cNvSpPr txBox="1"/>
          <p:nvPr/>
        </p:nvSpPr>
        <p:spPr>
          <a:xfrm>
            <a:off x="3337560" y="3465576"/>
            <a:ext cx="3291840" cy="603504"/>
          </a:xfrm>
          <a:prstGeom prst="rect">
            <a:avLst/>
          </a:prstGeom>
          <a:noFill/>
          <a:ln/>
        </p:spPr>
        <p:txBody>
          <a:bodyPr wrap="square" lIns="0" tIns="0" rIns="0" bIns="0" rtlCol="0" anchor="ctr"/>
          <a:lstStyle/>
          <a:p>
            <a:pPr marL="0" indent="0" algn="l">
              <a:buNone/>
            </a:pPr>
            <a:r>
              <a:rPr lang="en-US" sz="1400" dirty="0">
                <a:solidFill>
                  <a:schemeClr val="tx1"/>
                </a:solidFill>
              </a:rPr>
              <a:t>Connectors (Drive, Gmail, GitHub…)</a:t>
            </a:r>
            <a:endParaRPr lang="en-US" sz="1400" dirty="0"/>
          </a:p>
        </p:txBody>
      </p:sp>
      <p:sp>
        <p:nvSpPr>
          <p:cNvPr id="18" name="text-685"/>
          <p:cNvSpPr txBox="1"/>
          <p:nvPr/>
        </p:nvSpPr>
        <p:spPr>
          <a:xfrm>
            <a:off x="6995160" y="3465576"/>
            <a:ext cx="4572000" cy="603504"/>
          </a:xfrm>
          <a:prstGeom prst="rect">
            <a:avLst/>
          </a:prstGeom>
          <a:noFill/>
          <a:ln/>
        </p:spPr>
        <p:txBody>
          <a:bodyPr wrap="square" lIns="0" tIns="0" rIns="0" bIns="0" rtlCol="0" anchor="ctr"/>
          <a:lstStyle/>
          <a:p>
            <a:pPr marL="0" indent="0" algn="l">
              <a:buNone/>
            </a:pPr>
            <a:r>
              <a:rPr lang="en-US" sz="1400" dirty="0">
                <a:solidFill>
                  <a:schemeClr val="tx1"/>
                </a:solidFill>
              </a:rPr>
              <a:t>Let Claude read and act in the apps you already use</a:t>
            </a:r>
            <a:endParaRPr lang="en-US" sz="1400" dirty="0"/>
          </a:p>
        </p:txBody>
      </p:sp>
      <p:sp>
        <p:nvSpPr>
          <p:cNvPr id="19" name="card-686"/>
          <p:cNvSpPr/>
          <p:nvPr/>
        </p:nvSpPr>
        <p:spPr>
          <a:xfrm>
            <a:off x="548640" y="4178808"/>
            <a:ext cx="11064240" cy="603504"/>
          </a:xfrm>
          <a:prstGeom prst="roundRect">
            <a:avLst>
              <a:gd name="adj" fmla="val 15152"/>
            </a:avLst>
          </a:prstGeom>
          <a:solidFill>
            <a:schemeClr val="bg1"/>
          </a:solidFill>
          <a:ln w="9525">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sp>
        <p:nvSpPr>
          <p:cNvPr id="20" name="text-687"/>
          <p:cNvSpPr txBox="1"/>
          <p:nvPr/>
        </p:nvSpPr>
        <p:spPr>
          <a:xfrm>
            <a:off x="777240" y="4178808"/>
            <a:ext cx="2194560" cy="603504"/>
          </a:xfrm>
          <a:prstGeom prst="rect">
            <a:avLst/>
          </a:prstGeom>
          <a:noFill/>
          <a:ln/>
        </p:spPr>
        <p:txBody>
          <a:bodyPr wrap="square" lIns="0" tIns="0" rIns="0" bIns="0" rtlCol="0" anchor="ctr"/>
          <a:lstStyle/>
          <a:p>
            <a:pPr marL="0" indent="0" algn="l">
              <a:buNone/>
            </a:pPr>
            <a:r>
              <a:rPr lang="en-US" sz="1400" b="1" dirty="0">
                <a:solidFill>
                  <a:schemeClr val="accent1"/>
                </a:solidFill>
              </a:rPr>
              <a:t>Procedural memory</a:t>
            </a:r>
            <a:endParaRPr lang="en-US" sz="1400" dirty="0"/>
          </a:p>
        </p:txBody>
      </p:sp>
      <p:sp>
        <p:nvSpPr>
          <p:cNvPr id="21" name="text-688"/>
          <p:cNvSpPr txBox="1"/>
          <p:nvPr/>
        </p:nvSpPr>
        <p:spPr>
          <a:xfrm>
            <a:off x="3337560" y="4178808"/>
            <a:ext cx="3291840" cy="603504"/>
          </a:xfrm>
          <a:prstGeom prst="rect">
            <a:avLst/>
          </a:prstGeom>
          <a:noFill/>
          <a:ln/>
        </p:spPr>
        <p:txBody>
          <a:bodyPr wrap="square" lIns="0" tIns="0" rIns="0" bIns="0" rtlCol="0" anchor="ctr"/>
          <a:lstStyle/>
          <a:p>
            <a:pPr marL="0" indent="0" algn="l">
              <a:buNone/>
            </a:pPr>
            <a:r>
              <a:rPr lang="en-US" sz="1400" dirty="0">
                <a:solidFill>
                  <a:schemeClr val="tx1"/>
                </a:solidFill>
              </a:rPr>
              <a:t>Skills &amp; Project instructions</a:t>
            </a:r>
            <a:endParaRPr lang="en-US" sz="1400" dirty="0"/>
          </a:p>
        </p:txBody>
      </p:sp>
      <p:sp>
        <p:nvSpPr>
          <p:cNvPr id="22" name="text-689"/>
          <p:cNvSpPr txBox="1"/>
          <p:nvPr/>
        </p:nvSpPr>
        <p:spPr>
          <a:xfrm>
            <a:off x="6995160" y="4178808"/>
            <a:ext cx="4572000" cy="603504"/>
          </a:xfrm>
          <a:prstGeom prst="rect">
            <a:avLst/>
          </a:prstGeom>
          <a:noFill/>
          <a:ln/>
        </p:spPr>
        <p:txBody>
          <a:bodyPr wrap="square" lIns="0" tIns="0" rIns="0" bIns="0" rtlCol="0" anchor="ctr"/>
          <a:lstStyle/>
          <a:p>
            <a:pPr marL="0" indent="0" algn="l">
              <a:buNone/>
            </a:pPr>
            <a:r>
              <a:rPr lang="en-US" sz="1400" dirty="0">
                <a:solidFill>
                  <a:schemeClr val="tx1"/>
                </a:solidFill>
              </a:rPr>
              <a:t>Save a repeatable way of working once, reuse it every time</a:t>
            </a:r>
            <a:endParaRPr lang="en-US" sz="1400" dirty="0"/>
          </a:p>
        </p:txBody>
      </p:sp>
      <p:sp>
        <p:nvSpPr>
          <p:cNvPr id="23" name="card-690"/>
          <p:cNvSpPr/>
          <p:nvPr/>
        </p:nvSpPr>
        <p:spPr>
          <a:xfrm>
            <a:off x="548640" y="4892040"/>
            <a:ext cx="11064240" cy="603504"/>
          </a:xfrm>
          <a:prstGeom prst="roundRect">
            <a:avLst>
              <a:gd name="adj" fmla="val 15152"/>
            </a:avLst>
          </a:prstGeom>
          <a:solidFill>
            <a:schemeClr val="bg2"/>
          </a:solidFill>
          <a:ln w="9525">
            <a:solidFill>
              <a:schemeClr val="bg2"/>
            </a:solidFill>
            <a:prstDash val="solid"/>
          </a:ln>
          <a:effectLst>
            <a:outerShdw blurRad="101600" dist="25400" dir="5400000" algn="bl" rotWithShape="0">
              <a:srgbClr val="000000">
                <a:alpha val="12000"/>
              </a:srgbClr>
            </a:outerShdw>
          </a:effectLst>
        </p:spPr>
        <p:txBody>
          <a:bodyPr/>
          <a:lstStyle/>
          <a:p>
            <a:endParaRPr lang="en-US"/>
          </a:p>
        </p:txBody>
      </p:sp>
      <p:sp>
        <p:nvSpPr>
          <p:cNvPr id="24" name="text-691"/>
          <p:cNvSpPr txBox="1"/>
          <p:nvPr/>
        </p:nvSpPr>
        <p:spPr>
          <a:xfrm>
            <a:off x="777240" y="4892040"/>
            <a:ext cx="2194560" cy="603504"/>
          </a:xfrm>
          <a:prstGeom prst="rect">
            <a:avLst/>
          </a:prstGeom>
          <a:noFill/>
          <a:ln/>
        </p:spPr>
        <p:txBody>
          <a:bodyPr wrap="square" lIns="0" tIns="0" rIns="0" bIns="0" rtlCol="0" anchor="ctr"/>
          <a:lstStyle/>
          <a:p>
            <a:pPr marL="0" indent="0" algn="l">
              <a:buNone/>
            </a:pPr>
            <a:r>
              <a:rPr lang="en-US" sz="1400" b="1" dirty="0">
                <a:solidFill>
                  <a:schemeClr val="accent1"/>
                </a:solidFill>
              </a:rPr>
              <a:t>Agent loop</a:t>
            </a:r>
            <a:endParaRPr lang="en-US" sz="1400" dirty="0"/>
          </a:p>
        </p:txBody>
      </p:sp>
      <p:sp>
        <p:nvSpPr>
          <p:cNvPr id="25" name="text-692"/>
          <p:cNvSpPr txBox="1"/>
          <p:nvPr/>
        </p:nvSpPr>
        <p:spPr>
          <a:xfrm>
            <a:off x="3337560" y="4892040"/>
            <a:ext cx="3291840" cy="603504"/>
          </a:xfrm>
          <a:prstGeom prst="rect">
            <a:avLst/>
          </a:prstGeom>
          <a:noFill/>
          <a:ln/>
        </p:spPr>
        <p:txBody>
          <a:bodyPr wrap="square" lIns="0" tIns="0" rIns="0" bIns="0" rtlCol="0" anchor="ctr"/>
          <a:lstStyle/>
          <a:p>
            <a:pPr marL="0" indent="0" algn="l">
              <a:buNone/>
            </a:pPr>
            <a:r>
              <a:rPr lang="en-US" sz="1400" dirty="0">
                <a:solidFill>
                  <a:schemeClr val="tx1"/>
                </a:solidFill>
              </a:rPr>
              <a:t>Longer tasks, Claude Code</a:t>
            </a:r>
            <a:endParaRPr lang="en-US" sz="1400" dirty="0"/>
          </a:p>
        </p:txBody>
      </p:sp>
      <p:sp>
        <p:nvSpPr>
          <p:cNvPr id="26" name="text-693"/>
          <p:cNvSpPr txBox="1"/>
          <p:nvPr/>
        </p:nvSpPr>
        <p:spPr>
          <a:xfrm>
            <a:off x="6995160" y="4892040"/>
            <a:ext cx="4572000" cy="603504"/>
          </a:xfrm>
          <a:prstGeom prst="rect">
            <a:avLst/>
          </a:prstGeom>
          <a:noFill/>
          <a:ln/>
        </p:spPr>
        <p:txBody>
          <a:bodyPr wrap="square" lIns="0" tIns="0" rIns="0" bIns="0" rtlCol="0" anchor="ctr"/>
          <a:lstStyle/>
          <a:p>
            <a:pPr marL="0" indent="0" algn="l">
              <a:buNone/>
            </a:pPr>
            <a:r>
              <a:rPr lang="en-US" sz="1400" dirty="0">
                <a:solidFill>
                  <a:schemeClr val="tx1"/>
                </a:solidFill>
              </a:rPr>
              <a:t>Hand over a goal; review the result instead of every step</a:t>
            </a:r>
            <a:endParaRPr lang="en-US" sz="1400" dirty="0"/>
          </a:p>
        </p:txBody>
      </p:sp>
      <p:sp>
        <p:nvSpPr>
          <p:cNvPr id="27" name="card-694"/>
          <p:cNvSpPr/>
          <p:nvPr/>
        </p:nvSpPr>
        <p:spPr>
          <a:xfrm>
            <a:off x="548640" y="5605272"/>
            <a:ext cx="11064240" cy="603504"/>
          </a:xfrm>
          <a:prstGeom prst="roundRect">
            <a:avLst>
              <a:gd name="adj" fmla="val 15152"/>
            </a:avLst>
          </a:prstGeom>
          <a:solidFill>
            <a:schemeClr val="bg1"/>
          </a:solidFill>
          <a:ln w="9525">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sp>
        <p:nvSpPr>
          <p:cNvPr id="28" name="text-695"/>
          <p:cNvSpPr txBox="1"/>
          <p:nvPr/>
        </p:nvSpPr>
        <p:spPr>
          <a:xfrm>
            <a:off x="777240" y="5605272"/>
            <a:ext cx="2194560" cy="603504"/>
          </a:xfrm>
          <a:prstGeom prst="rect">
            <a:avLst/>
          </a:prstGeom>
          <a:noFill/>
          <a:ln/>
        </p:spPr>
        <p:txBody>
          <a:bodyPr wrap="square" lIns="0" tIns="0" rIns="0" bIns="0" rtlCol="0" anchor="ctr"/>
          <a:lstStyle/>
          <a:p>
            <a:pPr marL="0" indent="0" algn="l">
              <a:buNone/>
            </a:pPr>
            <a:r>
              <a:rPr lang="en-US" sz="1400" b="1" dirty="0">
                <a:solidFill>
                  <a:schemeClr val="accent1"/>
                </a:solidFill>
              </a:rPr>
              <a:t>Multi-agent</a:t>
            </a:r>
            <a:endParaRPr lang="en-US" sz="1400" dirty="0"/>
          </a:p>
        </p:txBody>
      </p:sp>
      <p:sp>
        <p:nvSpPr>
          <p:cNvPr id="29" name="text-696"/>
          <p:cNvSpPr txBox="1"/>
          <p:nvPr/>
        </p:nvSpPr>
        <p:spPr>
          <a:xfrm>
            <a:off x="3337560" y="5605272"/>
            <a:ext cx="3291840" cy="603504"/>
          </a:xfrm>
          <a:prstGeom prst="rect">
            <a:avLst/>
          </a:prstGeom>
          <a:noFill/>
          <a:ln/>
        </p:spPr>
        <p:txBody>
          <a:bodyPr wrap="square" lIns="0" tIns="0" rIns="0" bIns="0" rtlCol="0" anchor="ctr"/>
          <a:lstStyle/>
          <a:p>
            <a:pPr marL="0" indent="0" algn="l">
              <a:buNone/>
            </a:pPr>
            <a:r>
              <a:rPr lang="en-US" sz="1400" dirty="0">
                <a:solidFill>
                  <a:schemeClr val="tx1"/>
                </a:solidFill>
              </a:rPr>
              <a:t>Research, sub-agents in Claude Code / Agent SDK</a:t>
            </a:r>
            <a:endParaRPr lang="en-US" sz="1400" dirty="0"/>
          </a:p>
        </p:txBody>
      </p:sp>
      <p:sp>
        <p:nvSpPr>
          <p:cNvPr id="30" name="text-697"/>
          <p:cNvSpPr txBox="1"/>
          <p:nvPr/>
        </p:nvSpPr>
        <p:spPr>
          <a:xfrm>
            <a:off x="6995160" y="5605272"/>
            <a:ext cx="4572000" cy="603504"/>
          </a:xfrm>
          <a:prstGeom prst="rect">
            <a:avLst/>
          </a:prstGeom>
          <a:noFill/>
          <a:ln/>
        </p:spPr>
        <p:txBody>
          <a:bodyPr wrap="square" lIns="0" tIns="0" rIns="0" bIns="0" rtlCol="0" anchor="ctr"/>
          <a:lstStyle/>
          <a:p>
            <a:pPr marL="0" indent="0" algn="l">
              <a:buNone/>
            </a:pPr>
            <a:r>
              <a:rPr lang="en-US" sz="1400" dirty="0">
                <a:solidFill>
                  <a:schemeClr val="tx1"/>
                </a:solidFill>
              </a:rPr>
              <a:t>Use for broad, parallel tasks — they cost more tokens</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Cheat sheet: key terms</a:t>
            </a:r>
            <a:endParaRPr lang="en-US" sz="3400" dirty="0"/>
          </a:p>
        </p:txBody>
      </p:sp>
      <p:sp>
        <p:nvSpPr>
          <p:cNvPr id="3" name="card-698"/>
          <p:cNvSpPr/>
          <p:nvPr/>
        </p:nvSpPr>
        <p:spPr>
          <a:xfrm>
            <a:off x="548640" y="1325880"/>
            <a:ext cx="1783080" cy="548640"/>
          </a:xfrm>
          <a:prstGeom prst="roundRect">
            <a:avLst>
              <a:gd name="adj" fmla="val 16667"/>
            </a:avLst>
          </a:prstGeom>
          <a:solidFill>
            <a:schemeClr val="accent1"/>
          </a:solidFill>
          <a:ln w="9525">
            <a:solidFill>
              <a:schemeClr val="accent1"/>
            </a:solidFill>
            <a:prstDash val="solid"/>
          </a:ln>
        </p:spPr>
        <p:txBody>
          <a:bodyPr/>
          <a:lstStyle/>
          <a:p>
            <a:endParaRPr lang="en-US"/>
          </a:p>
        </p:txBody>
      </p:sp>
      <p:sp>
        <p:nvSpPr>
          <p:cNvPr id="4" name="text-699"/>
          <p:cNvSpPr txBox="1"/>
          <p:nvPr/>
        </p:nvSpPr>
        <p:spPr>
          <a:xfrm>
            <a:off x="548640" y="1325880"/>
            <a:ext cx="1783080" cy="548640"/>
          </a:xfrm>
          <a:prstGeom prst="rect">
            <a:avLst/>
          </a:prstGeom>
          <a:noFill/>
          <a:ln/>
        </p:spPr>
        <p:txBody>
          <a:bodyPr wrap="square" lIns="0" tIns="0" rIns="0" bIns="0" rtlCol="0" anchor="ctr"/>
          <a:lstStyle/>
          <a:p>
            <a:pPr marL="0" indent="0" algn="ctr">
              <a:buNone/>
            </a:pPr>
            <a:r>
              <a:rPr lang="en-US" sz="1400" b="1" dirty="0">
                <a:solidFill>
                  <a:schemeClr val="tx2"/>
                </a:solidFill>
              </a:rPr>
              <a:t>Token</a:t>
            </a:r>
            <a:endParaRPr lang="en-US" sz="1400" dirty="0"/>
          </a:p>
        </p:txBody>
      </p:sp>
      <p:sp>
        <p:nvSpPr>
          <p:cNvPr id="5" name="text-700"/>
          <p:cNvSpPr txBox="1"/>
          <p:nvPr/>
        </p:nvSpPr>
        <p:spPr>
          <a:xfrm>
            <a:off x="2468880" y="13258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A chunk of text (~¾ of a word) the model reads and writes</a:t>
            </a:r>
            <a:endParaRPr lang="en-US" sz="1400" dirty="0"/>
          </a:p>
        </p:txBody>
      </p:sp>
      <p:sp>
        <p:nvSpPr>
          <p:cNvPr id="6" name="card-701"/>
          <p:cNvSpPr/>
          <p:nvPr/>
        </p:nvSpPr>
        <p:spPr>
          <a:xfrm>
            <a:off x="548640" y="2011680"/>
            <a:ext cx="1783080" cy="54864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7" name="text-702"/>
          <p:cNvSpPr txBox="1"/>
          <p:nvPr/>
        </p:nvSpPr>
        <p:spPr>
          <a:xfrm>
            <a:off x="548640" y="20116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Embedding</a:t>
            </a:r>
            <a:endParaRPr lang="en-US" sz="1400" dirty="0"/>
          </a:p>
        </p:txBody>
      </p:sp>
      <p:sp>
        <p:nvSpPr>
          <p:cNvPr id="8" name="text-703"/>
          <p:cNvSpPr txBox="1"/>
          <p:nvPr/>
        </p:nvSpPr>
        <p:spPr>
          <a:xfrm>
            <a:off x="2468880" y="20116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A vector of numbers that represents meaning</a:t>
            </a:r>
            <a:endParaRPr lang="en-US" sz="1400" dirty="0"/>
          </a:p>
        </p:txBody>
      </p:sp>
      <p:sp>
        <p:nvSpPr>
          <p:cNvPr id="9" name="card-704"/>
          <p:cNvSpPr/>
          <p:nvPr/>
        </p:nvSpPr>
        <p:spPr>
          <a:xfrm>
            <a:off x="548640" y="2697480"/>
            <a:ext cx="1783080" cy="548640"/>
          </a:xfrm>
          <a:prstGeom prst="roundRect">
            <a:avLst>
              <a:gd name="adj" fmla="val 16667"/>
            </a:avLst>
          </a:prstGeom>
          <a:solidFill>
            <a:schemeClr val="accent3"/>
          </a:solidFill>
          <a:ln w="9525">
            <a:solidFill>
              <a:schemeClr val="accent3"/>
            </a:solidFill>
            <a:prstDash val="solid"/>
          </a:ln>
        </p:spPr>
        <p:txBody>
          <a:bodyPr/>
          <a:lstStyle/>
          <a:p>
            <a:endParaRPr lang="en-US"/>
          </a:p>
        </p:txBody>
      </p:sp>
      <p:sp>
        <p:nvSpPr>
          <p:cNvPr id="10" name="text-705"/>
          <p:cNvSpPr txBox="1"/>
          <p:nvPr/>
        </p:nvSpPr>
        <p:spPr>
          <a:xfrm>
            <a:off x="548640" y="26974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Transformer</a:t>
            </a:r>
            <a:endParaRPr lang="en-US" sz="1400" dirty="0"/>
          </a:p>
        </p:txBody>
      </p:sp>
      <p:sp>
        <p:nvSpPr>
          <p:cNvPr id="11" name="text-706"/>
          <p:cNvSpPr txBox="1"/>
          <p:nvPr/>
        </p:nvSpPr>
        <p:spPr>
          <a:xfrm>
            <a:off x="2468880" y="26974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Neural-network architecture built on attention</a:t>
            </a:r>
            <a:endParaRPr lang="en-US" sz="1400" dirty="0"/>
          </a:p>
        </p:txBody>
      </p:sp>
      <p:sp>
        <p:nvSpPr>
          <p:cNvPr id="12" name="card-707"/>
          <p:cNvSpPr/>
          <p:nvPr/>
        </p:nvSpPr>
        <p:spPr>
          <a:xfrm>
            <a:off x="548640" y="3383280"/>
            <a:ext cx="1783080" cy="548640"/>
          </a:xfrm>
          <a:prstGeom prst="roundRect">
            <a:avLst>
              <a:gd name="adj" fmla="val 16667"/>
            </a:avLst>
          </a:prstGeom>
          <a:solidFill>
            <a:schemeClr val="accent4"/>
          </a:solidFill>
          <a:ln w="9525">
            <a:solidFill>
              <a:schemeClr val="accent4"/>
            </a:solidFill>
            <a:prstDash val="solid"/>
          </a:ln>
        </p:spPr>
        <p:txBody>
          <a:bodyPr/>
          <a:lstStyle/>
          <a:p>
            <a:endParaRPr lang="en-US"/>
          </a:p>
        </p:txBody>
      </p:sp>
      <p:sp>
        <p:nvSpPr>
          <p:cNvPr id="13" name="text-708"/>
          <p:cNvSpPr txBox="1"/>
          <p:nvPr/>
        </p:nvSpPr>
        <p:spPr>
          <a:xfrm>
            <a:off x="548640" y="3383280"/>
            <a:ext cx="1783080" cy="548640"/>
          </a:xfrm>
          <a:prstGeom prst="rect">
            <a:avLst/>
          </a:prstGeom>
          <a:noFill/>
          <a:ln/>
        </p:spPr>
        <p:txBody>
          <a:bodyPr wrap="square" lIns="0" tIns="0" rIns="0" bIns="0" rtlCol="0" anchor="ctr"/>
          <a:lstStyle/>
          <a:p>
            <a:pPr marL="0" indent="0" algn="ctr">
              <a:buNone/>
            </a:pPr>
            <a:r>
              <a:rPr lang="en-US" sz="1400" b="1" dirty="0">
                <a:solidFill>
                  <a:schemeClr val="tx2"/>
                </a:solidFill>
              </a:rPr>
              <a:t>Attention</a:t>
            </a:r>
            <a:endParaRPr lang="en-US" sz="1400" dirty="0"/>
          </a:p>
        </p:txBody>
      </p:sp>
      <p:sp>
        <p:nvSpPr>
          <p:cNvPr id="14" name="text-709"/>
          <p:cNvSpPr txBox="1"/>
          <p:nvPr/>
        </p:nvSpPr>
        <p:spPr>
          <a:xfrm>
            <a:off x="2468880" y="33832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Mechanism that lets tokens weigh each other's relevance</a:t>
            </a:r>
            <a:endParaRPr lang="en-US" sz="1400" dirty="0"/>
          </a:p>
        </p:txBody>
      </p:sp>
      <p:sp>
        <p:nvSpPr>
          <p:cNvPr id="15" name="card-710"/>
          <p:cNvSpPr/>
          <p:nvPr/>
        </p:nvSpPr>
        <p:spPr>
          <a:xfrm>
            <a:off x="548640" y="4069080"/>
            <a:ext cx="1783080" cy="548640"/>
          </a:xfrm>
          <a:prstGeom prst="roundRect">
            <a:avLst>
              <a:gd name="adj" fmla="val 16667"/>
            </a:avLst>
          </a:prstGeom>
          <a:solidFill>
            <a:schemeClr val="accent1"/>
          </a:solidFill>
          <a:ln w="9525">
            <a:solidFill>
              <a:schemeClr val="accent1"/>
            </a:solidFill>
            <a:prstDash val="solid"/>
          </a:ln>
        </p:spPr>
        <p:txBody>
          <a:bodyPr/>
          <a:lstStyle/>
          <a:p>
            <a:endParaRPr lang="en-US"/>
          </a:p>
        </p:txBody>
      </p:sp>
      <p:sp>
        <p:nvSpPr>
          <p:cNvPr id="16" name="text-711"/>
          <p:cNvSpPr txBox="1"/>
          <p:nvPr/>
        </p:nvSpPr>
        <p:spPr>
          <a:xfrm>
            <a:off x="548640" y="4069080"/>
            <a:ext cx="1783080" cy="548640"/>
          </a:xfrm>
          <a:prstGeom prst="rect">
            <a:avLst/>
          </a:prstGeom>
          <a:noFill/>
          <a:ln/>
        </p:spPr>
        <p:txBody>
          <a:bodyPr wrap="square" lIns="0" tIns="0" rIns="0" bIns="0" rtlCol="0" anchor="ctr"/>
          <a:lstStyle/>
          <a:p>
            <a:pPr marL="0" indent="0" algn="ctr">
              <a:buNone/>
            </a:pPr>
            <a:r>
              <a:rPr lang="en-US" sz="1400" b="1" dirty="0">
                <a:solidFill>
                  <a:schemeClr val="tx2"/>
                </a:solidFill>
              </a:rPr>
              <a:t>Parameters</a:t>
            </a:r>
            <a:endParaRPr lang="en-US" sz="1400" dirty="0"/>
          </a:p>
        </p:txBody>
      </p:sp>
      <p:sp>
        <p:nvSpPr>
          <p:cNvPr id="17" name="text-712"/>
          <p:cNvSpPr txBox="1"/>
          <p:nvPr/>
        </p:nvSpPr>
        <p:spPr>
          <a:xfrm>
            <a:off x="2468880" y="40690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The learned numbers (weights) inside a model</a:t>
            </a:r>
            <a:endParaRPr lang="en-US" sz="1400" dirty="0"/>
          </a:p>
        </p:txBody>
      </p:sp>
      <p:sp>
        <p:nvSpPr>
          <p:cNvPr id="18" name="card-713"/>
          <p:cNvSpPr/>
          <p:nvPr/>
        </p:nvSpPr>
        <p:spPr>
          <a:xfrm>
            <a:off x="548640" y="4754880"/>
            <a:ext cx="1783080" cy="54864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19" name="text-714"/>
          <p:cNvSpPr txBox="1"/>
          <p:nvPr/>
        </p:nvSpPr>
        <p:spPr>
          <a:xfrm>
            <a:off x="548640" y="47548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Context window</a:t>
            </a:r>
            <a:endParaRPr lang="en-US" sz="1400" dirty="0"/>
          </a:p>
        </p:txBody>
      </p:sp>
      <p:sp>
        <p:nvSpPr>
          <p:cNvPr id="20" name="text-715"/>
          <p:cNvSpPr txBox="1"/>
          <p:nvPr/>
        </p:nvSpPr>
        <p:spPr>
          <a:xfrm>
            <a:off x="2468880" y="47548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Maximum tokens the model can consider at once</a:t>
            </a:r>
            <a:endParaRPr lang="en-US" sz="1400" dirty="0"/>
          </a:p>
        </p:txBody>
      </p:sp>
      <p:sp>
        <p:nvSpPr>
          <p:cNvPr id="21" name="card-716"/>
          <p:cNvSpPr/>
          <p:nvPr/>
        </p:nvSpPr>
        <p:spPr>
          <a:xfrm>
            <a:off x="548640" y="5440680"/>
            <a:ext cx="1783080" cy="548640"/>
          </a:xfrm>
          <a:prstGeom prst="roundRect">
            <a:avLst>
              <a:gd name="adj" fmla="val 16667"/>
            </a:avLst>
          </a:prstGeom>
          <a:solidFill>
            <a:schemeClr val="accent3"/>
          </a:solidFill>
          <a:ln w="9525">
            <a:solidFill>
              <a:schemeClr val="accent3"/>
            </a:solidFill>
            <a:prstDash val="solid"/>
          </a:ln>
        </p:spPr>
        <p:txBody>
          <a:bodyPr/>
          <a:lstStyle/>
          <a:p>
            <a:endParaRPr lang="en-US"/>
          </a:p>
        </p:txBody>
      </p:sp>
      <p:sp>
        <p:nvSpPr>
          <p:cNvPr id="22" name="text-717"/>
          <p:cNvSpPr txBox="1"/>
          <p:nvPr/>
        </p:nvSpPr>
        <p:spPr>
          <a:xfrm>
            <a:off x="548640" y="54406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Temperature</a:t>
            </a:r>
            <a:endParaRPr lang="en-US" sz="1400" dirty="0"/>
          </a:p>
        </p:txBody>
      </p:sp>
      <p:sp>
        <p:nvSpPr>
          <p:cNvPr id="23" name="text-718"/>
          <p:cNvSpPr txBox="1"/>
          <p:nvPr/>
        </p:nvSpPr>
        <p:spPr>
          <a:xfrm>
            <a:off x="2468880" y="54406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Setting that controls randomness of output</a:t>
            </a:r>
            <a:endParaRPr lang="en-US" sz="1400" dirty="0"/>
          </a:p>
        </p:txBody>
      </p:sp>
      <p:sp>
        <p:nvSpPr>
          <p:cNvPr id="24" name="card-719"/>
          <p:cNvSpPr/>
          <p:nvPr/>
        </p:nvSpPr>
        <p:spPr>
          <a:xfrm>
            <a:off x="6172200" y="1325880"/>
            <a:ext cx="1783080" cy="548640"/>
          </a:xfrm>
          <a:prstGeom prst="roundRect">
            <a:avLst>
              <a:gd name="adj" fmla="val 16667"/>
            </a:avLst>
          </a:prstGeom>
          <a:solidFill>
            <a:schemeClr val="accent1"/>
          </a:solidFill>
          <a:ln w="9525">
            <a:solidFill>
              <a:schemeClr val="accent1"/>
            </a:solidFill>
            <a:prstDash val="solid"/>
          </a:ln>
        </p:spPr>
        <p:txBody>
          <a:bodyPr/>
          <a:lstStyle/>
          <a:p>
            <a:endParaRPr lang="en-US"/>
          </a:p>
        </p:txBody>
      </p:sp>
      <p:sp>
        <p:nvSpPr>
          <p:cNvPr id="25" name="text-720"/>
          <p:cNvSpPr txBox="1"/>
          <p:nvPr/>
        </p:nvSpPr>
        <p:spPr>
          <a:xfrm>
            <a:off x="6172200" y="1325880"/>
            <a:ext cx="1783080" cy="548640"/>
          </a:xfrm>
          <a:prstGeom prst="rect">
            <a:avLst/>
          </a:prstGeom>
          <a:noFill/>
          <a:ln/>
        </p:spPr>
        <p:txBody>
          <a:bodyPr wrap="square" lIns="0" tIns="0" rIns="0" bIns="0" rtlCol="0" anchor="ctr"/>
          <a:lstStyle/>
          <a:p>
            <a:pPr marL="0" indent="0" algn="ctr">
              <a:buNone/>
            </a:pPr>
            <a:r>
              <a:rPr lang="en-US" sz="1400" b="1" dirty="0">
                <a:solidFill>
                  <a:schemeClr val="tx2"/>
                </a:solidFill>
              </a:rPr>
              <a:t>Quantization</a:t>
            </a:r>
            <a:endParaRPr lang="en-US" sz="1400" dirty="0"/>
          </a:p>
        </p:txBody>
      </p:sp>
      <p:sp>
        <p:nvSpPr>
          <p:cNvPr id="26" name="text-721"/>
          <p:cNvSpPr txBox="1"/>
          <p:nvPr/>
        </p:nvSpPr>
        <p:spPr>
          <a:xfrm>
            <a:off x="8092440" y="13258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Storing weights in fewer bits to save memory</a:t>
            </a:r>
            <a:endParaRPr lang="en-US" sz="1400" dirty="0"/>
          </a:p>
        </p:txBody>
      </p:sp>
      <p:sp>
        <p:nvSpPr>
          <p:cNvPr id="27" name="card-722"/>
          <p:cNvSpPr/>
          <p:nvPr/>
        </p:nvSpPr>
        <p:spPr>
          <a:xfrm>
            <a:off x="6172200" y="2011680"/>
            <a:ext cx="1783080" cy="54864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28" name="text-723"/>
          <p:cNvSpPr txBox="1"/>
          <p:nvPr/>
        </p:nvSpPr>
        <p:spPr>
          <a:xfrm>
            <a:off x="6172200" y="20116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Hallucination</a:t>
            </a:r>
            <a:endParaRPr lang="en-US" sz="1400" dirty="0"/>
          </a:p>
        </p:txBody>
      </p:sp>
      <p:sp>
        <p:nvSpPr>
          <p:cNvPr id="29" name="text-724"/>
          <p:cNvSpPr txBox="1"/>
          <p:nvPr/>
        </p:nvSpPr>
        <p:spPr>
          <a:xfrm>
            <a:off x="8092440" y="20116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Confident output that isn't true</a:t>
            </a:r>
            <a:endParaRPr lang="en-US" sz="1400" dirty="0"/>
          </a:p>
        </p:txBody>
      </p:sp>
      <p:sp>
        <p:nvSpPr>
          <p:cNvPr id="30" name="card-725"/>
          <p:cNvSpPr/>
          <p:nvPr/>
        </p:nvSpPr>
        <p:spPr>
          <a:xfrm>
            <a:off x="6172200" y="2697480"/>
            <a:ext cx="1783080" cy="548640"/>
          </a:xfrm>
          <a:prstGeom prst="roundRect">
            <a:avLst>
              <a:gd name="adj" fmla="val 16667"/>
            </a:avLst>
          </a:prstGeom>
          <a:solidFill>
            <a:schemeClr val="accent3"/>
          </a:solidFill>
          <a:ln w="9525">
            <a:solidFill>
              <a:schemeClr val="accent3"/>
            </a:solidFill>
            <a:prstDash val="solid"/>
          </a:ln>
        </p:spPr>
        <p:txBody>
          <a:bodyPr/>
          <a:lstStyle/>
          <a:p>
            <a:endParaRPr lang="en-US"/>
          </a:p>
        </p:txBody>
      </p:sp>
      <p:sp>
        <p:nvSpPr>
          <p:cNvPr id="31" name="text-726"/>
          <p:cNvSpPr txBox="1"/>
          <p:nvPr/>
        </p:nvSpPr>
        <p:spPr>
          <a:xfrm>
            <a:off x="6172200" y="26974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RAG</a:t>
            </a:r>
            <a:endParaRPr lang="en-US" sz="1400" dirty="0"/>
          </a:p>
        </p:txBody>
      </p:sp>
      <p:sp>
        <p:nvSpPr>
          <p:cNvPr id="32" name="text-727"/>
          <p:cNvSpPr txBox="1"/>
          <p:nvPr/>
        </p:nvSpPr>
        <p:spPr>
          <a:xfrm>
            <a:off x="8092440" y="26974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Retrieving documents and adding them to the prompt</a:t>
            </a:r>
            <a:endParaRPr lang="en-US" sz="1400" dirty="0"/>
          </a:p>
        </p:txBody>
      </p:sp>
      <p:sp>
        <p:nvSpPr>
          <p:cNvPr id="33" name="card-728"/>
          <p:cNvSpPr/>
          <p:nvPr/>
        </p:nvSpPr>
        <p:spPr>
          <a:xfrm>
            <a:off x="6172200" y="3383280"/>
            <a:ext cx="1783080" cy="548640"/>
          </a:xfrm>
          <a:prstGeom prst="roundRect">
            <a:avLst>
              <a:gd name="adj" fmla="val 16667"/>
            </a:avLst>
          </a:prstGeom>
          <a:solidFill>
            <a:schemeClr val="accent4"/>
          </a:solidFill>
          <a:ln w="9525">
            <a:solidFill>
              <a:schemeClr val="accent4"/>
            </a:solidFill>
            <a:prstDash val="solid"/>
          </a:ln>
        </p:spPr>
        <p:txBody>
          <a:bodyPr/>
          <a:lstStyle/>
          <a:p>
            <a:endParaRPr lang="en-US"/>
          </a:p>
        </p:txBody>
      </p:sp>
      <p:sp>
        <p:nvSpPr>
          <p:cNvPr id="34" name="text-729"/>
          <p:cNvSpPr txBox="1"/>
          <p:nvPr/>
        </p:nvSpPr>
        <p:spPr>
          <a:xfrm>
            <a:off x="6172200" y="3383280"/>
            <a:ext cx="1783080" cy="548640"/>
          </a:xfrm>
          <a:prstGeom prst="rect">
            <a:avLst/>
          </a:prstGeom>
          <a:noFill/>
          <a:ln/>
        </p:spPr>
        <p:txBody>
          <a:bodyPr wrap="square" lIns="0" tIns="0" rIns="0" bIns="0" rtlCol="0" anchor="ctr"/>
          <a:lstStyle/>
          <a:p>
            <a:pPr marL="0" indent="0" algn="ctr">
              <a:buNone/>
            </a:pPr>
            <a:r>
              <a:rPr lang="en-US" sz="1400" b="1" dirty="0">
                <a:solidFill>
                  <a:schemeClr val="tx2"/>
                </a:solidFill>
              </a:rPr>
              <a:t>Tool call</a:t>
            </a:r>
            <a:endParaRPr lang="en-US" sz="1400" dirty="0"/>
          </a:p>
        </p:txBody>
      </p:sp>
      <p:sp>
        <p:nvSpPr>
          <p:cNvPr id="35" name="text-730"/>
          <p:cNvSpPr txBox="1"/>
          <p:nvPr/>
        </p:nvSpPr>
        <p:spPr>
          <a:xfrm>
            <a:off x="8092440" y="33832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Structured request from the model for your app to run</a:t>
            </a:r>
            <a:endParaRPr lang="en-US" sz="1400" dirty="0"/>
          </a:p>
        </p:txBody>
      </p:sp>
      <p:sp>
        <p:nvSpPr>
          <p:cNvPr id="36" name="card-731"/>
          <p:cNvSpPr/>
          <p:nvPr/>
        </p:nvSpPr>
        <p:spPr>
          <a:xfrm>
            <a:off x="6172200" y="4069080"/>
            <a:ext cx="1783080" cy="548640"/>
          </a:xfrm>
          <a:prstGeom prst="roundRect">
            <a:avLst>
              <a:gd name="adj" fmla="val 16667"/>
            </a:avLst>
          </a:prstGeom>
          <a:solidFill>
            <a:schemeClr val="accent1"/>
          </a:solidFill>
          <a:ln w="9525">
            <a:solidFill>
              <a:schemeClr val="accent1"/>
            </a:solidFill>
            <a:prstDash val="solid"/>
          </a:ln>
        </p:spPr>
        <p:txBody>
          <a:bodyPr/>
          <a:lstStyle/>
          <a:p>
            <a:endParaRPr lang="en-US"/>
          </a:p>
        </p:txBody>
      </p:sp>
      <p:sp>
        <p:nvSpPr>
          <p:cNvPr id="37" name="text-732"/>
          <p:cNvSpPr txBox="1"/>
          <p:nvPr/>
        </p:nvSpPr>
        <p:spPr>
          <a:xfrm>
            <a:off x="6172200" y="4069080"/>
            <a:ext cx="1783080" cy="548640"/>
          </a:xfrm>
          <a:prstGeom prst="rect">
            <a:avLst/>
          </a:prstGeom>
          <a:noFill/>
          <a:ln/>
        </p:spPr>
        <p:txBody>
          <a:bodyPr wrap="square" lIns="0" tIns="0" rIns="0" bIns="0" rtlCol="0" anchor="ctr"/>
          <a:lstStyle/>
          <a:p>
            <a:pPr marL="0" indent="0" algn="ctr">
              <a:buNone/>
            </a:pPr>
            <a:r>
              <a:rPr lang="en-US" sz="1400" b="1" dirty="0">
                <a:solidFill>
                  <a:schemeClr val="tx2"/>
                </a:solidFill>
              </a:rPr>
              <a:t>MCP</a:t>
            </a:r>
            <a:endParaRPr lang="en-US" sz="1400" dirty="0"/>
          </a:p>
        </p:txBody>
      </p:sp>
      <p:sp>
        <p:nvSpPr>
          <p:cNvPr id="38" name="text-733"/>
          <p:cNvSpPr txBox="1"/>
          <p:nvPr/>
        </p:nvSpPr>
        <p:spPr>
          <a:xfrm>
            <a:off x="8092440" y="40690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Open standard for connecting tools and data to AI apps</a:t>
            </a:r>
            <a:endParaRPr lang="en-US" sz="1400" dirty="0"/>
          </a:p>
        </p:txBody>
      </p:sp>
      <p:sp>
        <p:nvSpPr>
          <p:cNvPr id="39" name="card-734"/>
          <p:cNvSpPr/>
          <p:nvPr/>
        </p:nvSpPr>
        <p:spPr>
          <a:xfrm>
            <a:off x="6172200" y="4754880"/>
            <a:ext cx="1783080" cy="548640"/>
          </a:xfrm>
          <a:prstGeom prst="roundRect">
            <a:avLst>
              <a:gd name="adj" fmla="val 16667"/>
            </a:avLst>
          </a:prstGeom>
          <a:solidFill>
            <a:schemeClr val="accent2"/>
          </a:solidFill>
          <a:ln w="9525">
            <a:solidFill>
              <a:schemeClr val="accent2"/>
            </a:solidFill>
            <a:prstDash val="solid"/>
          </a:ln>
        </p:spPr>
        <p:txBody>
          <a:bodyPr/>
          <a:lstStyle/>
          <a:p>
            <a:endParaRPr lang="en-US"/>
          </a:p>
        </p:txBody>
      </p:sp>
      <p:sp>
        <p:nvSpPr>
          <p:cNvPr id="40" name="text-735"/>
          <p:cNvSpPr txBox="1"/>
          <p:nvPr/>
        </p:nvSpPr>
        <p:spPr>
          <a:xfrm>
            <a:off x="6172200" y="47548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Agent</a:t>
            </a:r>
            <a:endParaRPr lang="en-US" sz="1400" dirty="0"/>
          </a:p>
        </p:txBody>
      </p:sp>
      <p:sp>
        <p:nvSpPr>
          <p:cNvPr id="41" name="text-736"/>
          <p:cNvSpPr txBox="1"/>
          <p:nvPr/>
        </p:nvSpPr>
        <p:spPr>
          <a:xfrm>
            <a:off x="8092440" y="47548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LLM in a loop that uses tools to reach a goal</a:t>
            </a:r>
            <a:endParaRPr lang="en-US" sz="1400" dirty="0"/>
          </a:p>
        </p:txBody>
      </p:sp>
      <p:sp>
        <p:nvSpPr>
          <p:cNvPr id="42" name="card-737"/>
          <p:cNvSpPr/>
          <p:nvPr/>
        </p:nvSpPr>
        <p:spPr>
          <a:xfrm>
            <a:off x="6172200" y="5440680"/>
            <a:ext cx="1783080" cy="548640"/>
          </a:xfrm>
          <a:prstGeom prst="roundRect">
            <a:avLst>
              <a:gd name="adj" fmla="val 16667"/>
            </a:avLst>
          </a:prstGeom>
          <a:solidFill>
            <a:schemeClr val="accent3"/>
          </a:solidFill>
          <a:ln w="9525">
            <a:solidFill>
              <a:schemeClr val="accent3"/>
            </a:solidFill>
            <a:prstDash val="solid"/>
          </a:ln>
        </p:spPr>
        <p:txBody>
          <a:bodyPr/>
          <a:lstStyle/>
          <a:p>
            <a:endParaRPr lang="en-US"/>
          </a:p>
        </p:txBody>
      </p:sp>
      <p:sp>
        <p:nvSpPr>
          <p:cNvPr id="43" name="text-738"/>
          <p:cNvSpPr txBox="1"/>
          <p:nvPr/>
        </p:nvSpPr>
        <p:spPr>
          <a:xfrm>
            <a:off x="6172200" y="5440680"/>
            <a:ext cx="1783080" cy="548640"/>
          </a:xfrm>
          <a:prstGeom prst="rect">
            <a:avLst/>
          </a:prstGeom>
          <a:noFill/>
          <a:ln/>
        </p:spPr>
        <p:txBody>
          <a:bodyPr wrap="square" lIns="0" tIns="0" rIns="0" bIns="0" rtlCol="0" anchor="ctr"/>
          <a:lstStyle/>
          <a:p>
            <a:pPr marL="0" indent="0" algn="ctr">
              <a:buNone/>
            </a:pPr>
            <a:r>
              <a:rPr lang="en-US" sz="1400" b="1" dirty="0">
                <a:solidFill>
                  <a:schemeClr val="bg1"/>
                </a:solidFill>
              </a:rPr>
              <a:t>Orchestrator</a:t>
            </a:r>
            <a:endParaRPr lang="en-US" sz="1400" dirty="0"/>
          </a:p>
        </p:txBody>
      </p:sp>
      <p:sp>
        <p:nvSpPr>
          <p:cNvPr id="44" name="text-739"/>
          <p:cNvSpPr txBox="1"/>
          <p:nvPr/>
        </p:nvSpPr>
        <p:spPr>
          <a:xfrm>
            <a:off x="8092440" y="5440680"/>
            <a:ext cx="3520440" cy="548640"/>
          </a:xfrm>
          <a:prstGeom prst="rect">
            <a:avLst/>
          </a:prstGeom>
          <a:noFill/>
          <a:ln/>
        </p:spPr>
        <p:txBody>
          <a:bodyPr wrap="square" lIns="0" tIns="0" rIns="0" bIns="0" rtlCol="0" anchor="ctr"/>
          <a:lstStyle/>
          <a:p>
            <a:pPr marL="0" indent="0" algn="l">
              <a:buNone/>
            </a:pPr>
            <a:r>
              <a:rPr lang="en-US" sz="1400" dirty="0">
                <a:solidFill>
                  <a:schemeClr val="tx1"/>
                </a:solidFill>
              </a:rPr>
              <a:t>Lead agent that plans and delegates to sub-agents</a:t>
            </a:r>
            <a:endParaRPr lang="en-US" sz="1400" dirty="0"/>
          </a:p>
        </p:txBody>
      </p:sp>
      <p:sp>
        <p:nvSpPr>
          <p:cNvPr id="4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7315200" cy="457200"/>
          </a:xfrm>
          <a:prstGeom prst="rect">
            <a:avLst/>
          </a:prstGeom>
          <a:noFill/>
          <a:ln/>
        </p:spPr>
        <p:txBody>
          <a:bodyPr wrap="square" lIns="0" tIns="0" rIns="0" bIns="0" rtlCol="0"/>
          <a:lstStyle/>
          <a:p>
            <a:pPr marL="0" indent="0">
              <a:buNone/>
            </a:pPr>
            <a:r>
              <a:rPr lang="en-US" sz="1600" b="1" kern="0" spc="400" dirty="0">
                <a:solidFill>
                  <a:schemeClr val="accent1"/>
                </a:solidFill>
                <a:latin typeface="Calibri" pitchFamily="34" charset="0"/>
                <a:ea typeface="Calibri" pitchFamily="34" charset="-122"/>
                <a:cs typeface="Calibri" pitchFamily="34" charset="-120"/>
              </a:rPr>
              <a:t>WRAP-UP</a:t>
            </a:r>
            <a:endParaRPr lang="en-US" sz="1600" dirty="0"/>
          </a:p>
        </p:txBody>
      </p:sp>
      <p:sp>
        <p:nvSpPr>
          <p:cNvPr id="3" name="Text 0"/>
          <p:cNvSpPr>
            <a:spLocks noGrp="1"/>
          </p:cNvSpPr>
          <p:nvPr>
            <p:ph type="title" idx="101" hasCustomPrompt="1"/>
          </p:nvPr>
        </p:nvSpPr>
        <p:spPr>
          <a:xfrm>
            <a:off x="731520" y="2331720"/>
            <a:ext cx="7498080" cy="128016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Key takeaways</a:t>
            </a:r>
            <a:endParaRPr lang="en-US" sz="4400" dirty="0"/>
          </a:p>
        </p:txBody>
      </p:sp>
      <p:sp>
        <p:nvSpPr>
          <p:cNvPr id="4" name="num-740"/>
          <p:cNvSpPr/>
          <p:nvPr/>
        </p:nvSpPr>
        <p:spPr>
          <a:xfrm>
            <a:off x="731520" y="3483864"/>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5" name="text-741"/>
          <p:cNvSpPr txBox="1"/>
          <p:nvPr/>
        </p:nvSpPr>
        <p:spPr>
          <a:xfrm>
            <a:off x="731520" y="3483864"/>
            <a:ext cx="347472" cy="347472"/>
          </a:xfrm>
          <a:prstGeom prst="rect">
            <a:avLst/>
          </a:prstGeom>
          <a:no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6" name="text-742"/>
          <p:cNvSpPr txBox="1"/>
          <p:nvPr/>
        </p:nvSpPr>
        <p:spPr>
          <a:xfrm>
            <a:off x="1234440" y="3429000"/>
            <a:ext cx="6035040" cy="457200"/>
          </a:xfrm>
          <a:prstGeom prst="rect">
            <a:avLst/>
          </a:prstGeom>
          <a:noFill/>
          <a:ln/>
        </p:spPr>
        <p:txBody>
          <a:bodyPr wrap="square" lIns="0" tIns="0" rIns="0" bIns="0" rtlCol="0" anchor="ctr"/>
          <a:lstStyle/>
          <a:p>
            <a:pPr marL="0" indent="0" algn="l">
              <a:buNone/>
            </a:pPr>
            <a:r>
              <a:rPr lang="en-US" sz="1500" dirty="0">
                <a:solidFill>
                  <a:schemeClr val="bg1"/>
                </a:solidFill>
              </a:rPr>
              <a:t>An LLM predicts the next token — everything else is built on that</a:t>
            </a:r>
            <a:endParaRPr lang="en-US" sz="1500" dirty="0"/>
          </a:p>
        </p:txBody>
      </p:sp>
      <p:sp>
        <p:nvSpPr>
          <p:cNvPr id="7" name="num-743"/>
          <p:cNvSpPr/>
          <p:nvPr/>
        </p:nvSpPr>
        <p:spPr>
          <a:xfrm>
            <a:off x="731520" y="4032504"/>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8" name="text-744"/>
          <p:cNvSpPr txBox="1"/>
          <p:nvPr/>
        </p:nvSpPr>
        <p:spPr>
          <a:xfrm>
            <a:off x="731520" y="4032504"/>
            <a:ext cx="347472" cy="347472"/>
          </a:xfrm>
          <a:prstGeom prst="rect">
            <a:avLst/>
          </a:prstGeom>
          <a:no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9" name="text-745"/>
          <p:cNvSpPr txBox="1"/>
          <p:nvPr/>
        </p:nvSpPr>
        <p:spPr>
          <a:xfrm>
            <a:off x="1234440" y="3977640"/>
            <a:ext cx="6035040" cy="457200"/>
          </a:xfrm>
          <a:prstGeom prst="rect">
            <a:avLst/>
          </a:prstGeom>
          <a:noFill/>
          <a:ln/>
        </p:spPr>
        <p:txBody>
          <a:bodyPr wrap="square" lIns="0" tIns="0" rIns="0" bIns="0" rtlCol="0" anchor="ctr"/>
          <a:lstStyle/>
          <a:p>
            <a:pPr marL="0" indent="0" algn="l">
              <a:buNone/>
            </a:pPr>
            <a:r>
              <a:rPr lang="en-US" sz="1500" dirty="0">
                <a:solidFill>
                  <a:schemeClr val="bg1"/>
                </a:solidFill>
              </a:rPr>
              <a:t>The context window is its only working memory: curate what goes in</a:t>
            </a:r>
            <a:endParaRPr lang="en-US" sz="1500" dirty="0"/>
          </a:p>
        </p:txBody>
      </p:sp>
      <p:sp>
        <p:nvSpPr>
          <p:cNvPr id="10" name="num-746"/>
          <p:cNvSpPr/>
          <p:nvPr/>
        </p:nvSpPr>
        <p:spPr>
          <a:xfrm>
            <a:off x="731520" y="4581144"/>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1" name="text-747"/>
          <p:cNvSpPr txBox="1"/>
          <p:nvPr/>
        </p:nvSpPr>
        <p:spPr>
          <a:xfrm>
            <a:off x="731520" y="4581144"/>
            <a:ext cx="347472" cy="347472"/>
          </a:xfrm>
          <a:prstGeom prst="rect">
            <a:avLst/>
          </a:prstGeom>
          <a:no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2" name="text-748"/>
          <p:cNvSpPr txBox="1"/>
          <p:nvPr/>
        </p:nvSpPr>
        <p:spPr>
          <a:xfrm>
            <a:off x="1234440" y="4526280"/>
            <a:ext cx="6035040" cy="457200"/>
          </a:xfrm>
          <a:prstGeom prst="rect">
            <a:avLst/>
          </a:prstGeom>
          <a:noFill/>
          <a:ln/>
        </p:spPr>
        <p:txBody>
          <a:bodyPr wrap="square" lIns="0" tIns="0" rIns="0" bIns="0" rtlCol="0" anchor="ctr"/>
          <a:lstStyle/>
          <a:p>
            <a:pPr marL="0" indent="0" algn="l">
              <a:buNone/>
            </a:pPr>
            <a:r>
              <a:rPr lang="en-US" sz="1500" dirty="0">
                <a:solidFill>
                  <a:schemeClr val="bg1"/>
                </a:solidFill>
              </a:rPr>
              <a:t>An agent = LLM + tools + memory + a loop</a:t>
            </a:r>
            <a:endParaRPr lang="en-US" sz="1500" dirty="0"/>
          </a:p>
        </p:txBody>
      </p:sp>
      <p:sp>
        <p:nvSpPr>
          <p:cNvPr id="13" name="num-749"/>
          <p:cNvSpPr/>
          <p:nvPr/>
        </p:nvSpPr>
        <p:spPr>
          <a:xfrm>
            <a:off x="731520" y="5129784"/>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4" name="text-750"/>
          <p:cNvSpPr txBox="1"/>
          <p:nvPr/>
        </p:nvSpPr>
        <p:spPr>
          <a:xfrm>
            <a:off x="731520" y="5129784"/>
            <a:ext cx="347472" cy="347472"/>
          </a:xfrm>
          <a:prstGeom prst="rect">
            <a:avLst/>
          </a:prstGeom>
          <a:no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15" name="text-751"/>
          <p:cNvSpPr txBox="1"/>
          <p:nvPr/>
        </p:nvSpPr>
        <p:spPr>
          <a:xfrm>
            <a:off x="1234440" y="5074920"/>
            <a:ext cx="6035040" cy="457200"/>
          </a:xfrm>
          <a:prstGeom prst="rect">
            <a:avLst/>
          </a:prstGeom>
          <a:noFill/>
          <a:ln/>
        </p:spPr>
        <p:txBody>
          <a:bodyPr wrap="square" lIns="0" tIns="0" rIns="0" bIns="0" rtlCol="0" anchor="ctr"/>
          <a:lstStyle/>
          <a:p>
            <a:pPr marL="0" indent="0" algn="l">
              <a:buNone/>
            </a:pPr>
            <a:r>
              <a:rPr lang="en-US" sz="1500" dirty="0">
                <a:solidFill>
                  <a:schemeClr val="bg1"/>
                </a:solidFill>
              </a:rPr>
              <a:t>Multi-agent systems buy speed and breadth with many more tokens</a:t>
            </a:r>
            <a:endParaRPr lang="en-US" sz="1500" dirty="0"/>
          </a:p>
        </p:txBody>
      </p:sp>
      <p:sp>
        <p:nvSpPr>
          <p:cNvPr id="16" name="num-752"/>
          <p:cNvSpPr/>
          <p:nvPr/>
        </p:nvSpPr>
        <p:spPr>
          <a:xfrm>
            <a:off x="731520" y="5678424"/>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7" name="text-753"/>
          <p:cNvSpPr txBox="1"/>
          <p:nvPr/>
        </p:nvSpPr>
        <p:spPr>
          <a:xfrm>
            <a:off x="731520" y="5678424"/>
            <a:ext cx="347472" cy="347472"/>
          </a:xfrm>
          <a:prstGeom prst="rect">
            <a:avLst/>
          </a:prstGeom>
          <a:noFill/>
          <a:ln/>
        </p:spPr>
        <p:txBody>
          <a:bodyPr wrap="square" lIns="0" tIns="0" rIns="0" bIns="0" rtlCol="0" anchor="ctr"/>
          <a:lstStyle/>
          <a:p>
            <a:pPr marL="0" indent="0" algn="ctr">
              <a:buNone/>
            </a:pPr>
            <a:r>
              <a:rPr lang="en-US" sz="1300" b="1" dirty="0">
                <a:solidFill>
                  <a:schemeClr val="tx2"/>
                </a:solidFill>
              </a:rPr>
              <a:t>5</a:t>
            </a:r>
            <a:endParaRPr lang="en-US" sz="1300" dirty="0"/>
          </a:p>
        </p:txBody>
      </p:sp>
      <p:sp>
        <p:nvSpPr>
          <p:cNvPr id="18" name="text-754"/>
          <p:cNvSpPr txBox="1"/>
          <p:nvPr/>
        </p:nvSpPr>
        <p:spPr>
          <a:xfrm>
            <a:off x="1234440" y="5623560"/>
            <a:ext cx="6035040" cy="457200"/>
          </a:xfrm>
          <a:prstGeom prst="rect">
            <a:avLst/>
          </a:prstGeom>
          <a:noFill/>
          <a:ln/>
        </p:spPr>
        <p:txBody>
          <a:bodyPr wrap="square" lIns="0" tIns="0" rIns="0" bIns="0" rtlCol="0" anchor="ctr"/>
          <a:lstStyle/>
          <a:p>
            <a:pPr marL="0" indent="0" algn="l">
              <a:buNone/>
            </a:pPr>
            <a:r>
              <a:rPr lang="en-US" sz="1500" dirty="0">
                <a:solidFill>
                  <a:schemeClr val="bg1"/>
                </a:solidFill>
              </a:rPr>
              <a:t>Start simple; add complexity only when it clearly helps</a:t>
            </a:r>
            <a:endParaRPr lang="en-US" sz="1500" dirty="0"/>
          </a:p>
        </p:txBody>
      </p:sp>
      <p:sp>
        <p:nvSpPr>
          <p:cNvPr id="19" name="card-755"/>
          <p:cNvSpPr/>
          <p:nvPr/>
        </p:nvSpPr>
        <p:spPr>
          <a:xfrm>
            <a:off x="7772400" y="1463040"/>
            <a:ext cx="3840480" cy="4754880"/>
          </a:xfrm>
          <a:prstGeom prst="roundRect">
            <a:avLst>
              <a:gd name="adj" fmla="val 2381"/>
            </a:avLst>
          </a:prstGeom>
          <a:solidFill>
            <a:schemeClr val="bg1"/>
          </a:solidFill>
          <a:ln w="9525">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sp>
        <p:nvSpPr>
          <p:cNvPr id="20" name="text-756"/>
          <p:cNvSpPr txBox="1"/>
          <p:nvPr/>
        </p:nvSpPr>
        <p:spPr>
          <a:xfrm>
            <a:off x="8046720" y="1645920"/>
            <a:ext cx="3383280" cy="411480"/>
          </a:xfrm>
          <a:prstGeom prst="rect">
            <a:avLst/>
          </a:prstGeom>
          <a:noFill/>
          <a:ln/>
        </p:spPr>
        <p:txBody>
          <a:bodyPr wrap="square" lIns="0" tIns="0" rIns="0" bIns="0" rtlCol="0" anchor="t"/>
          <a:lstStyle/>
          <a:p>
            <a:pPr marL="0" indent="0" algn="l">
              <a:buNone/>
            </a:pPr>
            <a:r>
              <a:rPr lang="en-US" sz="1900" b="1" dirty="0">
                <a:solidFill>
                  <a:schemeClr val="tx2"/>
                </a:solidFill>
                <a:latin typeface="Cambria" pitchFamily="34" charset="0"/>
                <a:ea typeface="Cambria" pitchFamily="34" charset="-122"/>
                <a:cs typeface="Cambria" pitchFamily="34" charset="-120"/>
              </a:rPr>
              <a:t>Your learning path</a:t>
            </a:r>
            <a:endParaRPr lang="en-US" sz="1900" dirty="0"/>
          </a:p>
        </p:txBody>
      </p:sp>
      <p:sp>
        <p:nvSpPr>
          <p:cNvPr id="21" name="text-757"/>
          <p:cNvSpPr txBox="1"/>
          <p:nvPr/>
        </p:nvSpPr>
        <p:spPr>
          <a:xfrm>
            <a:off x="8046720" y="2240280"/>
            <a:ext cx="3383280" cy="274320"/>
          </a:xfrm>
          <a:prstGeom prst="rect">
            <a:avLst/>
          </a:prstGeom>
          <a:noFill/>
          <a:ln/>
        </p:spPr>
        <p:txBody>
          <a:bodyPr wrap="square" lIns="0" tIns="0" rIns="0" bIns="0" rtlCol="0" anchor="t"/>
          <a:lstStyle/>
          <a:p>
            <a:pPr marL="0" indent="0" algn="l">
              <a:buNone/>
            </a:pPr>
            <a:r>
              <a:rPr lang="en-US" sz="1200" b="1" kern="0" spc="200" dirty="0">
                <a:solidFill>
                  <a:schemeClr val="accent1"/>
                </a:solidFill>
              </a:rPr>
              <a:t>WEEK 1</a:t>
            </a:r>
            <a:endParaRPr lang="en-US" sz="1200" dirty="0"/>
          </a:p>
        </p:txBody>
      </p:sp>
      <p:sp>
        <p:nvSpPr>
          <p:cNvPr id="22" name="text-758"/>
          <p:cNvSpPr txBox="1"/>
          <p:nvPr/>
        </p:nvSpPr>
        <p:spPr>
          <a:xfrm>
            <a:off x="8046720" y="2514600"/>
            <a:ext cx="3383280" cy="640080"/>
          </a:xfrm>
          <a:prstGeom prst="rect">
            <a:avLst/>
          </a:prstGeom>
          <a:noFill/>
          <a:ln/>
        </p:spPr>
        <p:txBody>
          <a:bodyPr wrap="square" lIns="0" tIns="0" rIns="0" bIns="0" rtlCol="0" anchor="t"/>
          <a:lstStyle/>
          <a:p>
            <a:pPr marL="0" indent="0" algn="l">
              <a:buNone/>
            </a:pPr>
            <a:r>
              <a:rPr lang="en-US" sz="1400" dirty="0">
                <a:solidFill>
                  <a:schemeClr val="tx1"/>
                </a:solidFill>
              </a:rPr>
              <a:t>Practice the six prompting habits on real tasks</a:t>
            </a:r>
            <a:endParaRPr lang="en-US" sz="1400" dirty="0"/>
          </a:p>
        </p:txBody>
      </p:sp>
      <p:sp>
        <p:nvSpPr>
          <p:cNvPr id="23" name="text-759"/>
          <p:cNvSpPr txBox="1"/>
          <p:nvPr/>
        </p:nvSpPr>
        <p:spPr>
          <a:xfrm>
            <a:off x="8046720" y="3218688"/>
            <a:ext cx="3383280"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WEEK 2</a:t>
            </a:r>
            <a:endParaRPr lang="en-US" sz="1200" dirty="0"/>
          </a:p>
        </p:txBody>
      </p:sp>
      <p:sp>
        <p:nvSpPr>
          <p:cNvPr id="24" name="text-760"/>
          <p:cNvSpPr txBox="1"/>
          <p:nvPr/>
        </p:nvSpPr>
        <p:spPr>
          <a:xfrm>
            <a:off x="8046720" y="3493008"/>
            <a:ext cx="3383280" cy="640080"/>
          </a:xfrm>
          <a:prstGeom prst="rect">
            <a:avLst/>
          </a:prstGeom>
          <a:noFill/>
          <a:ln/>
        </p:spPr>
        <p:txBody>
          <a:bodyPr wrap="square" lIns="0" tIns="0" rIns="0" bIns="0" rtlCol="0" anchor="t"/>
          <a:lstStyle/>
          <a:p>
            <a:pPr marL="0" indent="0" algn="l">
              <a:buNone/>
            </a:pPr>
            <a:r>
              <a:rPr lang="en-US" sz="1400" dirty="0">
                <a:solidFill>
                  <a:schemeClr val="tx1"/>
                </a:solidFill>
              </a:rPr>
              <a:t>Set up a Project with your docs and instructions</a:t>
            </a:r>
            <a:endParaRPr lang="en-US" sz="1400" dirty="0"/>
          </a:p>
        </p:txBody>
      </p:sp>
      <p:sp>
        <p:nvSpPr>
          <p:cNvPr id="25" name="text-761"/>
          <p:cNvSpPr txBox="1"/>
          <p:nvPr/>
        </p:nvSpPr>
        <p:spPr>
          <a:xfrm>
            <a:off x="8046720" y="4197096"/>
            <a:ext cx="3383280" cy="274320"/>
          </a:xfrm>
          <a:prstGeom prst="rect">
            <a:avLst/>
          </a:prstGeom>
          <a:noFill/>
          <a:ln/>
        </p:spPr>
        <p:txBody>
          <a:bodyPr wrap="square" lIns="0" tIns="0" rIns="0" bIns="0" rtlCol="0" anchor="t"/>
          <a:lstStyle/>
          <a:p>
            <a:pPr marL="0" indent="0" algn="l">
              <a:buNone/>
            </a:pPr>
            <a:r>
              <a:rPr lang="en-US" sz="1200" b="1" kern="0" spc="200" dirty="0">
                <a:solidFill>
                  <a:schemeClr val="accent3"/>
                </a:solidFill>
              </a:rPr>
              <a:t>WEEK 3</a:t>
            </a:r>
            <a:endParaRPr lang="en-US" sz="1200" dirty="0"/>
          </a:p>
        </p:txBody>
      </p:sp>
      <p:sp>
        <p:nvSpPr>
          <p:cNvPr id="26" name="text-762"/>
          <p:cNvSpPr txBox="1"/>
          <p:nvPr/>
        </p:nvSpPr>
        <p:spPr>
          <a:xfrm>
            <a:off x="8046720" y="4471416"/>
            <a:ext cx="3383280" cy="640080"/>
          </a:xfrm>
          <a:prstGeom prst="rect">
            <a:avLst/>
          </a:prstGeom>
          <a:noFill/>
          <a:ln/>
        </p:spPr>
        <p:txBody>
          <a:bodyPr wrap="square" lIns="0" tIns="0" rIns="0" bIns="0" rtlCol="0" anchor="t"/>
          <a:lstStyle/>
          <a:p>
            <a:pPr marL="0" indent="0" algn="l">
              <a:buNone/>
            </a:pPr>
            <a:r>
              <a:rPr lang="en-US" sz="1400" dirty="0">
                <a:solidFill>
                  <a:schemeClr val="tx1"/>
                </a:solidFill>
              </a:rPr>
              <a:t>Connect one app and save one Skill</a:t>
            </a:r>
            <a:endParaRPr lang="en-US" sz="1400" dirty="0"/>
          </a:p>
        </p:txBody>
      </p:sp>
      <p:sp>
        <p:nvSpPr>
          <p:cNvPr id="27" name="text-763"/>
          <p:cNvSpPr txBox="1"/>
          <p:nvPr/>
        </p:nvSpPr>
        <p:spPr>
          <a:xfrm>
            <a:off x="8046720" y="5175504"/>
            <a:ext cx="3383280" cy="274320"/>
          </a:xfrm>
          <a:prstGeom prst="rect">
            <a:avLst/>
          </a:prstGeom>
          <a:noFill/>
          <a:ln/>
        </p:spPr>
        <p:txBody>
          <a:bodyPr wrap="square" lIns="0" tIns="0" rIns="0" bIns="0" rtlCol="0" anchor="t"/>
          <a:lstStyle/>
          <a:p>
            <a:pPr marL="0" indent="0" algn="l">
              <a:buNone/>
            </a:pPr>
            <a:r>
              <a:rPr lang="en-US" sz="1200" b="1" kern="0" spc="200" dirty="0">
                <a:solidFill>
                  <a:schemeClr val="accent4"/>
                </a:solidFill>
              </a:rPr>
              <a:t>WEEK 4</a:t>
            </a:r>
            <a:endParaRPr lang="en-US" sz="1200" dirty="0"/>
          </a:p>
        </p:txBody>
      </p:sp>
      <p:sp>
        <p:nvSpPr>
          <p:cNvPr id="28" name="text-764"/>
          <p:cNvSpPr txBox="1"/>
          <p:nvPr/>
        </p:nvSpPr>
        <p:spPr>
          <a:xfrm>
            <a:off x="8046720" y="5449824"/>
            <a:ext cx="3383280" cy="640080"/>
          </a:xfrm>
          <a:prstGeom prst="rect">
            <a:avLst/>
          </a:prstGeom>
          <a:noFill/>
          <a:ln/>
        </p:spPr>
        <p:txBody>
          <a:bodyPr wrap="square" lIns="0" tIns="0" rIns="0" bIns="0" rtlCol="0" anchor="t"/>
          <a:lstStyle/>
          <a:p>
            <a:pPr marL="0" indent="0" algn="l">
              <a:buNone/>
            </a:pPr>
            <a:r>
              <a:rPr lang="en-US" sz="1400" dirty="0">
                <a:solidFill>
                  <a:schemeClr val="tx1"/>
                </a:solidFill>
              </a:rPr>
              <a:t>Read “Building effective agents”; try a small agent with the Claude API</a:t>
            </a:r>
            <a:endParaRPr lang="en-US" sz="1400" dirty="0"/>
          </a:p>
        </p:txBody>
      </p:sp>
    </p:spTree>
  </p:cSld>
  <p:clrMapOvr>
    <a:masterClrMapping/>
  </p:clrMapOvr>
</p:sld>
</file>

<file path=ppt/theme/theme1.xml><?xml version="1.0" encoding="utf-8"?>
<a:theme xmlns:a="http://schemas.openxmlformats.org/drawingml/2006/main" name="Tokens to Agents">
  <a:themeElements>
    <a:clrScheme name="Tokens to Agents">
      <a:dk1>
        <a:srgbClr val="1F2433"/>
      </a:dk1>
      <a:lt1>
        <a:srgbClr val="FFFFFF"/>
      </a:lt1>
      <a:dk2>
        <a:srgbClr val="1B1F3B"/>
      </a:dk2>
      <a:lt2>
        <a:srgbClr val="EEF0F6"/>
      </a:lt2>
      <a:accent1>
        <a:srgbClr val="D97757"/>
      </a:accent1>
      <a:accent2>
        <a:srgbClr val="2A9D8F"/>
      </a:accent2>
      <a:accent3>
        <a:srgbClr val="6C63FF"/>
      </a:accent3>
      <a:accent4>
        <a:srgbClr val="E9B949"/>
      </a:accent4>
      <a:accent5>
        <a:srgbClr val="8A90A6"/>
      </a:accent5>
      <a:accent6>
        <a:srgbClr val="E05263"/>
      </a:accent6>
      <a:hlink>
        <a:srgbClr val="6C63FF"/>
      </a:hlink>
      <a:folHlink>
        <a:srgbClr val="5B6178"/>
      </a:folHlink>
    </a:clrScheme>
    <a:fontScheme name="Tokens to Ag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87"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E32143-7953-47BC-892C-F0CACC895C86}">
  <we:reference id="wa200010725" version="1.0.0.1" store="en-US" storeType="OMEX"/>
  <we:alternateReferences>
    <we:reference id="wa200010725" version="1.0.0.1" store="wa200010725" storeType="OMEX"/>
  </we:alternateReferences>
  <we:properties>
    <we:property name="claude.fileId" value="&quot;027f0c3e-d96c-4b3f-8775-cea6e90e3ff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110</TotalTime>
  <Words>5590</Words>
  <Application>Microsoft Office PowerPoint</Application>
  <PresentationFormat>Widescreen</PresentationFormat>
  <Paragraphs>806</Paragraphs>
  <Slides>39</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Cambria</vt:lpstr>
      <vt:lpstr>Courier New</vt:lpstr>
      <vt:lpstr>Tokens to Agents</vt:lpstr>
      <vt:lpstr>From Tokens to Teams of Agents</vt:lpstr>
      <vt:lpstr>The journey in four parts</vt:lpstr>
      <vt:lpstr>How LLMs work</vt:lpstr>
      <vt:lpstr>An LLM is a next-token predictor</vt:lpstr>
      <vt:lpstr>Tokens: the units an LLM reads and writes</vt:lpstr>
      <vt:lpstr>Embeddings: meaning as coordinates</vt:lpstr>
      <vt:lpstr>The transformer: the engine inside every LLM</vt:lpstr>
      <vt:lpstr>Layers run in sequence, tokens run in parallel</vt:lpstr>
      <vt:lpstr>Self-attention: which words matter for “it”?</vt:lpstr>
      <vt:lpstr>Training: learning to predict the next token</vt:lpstr>
      <vt:lpstr>How a model is trained: three stages</vt:lpstr>
      <vt:lpstr>LoRA fine-tuning trains under 1% of the weights</vt:lpstr>
      <vt:lpstr>Inference: writing one token at a time</vt:lpstr>
      <vt:lpstr>Sampling: temperature controls creativity</vt:lpstr>
      <vt:lpstr>The context window is the model's working memory</vt:lpstr>
      <vt:lpstr>Quantization: smaller numbers, smaller models</vt:lpstr>
      <vt:lpstr>Local models: biggest that fits, Q4 or better</vt:lpstr>
      <vt:lpstr>What LLMs get wrong — and why</vt:lpstr>
      <vt:lpstr>RAG: give the model the right pages before it answers</vt:lpstr>
      <vt:lpstr>RAG keeps your documents outside the LLM</vt:lpstr>
      <vt:lpstr>Retrieve: find the chunks closest in meaning</vt:lpstr>
      <vt:lpstr>AI agents</vt:lpstr>
      <vt:lpstr>Agent = LLM + tools + memory + a loop</vt:lpstr>
      <vt:lpstr>The agent loop: think → act → observe</vt:lpstr>
      <vt:lpstr>The Act step: the model asks, your app does</vt:lpstr>
      <vt:lpstr>Three kinds of agent memory</vt:lpstr>
      <vt:lpstr>Where agent memory lives on your PC</vt:lpstr>
      <vt:lpstr>Five building-block patterns</vt:lpstr>
      <vt:lpstr>Start simple: climb the ladder only when it pays</vt:lpstr>
      <vt:lpstr>Multi-agent systems</vt:lpstr>
      <vt:lpstr>Why use several agents instead of one?</vt:lpstr>
      <vt:lpstr>Three common ways to organize agents</vt:lpstr>
      <vt:lpstr>Worked example: a multi-agent research system</vt:lpstr>
      <vt:lpstr>What goes wrong — and how to prevent it</vt:lpstr>
      <vt:lpstr>Using Claude well</vt:lpstr>
      <vt:lpstr>Six prompting habits that make the biggest difference</vt:lpstr>
      <vt:lpstr>Where each concept shows up when you use Claude</vt:lpstr>
      <vt:lpstr>Cheat sheet: key terms</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Tokens to Teams of Agents</dc:title>
  <dc:subject>PptxGenJS Presentation</dc:subject>
  <dc:creator>Claude</dc:creator>
  <cp:lastModifiedBy>LINH NGUYEN PHAN</cp:lastModifiedBy>
  <cp:revision>3</cp:revision>
  <dcterms:created xsi:type="dcterms:W3CDTF">2026-10-25T05:38:50Z</dcterms:created>
  <dcterms:modified xsi:type="dcterms:W3CDTF">2026-10-25T07:29:42Z</dcterms:modified>
</cp:coreProperties>
</file>