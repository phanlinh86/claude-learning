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3.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f7991195-bb88-1a7e-536d-6dc0b520cab4}">
          <p14:sldIdLst>
            <p14:sldId id="256"/>
            <p14:sldId id="257"/>
          </p14:sldIdLst>
        </p14:section>
        <p14:section name="Part 1 · Prompting" id="{fc866d7d-a808-1eb5-2b4b-0ce45e1a62f9}">
          <p14:sldIdLst>
            <p14:sldId id="258"/>
            <p14:sldId id="259"/>
            <p14:sldId id="260"/>
            <p14:sldId id="261"/>
            <p14:sldId id="262"/>
            <p14:sldId id="263"/>
          </p14:sldIdLst>
        </p14:section>
        <p14:section name="Part 2 · The knobs" id="{ae7a9841-d200-0e3d-f420-4ff215f698e0}">
          <p14:sldIdLst>
            <p14:sldId id="264"/>
            <p14:sldId id="265"/>
            <p14:sldId id="266"/>
            <p14:sldId id="267"/>
            <p14:sldId id="268"/>
            <p14:sldId id="269"/>
            <p14:sldId id="270"/>
            <p14:sldId id="271"/>
          </p14:sldIdLst>
        </p14:section>
        <p14:section name="Part 3 · Where to set them" id="{b6421864-2b8f-9c4d-4f1c-4f3d1252c1e7}">
          <p14:sldIdLst>
            <p14:sldId id="272"/>
            <p14:sldId id="273"/>
            <p14:sldId id="274"/>
            <p14:sldId id="275"/>
          </p14:sldIdLst>
        </p14:section>
        <p14:section name="Part 4 · Agents &amp; multi-agent" id="{da8c1472-d57a-f36e-f68b-ac9e1e12a341}">
          <p14:sldIdLst>
            <p14:sldId id="276"/>
            <p14:sldId id="277"/>
            <p14:sldId id="278"/>
            <p14:sldId id="279"/>
            <p14:sldId id="280"/>
            <p14:sldId id="281"/>
          </p14:sldIdLst>
        </p14:section>
        <p14:section name="Part 5 · Workflows &amp; plans" id="{632fa629-16c8-7fb4-d687-e8525c8c05c4}">
          <p14:sldIdLst>
            <p14:sldId id="282"/>
            <p14:sldId id="283"/>
            <p14:sldId id="284"/>
            <p14:sldId id="285"/>
            <p14:sldId id="286"/>
            <p14:sldId id="287"/>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3B"/>
                </a:solidFill>
                <a:latin typeface="+mn-lt"/>
              </a:defRPr>
            </a:pPr>
            <a:r>
              <a:rPr sz="1300" b="0" i="0" u="none" strike="noStrike">
                <a:solidFill>
                  <a:srgbClr val="1B1F3B"/>
                </a:solidFill>
                <a:latin typeface="+mn-lt"/>
              </a:rPr>
              <a:t>“The cat sat on the …”  next-token probability (%)</a:t>
            </a:r>
          </a:p>
        </c:rich>
      </c:tx>
      <c:layout/>
      <c:overlay val="0"/>
    </c:title>
    <c:autoTitleDeleted val="0"/>
    <c:plotArea>
      <c:layout/>
      <c:barChart>
        <c:barDir val="col"/>
        <c:grouping val="stacked"/>
        <c:varyColors val="0"/>
        <c:ser>
          <c:idx val="0"/>
          <c:order val="0"/>
          <c:tx>
            <c:strRef>
              <c:f>Sheet1!$B$1</c:f>
              <c:strCache>
                <c:ptCount val="1"/>
                <c:pt idx="0">
                  <c:v>Kept by top-p 0.9</c:v>
                </c:pt>
              </c:strCache>
            </c:strRef>
          </c:tx>
          <c:spPr>
            <a:solidFill>
              <a:srgbClr val="2A9D8F"/>
            </a:solidFill>
            <a:effectLst/>
          </c:spPr>
          <c:invertIfNegative val="0"/>
          <c:dLbls>
            <c:numFmt formatCode="#,##0" sourceLinked="0"/>
            <c:txPr>
              <a:bodyPr/>
              <a:lstStyle/>
              <a:p>
                <a:pPr>
                  <a:defRPr b="0" i="0" strike="noStrike" sz="1100" u="none">
                    <a:solidFill>
                      <a:srgbClr val="1B1F3B"/>
                    </a:solidFill>
                    <a:latin typeface="+mn-lt"/>
                  </a:defRPr>
                </a:pPr>
              </a:p>
            </c:txPr>
            <c:showLegendKey val="0"/>
            <c:showVal val="0"/>
            <c:showCatName val="0"/>
            <c:showSerName val="0"/>
            <c:showPercent val="0"/>
            <c:showBubbleSize val="0"/>
            <c:showLeaderLines val="0"/>
          </c:dLbls>
          <c:cat>
            <c:multiLvlStrRef>
              <c:f>Sheet1!$A$2:$A$11</c:f>
              <c:multiLvlStrCache>
                <c:ptCount val="10"/>
                <c:lvl>
                  <c:pt idx="0">
                    <c:v>mat</c:v>
                  </c:pt>
                  <c:pt idx="1">
                    <c:v>floor</c:v>
                  </c:pt>
                  <c:pt idx="2">
                    <c:v>sofa</c:v>
                  </c:pt>
                  <c:pt idx="3">
                    <c:v>bed</c:v>
                  </c:pt>
                  <c:pt idx="4">
                    <c:v>roof</c:v>
                  </c:pt>
                  <c:pt idx="5">
                    <c:v>chair</c:v>
                  </c:pt>
                  <c:pt idx="6">
                    <c:v>rug</c:v>
                  </c:pt>
                  <c:pt idx="7">
                    <c:v>table</c:v>
                  </c:pt>
                  <c:pt idx="8">
                    <c:v>grass</c:v>
                  </c:pt>
                  <c:pt idx="9">
                    <c:v>moon</c:v>
                  </c:pt>
                </c:lvl>
              </c:multiLvlStrCache>
            </c:multiLvlStrRef>
          </c:cat>
          <c:val>
            <c:numRef>
              <c:f>Sheet1!$B$2:$B$11</c:f>
              <c:numCache>
                <c:formatCode>General</c:formatCode>
                <c:ptCount val="10"/>
                <c:pt idx="0">
                  <c:v>42</c:v>
                </c:pt>
                <c:pt idx="1">
                  <c:v>18</c:v>
                </c:pt>
                <c:pt idx="2">
                  <c:v>12</c:v>
                </c:pt>
                <c:pt idx="3">
                  <c:v>8</c:v>
                </c:pt>
                <c:pt idx="4">
                  <c:v>5</c:v>
                </c:pt>
                <c:pt idx="5">
                  <c:v>4</c:v>
                </c:pt>
                <c:pt idx="6">
                  <c:v>3</c:v>
                </c:pt>
                <c:pt idx="7">
                  <c:v>0</c:v>
                </c:pt>
                <c:pt idx="8">
                  <c:v>0</c:v>
                </c:pt>
                <c:pt idx="9">
                  <c:v>0</c:v>
                </c:pt>
              </c:numCache>
            </c:numRef>
          </c:val>
        </c:ser>
        <c:ser>
          <c:idx val="1"/>
          <c:order val="1"/>
          <c:tx>
            <c:strRef>
              <c:f>Sheet1!$C$1</c:f>
              <c:strCache>
                <c:ptCount val="1"/>
                <c:pt idx="0">
                  <c:v>Cut off</c:v>
                </c:pt>
              </c:strCache>
            </c:strRef>
          </c:tx>
          <c:spPr>
            <a:solidFill>
              <a:srgbClr val="D5D8E3"/>
            </a:solidFill>
            <a:effectLst/>
          </c:spPr>
          <c:invertIfNegative val="0"/>
          <c:dLbls>
            <c:numFmt formatCode="#,##0" sourceLinked="0"/>
            <c:txPr>
              <a:bodyPr/>
              <a:lstStyle/>
              <a:p>
                <a:pPr>
                  <a:defRPr b="0" i="0" strike="noStrike" sz="1100" u="none">
                    <a:solidFill>
                      <a:srgbClr val="1B1F3B"/>
                    </a:solidFill>
                    <a:latin typeface="+mn-lt"/>
                  </a:defRPr>
                </a:pPr>
              </a:p>
            </c:txPr>
            <c:showLegendKey val="0"/>
            <c:showVal val="0"/>
            <c:showCatName val="0"/>
            <c:showSerName val="0"/>
            <c:showPercent val="0"/>
            <c:showBubbleSize val="0"/>
            <c:showLeaderLines val="0"/>
          </c:dLbls>
          <c:cat>
            <c:multiLvlStrRef>
              <c:f>Sheet1!$A$2:$A$11</c:f>
              <c:multiLvlStrCache>
                <c:ptCount val="10"/>
                <c:lvl>
                  <c:pt idx="0">
                    <c:v>mat</c:v>
                  </c:pt>
                  <c:pt idx="1">
                    <c:v>floor</c:v>
                  </c:pt>
                  <c:pt idx="2">
                    <c:v>sofa</c:v>
                  </c:pt>
                  <c:pt idx="3">
                    <c:v>bed</c:v>
                  </c:pt>
                  <c:pt idx="4">
                    <c:v>roof</c:v>
                  </c:pt>
                  <c:pt idx="5">
                    <c:v>chair</c:v>
                  </c:pt>
                  <c:pt idx="6">
                    <c:v>rug</c:v>
                  </c:pt>
                  <c:pt idx="7">
                    <c:v>table</c:v>
                  </c:pt>
                  <c:pt idx="8">
                    <c:v>grass</c:v>
                  </c:pt>
                  <c:pt idx="9">
                    <c:v>moon</c:v>
                  </c:pt>
                </c:lvl>
              </c:multiLvlStrCache>
            </c:multiLvlStrRef>
          </c:cat>
          <c:val>
            <c:numRef>
              <c:f>Sheet1!$C$2:$C$11</c:f>
              <c:numCache>
                <c:formatCode>General</c:formatCode>
                <c:ptCount val="10"/>
                <c:pt idx="0">
                  <c:v>0</c:v>
                </c:pt>
                <c:pt idx="1">
                  <c:v>0</c:v>
                </c:pt>
                <c:pt idx="2">
                  <c:v>0</c:v>
                </c:pt>
                <c:pt idx="3">
                  <c:v>0</c:v>
                </c:pt>
                <c:pt idx="4">
                  <c:v>0</c:v>
                </c:pt>
                <c:pt idx="5">
                  <c:v>0</c:v>
                </c:pt>
                <c:pt idx="6">
                  <c:v>0</c:v>
                </c:pt>
                <c:pt idx="7">
                  <c:v>3</c:v>
                </c:pt>
                <c:pt idx="8">
                  <c:v>2</c:v>
                </c:pt>
                <c:pt idx="9">
                  <c:v>1</c:v>
                </c:pt>
              </c:numCache>
            </c:numRef>
          </c:val>
        </c:ser>
        <c:dLbls>
          <c:numFmt formatCode="#,##0" sourceLinked="0"/>
          <c:txPr>
            <a:bodyPr/>
            <a:lstStyle/>
            <a:p>
              <a:pPr>
                <a:defRPr b="0" i="0" strike="noStrike" sz="1100" u="none">
                  <a:solidFill>
                    <a:srgbClr val="1B1F3B"/>
                  </a:solidFill>
                  <a:latin typeface="+mn-lt"/>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075"/>
                </a:solidFill>
                <a:latin typeface="+mn-lt"/>
              </a:defRPr>
            </a:pPr>
            <a:endParaRPr lang="en-US"/>
          </a:p>
        </c:txPr>
        <c:crossAx val="2094734552"/>
        <c:crosses val="autoZero"/>
        <c:auto val="1"/>
        <c:lblAlgn val="ctr"/>
        <c:noMultiLvlLbl val="1"/>
      </c:catAx>
      <c:valAx>
        <c:axId val="2094734552"/>
        <c:scaling>
          <c:orientation val="minMax"/>
          <c:max val="50"/>
        </c:scaling>
        <c:delete val="0"/>
        <c:axPos val="l"/>
        <c:majorGridlines>
          <c:spPr>
            <a:ln w="9525" cap="flat">
              <a:solidFill>
                <a:srgbClr val="E3E5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0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A6075"/>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3B"/>
                </a:solidFill>
                <a:latin typeface="+mn-lt"/>
              </a:defRPr>
            </a:pPr>
            <a:r>
              <a:rPr sz="1300" b="0" i="0" u="none" strike="noStrike">
                <a:solidFill>
                  <a:srgbClr val="1B1F3B"/>
                </a:solidFill>
                <a:latin typeface="+mn-lt"/>
              </a:rPr>
              <a:t>Input cost for 10 calls, Opus 5.5 ($4 per million input tokens)</a:t>
            </a:r>
          </a:p>
        </c:rich>
      </c:tx>
      <c:layout/>
      <c:overlay val="0"/>
    </c:title>
    <c:autoTitleDeleted val="0"/>
    <c:plotArea>
      <c:layout/>
      <c:barChart>
        <c:barDir val="bar"/>
        <c:grouping val="clustered"/>
        <c:varyColors val="0"/>
        <c:ser>
          <c:idx val="0"/>
          <c:order val="0"/>
          <c:tx>
            <c:strRef>
              <c:f>Sheet1!$B$1</c:f>
              <c:strCache>
                <c:ptCount val="1"/>
                <c:pt idx="0">
                  <c:v>Input cost (USD)</c:v>
                </c:pt>
              </c:strCache>
            </c:strRef>
          </c:tx>
          <c:spPr>
            <a:solidFill>
              <a:srgbClr val="2A9D8F"/>
            </a:solidFill>
            <a:effectLst/>
          </c:spPr>
          <c:invertIfNegative val="0"/>
          <c:dLbls>
            <c:numFmt formatCode="$0.00" sourceLinked="0"/>
            <c:txPr>
              <a:bodyPr/>
              <a:lstStyle/>
              <a:p>
                <a:pPr>
                  <a:defRPr b="0" i="0" strike="noStrike" sz="1100" u="none">
                    <a:solidFill>
                      <a:srgbClr val="1B1F3B"/>
                    </a:solidFill>
                    <a:latin typeface="+mn-lt"/>
                  </a:defRPr>
                </a:pPr>
              </a:p>
            </c:txPr>
            <c:showLegendKey val="0"/>
            <c:showVal val="1"/>
            <c:showCatName val="0"/>
            <c:showSerName val="0"/>
            <c:showPercent val="0"/>
            <c:showBubbleSize val="0"/>
            <c:showLeaderLines val="0"/>
          </c:dLbls>
          <c:dPt>
            <c:idx val="0"/>
            <c:invertIfNegative val="0"/>
            <c:bubble3D val="0"/>
            <c:spPr>
              <a:solidFill>
                <a:srgbClr val="2A9D8F"/>
              </a:solidFill>
              <a:effectLst/>
            </c:spPr>
          </c:dPt>
          <c:dPt>
            <c:idx val="1"/>
            <c:invertIfNegative val="0"/>
            <c:bubble3D val="0"/>
            <c:spPr>
              <a:solidFill>
                <a:srgbClr val="6C63FF"/>
              </a:solidFill>
              <a:effectLst/>
            </c:spPr>
          </c:dPt>
          <c:dPt>
            <c:idx val="2"/>
            <c:invertIfNegative val="0"/>
            <c:bubble3D val="0"/>
            <c:spPr>
              <a:solidFill>
                <a:srgbClr val="8A90A6"/>
              </a:solidFill>
              <a:effectLst/>
            </c:spPr>
          </c:dPt>
          <c:cat>
            <c:multiLvlStrRef>
              <c:f>Sheet1!$A$2:$A$4</c:f>
              <c:multiLvlStrCache>
                <c:ptCount val="3"/>
                <c:lvl>
                  <c:pt idx="0">
                    <c:v>5-min cache</c:v>
                  </c:pt>
                  <c:pt idx="1">
                    <c:v>1-hour cache</c:v>
                  </c:pt>
                  <c:pt idx="2">
                    <c:v>No caching</c:v>
                  </c:pt>
                </c:lvl>
              </c:multiLvlStrCache>
            </c:multiLvlStrRef>
          </c:cat>
          <c:val>
            <c:numRef>
              <c:f>Sheet1!$B$2:$B$4</c:f>
              <c:numCache>
                <c:formatCode>General</c:formatCode>
                <c:ptCount val="3"/>
                <c:pt idx="0">
                  <c:v>0.34</c:v>
                </c:pt>
                <c:pt idx="1">
                  <c:v>0.49</c:v>
                </c:pt>
                <c:pt idx="2">
                  <c:v>2</c:v>
                </c:pt>
              </c:numCache>
            </c:numRef>
          </c:val>
        </c:ser>
        <c:dLbls>
          <c:numFmt formatCode="$0.00" sourceLinked="0"/>
          <c:txPr>
            <a:bodyPr/>
            <a:lstStyle/>
            <a:p>
              <a:pPr>
                <a:defRPr b="0" i="0" strike="noStrike" sz="1100" u="none">
                  <a:solidFill>
                    <a:srgbClr val="1B1F3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A6075"/>
                </a:solidFill>
                <a:latin typeface="+mn-lt"/>
              </a:defRPr>
            </a:pPr>
            <a:endParaRPr lang="en-US"/>
          </a:p>
        </c:txPr>
        <c:crossAx val="2094734552"/>
        <c:crosses val="autoZero"/>
        <c:auto val="1"/>
        <c:lblAlgn val="ctr"/>
        <c:noMultiLvlLbl val="1"/>
      </c:catAx>
      <c:valAx>
        <c:axId val="2094734552"/>
        <c:scaling>
          <c:orientation val="minMax"/>
          <c:max val="2.5"/>
          <c:min val="0"/>
        </c:scaling>
        <c:delete val="0"/>
        <c:axPos val="b"/>
        <c:majorGridlines>
          <c:spPr>
            <a:ln w="9525" cap="flat">
              <a:solidFill>
                <a:srgbClr val="E3E5EC"/>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A6075"/>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3B"/>
                </a:solidFill>
                <a:latin typeface="+mn-lt"/>
              </a:defRPr>
            </a:pPr>
            <a:r>
              <a:rPr sz="1300" b="0" i="0" u="none" strike="noStrike">
                <a:solidFill>
                  <a:srgbClr val="1B1F3B"/>
                </a:solidFill>
                <a:latin typeface="+mn-lt"/>
              </a:rPr>
              <a:t>KV cache memory (GB) vs context length, 8B model</a:t>
            </a:r>
          </a:p>
        </c:rich>
      </c:tx>
      <c:layout/>
      <c:overlay val="0"/>
    </c:title>
    <c:autoTitleDeleted val="0"/>
    <c:plotArea>
      <c:layout/>
      <c:barChart>
        <c:barDir val="col"/>
        <c:grouping val="clustered"/>
        <c:varyColors val="0"/>
        <c:ser>
          <c:idx val="0"/>
          <c:order val="0"/>
          <c:tx>
            <c:strRef>
              <c:f>Sheet1!$B$1</c:f>
              <c:strCache>
                <c:ptCount val="1"/>
                <c:pt idx="0">
                  <c:v>FP16 cache</c:v>
                </c:pt>
              </c:strCache>
            </c:strRef>
          </c:tx>
          <c:spPr>
            <a:solidFill>
              <a:srgbClr val="6C63FF"/>
            </a:solidFill>
            <a:effectLst/>
          </c:spPr>
          <c:invertIfNegative val="0"/>
          <c:dLbls>
            <c:numFmt formatCode="#,##0" sourceLinked="0"/>
            <c:txPr>
              <a:bodyPr/>
              <a:lstStyle/>
              <a:p>
                <a:pPr>
                  <a:defRPr b="0" i="0" strike="noStrike" sz="1100" u="none">
                    <a:solidFill>
                      <a:srgbClr val="1B1F3B"/>
                    </a:solidFill>
                    <a:latin typeface="+mn-lt"/>
                  </a:defRPr>
                </a:pPr>
              </a:p>
            </c:txPr>
            <c:showLegendKey val="0"/>
            <c:showVal val="1"/>
            <c:showCatName val="0"/>
            <c:showSerName val="0"/>
            <c:showPercent val="0"/>
            <c:showBubbleSize val="0"/>
            <c:showLeaderLines val="0"/>
          </c:dLbls>
          <c:cat>
            <c:multiLvlStrRef>
              <c:f>Sheet1!$A$2:$A$4</c:f>
              <c:multiLvlStrCache>
                <c:ptCount val="3"/>
                <c:lvl>
                  <c:pt idx="0">
                    <c:v>8k</c:v>
                  </c:pt>
                  <c:pt idx="1">
                    <c:v>32k</c:v>
                  </c:pt>
                  <c:pt idx="2">
                    <c:v>128k</c:v>
                  </c:pt>
                </c:lvl>
              </c:multiLvlStrCache>
            </c:multiLvlStrRef>
          </c:cat>
          <c:val>
            <c:numRef>
              <c:f>Sheet1!$B$2:$B$4</c:f>
              <c:numCache>
                <c:formatCode>General</c:formatCode>
                <c:ptCount val="3"/>
                <c:pt idx="0">
                  <c:v>1</c:v>
                </c:pt>
                <c:pt idx="1">
                  <c:v>4</c:v>
                </c:pt>
                <c:pt idx="2">
                  <c:v>16</c:v>
                </c:pt>
              </c:numCache>
            </c:numRef>
          </c:val>
        </c:ser>
        <c:ser>
          <c:idx val="1"/>
          <c:order val="1"/>
          <c:tx>
            <c:strRef>
              <c:f>Sheet1!$C$1</c:f>
              <c:strCache>
                <c:ptCount val="1"/>
                <c:pt idx="0">
                  <c:v>q8_0 cache</c:v>
                </c:pt>
              </c:strCache>
            </c:strRef>
          </c:tx>
          <c:spPr>
            <a:solidFill>
              <a:srgbClr val="2A9D8F"/>
            </a:solidFill>
            <a:effectLst/>
          </c:spPr>
          <c:invertIfNegative val="0"/>
          <c:dLbls>
            <c:numFmt formatCode="#,##0" sourceLinked="0"/>
            <c:txPr>
              <a:bodyPr/>
              <a:lstStyle/>
              <a:p>
                <a:pPr>
                  <a:defRPr b="0" i="0" strike="noStrike" sz="1100" u="none">
                    <a:solidFill>
                      <a:srgbClr val="1B1F3B"/>
                    </a:solidFill>
                    <a:latin typeface="+mn-lt"/>
                  </a:defRPr>
                </a:pPr>
              </a:p>
            </c:txPr>
            <c:showLegendKey val="0"/>
            <c:showVal val="1"/>
            <c:showCatName val="0"/>
            <c:showSerName val="0"/>
            <c:showPercent val="0"/>
            <c:showBubbleSize val="0"/>
            <c:showLeaderLines val="0"/>
          </c:dLbls>
          <c:cat>
            <c:multiLvlStrRef>
              <c:f>Sheet1!$A$2:$A$4</c:f>
              <c:multiLvlStrCache>
                <c:ptCount val="3"/>
                <c:lvl>
                  <c:pt idx="0">
                    <c:v>8k</c:v>
                  </c:pt>
                  <c:pt idx="1">
                    <c:v>32k</c:v>
                  </c:pt>
                  <c:pt idx="2">
                    <c:v>128k</c:v>
                  </c:pt>
                </c:lvl>
              </c:multiLvlStrCache>
            </c:multiLvlStrRef>
          </c:cat>
          <c:val>
            <c:numRef>
              <c:f>Sheet1!$C$2:$C$4</c:f>
              <c:numCache>
                <c:formatCode>General</c:formatCode>
                <c:ptCount val="3"/>
                <c:pt idx="0">
                  <c:v>0.5</c:v>
                </c:pt>
                <c:pt idx="1">
                  <c:v>2</c:v>
                </c:pt>
                <c:pt idx="2">
                  <c:v>8</c:v>
                </c:pt>
              </c:numCache>
            </c:numRef>
          </c:val>
        </c:ser>
        <c:dLbls>
          <c:numFmt formatCode="#,##0" sourceLinked="0"/>
          <c:txPr>
            <a:bodyPr/>
            <a:lstStyle/>
            <a:p>
              <a:pPr>
                <a:defRPr b="0" i="0" strike="noStrike" sz="1100" u="none">
                  <a:solidFill>
                    <a:srgbClr val="1B1F3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075"/>
                </a:solidFill>
                <a:latin typeface="+mn-lt"/>
              </a:defRPr>
            </a:pPr>
            <a:endParaRPr lang="en-US"/>
          </a:p>
        </c:txPr>
        <c:crossAx val="2094734552"/>
        <c:crosses val="autoZero"/>
        <c:auto val="1"/>
        <c:lblAlgn val="ctr"/>
        <c:noMultiLvlLbl val="1"/>
      </c:catAx>
      <c:valAx>
        <c:axId val="2094734552"/>
        <c:scaling>
          <c:orientation val="minMax"/>
          <c:max val="18"/>
        </c:scaling>
        <c:delete val="0"/>
        <c:axPos val="l"/>
        <c:majorGridlines>
          <c:spPr>
            <a:ln w="9525" cap="flat">
              <a:solidFill>
                <a:srgbClr val="E3E5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0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A6075"/>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follows on from 'From Tokens to Teams of Agents'. That deck explained how LLMs and agents work. This one is practical: how to prompt Claude well, which settings actually exist (and where you set them), and how to go from a single chat to agents, multi-agent setups, repeatable workflows and plans. Facts about API parameters are current as of October 2026 and change often, so check the linked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Part 1 is the skill that matters most: writing prompts. Part 2 covers the 'knobs' people ask about (temperature, top-k, top-p, context length, KV cache) and what has changed on recent Claude models. Part 3 is where each setting lives. Parts 4 and 5 scale up from one conversation to agents, teams of agents and repeatable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Anthropic's own guidance: treat Claude like a very capable new team member with no context. The second prompt says who it is for, why, the tone, the key facts, the length, the format and the closing. Nothing in it is clever. It is just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don't need every part every time, but checking this list catches most weak prompts. XML tags are not magic syntax; they just make it obvious to Claude where each part starts and ends, and they let you refer to parts by name ('using the rules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come straight from Anthropic's prompting best-practices page. A note on tone: recent Claude models follow the system prompt very closely, so shouting ('CRITICAL! You MUST...') tends to cause over-triggering. Calm, specific instructions with the reason attached work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large inputs, order matters. Put long material near the top and the question at the end. Asking for supporting quotes first makes Claude locate the evidence before reasoning about it, which reduces made-up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Professional prompt engineering is mostly testing. Keep a small set of real inputs and rerun them after each change. If you only judge on one example, you will overfit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Part 2. People coming from open-source models expect temperature, top-k, top-p and context size sliders. On the newest Claude models, temperature/top_p/top_k return a 400 error, thinking is always adaptive, and the context window is fixed by the model. Your real levers are the prompt, effort, max_tokens and prompt caching. Source: Claude Opus 5.5 migration guide and context windows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from the previous deck. After the model scores every possible next token, sampling picks one. Temperature reshapes the probabilities; top-k and top-p cut off the long tail of unlikely tokens. These knobs are still everywhere in open models (llama.cpp, Ollama, vLLM) and in older Claude models, so the concept is worth knowing even though the newest Claude models no longer expose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exact model where each change happened is worth checking in the docs for the model you use. The direction is clear: Anthropic recommends omitting sampling parameters and steering with the prompt. If you use an older model through the API, temperature (0 to 1) still works. Low for extraction and classification, default for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Effort is soft guidance about how much to think and how thorough to be. It's set in output_config, not in the thinking object. In the Claude app this shows up as thinking/effort options; in Claude Code use /effort or the --effort flag. Defaults differ by model, so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length is not a dial on the Claude API: it's a property of the model. What you control is what you put in it and max_tokens. Bigger isn't always better: more irrelevant text means more cost, more latency, and a higher chance the important detail gets lost. In Claude Code, /compact and /clear are the manual versions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KV cache is an inference detail: on your own GPU you size it (see the local models slide), on the Claude API Anthropic manages it. Prompt caching is how the API lets you benefit: identical prefixes (tools → system → messages) are reused. Put stable things first (instructions, documents, tool definitions) and changing things (timestamps, the new question) last. Never put a timestamp at the top of a system prompt: it breaks the cache on every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10 calls, each sending the same 50,000-token document plus a short question. No caching: 500k input tokens at $4/M = $2.00. 5-minute cache: one write at 1.25x ($0.25) plus nine reads at 0.05x ($0.09) = $0.34, about 83% less. 1-hour cache: write at 2x ($0.40) + reads = $0.49. Output costs are the same in all three cases. Prices from the Opus 5.5 migration guide and prompt caching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came looking for a temperature slider in the Claude app: there isn't one. The app exposes model choice, thinking, projects, styles and memory. The API exposes request parameters. Claude Code adds agent controls. The classic sampling and KV-cache knobs are mainly a local open-model thing, which the next-but-one slide 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complete, realistic request on a current model. Notice what is missing: no temperature, top_p or top_k, and no context-size setting. Try it in the Claude Console Workbench first: it shows the same parameters as form fields and can export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ties back to the quantization slide in the first deck. When you run open-weight models locally, you choose sampling (temperature, top-k, top-p), the context length, and the KV cache precision. The KV cache grows with context length, so a 128k context on an 8B model needs about 16 GB just for the cache at FP16. Flag names change between versions, so check llama-server --help and the Ollama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from the first deck: an agent is the same model, called repeatedly, where each response can include a tool call; your code (or Claude Code, or the Agent SDK) runs the tool and feeds back the result. The four building blocks on the right are what make an agent useful in your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patterns come from Anthropic's 'Building effective agents'. They are workflows: you, the developer, decide the structure. Use the simplest one that works. A single well-prompted call beats a complicated pipeline more often than people expect. Only reach for a fully autonomous agent when the steps can't be predicted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from Anthropic's engineering post 'How we built our multi-agent research system' (June 2025): Opus lead with Sonnet subagents beat single-agent Opus by 90.2% on their research eval, but used about 15x the tokens of chat. Token usage alone explained about 80% of performance variance. So multi-agent is a way to spend more compute in parallel. Worth it for valuable, parallelisable work; wasteful for simple or tightly coupled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subagent is a Markdown file with YAML frontmatter. Only name and description are required; the description is what Claude reads to decide when to delegate, so make it specific. Restricting tools (read-only reviewer) and choosing a cheaper model are the main levers. The easiest way to create one: ask Claude Code to write it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lesson Anthropic learned building their research system: vague delegation causes duplicated work and gaps. A subagent only knows what you put in its brief. The same five elements apply when you hand work to Claude Code subagents, the Agent tool, or a human colleague.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mode in Claude Code is read-only: Claude can explore but not edit until you approve the plan. Cycle modes with Shift+Tab, or use /plan. The same habit works in the Claude app: ask for a plan or outline before the full deliverable. For one-line fixes, skip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useful rule: if you've typed the same instructions three times, make them a building block. CLAUDE.md for things that always apply, a skill for a procedure, a subagent for a specialist role, a hook for something that must happen every time without relying on the model remembering. The /init command in Claude Code drafts a CLAUDE.md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work that spans hours or several sessions, the conversation is not a reliable memory: it gets compacted or cleared. Anthropic's guidance for long agentic tasks is to keep structured state in files and use git as a checkpoint log. Pair that with a clear autonomy policy: reversible, local actions freely; irreversible or external actions only after asking. Permission modes and hooks in Claude Code enforce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combines most of the deck. Notice the order: don't build the full automated pipeline on day one. Do it by hand in a conversation, see what goes wrong, capture the working instructions in a skill, then add parallel subagents for speed, an evaluator for quality, and finally a schedule. Every layer of automation should be earned by the previous one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One-slide summary to keep. If you remember only one thing per part, make it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pick one task you do every week, write a strong prompt for it using Part 1, run it a few times, then make it a skill. Then try plan mode in Claude Code on a small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8686800" cy="118872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548640" y="3383280"/>
            <a:ext cx="8686800" cy="731520"/>
          </a:xfrm>
          <a:prstGeom prst="rect">
            <a:avLst/>
          </a:prstGeom>
          <a:noFill/>
          <a:ln/>
        </p:spPr>
        <p:txBody>
          <a:bodyPr wrap="square" rtlCol="0"/>
          <a:lstStyle>
            <a:lvl1pPr indent="0" marL="0">
              <a:buNone/>
              <a:defRPr lang="en-US" sz="2000" dirty="0">
                <a:solidFill>
                  <a:schemeClr val="accent6"/>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011680"/>
            <a:ext cx="5486400" cy="365760"/>
          </a:xfrm>
          <a:prstGeom prst="rect">
            <a:avLst/>
          </a:prstGeom>
          <a:noFill/>
          <a:ln/>
        </p:spPr>
        <p:txBody>
          <a:bodyPr wrap="square" rtlCol="0"/>
          <a:lstStyle>
            <a:lvl1pPr indent="0" marL="0">
              <a:buNone/>
              <a:defRPr lang="en-US" sz="1400" b="1" spc="400" kern="0"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2423160"/>
            <a:ext cx="6583680" cy="9144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4" name="Text 0"/>
          <p:cNvSpPr/>
          <p:nvPr>
            <p:ph idx="102" type="body" hasCustomPrompt="1"/>
          </p:nvPr>
        </p:nvSpPr>
        <p:spPr>
          <a:xfrm>
            <a:off x="548640" y="3474720"/>
            <a:ext cx="6217920" cy="109728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accent5"/>
                </a:solidFill>
              </a:rPr>
              <a:t>Using Claude Well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4.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4.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4.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4.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4.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slideLayout" Target="../slideLayouts/slideLayout4.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4.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8686800" cy="118872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Using Claude Well</a:t>
            </a:r>
            <a:endParaRPr lang="en-US" sz="4400" dirty="0"/>
          </a:p>
        </p:txBody>
      </p:sp>
      <p:sp>
        <p:nvSpPr>
          <p:cNvPr id="3" name="Text 0"/>
          <p:cNvSpPr/>
          <p:nvPr>
            <p:ph idx="101" type="body" hasCustomPrompt="1"/>
          </p:nvPr>
        </p:nvSpPr>
        <p:spPr>
          <a:xfrm>
            <a:off x="548640" y="3383280"/>
            <a:ext cx="8686800" cy="731520"/>
          </a:xfrm>
          <a:prstGeom prst="rect">
            <a:avLst/>
          </a:prstGeom>
          <a:noFill/>
          <a:ln/>
        </p:spPr>
        <p:txBody>
          <a:bodyPr wrap="square" lIns="0" tIns="0" rIns="0" bIns="0" rtlCol="0" anchor="t"/>
          <a:lstStyle/>
          <a:p>
            <a:pPr indent="0" marL="0">
              <a:buNone/>
            </a:pPr>
            <a:r>
              <a:rPr lang="en-US" sz="2000" dirty="0">
                <a:solidFill>
                  <a:schemeClr val="accent6"/>
                </a:solidFill>
              </a:rPr>
              <a:t>From writing a good prompt to settings, agents, workflows and plans</a:t>
            </a:r>
            <a:endParaRPr lang="en-US" sz="2000" dirty="0"/>
          </a:p>
        </p:txBody>
      </p:sp>
      <p:sp>
        <p:nvSpPr>
          <p:cNvPr id="4" name="token chip"/>
          <p:cNvSpPr/>
          <p:nvPr/>
        </p:nvSpPr>
        <p:spPr>
          <a:xfrm>
            <a:off x="548640" y="4480560"/>
            <a:ext cx="777240" cy="457200"/>
          </a:xfrm>
          <a:prstGeom prst="roundRect">
            <a:avLst>
              <a:gd name="adj" fmla="val 12000"/>
            </a:avLst>
          </a:prstGeom>
          <a:solidFill>
            <a:schemeClr val="accent1"/>
          </a:solidFill>
          <a:ln w="12700">
            <a:solidFill>
              <a:schemeClr val="accent1"/>
            </a:solidFill>
            <a:prstDash val="solid"/>
          </a:ln>
        </p:spPr>
      </p:sp>
      <p:sp>
        <p:nvSpPr>
          <p:cNvPr id="5" name="Text 3"/>
          <p:cNvSpPr txBox="1"/>
          <p:nvPr/>
        </p:nvSpPr>
        <p:spPr>
          <a:xfrm>
            <a:off x="548640" y="4480560"/>
            <a:ext cx="777240" cy="457200"/>
          </a:xfrm>
          <a:prstGeom prst="rect">
            <a:avLst/>
          </a:prstGeom>
          <a:noFill/>
          <a:ln/>
        </p:spPr>
        <p:txBody>
          <a:bodyPr wrap="square" lIns="0" tIns="0" rIns="0" bIns="0" rtlCol="0" anchor="ctr"/>
          <a:lstStyle/>
          <a:p>
            <a:pPr algn="ctr" indent="0" marL="0">
              <a:buNone/>
            </a:pPr>
            <a:r>
              <a:rPr lang="en-US" sz="1600" dirty="0">
                <a:solidFill>
                  <a:schemeClr val="bg1"/>
                </a:solidFill>
              </a:rPr>
              <a:t>prompt</a:t>
            </a:r>
            <a:endParaRPr lang="en-US" sz="1600" dirty="0"/>
          </a:p>
        </p:txBody>
      </p:sp>
      <p:sp>
        <p:nvSpPr>
          <p:cNvPr id="6" name="token chip"/>
          <p:cNvSpPr/>
          <p:nvPr/>
        </p:nvSpPr>
        <p:spPr>
          <a:xfrm>
            <a:off x="1399032" y="4480560"/>
            <a:ext cx="297180" cy="457200"/>
          </a:xfrm>
          <a:prstGeom prst="roundRect">
            <a:avLst>
              <a:gd name="adj" fmla="val 18462"/>
            </a:avLst>
          </a:prstGeom>
          <a:solidFill>
            <a:schemeClr val="accent2"/>
          </a:solidFill>
          <a:ln w="12700">
            <a:solidFill>
              <a:schemeClr val="accent2"/>
            </a:solidFill>
            <a:prstDash val="solid"/>
          </a:ln>
        </p:spPr>
      </p:sp>
      <p:sp>
        <p:nvSpPr>
          <p:cNvPr id="7" name="Text 5"/>
          <p:cNvSpPr txBox="1"/>
          <p:nvPr/>
        </p:nvSpPr>
        <p:spPr>
          <a:xfrm>
            <a:off x="1399032" y="4480560"/>
            <a:ext cx="297180" cy="457200"/>
          </a:xfrm>
          <a:prstGeom prst="rect">
            <a:avLst/>
          </a:prstGeom>
          <a:noFill/>
          <a:ln/>
        </p:spPr>
        <p:txBody>
          <a:bodyPr wrap="square" lIns="0" tIns="0" rIns="0" bIns="0" rtlCol="0" anchor="ctr"/>
          <a:lstStyle/>
          <a:p>
            <a:pPr algn="ctr" indent="0" marL="0">
              <a:buNone/>
            </a:pPr>
            <a:r>
              <a:rPr lang="en-US" sz="1600" dirty="0">
                <a:solidFill>
                  <a:schemeClr val="bg1"/>
                </a:solidFill>
              </a:rPr>
              <a:t>→</a:t>
            </a:r>
            <a:endParaRPr lang="en-US" sz="1600" dirty="0"/>
          </a:p>
        </p:txBody>
      </p:sp>
      <p:sp>
        <p:nvSpPr>
          <p:cNvPr id="8" name="token chip"/>
          <p:cNvSpPr/>
          <p:nvPr/>
        </p:nvSpPr>
        <p:spPr>
          <a:xfrm>
            <a:off x="1769364" y="4480560"/>
            <a:ext cx="969264" cy="457200"/>
          </a:xfrm>
          <a:prstGeom prst="roundRect">
            <a:avLst>
              <a:gd name="adj" fmla="val 12000"/>
            </a:avLst>
          </a:prstGeom>
          <a:solidFill>
            <a:schemeClr val="accent3"/>
          </a:solidFill>
          <a:ln w="12700">
            <a:solidFill>
              <a:schemeClr val="accent3"/>
            </a:solidFill>
            <a:prstDash val="solid"/>
          </a:ln>
        </p:spPr>
      </p:sp>
      <p:sp>
        <p:nvSpPr>
          <p:cNvPr id="9" name="Text 7"/>
          <p:cNvSpPr txBox="1"/>
          <p:nvPr/>
        </p:nvSpPr>
        <p:spPr>
          <a:xfrm>
            <a:off x="1769364" y="4480560"/>
            <a:ext cx="969264" cy="457200"/>
          </a:xfrm>
          <a:prstGeom prst="rect">
            <a:avLst/>
          </a:prstGeom>
          <a:noFill/>
          <a:ln/>
        </p:spPr>
        <p:txBody>
          <a:bodyPr wrap="square" lIns="0" tIns="0" rIns="0" bIns="0" rtlCol="0" anchor="ctr"/>
          <a:lstStyle/>
          <a:p>
            <a:pPr algn="ctr" indent="0" marL="0">
              <a:buNone/>
            </a:pPr>
            <a:r>
              <a:rPr lang="en-US" sz="1600" dirty="0">
                <a:solidFill>
                  <a:schemeClr val="bg1"/>
                </a:solidFill>
              </a:rPr>
              <a:t>settings</a:t>
            </a:r>
            <a:endParaRPr lang="en-US" sz="1600" dirty="0"/>
          </a:p>
        </p:txBody>
      </p:sp>
      <p:sp>
        <p:nvSpPr>
          <p:cNvPr id="10" name="token chip"/>
          <p:cNvSpPr/>
          <p:nvPr/>
        </p:nvSpPr>
        <p:spPr>
          <a:xfrm>
            <a:off x="2811780" y="4480560"/>
            <a:ext cx="297180" cy="457200"/>
          </a:xfrm>
          <a:prstGeom prst="roundRect">
            <a:avLst>
              <a:gd name="adj" fmla="val 18462"/>
            </a:avLst>
          </a:prstGeom>
          <a:solidFill>
            <a:schemeClr val="accent4"/>
          </a:solidFill>
          <a:ln w="12700">
            <a:solidFill>
              <a:schemeClr val="accent4"/>
            </a:solidFill>
            <a:prstDash val="solid"/>
          </a:ln>
        </p:spPr>
      </p:sp>
      <p:sp>
        <p:nvSpPr>
          <p:cNvPr id="11" name="Text 9"/>
          <p:cNvSpPr txBox="1"/>
          <p:nvPr/>
        </p:nvSpPr>
        <p:spPr>
          <a:xfrm>
            <a:off x="2811780" y="4480560"/>
            <a:ext cx="297180" cy="457200"/>
          </a:xfrm>
          <a:prstGeom prst="rect">
            <a:avLst/>
          </a:prstGeom>
          <a:noFill/>
          <a:ln/>
        </p:spPr>
        <p:txBody>
          <a:bodyPr wrap="square" lIns="0" tIns="0" rIns="0" bIns="0" rtlCol="0" anchor="ctr"/>
          <a:lstStyle/>
          <a:p>
            <a:pPr algn="ctr" indent="0" marL="0">
              <a:buNone/>
            </a:pPr>
            <a:r>
              <a:rPr lang="en-US" sz="1600" dirty="0">
                <a:solidFill>
                  <a:schemeClr val="tx1"/>
                </a:solidFill>
              </a:rPr>
              <a:t>→</a:t>
            </a:r>
            <a:endParaRPr lang="en-US" sz="1600" dirty="0"/>
          </a:p>
        </p:txBody>
      </p:sp>
      <p:sp>
        <p:nvSpPr>
          <p:cNvPr id="12" name="token chip"/>
          <p:cNvSpPr/>
          <p:nvPr/>
        </p:nvSpPr>
        <p:spPr>
          <a:xfrm>
            <a:off x="3182112" y="4480560"/>
            <a:ext cx="777240" cy="457200"/>
          </a:xfrm>
          <a:prstGeom prst="roundRect">
            <a:avLst>
              <a:gd name="adj" fmla="val 12000"/>
            </a:avLst>
          </a:prstGeom>
          <a:solidFill>
            <a:schemeClr val="accent1"/>
          </a:solidFill>
          <a:ln w="12700">
            <a:solidFill>
              <a:schemeClr val="accent1"/>
            </a:solidFill>
            <a:prstDash val="solid"/>
          </a:ln>
        </p:spPr>
      </p:sp>
      <p:sp>
        <p:nvSpPr>
          <p:cNvPr id="13" name="Text 11"/>
          <p:cNvSpPr txBox="1"/>
          <p:nvPr/>
        </p:nvSpPr>
        <p:spPr>
          <a:xfrm>
            <a:off x="3182112" y="4480560"/>
            <a:ext cx="777240" cy="457200"/>
          </a:xfrm>
          <a:prstGeom prst="rect">
            <a:avLst/>
          </a:prstGeom>
          <a:noFill/>
          <a:ln/>
        </p:spPr>
        <p:txBody>
          <a:bodyPr wrap="square" lIns="0" tIns="0" rIns="0" bIns="0" rtlCol="0" anchor="ctr"/>
          <a:lstStyle/>
          <a:p>
            <a:pPr algn="ctr" indent="0" marL="0">
              <a:buNone/>
            </a:pPr>
            <a:r>
              <a:rPr lang="en-US" sz="1600" dirty="0">
                <a:solidFill>
                  <a:schemeClr val="bg1"/>
                </a:solidFill>
              </a:rPr>
              <a:t>agents</a:t>
            </a:r>
            <a:endParaRPr lang="en-US" sz="1600" dirty="0"/>
          </a:p>
        </p:txBody>
      </p:sp>
      <p:sp>
        <p:nvSpPr>
          <p:cNvPr id="14" name="token chip"/>
          <p:cNvSpPr/>
          <p:nvPr/>
        </p:nvSpPr>
        <p:spPr>
          <a:xfrm>
            <a:off x="4032504" y="4480560"/>
            <a:ext cx="297180" cy="457200"/>
          </a:xfrm>
          <a:prstGeom prst="roundRect">
            <a:avLst>
              <a:gd name="adj" fmla="val 18462"/>
            </a:avLst>
          </a:prstGeom>
          <a:solidFill>
            <a:schemeClr val="accent2"/>
          </a:solidFill>
          <a:ln w="12700">
            <a:solidFill>
              <a:schemeClr val="accent2"/>
            </a:solidFill>
            <a:prstDash val="solid"/>
          </a:ln>
        </p:spPr>
      </p:sp>
      <p:sp>
        <p:nvSpPr>
          <p:cNvPr id="15" name="Text 13"/>
          <p:cNvSpPr txBox="1"/>
          <p:nvPr/>
        </p:nvSpPr>
        <p:spPr>
          <a:xfrm>
            <a:off x="4032504" y="4480560"/>
            <a:ext cx="297180" cy="457200"/>
          </a:xfrm>
          <a:prstGeom prst="rect">
            <a:avLst/>
          </a:prstGeom>
          <a:noFill/>
          <a:ln/>
        </p:spPr>
        <p:txBody>
          <a:bodyPr wrap="square" lIns="0" tIns="0" rIns="0" bIns="0" rtlCol="0" anchor="ctr"/>
          <a:lstStyle/>
          <a:p>
            <a:pPr algn="ctr" indent="0" marL="0">
              <a:buNone/>
            </a:pPr>
            <a:r>
              <a:rPr lang="en-US" sz="1600" dirty="0">
                <a:solidFill>
                  <a:schemeClr val="bg1"/>
                </a:solidFill>
              </a:rPr>
              <a:t>→</a:t>
            </a:r>
            <a:endParaRPr lang="en-US" sz="1600" dirty="0"/>
          </a:p>
        </p:txBody>
      </p:sp>
      <p:sp>
        <p:nvSpPr>
          <p:cNvPr id="16" name="token chip"/>
          <p:cNvSpPr/>
          <p:nvPr/>
        </p:nvSpPr>
        <p:spPr>
          <a:xfrm>
            <a:off x="4402836" y="4480560"/>
            <a:ext cx="1065276" cy="457200"/>
          </a:xfrm>
          <a:prstGeom prst="roundRect">
            <a:avLst>
              <a:gd name="adj" fmla="val 12000"/>
            </a:avLst>
          </a:prstGeom>
          <a:solidFill>
            <a:schemeClr val="accent3"/>
          </a:solidFill>
          <a:ln w="12700">
            <a:solidFill>
              <a:schemeClr val="accent3"/>
            </a:solidFill>
            <a:prstDash val="solid"/>
          </a:ln>
        </p:spPr>
      </p:sp>
      <p:sp>
        <p:nvSpPr>
          <p:cNvPr id="17" name="Text 15"/>
          <p:cNvSpPr txBox="1"/>
          <p:nvPr/>
        </p:nvSpPr>
        <p:spPr>
          <a:xfrm>
            <a:off x="4402836" y="4480560"/>
            <a:ext cx="1065276" cy="457200"/>
          </a:xfrm>
          <a:prstGeom prst="rect">
            <a:avLst/>
          </a:prstGeom>
          <a:noFill/>
          <a:ln/>
        </p:spPr>
        <p:txBody>
          <a:bodyPr wrap="square" lIns="0" tIns="0" rIns="0" bIns="0" rtlCol="0" anchor="ctr"/>
          <a:lstStyle/>
          <a:p>
            <a:pPr algn="ctr" indent="0" marL="0">
              <a:buNone/>
            </a:pPr>
            <a:r>
              <a:rPr lang="en-US" sz="1600" dirty="0">
                <a:solidFill>
                  <a:schemeClr val="bg1"/>
                </a:solidFill>
              </a:rPr>
              <a:t>workflows</a:t>
            </a:r>
            <a:endParaRPr lang="en-US" sz="1600" dirty="0"/>
          </a:p>
        </p:txBody>
      </p:sp>
      <p:sp>
        <p:nvSpPr>
          <p:cNvPr id="18" name="Text 16"/>
          <p:cNvSpPr txBox="1"/>
          <p:nvPr/>
        </p:nvSpPr>
        <p:spPr>
          <a:xfrm>
            <a:off x="548640" y="5166360"/>
            <a:ext cx="8229600" cy="365760"/>
          </a:xfrm>
          <a:prstGeom prst="rect">
            <a:avLst/>
          </a:prstGeom>
          <a:noFill/>
          <a:ln/>
        </p:spPr>
        <p:txBody>
          <a:bodyPr wrap="square" lIns="0" tIns="0" rIns="0" bIns="0" rtlCol="0" anchor="t"/>
          <a:lstStyle/>
          <a:p>
            <a:pPr indent="0" marL="0">
              <a:buNone/>
            </a:pPr>
            <a:r>
              <a:rPr lang="en-US" sz="1200" i="1" dirty="0">
                <a:solidFill>
                  <a:schemeClr val="accent5"/>
                </a:solidFill>
              </a:rPr>
              <a:t>A companion to “From Tokens to Teams of Agents”: that deck explains how it works, this one explains how to use it.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Five parts, from one prompt to a team of agents</a:t>
            </a:r>
            <a:endParaRPr lang="en-US" sz="3200" dirty="0"/>
          </a:p>
        </p:txBody>
      </p:sp>
      <p:sp>
        <p:nvSpPr>
          <p:cNvPr id="3" name="card"/>
          <p:cNvSpPr/>
          <p:nvPr/>
        </p:nvSpPr>
        <p:spPr>
          <a:xfrm>
            <a:off x="548640" y="1463040"/>
            <a:ext cx="2066544" cy="4206240"/>
          </a:xfrm>
          <a:prstGeom prst="roundRect">
            <a:avLst>
              <a:gd name="adj" fmla="val 3540"/>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4" name="icon circle"/>
          <p:cNvSpPr/>
          <p:nvPr/>
        </p:nvSpPr>
        <p:spPr>
          <a:xfrm>
            <a:off x="822960" y="1783080"/>
            <a:ext cx="731520" cy="731520"/>
          </a:xfrm>
          <a:prstGeom prst="ellipse">
            <a:avLst/>
          </a:prstGeom>
          <a:solidFill>
            <a:schemeClr val="accent1"/>
          </a:solidFill>
          <a:ln w="12700">
            <a:solidFill>
              <a:schemeClr val="accent1"/>
            </a:solidFill>
            <a:prstDash val="solid"/>
          </a:ln>
        </p:spPr>
      </p:sp>
      <p:pic>
        <p:nvPicPr>
          <p:cNvPr id="5" name="Image 0" descr="PenNib icon">    </p:cNvPr>
          <p:cNvPicPr>
            <a:picLocks noChangeAspect="1"/>
          </p:cNvPicPr>
          <p:nvPr/>
        </p:nvPicPr>
        <p:blipFill>
          <a:blip r:embed="rId1"/>
          <a:stretch>
            <a:fillRect/>
          </a:stretch>
        </p:blipFill>
        <p:spPr>
          <a:xfrm>
            <a:off x="1005840" y="1965960"/>
            <a:ext cx="365760" cy="365760"/>
          </a:xfrm>
          <a:prstGeom prst="rect">
            <a:avLst/>
          </a:prstGeom>
        </p:spPr>
      </p:pic>
      <p:sp>
        <p:nvSpPr>
          <p:cNvPr id="6" name="Text 3"/>
          <p:cNvSpPr txBox="1"/>
          <p:nvPr/>
        </p:nvSpPr>
        <p:spPr>
          <a:xfrm>
            <a:off x="822960" y="2743200"/>
            <a:ext cx="164592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PART 1</a:t>
            </a:r>
            <a:endParaRPr lang="en-US" sz="1100" dirty="0"/>
          </a:p>
        </p:txBody>
      </p:sp>
      <p:sp>
        <p:nvSpPr>
          <p:cNvPr id="7" name="Text 4"/>
          <p:cNvSpPr txBox="1"/>
          <p:nvPr/>
        </p:nvSpPr>
        <p:spPr>
          <a:xfrm>
            <a:off x="822960" y="3063240"/>
            <a:ext cx="1645920" cy="68580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Prompting</a:t>
            </a:r>
            <a:endParaRPr lang="en-US" sz="1800" dirty="0"/>
          </a:p>
        </p:txBody>
      </p:sp>
      <p:sp>
        <p:nvSpPr>
          <p:cNvPr id="8" name="Text 5"/>
          <p:cNvSpPr txBox="1"/>
          <p:nvPr/>
        </p:nvSpPr>
        <p:spPr>
          <a:xfrm>
            <a:off x="822960" y="3794760"/>
            <a:ext cx="1600200" cy="1645920"/>
          </a:xfrm>
          <a:prstGeom prst="rect">
            <a:avLst/>
          </a:prstGeom>
          <a:noFill/>
          <a:ln/>
        </p:spPr>
        <p:txBody>
          <a:bodyPr wrap="square" lIns="0" tIns="0" rIns="0" bIns="0" rtlCol="0" anchor="t"/>
          <a:lstStyle/>
          <a:p>
            <a:pPr indent="0" marL="0">
              <a:buNone/>
            </a:pPr>
            <a:r>
              <a:rPr lang="en-US" sz="1300" dirty="0">
                <a:solidFill>
                  <a:schemeClr val="tx2"/>
                </a:solidFill>
              </a:rPr>
              <a:t>The colleague test, prompt anatomy, techniques, long documents</a:t>
            </a:r>
            <a:endParaRPr lang="en-US" sz="1300" dirty="0"/>
          </a:p>
        </p:txBody>
      </p:sp>
      <p:sp>
        <p:nvSpPr>
          <p:cNvPr id="9" name="card"/>
          <p:cNvSpPr/>
          <p:nvPr/>
        </p:nvSpPr>
        <p:spPr>
          <a:xfrm>
            <a:off x="2798064" y="1463040"/>
            <a:ext cx="2066544" cy="4206240"/>
          </a:xfrm>
          <a:prstGeom prst="roundRect">
            <a:avLst>
              <a:gd name="adj" fmla="val 3540"/>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10" name="icon circle"/>
          <p:cNvSpPr/>
          <p:nvPr/>
        </p:nvSpPr>
        <p:spPr>
          <a:xfrm>
            <a:off x="3072384" y="1783080"/>
            <a:ext cx="731520" cy="731520"/>
          </a:xfrm>
          <a:prstGeom prst="ellipse">
            <a:avLst/>
          </a:prstGeom>
          <a:solidFill>
            <a:schemeClr val="accent2"/>
          </a:solidFill>
          <a:ln w="12700">
            <a:solidFill>
              <a:schemeClr val="accent2"/>
            </a:solidFill>
            <a:prstDash val="solid"/>
          </a:ln>
        </p:spPr>
      </p:sp>
      <p:pic>
        <p:nvPicPr>
          <p:cNvPr id="11" name="Image 1" descr="Sliders icon">    </p:cNvPr>
          <p:cNvPicPr>
            <a:picLocks noChangeAspect="1"/>
          </p:cNvPicPr>
          <p:nvPr/>
        </p:nvPicPr>
        <p:blipFill>
          <a:blip r:embed="rId2"/>
          <a:stretch>
            <a:fillRect/>
          </a:stretch>
        </p:blipFill>
        <p:spPr>
          <a:xfrm>
            <a:off x="3255264" y="1965960"/>
            <a:ext cx="365760" cy="365760"/>
          </a:xfrm>
          <a:prstGeom prst="rect">
            <a:avLst/>
          </a:prstGeom>
        </p:spPr>
      </p:pic>
      <p:sp>
        <p:nvSpPr>
          <p:cNvPr id="12" name="Text 8"/>
          <p:cNvSpPr txBox="1"/>
          <p:nvPr/>
        </p:nvSpPr>
        <p:spPr>
          <a:xfrm>
            <a:off x="3072384" y="2743200"/>
            <a:ext cx="1645920" cy="274320"/>
          </a:xfrm>
          <a:prstGeom prst="rect">
            <a:avLst/>
          </a:prstGeom>
          <a:noFill/>
          <a:ln/>
        </p:spPr>
        <p:txBody>
          <a:bodyPr wrap="square" lIns="0" tIns="0" rIns="0" bIns="0" rtlCol="0" anchor="t"/>
          <a:lstStyle/>
          <a:p>
            <a:pPr indent="0" marL="0">
              <a:buNone/>
            </a:pPr>
            <a:r>
              <a:rPr lang="en-US" sz="1100" b="1" spc="300" kern="0" dirty="0">
                <a:solidFill>
                  <a:schemeClr val="accent2"/>
                </a:solidFill>
              </a:rPr>
              <a:t>PART 2</a:t>
            </a:r>
            <a:endParaRPr lang="en-US" sz="1100" dirty="0"/>
          </a:p>
        </p:txBody>
      </p:sp>
      <p:sp>
        <p:nvSpPr>
          <p:cNvPr id="13" name="Text 9"/>
          <p:cNvSpPr txBox="1"/>
          <p:nvPr/>
        </p:nvSpPr>
        <p:spPr>
          <a:xfrm>
            <a:off x="3072384" y="3063240"/>
            <a:ext cx="1645920" cy="68580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The knobs</a:t>
            </a:r>
            <a:endParaRPr lang="en-US" sz="1800" dirty="0"/>
          </a:p>
        </p:txBody>
      </p:sp>
      <p:sp>
        <p:nvSpPr>
          <p:cNvPr id="14" name="Text 10"/>
          <p:cNvSpPr txBox="1"/>
          <p:nvPr/>
        </p:nvSpPr>
        <p:spPr>
          <a:xfrm>
            <a:off x="3072384" y="3794760"/>
            <a:ext cx="1600200" cy="1645920"/>
          </a:xfrm>
          <a:prstGeom prst="rect">
            <a:avLst/>
          </a:prstGeom>
          <a:noFill/>
          <a:ln/>
        </p:spPr>
        <p:txBody>
          <a:bodyPr wrap="square" lIns="0" tIns="0" rIns="0" bIns="0" rtlCol="0" anchor="t"/>
          <a:lstStyle/>
          <a:p>
            <a:pPr indent="0" marL="0">
              <a:buNone/>
            </a:pPr>
            <a:r>
              <a:rPr lang="en-US" sz="1300" dirty="0">
                <a:solidFill>
                  <a:schemeClr val="tx2"/>
                </a:solidFill>
              </a:rPr>
              <a:t>Sampling, effort, context window, max_tokens, KV cache and prompt caching</a:t>
            </a:r>
            <a:endParaRPr lang="en-US" sz="1300" dirty="0"/>
          </a:p>
        </p:txBody>
      </p:sp>
      <p:sp>
        <p:nvSpPr>
          <p:cNvPr id="15" name="card"/>
          <p:cNvSpPr/>
          <p:nvPr/>
        </p:nvSpPr>
        <p:spPr>
          <a:xfrm>
            <a:off x="5047488" y="1463040"/>
            <a:ext cx="2066544" cy="4206240"/>
          </a:xfrm>
          <a:prstGeom prst="roundRect">
            <a:avLst>
              <a:gd name="adj" fmla="val 3540"/>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16" name="icon circle"/>
          <p:cNvSpPr/>
          <p:nvPr/>
        </p:nvSpPr>
        <p:spPr>
          <a:xfrm>
            <a:off x="5321808" y="1783080"/>
            <a:ext cx="731520" cy="731520"/>
          </a:xfrm>
          <a:prstGeom prst="ellipse">
            <a:avLst/>
          </a:prstGeom>
          <a:solidFill>
            <a:schemeClr val="accent3"/>
          </a:solidFill>
          <a:ln w="12700">
            <a:solidFill>
              <a:schemeClr val="accent3"/>
            </a:solidFill>
            <a:prstDash val="solid"/>
          </a:ln>
        </p:spPr>
      </p:sp>
      <p:pic>
        <p:nvPicPr>
          <p:cNvPr id="17" name="Image 2" descr="LocationDot icon">    </p:cNvPr>
          <p:cNvPicPr>
            <a:picLocks noChangeAspect="1"/>
          </p:cNvPicPr>
          <p:nvPr/>
        </p:nvPicPr>
        <p:blipFill>
          <a:blip r:embed="rId3"/>
          <a:stretch>
            <a:fillRect/>
          </a:stretch>
        </p:blipFill>
        <p:spPr>
          <a:xfrm>
            <a:off x="5504688" y="1965960"/>
            <a:ext cx="365760" cy="365760"/>
          </a:xfrm>
          <a:prstGeom prst="rect">
            <a:avLst/>
          </a:prstGeom>
        </p:spPr>
      </p:pic>
      <p:sp>
        <p:nvSpPr>
          <p:cNvPr id="18" name="Text 13"/>
          <p:cNvSpPr txBox="1"/>
          <p:nvPr/>
        </p:nvSpPr>
        <p:spPr>
          <a:xfrm>
            <a:off x="5321808" y="2743200"/>
            <a:ext cx="1645920" cy="274320"/>
          </a:xfrm>
          <a:prstGeom prst="rect">
            <a:avLst/>
          </a:prstGeom>
          <a:noFill/>
          <a:ln/>
        </p:spPr>
        <p:txBody>
          <a:bodyPr wrap="square" lIns="0" tIns="0" rIns="0" bIns="0" rtlCol="0" anchor="t"/>
          <a:lstStyle/>
          <a:p>
            <a:pPr indent="0" marL="0">
              <a:buNone/>
            </a:pPr>
            <a:r>
              <a:rPr lang="en-US" sz="1100" b="1" spc="300" kern="0" dirty="0">
                <a:solidFill>
                  <a:schemeClr val="accent3"/>
                </a:solidFill>
              </a:rPr>
              <a:t>PART 3</a:t>
            </a:r>
            <a:endParaRPr lang="en-US" sz="1100" dirty="0"/>
          </a:p>
        </p:txBody>
      </p:sp>
      <p:sp>
        <p:nvSpPr>
          <p:cNvPr id="19" name="Text 14"/>
          <p:cNvSpPr txBox="1"/>
          <p:nvPr/>
        </p:nvSpPr>
        <p:spPr>
          <a:xfrm>
            <a:off x="5321808" y="3063240"/>
            <a:ext cx="1645920" cy="68580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Where to set them</a:t>
            </a:r>
            <a:endParaRPr lang="en-US" sz="1800" dirty="0"/>
          </a:p>
        </p:txBody>
      </p:sp>
      <p:sp>
        <p:nvSpPr>
          <p:cNvPr id="20" name="Text 15"/>
          <p:cNvSpPr txBox="1"/>
          <p:nvPr/>
        </p:nvSpPr>
        <p:spPr>
          <a:xfrm>
            <a:off x="5321808" y="3794760"/>
            <a:ext cx="1600200" cy="1645920"/>
          </a:xfrm>
          <a:prstGeom prst="rect">
            <a:avLst/>
          </a:prstGeom>
          <a:noFill/>
          <a:ln/>
        </p:spPr>
        <p:txBody>
          <a:bodyPr wrap="square" lIns="0" tIns="0" rIns="0" bIns="0" rtlCol="0" anchor="t"/>
          <a:lstStyle/>
          <a:p>
            <a:pPr indent="0" marL="0">
              <a:buNone/>
            </a:pPr>
            <a:r>
              <a:rPr lang="en-US" sz="1300" dirty="0">
                <a:solidFill>
                  <a:schemeClr val="tx2"/>
                </a:solidFill>
              </a:rPr>
              <a:t>Claude app, API, Claude Code, local open models</a:t>
            </a:r>
            <a:endParaRPr lang="en-US" sz="1300" dirty="0"/>
          </a:p>
        </p:txBody>
      </p:sp>
      <p:sp>
        <p:nvSpPr>
          <p:cNvPr id="21" name="card"/>
          <p:cNvSpPr/>
          <p:nvPr/>
        </p:nvSpPr>
        <p:spPr>
          <a:xfrm>
            <a:off x="7296912" y="1463040"/>
            <a:ext cx="2066544" cy="4206240"/>
          </a:xfrm>
          <a:prstGeom prst="roundRect">
            <a:avLst>
              <a:gd name="adj" fmla="val 3540"/>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22" name="icon circle"/>
          <p:cNvSpPr/>
          <p:nvPr/>
        </p:nvSpPr>
        <p:spPr>
          <a:xfrm>
            <a:off x="7571232" y="1783080"/>
            <a:ext cx="731520" cy="731520"/>
          </a:xfrm>
          <a:prstGeom prst="ellipse">
            <a:avLst/>
          </a:prstGeom>
          <a:solidFill>
            <a:schemeClr val="accent4"/>
          </a:solidFill>
          <a:ln w="12700">
            <a:solidFill>
              <a:schemeClr val="accent4"/>
            </a:solidFill>
            <a:prstDash val="solid"/>
          </a:ln>
        </p:spPr>
      </p:sp>
      <p:pic>
        <p:nvPicPr>
          <p:cNvPr id="23" name="Image 3" descr="Users icon">    </p:cNvPr>
          <p:cNvPicPr>
            <a:picLocks noChangeAspect="1"/>
          </p:cNvPicPr>
          <p:nvPr/>
        </p:nvPicPr>
        <p:blipFill>
          <a:blip r:embed="rId4"/>
          <a:stretch>
            <a:fillRect/>
          </a:stretch>
        </p:blipFill>
        <p:spPr>
          <a:xfrm>
            <a:off x="7754112" y="1965960"/>
            <a:ext cx="365760" cy="365760"/>
          </a:xfrm>
          <a:prstGeom prst="rect">
            <a:avLst/>
          </a:prstGeom>
        </p:spPr>
      </p:pic>
      <p:sp>
        <p:nvSpPr>
          <p:cNvPr id="24" name="Text 18"/>
          <p:cNvSpPr txBox="1"/>
          <p:nvPr/>
        </p:nvSpPr>
        <p:spPr>
          <a:xfrm>
            <a:off x="7571232" y="2743200"/>
            <a:ext cx="1645920" cy="274320"/>
          </a:xfrm>
          <a:prstGeom prst="rect">
            <a:avLst/>
          </a:prstGeom>
          <a:noFill/>
          <a:ln/>
        </p:spPr>
        <p:txBody>
          <a:bodyPr wrap="square" lIns="0" tIns="0" rIns="0" bIns="0" rtlCol="0" anchor="t"/>
          <a:lstStyle/>
          <a:p>
            <a:pPr indent="0" marL="0">
              <a:buNone/>
            </a:pPr>
            <a:r>
              <a:rPr lang="en-US" sz="1100" b="1" spc="300" kern="0" dirty="0">
                <a:solidFill>
                  <a:schemeClr val="accent4"/>
                </a:solidFill>
              </a:rPr>
              <a:t>PART 4</a:t>
            </a:r>
            <a:endParaRPr lang="en-US" sz="1100" dirty="0"/>
          </a:p>
        </p:txBody>
      </p:sp>
      <p:sp>
        <p:nvSpPr>
          <p:cNvPr id="25" name="Text 19"/>
          <p:cNvSpPr txBox="1"/>
          <p:nvPr/>
        </p:nvSpPr>
        <p:spPr>
          <a:xfrm>
            <a:off x="7571232" y="3063240"/>
            <a:ext cx="1645920" cy="68580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Agents &amp; multi-agent</a:t>
            </a:r>
            <a:endParaRPr lang="en-US" sz="1800" dirty="0"/>
          </a:p>
        </p:txBody>
      </p:sp>
      <p:sp>
        <p:nvSpPr>
          <p:cNvPr id="26" name="Text 20"/>
          <p:cNvSpPr txBox="1"/>
          <p:nvPr/>
        </p:nvSpPr>
        <p:spPr>
          <a:xfrm>
            <a:off x="7571232" y="3794760"/>
            <a:ext cx="1600200" cy="1645920"/>
          </a:xfrm>
          <a:prstGeom prst="rect">
            <a:avLst/>
          </a:prstGeom>
          <a:noFill/>
          <a:ln/>
        </p:spPr>
        <p:txBody>
          <a:bodyPr wrap="square" lIns="0" tIns="0" rIns="0" bIns="0" rtlCol="0" anchor="t"/>
          <a:lstStyle/>
          <a:p>
            <a:pPr indent="0" marL="0">
              <a:buNone/>
            </a:pPr>
            <a:r>
              <a:rPr lang="en-US" sz="1300" dirty="0">
                <a:solidFill>
                  <a:schemeClr val="tx2"/>
                </a:solidFill>
              </a:rPr>
              <a:t>The agent loop, five workflow patterns, orchestrators, subagents</a:t>
            </a:r>
            <a:endParaRPr lang="en-US" sz="1300" dirty="0"/>
          </a:p>
        </p:txBody>
      </p:sp>
      <p:sp>
        <p:nvSpPr>
          <p:cNvPr id="27" name="card"/>
          <p:cNvSpPr/>
          <p:nvPr/>
        </p:nvSpPr>
        <p:spPr>
          <a:xfrm>
            <a:off x="9546336" y="1463040"/>
            <a:ext cx="2066544" cy="4206240"/>
          </a:xfrm>
          <a:prstGeom prst="roundRect">
            <a:avLst>
              <a:gd name="adj" fmla="val 3540"/>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28" name="icon circle"/>
          <p:cNvSpPr/>
          <p:nvPr/>
        </p:nvSpPr>
        <p:spPr>
          <a:xfrm>
            <a:off x="9820656" y="1783080"/>
            <a:ext cx="731520" cy="731520"/>
          </a:xfrm>
          <a:prstGeom prst="ellipse">
            <a:avLst/>
          </a:prstGeom>
          <a:solidFill>
            <a:schemeClr val="tx1"/>
          </a:solidFill>
          <a:ln w="12700">
            <a:solidFill>
              <a:schemeClr val="tx1"/>
            </a:solidFill>
            <a:prstDash val="solid"/>
          </a:ln>
        </p:spPr>
      </p:sp>
      <p:pic>
        <p:nvPicPr>
          <p:cNvPr id="29" name="Image 4" descr="DiagramProject icon">    </p:cNvPr>
          <p:cNvPicPr>
            <a:picLocks noChangeAspect="1"/>
          </p:cNvPicPr>
          <p:nvPr/>
        </p:nvPicPr>
        <p:blipFill>
          <a:blip r:embed="rId5"/>
          <a:stretch>
            <a:fillRect/>
          </a:stretch>
        </p:blipFill>
        <p:spPr>
          <a:xfrm>
            <a:off x="10003536" y="1965960"/>
            <a:ext cx="365760" cy="365760"/>
          </a:xfrm>
          <a:prstGeom prst="rect">
            <a:avLst/>
          </a:prstGeom>
        </p:spPr>
      </p:pic>
      <p:sp>
        <p:nvSpPr>
          <p:cNvPr id="30" name="Text 23"/>
          <p:cNvSpPr txBox="1"/>
          <p:nvPr/>
        </p:nvSpPr>
        <p:spPr>
          <a:xfrm>
            <a:off x="9820656" y="2743200"/>
            <a:ext cx="1645920" cy="274320"/>
          </a:xfrm>
          <a:prstGeom prst="rect">
            <a:avLst/>
          </a:prstGeom>
          <a:noFill/>
          <a:ln/>
        </p:spPr>
        <p:txBody>
          <a:bodyPr wrap="square" lIns="0" tIns="0" rIns="0" bIns="0" rtlCol="0" anchor="t"/>
          <a:lstStyle/>
          <a:p>
            <a:pPr indent="0" marL="0">
              <a:buNone/>
            </a:pPr>
            <a:r>
              <a:rPr lang="en-US" sz="1100" b="1" spc="300" kern="0" dirty="0">
                <a:solidFill>
                  <a:schemeClr val="tx2"/>
                </a:solidFill>
              </a:rPr>
              <a:t>PART 5</a:t>
            </a:r>
            <a:endParaRPr lang="en-US" sz="1100" dirty="0"/>
          </a:p>
        </p:txBody>
      </p:sp>
      <p:sp>
        <p:nvSpPr>
          <p:cNvPr id="31" name="Text 24"/>
          <p:cNvSpPr txBox="1"/>
          <p:nvPr/>
        </p:nvSpPr>
        <p:spPr>
          <a:xfrm>
            <a:off x="9820656" y="3063240"/>
            <a:ext cx="1645920" cy="68580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Workflows &amp; plans</a:t>
            </a:r>
            <a:endParaRPr lang="en-US" sz="1800" dirty="0"/>
          </a:p>
        </p:txBody>
      </p:sp>
      <p:sp>
        <p:nvSpPr>
          <p:cNvPr id="32" name="Text 25"/>
          <p:cNvSpPr txBox="1"/>
          <p:nvPr/>
        </p:nvSpPr>
        <p:spPr>
          <a:xfrm>
            <a:off x="9820656" y="3794760"/>
            <a:ext cx="1600200" cy="1645920"/>
          </a:xfrm>
          <a:prstGeom prst="rect">
            <a:avLst/>
          </a:prstGeom>
          <a:noFill/>
          <a:ln/>
        </p:spPr>
        <p:txBody>
          <a:bodyPr wrap="square" lIns="0" tIns="0" rIns="0" bIns="0" rtlCol="0" anchor="t"/>
          <a:lstStyle/>
          <a:p>
            <a:pPr indent="0" marL="0">
              <a:buNone/>
            </a:pPr>
            <a:r>
              <a:rPr lang="en-US" sz="1300" dirty="0">
                <a:solidFill>
                  <a:schemeClr val="tx2"/>
                </a:solidFill>
              </a:rPr>
              <a:t>Plan mode, skills, hooks, long-running work, a worked example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011680"/>
            <a:ext cx="5486400" cy="365760"/>
          </a:xfrm>
          <a:prstGeom prst="rect">
            <a:avLst/>
          </a:prstGeom>
          <a:noFill/>
          <a:ln/>
        </p:spPr>
        <p:txBody>
          <a:bodyPr wrap="square" lIns="0" tIns="0" rIns="0" bIns="0" rtlCol="0"/>
          <a:lstStyle/>
          <a:p>
            <a:pPr indent="0" marL="0">
              <a:buNone/>
            </a:pPr>
            <a:r>
              <a:rPr lang="en-US" sz="1400" b="1" spc="400" kern="0" dirty="0">
                <a:solidFill>
                  <a:schemeClr val="accent1"/>
                </a:solidFill>
              </a:rPr>
              <a:t>PART 1</a:t>
            </a:r>
            <a:endParaRPr lang="en-US" sz="1400" dirty="0"/>
          </a:p>
        </p:txBody>
      </p:sp>
      <p:sp>
        <p:nvSpPr>
          <p:cNvPr id="3" name="Text 0"/>
          <p:cNvSpPr/>
          <p:nvPr>
            <p:ph idx="101" type="title" hasCustomPrompt="1"/>
          </p:nvPr>
        </p:nvSpPr>
        <p:spPr>
          <a:xfrm>
            <a:off x="548640" y="2423160"/>
            <a:ext cx="6583680" cy="9144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Prompting</a:t>
            </a:r>
            <a:endParaRPr lang="en-US" sz="4000" dirty="0"/>
          </a:p>
        </p:txBody>
      </p:sp>
      <p:sp>
        <p:nvSpPr>
          <p:cNvPr id="4" name="Text 0"/>
          <p:cNvSpPr/>
          <p:nvPr>
            <p:ph idx="102" type="body" hasCustomPrompt="1"/>
          </p:nvPr>
        </p:nvSpPr>
        <p:spPr>
          <a:xfrm>
            <a:off x="548640" y="3474720"/>
            <a:ext cx="6217920" cy="1097280"/>
          </a:xfrm>
          <a:prstGeom prst="rect">
            <a:avLst/>
          </a:prstGeom>
          <a:noFill/>
          <a:ln/>
        </p:spPr>
        <p:txBody>
          <a:bodyPr wrap="square" lIns="0" tIns="0" rIns="0" bIns="0" rtlCol="0" anchor="t"/>
          <a:lstStyle/>
          <a:p>
            <a:pPr indent="0" marL="0">
              <a:buNone/>
            </a:pPr>
            <a:r>
              <a:rPr lang="en-US" sz="1800" dirty="0">
                <a:solidFill>
                  <a:schemeClr val="accent6"/>
                </a:solidFill>
              </a:rPr>
              <a:t>Most of the quality you get from Claude is decided by what you write before you press Enter.</a:t>
            </a:r>
            <a:endParaRPr lang="en-US" sz="1800" dirty="0"/>
          </a:p>
        </p:txBody>
      </p:sp>
      <p:sp>
        <p:nvSpPr>
          <p:cNvPr id="5" name="token chip"/>
          <p:cNvSpPr/>
          <p:nvPr/>
        </p:nvSpPr>
        <p:spPr>
          <a:xfrm>
            <a:off x="7863840" y="1645920"/>
            <a:ext cx="749808" cy="502920"/>
          </a:xfrm>
          <a:prstGeom prst="roundRect">
            <a:avLst>
              <a:gd name="adj" fmla="val 10909"/>
            </a:avLst>
          </a:prstGeom>
          <a:solidFill>
            <a:schemeClr val="accent1"/>
          </a:solidFill>
          <a:ln w="12700">
            <a:solidFill>
              <a:schemeClr val="accent1"/>
            </a:solidFill>
            <a:prstDash val="solid"/>
          </a:ln>
        </p:spPr>
      </p:sp>
      <p:sp>
        <p:nvSpPr>
          <p:cNvPr id="6" name="Text 4"/>
          <p:cNvSpPr txBox="1"/>
          <p:nvPr/>
        </p:nvSpPr>
        <p:spPr>
          <a:xfrm>
            <a:off x="7863840" y="1645920"/>
            <a:ext cx="749808" cy="502920"/>
          </a:xfrm>
          <a:prstGeom prst="rect">
            <a:avLst/>
          </a:prstGeom>
          <a:noFill/>
          <a:ln/>
        </p:spPr>
        <p:txBody>
          <a:bodyPr wrap="square" lIns="0" tIns="0" rIns="0" bIns="0" rtlCol="0" anchor="ctr"/>
          <a:lstStyle/>
          <a:p>
            <a:pPr algn="ctr" indent="0" marL="0">
              <a:buNone/>
            </a:pPr>
            <a:r>
              <a:rPr lang="en-US" sz="1600" dirty="0">
                <a:solidFill>
                  <a:schemeClr val="bg1"/>
                </a:solidFill>
              </a:rPr>
              <a:t>Role</a:t>
            </a:r>
            <a:endParaRPr lang="en-US" sz="1600" dirty="0"/>
          </a:p>
        </p:txBody>
      </p:sp>
      <p:sp>
        <p:nvSpPr>
          <p:cNvPr id="7" name="token chip"/>
          <p:cNvSpPr/>
          <p:nvPr/>
        </p:nvSpPr>
        <p:spPr>
          <a:xfrm>
            <a:off x="8750808" y="1645920"/>
            <a:ext cx="1106424" cy="502920"/>
          </a:xfrm>
          <a:prstGeom prst="roundRect">
            <a:avLst>
              <a:gd name="adj" fmla="val 10909"/>
            </a:avLst>
          </a:prstGeom>
          <a:solidFill>
            <a:schemeClr val="accent2"/>
          </a:solidFill>
          <a:ln w="12700">
            <a:solidFill>
              <a:schemeClr val="accent2"/>
            </a:solidFill>
            <a:prstDash val="solid"/>
          </a:ln>
        </p:spPr>
      </p:sp>
      <p:sp>
        <p:nvSpPr>
          <p:cNvPr id="8" name="Text 6"/>
          <p:cNvSpPr txBox="1"/>
          <p:nvPr/>
        </p:nvSpPr>
        <p:spPr>
          <a:xfrm>
            <a:off x="8750808" y="1645920"/>
            <a:ext cx="1106424" cy="502920"/>
          </a:xfrm>
          <a:prstGeom prst="rect">
            <a:avLst/>
          </a:prstGeom>
          <a:noFill/>
          <a:ln/>
        </p:spPr>
        <p:txBody>
          <a:bodyPr wrap="square" lIns="0" tIns="0" rIns="0" bIns="0" rtlCol="0" anchor="ctr"/>
          <a:lstStyle/>
          <a:p>
            <a:pPr algn="ctr" indent="0" marL="0">
              <a:buNone/>
            </a:pPr>
            <a:r>
              <a:rPr lang="en-US" sz="1600" dirty="0">
                <a:solidFill>
                  <a:schemeClr val="bg1"/>
                </a:solidFill>
              </a:rPr>
              <a:t>Context</a:t>
            </a:r>
            <a:endParaRPr lang="en-US" sz="1600" dirty="0"/>
          </a:p>
        </p:txBody>
      </p:sp>
      <p:sp>
        <p:nvSpPr>
          <p:cNvPr id="9" name="token chip"/>
          <p:cNvSpPr/>
          <p:nvPr/>
        </p:nvSpPr>
        <p:spPr>
          <a:xfrm>
            <a:off x="9994392" y="1645920"/>
            <a:ext cx="749808" cy="502920"/>
          </a:xfrm>
          <a:prstGeom prst="roundRect">
            <a:avLst>
              <a:gd name="adj" fmla="val 10909"/>
            </a:avLst>
          </a:prstGeom>
          <a:solidFill>
            <a:schemeClr val="accent3"/>
          </a:solidFill>
          <a:ln w="12700">
            <a:solidFill>
              <a:schemeClr val="accent3"/>
            </a:solidFill>
            <a:prstDash val="solid"/>
          </a:ln>
        </p:spPr>
      </p:sp>
      <p:sp>
        <p:nvSpPr>
          <p:cNvPr id="10" name="Text 8"/>
          <p:cNvSpPr txBox="1"/>
          <p:nvPr/>
        </p:nvSpPr>
        <p:spPr>
          <a:xfrm>
            <a:off x="9994392" y="1645920"/>
            <a:ext cx="749808" cy="502920"/>
          </a:xfrm>
          <a:prstGeom prst="rect">
            <a:avLst/>
          </a:prstGeom>
          <a:noFill/>
          <a:ln/>
        </p:spPr>
        <p:txBody>
          <a:bodyPr wrap="square" lIns="0" tIns="0" rIns="0" bIns="0" rtlCol="0" anchor="ctr"/>
          <a:lstStyle/>
          <a:p>
            <a:pPr algn="ctr" indent="0" marL="0">
              <a:buNone/>
            </a:pPr>
            <a:r>
              <a:rPr lang="en-US" sz="1600" dirty="0">
                <a:solidFill>
                  <a:schemeClr val="bg1"/>
                </a:solidFill>
              </a:rPr>
              <a:t>Task</a:t>
            </a:r>
            <a:endParaRPr lang="en-US" sz="1600" dirty="0"/>
          </a:p>
        </p:txBody>
      </p:sp>
      <p:sp>
        <p:nvSpPr>
          <p:cNvPr id="11" name="token chip"/>
          <p:cNvSpPr/>
          <p:nvPr/>
        </p:nvSpPr>
        <p:spPr>
          <a:xfrm>
            <a:off x="8321040" y="2423160"/>
            <a:ext cx="868680" cy="502920"/>
          </a:xfrm>
          <a:prstGeom prst="roundRect">
            <a:avLst>
              <a:gd name="adj" fmla="val 10909"/>
            </a:avLst>
          </a:prstGeom>
          <a:solidFill>
            <a:schemeClr val="accent4"/>
          </a:solidFill>
          <a:ln w="12700">
            <a:solidFill>
              <a:schemeClr val="accent4"/>
            </a:solidFill>
            <a:prstDash val="solid"/>
          </a:ln>
        </p:spPr>
      </p:sp>
      <p:sp>
        <p:nvSpPr>
          <p:cNvPr id="12" name="Text 10"/>
          <p:cNvSpPr txBox="1"/>
          <p:nvPr/>
        </p:nvSpPr>
        <p:spPr>
          <a:xfrm>
            <a:off x="8321040" y="2423160"/>
            <a:ext cx="868680" cy="502920"/>
          </a:xfrm>
          <a:prstGeom prst="rect">
            <a:avLst/>
          </a:prstGeom>
          <a:noFill/>
          <a:ln/>
        </p:spPr>
        <p:txBody>
          <a:bodyPr wrap="square" lIns="0" tIns="0" rIns="0" bIns="0" rtlCol="0" anchor="ctr"/>
          <a:lstStyle/>
          <a:p>
            <a:pPr algn="ctr" indent="0" marL="0">
              <a:buNone/>
            </a:pPr>
            <a:r>
              <a:rPr lang="en-US" sz="1600" dirty="0">
                <a:solidFill>
                  <a:schemeClr val="tx1"/>
                </a:solidFill>
              </a:rPr>
              <a:t>Rules</a:t>
            </a:r>
            <a:endParaRPr lang="en-US" sz="1600" dirty="0"/>
          </a:p>
        </p:txBody>
      </p:sp>
      <p:sp>
        <p:nvSpPr>
          <p:cNvPr id="13" name="token chip"/>
          <p:cNvSpPr/>
          <p:nvPr/>
        </p:nvSpPr>
        <p:spPr>
          <a:xfrm>
            <a:off x="9326880" y="2423160"/>
            <a:ext cx="987552" cy="502920"/>
          </a:xfrm>
          <a:prstGeom prst="roundRect">
            <a:avLst>
              <a:gd name="adj" fmla="val 10909"/>
            </a:avLst>
          </a:prstGeom>
          <a:solidFill>
            <a:schemeClr val="accent1"/>
          </a:solidFill>
          <a:ln w="12700">
            <a:solidFill>
              <a:schemeClr val="accent1"/>
            </a:solidFill>
            <a:prstDash val="solid"/>
          </a:ln>
        </p:spPr>
      </p:sp>
      <p:sp>
        <p:nvSpPr>
          <p:cNvPr id="14" name="Text 12"/>
          <p:cNvSpPr txBox="1"/>
          <p:nvPr/>
        </p:nvSpPr>
        <p:spPr>
          <a:xfrm>
            <a:off x="9326880" y="2423160"/>
            <a:ext cx="987552" cy="502920"/>
          </a:xfrm>
          <a:prstGeom prst="rect">
            <a:avLst/>
          </a:prstGeom>
          <a:noFill/>
          <a:ln/>
        </p:spPr>
        <p:txBody>
          <a:bodyPr wrap="square" lIns="0" tIns="0" rIns="0" bIns="0" rtlCol="0" anchor="ctr"/>
          <a:lstStyle/>
          <a:p>
            <a:pPr algn="ctr" indent="0" marL="0">
              <a:buNone/>
            </a:pPr>
            <a:r>
              <a:rPr lang="en-US" sz="1600" dirty="0">
                <a:solidFill>
                  <a:schemeClr val="bg1"/>
                </a:solidFill>
              </a:rPr>
              <a:t>Format</a:t>
            </a:r>
            <a:endParaRPr lang="en-US" sz="1600" dirty="0"/>
          </a:p>
        </p:txBody>
      </p:sp>
      <p:sp>
        <p:nvSpPr>
          <p:cNvPr id="15" name="token chip"/>
          <p:cNvSpPr/>
          <p:nvPr/>
        </p:nvSpPr>
        <p:spPr>
          <a:xfrm>
            <a:off x="10451592" y="2423160"/>
            <a:ext cx="1225296" cy="502920"/>
          </a:xfrm>
          <a:prstGeom prst="roundRect">
            <a:avLst>
              <a:gd name="adj" fmla="val 10909"/>
            </a:avLst>
          </a:prstGeom>
          <a:solidFill>
            <a:schemeClr val="accent2"/>
          </a:solidFill>
          <a:ln w="12700">
            <a:solidFill>
              <a:schemeClr val="accent2"/>
            </a:solidFill>
            <a:prstDash val="solid"/>
          </a:ln>
        </p:spPr>
      </p:sp>
      <p:sp>
        <p:nvSpPr>
          <p:cNvPr id="16" name="Text 14"/>
          <p:cNvSpPr txBox="1"/>
          <p:nvPr/>
        </p:nvSpPr>
        <p:spPr>
          <a:xfrm>
            <a:off x="10451592" y="2423160"/>
            <a:ext cx="1225296" cy="502920"/>
          </a:xfrm>
          <a:prstGeom prst="rect">
            <a:avLst/>
          </a:prstGeom>
          <a:noFill/>
          <a:ln/>
        </p:spPr>
        <p:txBody>
          <a:bodyPr wrap="square" lIns="0" tIns="0" rIns="0" bIns="0" rtlCol="0" anchor="ctr"/>
          <a:lstStyle/>
          <a:p>
            <a:pPr algn="ctr" indent="0" marL="0">
              <a:buNone/>
            </a:pPr>
            <a:r>
              <a:rPr lang="en-US" sz="1600" dirty="0">
                <a:solidFill>
                  <a:schemeClr val="bg1"/>
                </a:solidFill>
              </a:rPr>
              <a:t>Examples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The golden rule: brief Claude like a brilliant new colleague</a:t>
            </a:r>
            <a:endParaRPr lang="en-US" sz="3200" dirty="0"/>
          </a:p>
        </p:txBody>
      </p:sp>
      <p:sp>
        <p:nvSpPr>
          <p:cNvPr id="3" name="card"/>
          <p:cNvSpPr/>
          <p:nvPr/>
        </p:nvSpPr>
        <p:spPr>
          <a:xfrm>
            <a:off x="548640" y="1371600"/>
            <a:ext cx="5120640" cy="2103120"/>
          </a:xfrm>
          <a:prstGeom prst="roundRect">
            <a:avLst>
              <a:gd name="adj" fmla="val 3478"/>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4" name="icon circle"/>
          <p:cNvSpPr/>
          <p:nvPr/>
        </p:nvSpPr>
        <p:spPr>
          <a:xfrm>
            <a:off x="822960" y="1645920"/>
            <a:ext cx="731520" cy="731520"/>
          </a:xfrm>
          <a:prstGeom prst="ellipse">
            <a:avLst/>
          </a:prstGeom>
          <a:solidFill>
            <a:schemeClr val="accent1"/>
          </a:solidFill>
          <a:ln w="12700">
            <a:solidFill>
              <a:schemeClr val="accent1"/>
            </a:solidFill>
            <a:prstDash val="solid"/>
          </a:ln>
        </p:spPr>
      </p:sp>
      <p:pic>
        <p:nvPicPr>
          <p:cNvPr id="5" name="Image 0" descr="UserTie icon">    </p:cNvPr>
          <p:cNvPicPr>
            <a:picLocks noChangeAspect="1"/>
          </p:cNvPicPr>
          <p:nvPr/>
        </p:nvPicPr>
        <p:blipFill>
          <a:blip r:embed="rId1"/>
          <a:stretch>
            <a:fillRect/>
          </a:stretch>
        </p:blipFill>
        <p:spPr>
          <a:xfrm>
            <a:off x="1005840" y="1828800"/>
            <a:ext cx="365760" cy="365760"/>
          </a:xfrm>
          <a:prstGeom prst="rect">
            <a:avLst/>
          </a:prstGeom>
        </p:spPr>
      </p:pic>
      <p:sp>
        <p:nvSpPr>
          <p:cNvPr id="6" name="Text 3"/>
          <p:cNvSpPr txBox="1"/>
          <p:nvPr/>
        </p:nvSpPr>
        <p:spPr>
          <a:xfrm>
            <a:off x="1783080" y="1645920"/>
            <a:ext cx="3657600" cy="365760"/>
          </a:xfrm>
          <a:prstGeom prst="rect">
            <a:avLst/>
          </a:prstGeom>
          <a:noFill/>
          <a:ln/>
        </p:spPr>
        <p:txBody>
          <a:bodyPr wrap="square" lIns="0" tIns="0" rIns="0" bIns="0" rtlCol="0" anchor="t"/>
          <a:lstStyle/>
          <a:p>
            <a:pPr indent="0" marL="0">
              <a:buNone/>
            </a:pPr>
            <a:r>
              <a:rPr lang="en-US" sz="1800" b="1" dirty="0">
                <a:solidFill>
                  <a:schemeClr val="tx1"/>
                </a:solidFill>
              </a:rPr>
              <a:t>The colleague test</a:t>
            </a:r>
            <a:endParaRPr lang="en-US" sz="1800" dirty="0"/>
          </a:p>
        </p:txBody>
      </p:sp>
      <p:sp>
        <p:nvSpPr>
          <p:cNvPr id="7" name="Text 4"/>
          <p:cNvSpPr txBox="1"/>
          <p:nvPr/>
        </p:nvSpPr>
        <p:spPr>
          <a:xfrm>
            <a:off x="1783080" y="2057400"/>
            <a:ext cx="3657600" cy="1280160"/>
          </a:xfrm>
          <a:prstGeom prst="rect">
            <a:avLst/>
          </a:prstGeom>
          <a:noFill/>
          <a:ln/>
        </p:spPr>
        <p:txBody>
          <a:bodyPr wrap="square" lIns="0" tIns="0" rIns="0" bIns="0" rtlCol="0" anchor="t"/>
          <a:lstStyle/>
          <a:p>
            <a:pPr indent="0" marL="0">
              <a:buNone/>
            </a:pPr>
            <a:r>
              <a:rPr lang="en-US" sz="1400" dirty="0">
                <a:solidFill>
                  <a:schemeClr val="tx2"/>
                </a:solidFill>
              </a:rPr>
              <a:t>Could a smart person who knows nothing about your project do the task with only your prompt? If they would need to ask questions, add those answers to the prompt.</a:t>
            </a:r>
            <a:endParaRPr lang="en-US" sz="1400" dirty="0"/>
          </a:p>
        </p:txBody>
      </p:sp>
      <p:sp>
        <p:nvSpPr>
          <p:cNvPr id="8" name="card"/>
          <p:cNvSpPr/>
          <p:nvPr/>
        </p:nvSpPr>
        <p:spPr>
          <a:xfrm>
            <a:off x="548640" y="3703320"/>
            <a:ext cx="5120640" cy="2331720"/>
          </a:xfrm>
          <a:prstGeom prst="roundRect">
            <a:avLst>
              <a:gd name="adj" fmla="val 3137"/>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822960" y="3886200"/>
            <a:ext cx="4572000" cy="320040"/>
          </a:xfrm>
          <a:prstGeom prst="rect">
            <a:avLst/>
          </a:prstGeom>
          <a:noFill/>
          <a:ln/>
        </p:spPr>
        <p:txBody>
          <a:bodyPr wrap="square" lIns="0" tIns="0" rIns="0" bIns="0" rtlCol="0" anchor="t"/>
          <a:lstStyle/>
          <a:p>
            <a:pPr indent="0" marL="0">
              <a:buNone/>
            </a:pPr>
            <a:r>
              <a:rPr lang="en-US" sz="1600" b="1" dirty="0">
                <a:solidFill>
                  <a:schemeClr val="tx1"/>
                </a:solidFill>
              </a:rPr>
              <a:t>Claude doesn’t know</a:t>
            </a:r>
            <a:endParaRPr lang="en-US" sz="1600" dirty="0"/>
          </a:p>
        </p:txBody>
      </p:sp>
      <p:sp>
        <p:nvSpPr>
          <p:cNvPr id="10" name="Text 7"/>
          <p:cNvSpPr txBox="1"/>
          <p:nvPr/>
        </p:nvSpPr>
        <p:spPr>
          <a:xfrm>
            <a:off x="822960" y="4297680"/>
            <a:ext cx="466344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Who the output is for, and why you need it</a:t>
            </a:r>
            <a:endParaRPr lang="en-US" sz="1400" dirty="0"/>
          </a:p>
          <a:p>
            <a:pPr marL="342900" indent="-342900">
              <a:spcAft>
                <a:spcPts val="600"/>
              </a:spcAft>
              <a:buSzPct val="100000"/>
              <a:buChar char="•"/>
            </a:pPr>
            <a:r>
              <a:rPr lang="en-US" sz="1400" dirty="0">
                <a:solidFill>
                  <a:schemeClr val="tx2"/>
                </a:solidFill>
              </a:rPr>
              <a:t>What “good” looks like to you</a:t>
            </a:r>
            <a:endParaRPr lang="en-US" sz="1400" dirty="0"/>
          </a:p>
          <a:p>
            <a:pPr marL="342900" indent="-342900">
              <a:spcAft>
                <a:spcPts val="600"/>
              </a:spcAft>
              <a:buSzPct val="100000"/>
              <a:buChar char="•"/>
            </a:pPr>
            <a:r>
              <a:rPr lang="en-US" sz="1400" dirty="0">
                <a:solidFill>
                  <a:schemeClr val="tx2"/>
                </a:solidFill>
              </a:rPr>
              <a:t>Your files, data, past decisions and jargon</a:t>
            </a:r>
            <a:endParaRPr lang="en-US" sz="1400" dirty="0"/>
          </a:p>
          <a:p>
            <a:pPr marL="342900" indent="-342900">
              <a:spcAft>
                <a:spcPts val="600"/>
              </a:spcAft>
              <a:buSzPct val="100000"/>
              <a:buChar char="•"/>
            </a:pPr>
            <a:r>
              <a:rPr lang="en-US" sz="1400" dirty="0">
                <a:solidFill>
                  <a:schemeClr val="tx2"/>
                </a:solidFill>
              </a:rPr>
              <a:t>What you have already tried</a:t>
            </a:r>
            <a:endParaRPr lang="en-US" sz="1400" dirty="0"/>
          </a:p>
        </p:txBody>
      </p:sp>
      <p:sp>
        <p:nvSpPr>
          <p:cNvPr id="11" name="Text 8"/>
          <p:cNvSpPr txBox="1"/>
          <p:nvPr/>
        </p:nvSpPr>
        <p:spPr>
          <a:xfrm>
            <a:off x="6035040" y="1371600"/>
            <a:ext cx="548640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LESS EFFECTIVE</a:t>
            </a:r>
            <a:endParaRPr lang="en-US" sz="1100" dirty="0"/>
          </a:p>
        </p:txBody>
      </p:sp>
      <p:sp>
        <p:nvSpPr>
          <p:cNvPr id="12" name="card"/>
          <p:cNvSpPr/>
          <p:nvPr/>
        </p:nvSpPr>
        <p:spPr>
          <a:xfrm>
            <a:off x="6035040" y="1691640"/>
            <a:ext cx="5577840" cy="914400"/>
          </a:xfrm>
          <a:prstGeom prst="roundRect">
            <a:avLst>
              <a:gd name="adj" fmla="val 8000"/>
            </a:avLst>
          </a:prstGeom>
          <a:solidFill>
            <a:schemeClr val="bg1"/>
          </a:solidFill>
          <a:ln w="9525">
            <a:solidFill>
              <a:schemeClr val="accent6"/>
            </a:solidFill>
            <a:prstDash val="solid"/>
          </a:ln>
        </p:spPr>
      </p:sp>
      <p:sp>
        <p:nvSpPr>
          <p:cNvPr id="13" name="Text 10"/>
          <p:cNvSpPr txBox="1"/>
          <p:nvPr/>
        </p:nvSpPr>
        <p:spPr>
          <a:xfrm>
            <a:off x="6263640" y="1828800"/>
            <a:ext cx="5212080" cy="640080"/>
          </a:xfrm>
          <a:prstGeom prst="rect">
            <a:avLst/>
          </a:prstGeom>
          <a:noFill/>
          <a:ln/>
        </p:spPr>
        <p:txBody>
          <a:bodyPr wrap="square" lIns="0" tIns="0" rIns="0" bIns="0" rtlCol="0" anchor="ctr"/>
          <a:lstStyle/>
          <a:p>
            <a:pPr indent="0" marL="0">
              <a:buNone/>
            </a:pPr>
            <a:r>
              <a:rPr lang="en-US" sz="1500" i="1" dirty="0">
                <a:solidFill>
                  <a:schemeClr val="tx1"/>
                </a:solidFill>
              </a:rPr>
              <a:t>Write an email about the new policy.</a:t>
            </a:r>
            <a:endParaRPr lang="en-US" sz="1500" dirty="0"/>
          </a:p>
        </p:txBody>
      </p:sp>
      <p:sp>
        <p:nvSpPr>
          <p:cNvPr id="14" name="Text 11"/>
          <p:cNvSpPr txBox="1"/>
          <p:nvPr/>
        </p:nvSpPr>
        <p:spPr>
          <a:xfrm>
            <a:off x="6035040" y="2834640"/>
            <a:ext cx="5486400" cy="274320"/>
          </a:xfrm>
          <a:prstGeom prst="rect">
            <a:avLst/>
          </a:prstGeom>
          <a:noFill/>
          <a:ln/>
        </p:spPr>
        <p:txBody>
          <a:bodyPr wrap="square" lIns="0" tIns="0" rIns="0" bIns="0" rtlCol="0" anchor="t"/>
          <a:lstStyle/>
          <a:p>
            <a:pPr indent="0" marL="0">
              <a:buNone/>
            </a:pPr>
            <a:r>
              <a:rPr lang="en-US" sz="1100" b="1" spc="300" kern="0" dirty="0">
                <a:solidFill>
                  <a:schemeClr val="accent2"/>
                </a:solidFill>
              </a:rPr>
              <a:t>MORE EFFECTIVE</a:t>
            </a:r>
            <a:endParaRPr lang="en-US" sz="1100" dirty="0"/>
          </a:p>
        </p:txBody>
      </p:sp>
      <p:sp>
        <p:nvSpPr>
          <p:cNvPr id="15" name="card"/>
          <p:cNvSpPr/>
          <p:nvPr/>
        </p:nvSpPr>
        <p:spPr>
          <a:xfrm>
            <a:off x="6035040" y="3154680"/>
            <a:ext cx="5577840" cy="2880360"/>
          </a:xfrm>
          <a:prstGeom prst="roundRect">
            <a:avLst>
              <a:gd name="adj" fmla="val 2540"/>
            </a:avLst>
          </a:prstGeom>
          <a:solidFill>
            <a:schemeClr val="bg1"/>
          </a:solidFill>
          <a:ln w="9525">
            <a:solidFill>
              <a:schemeClr val="accent2"/>
            </a:solidFill>
            <a:prstDash val="solid"/>
          </a:ln>
        </p:spPr>
      </p:sp>
      <p:sp>
        <p:nvSpPr>
          <p:cNvPr id="16" name="Text 13"/>
          <p:cNvSpPr txBox="1"/>
          <p:nvPr/>
        </p:nvSpPr>
        <p:spPr>
          <a:xfrm>
            <a:off x="6263640" y="3337560"/>
            <a:ext cx="5212080" cy="2560320"/>
          </a:xfrm>
          <a:prstGeom prst="rect">
            <a:avLst/>
          </a:prstGeom>
          <a:noFill/>
          <a:ln/>
        </p:spPr>
        <p:txBody>
          <a:bodyPr wrap="square" lIns="0" tIns="0" rIns="0" bIns="0" rtlCol="0" anchor="t"/>
          <a:lstStyle/>
          <a:p>
            <a:pPr indent="0" marL="0">
              <a:buNone/>
            </a:pPr>
            <a:r>
              <a:rPr lang="en-US" sz="1600" i="1" dirty="0">
                <a:solidFill>
                  <a:schemeClr val="tx1"/>
                </a:solidFill>
              </a:rPr>
              <a:t>Write a short email to our 40 support agents announcing that, from 1 Nov, refunds under $50 no longer need manager approval. They have asked for this for months, so keep it upbeat. Explain the one new step (log the reason in the ticket). Under 150 words, plain text, no bullet points, end by saying who to ask with questions (Mai, team lead).</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Anatomy of a strong prompt</a:t>
            </a:r>
            <a:endParaRPr lang="en-US" sz="3200" dirty="0"/>
          </a:p>
        </p:txBody>
      </p:sp>
      <p:sp>
        <p:nvSpPr>
          <p:cNvPr id="3" name="part chip"/>
          <p:cNvSpPr/>
          <p:nvPr/>
        </p:nvSpPr>
        <p:spPr>
          <a:xfrm>
            <a:off x="548640" y="1371600"/>
            <a:ext cx="1463040" cy="621792"/>
          </a:xfrm>
          <a:prstGeom prst="roundRect">
            <a:avLst>
              <a:gd name="adj" fmla="val 8824"/>
            </a:avLst>
          </a:prstGeom>
          <a:solidFill>
            <a:schemeClr val="accent1"/>
          </a:solidFill>
          <a:ln w="12700">
            <a:solidFill>
              <a:schemeClr val="accent1"/>
            </a:solidFill>
            <a:prstDash val="solid"/>
          </a:ln>
        </p:spPr>
      </p:sp>
      <p:sp>
        <p:nvSpPr>
          <p:cNvPr id="4" name="Text 2"/>
          <p:cNvSpPr txBox="1"/>
          <p:nvPr/>
        </p:nvSpPr>
        <p:spPr>
          <a:xfrm>
            <a:off x="548640" y="1371600"/>
            <a:ext cx="1463040" cy="621792"/>
          </a:xfrm>
          <a:prstGeom prst="rect">
            <a:avLst/>
          </a:prstGeom>
          <a:noFill/>
          <a:ln/>
        </p:spPr>
        <p:txBody>
          <a:bodyPr wrap="square" lIns="0" tIns="0" rIns="0" bIns="0" rtlCol="0" anchor="ctr"/>
          <a:lstStyle/>
          <a:p>
            <a:pPr algn="ctr" indent="0" marL="0">
              <a:buNone/>
            </a:pPr>
            <a:r>
              <a:rPr lang="en-US" sz="1600" b="1" dirty="0">
                <a:solidFill>
                  <a:schemeClr val="bg1"/>
                </a:solidFill>
              </a:rPr>
              <a:t>Role</a:t>
            </a:r>
            <a:endParaRPr lang="en-US" sz="1600" dirty="0"/>
          </a:p>
        </p:txBody>
      </p:sp>
      <p:sp>
        <p:nvSpPr>
          <p:cNvPr id="5" name="Text 3"/>
          <p:cNvSpPr txBox="1"/>
          <p:nvPr/>
        </p:nvSpPr>
        <p:spPr>
          <a:xfrm>
            <a:off x="2194560" y="1371600"/>
            <a:ext cx="2743200" cy="621792"/>
          </a:xfrm>
          <a:prstGeom prst="rect">
            <a:avLst/>
          </a:prstGeom>
          <a:noFill/>
          <a:ln/>
        </p:spPr>
        <p:txBody>
          <a:bodyPr wrap="square" lIns="0" tIns="0" rIns="0" bIns="0" rtlCol="0" anchor="ctr"/>
          <a:lstStyle/>
          <a:p>
            <a:pPr indent="0" marL="0">
              <a:buNone/>
            </a:pPr>
            <a:r>
              <a:rPr lang="en-US" sz="1400" dirty="0">
                <a:solidFill>
                  <a:schemeClr val="tx2"/>
                </a:solidFill>
              </a:rPr>
              <a:t>Who Claude should act as</a:t>
            </a:r>
            <a:endParaRPr lang="en-US" sz="1400" dirty="0"/>
          </a:p>
        </p:txBody>
      </p:sp>
      <p:sp>
        <p:nvSpPr>
          <p:cNvPr id="6" name="part chip"/>
          <p:cNvSpPr/>
          <p:nvPr/>
        </p:nvSpPr>
        <p:spPr>
          <a:xfrm>
            <a:off x="548640" y="2157984"/>
            <a:ext cx="1463040" cy="621792"/>
          </a:xfrm>
          <a:prstGeom prst="roundRect">
            <a:avLst>
              <a:gd name="adj" fmla="val 8824"/>
            </a:avLst>
          </a:prstGeom>
          <a:solidFill>
            <a:schemeClr val="accent2"/>
          </a:solidFill>
          <a:ln w="12700">
            <a:solidFill>
              <a:schemeClr val="accent2"/>
            </a:solidFill>
            <a:prstDash val="solid"/>
          </a:ln>
        </p:spPr>
      </p:sp>
      <p:sp>
        <p:nvSpPr>
          <p:cNvPr id="7" name="Text 5"/>
          <p:cNvSpPr txBox="1"/>
          <p:nvPr/>
        </p:nvSpPr>
        <p:spPr>
          <a:xfrm>
            <a:off x="548640" y="2157984"/>
            <a:ext cx="1463040" cy="621792"/>
          </a:xfrm>
          <a:prstGeom prst="rect">
            <a:avLst/>
          </a:prstGeom>
          <a:noFill/>
          <a:ln/>
        </p:spPr>
        <p:txBody>
          <a:bodyPr wrap="square" lIns="0" tIns="0" rIns="0" bIns="0" rtlCol="0" anchor="ctr"/>
          <a:lstStyle/>
          <a:p>
            <a:pPr algn="ctr" indent="0" marL="0">
              <a:buNone/>
            </a:pPr>
            <a:r>
              <a:rPr lang="en-US" sz="1600" b="1" dirty="0">
                <a:solidFill>
                  <a:schemeClr val="bg1"/>
                </a:solidFill>
              </a:rPr>
              <a:t>Context</a:t>
            </a:r>
            <a:endParaRPr lang="en-US" sz="1600" dirty="0"/>
          </a:p>
        </p:txBody>
      </p:sp>
      <p:sp>
        <p:nvSpPr>
          <p:cNvPr id="8" name="Text 6"/>
          <p:cNvSpPr txBox="1"/>
          <p:nvPr/>
        </p:nvSpPr>
        <p:spPr>
          <a:xfrm>
            <a:off x="2194560" y="2157984"/>
            <a:ext cx="2743200" cy="621792"/>
          </a:xfrm>
          <a:prstGeom prst="rect">
            <a:avLst/>
          </a:prstGeom>
          <a:noFill/>
          <a:ln/>
        </p:spPr>
        <p:txBody>
          <a:bodyPr wrap="square" lIns="0" tIns="0" rIns="0" bIns="0" rtlCol="0" anchor="ctr"/>
          <a:lstStyle/>
          <a:p>
            <a:pPr indent="0" marL="0">
              <a:buNone/>
            </a:pPr>
            <a:r>
              <a:rPr lang="en-US" sz="1400" dirty="0">
                <a:solidFill>
                  <a:schemeClr val="tx2"/>
                </a:solidFill>
              </a:rPr>
              <a:t>Background, audience, why it matters</a:t>
            </a:r>
            <a:endParaRPr lang="en-US" sz="1400" dirty="0"/>
          </a:p>
        </p:txBody>
      </p:sp>
      <p:sp>
        <p:nvSpPr>
          <p:cNvPr id="9" name="part chip"/>
          <p:cNvSpPr/>
          <p:nvPr/>
        </p:nvSpPr>
        <p:spPr>
          <a:xfrm>
            <a:off x="548640" y="2944368"/>
            <a:ext cx="1463040" cy="621792"/>
          </a:xfrm>
          <a:prstGeom prst="roundRect">
            <a:avLst>
              <a:gd name="adj" fmla="val 8824"/>
            </a:avLst>
          </a:prstGeom>
          <a:solidFill>
            <a:schemeClr val="accent3"/>
          </a:solidFill>
          <a:ln w="12700">
            <a:solidFill>
              <a:schemeClr val="accent3"/>
            </a:solidFill>
            <a:prstDash val="solid"/>
          </a:ln>
        </p:spPr>
      </p:sp>
      <p:sp>
        <p:nvSpPr>
          <p:cNvPr id="10" name="Text 8"/>
          <p:cNvSpPr txBox="1"/>
          <p:nvPr/>
        </p:nvSpPr>
        <p:spPr>
          <a:xfrm>
            <a:off x="548640" y="2944368"/>
            <a:ext cx="1463040" cy="621792"/>
          </a:xfrm>
          <a:prstGeom prst="rect">
            <a:avLst/>
          </a:prstGeom>
          <a:noFill/>
          <a:ln/>
        </p:spPr>
        <p:txBody>
          <a:bodyPr wrap="square" lIns="0" tIns="0" rIns="0" bIns="0" rtlCol="0" anchor="ctr"/>
          <a:lstStyle/>
          <a:p>
            <a:pPr algn="ctr" indent="0" marL="0">
              <a:buNone/>
            </a:pPr>
            <a:r>
              <a:rPr lang="en-US" sz="1600" b="1" dirty="0">
                <a:solidFill>
                  <a:schemeClr val="bg1"/>
                </a:solidFill>
              </a:rPr>
              <a:t>Task</a:t>
            </a:r>
            <a:endParaRPr lang="en-US" sz="1600" dirty="0"/>
          </a:p>
        </p:txBody>
      </p:sp>
      <p:sp>
        <p:nvSpPr>
          <p:cNvPr id="11" name="Text 9"/>
          <p:cNvSpPr txBox="1"/>
          <p:nvPr/>
        </p:nvSpPr>
        <p:spPr>
          <a:xfrm>
            <a:off x="2194560" y="2944368"/>
            <a:ext cx="2743200" cy="621792"/>
          </a:xfrm>
          <a:prstGeom prst="rect">
            <a:avLst/>
          </a:prstGeom>
          <a:noFill/>
          <a:ln/>
        </p:spPr>
        <p:txBody>
          <a:bodyPr wrap="square" lIns="0" tIns="0" rIns="0" bIns="0" rtlCol="0" anchor="ctr"/>
          <a:lstStyle/>
          <a:p>
            <a:pPr indent="0" marL="0">
              <a:buNone/>
            </a:pPr>
            <a:r>
              <a:rPr lang="en-US" sz="1400" dirty="0">
                <a:solidFill>
                  <a:schemeClr val="tx2"/>
                </a:solidFill>
              </a:rPr>
              <a:t>The exact thing to do, as a verb</a:t>
            </a:r>
            <a:endParaRPr lang="en-US" sz="1400" dirty="0"/>
          </a:p>
        </p:txBody>
      </p:sp>
      <p:sp>
        <p:nvSpPr>
          <p:cNvPr id="12" name="part chip"/>
          <p:cNvSpPr/>
          <p:nvPr/>
        </p:nvSpPr>
        <p:spPr>
          <a:xfrm>
            <a:off x="548640" y="3730752"/>
            <a:ext cx="1463040" cy="621792"/>
          </a:xfrm>
          <a:prstGeom prst="roundRect">
            <a:avLst>
              <a:gd name="adj" fmla="val 8824"/>
            </a:avLst>
          </a:prstGeom>
          <a:solidFill>
            <a:schemeClr val="accent4"/>
          </a:solidFill>
          <a:ln w="12700">
            <a:solidFill>
              <a:schemeClr val="accent4"/>
            </a:solidFill>
            <a:prstDash val="solid"/>
          </a:ln>
        </p:spPr>
      </p:sp>
      <p:sp>
        <p:nvSpPr>
          <p:cNvPr id="13" name="Text 11"/>
          <p:cNvSpPr txBox="1"/>
          <p:nvPr/>
        </p:nvSpPr>
        <p:spPr>
          <a:xfrm>
            <a:off x="548640" y="3730752"/>
            <a:ext cx="1463040" cy="621792"/>
          </a:xfrm>
          <a:prstGeom prst="rect">
            <a:avLst/>
          </a:prstGeom>
          <a:noFill/>
          <a:ln/>
        </p:spPr>
        <p:txBody>
          <a:bodyPr wrap="square" lIns="0" tIns="0" rIns="0" bIns="0" rtlCol="0" anchor="ctr"/>
          <a:lstStyle/>
          <a:p>
            <a:pPr algn="ctr" indent="0" marL="0">
              <a:buNone/>
            </a:pPr>
            <a:r>
              <a:rPr lang="en-US" sz="1600" b="1" dirty="0">
                <a:solidFill>
                  <a:schemeClr val="tx1"/>
                </a:solidFill>
              </a:rPr>
              <a:t>Rules</a:t>
            </a:r>
            <a:endParaRPr lang="en-US" sz="1600" dirty="0"/>
          </a:p>
        </p:txBody>
      </p:sp>
      <p:sp>
        <p:nvSpPr>
          <p:cNvPr id="14" name="Text 12"/>
          <p:cNvSpPr txBox="1"/>
          <p:nvPr/>
        </p:nvSpPr>
        <p:spPr>
          <a:xfrm>
            <a:off x="2194560" y="3730752"/>
            <a:ext cx="2743200" cy="621792"/>
          </a:xfrm>
          <a:prstGeom prst="rect">
            <a:avLst/>
          </a:prstGeom>
          <a:noFill/>
          <a:ln/>
        </p:spPr>
        <p:txBody>
          <a:bodyPr wrap="square" lIns="0" tIns="0" rIns="0" bIns="0" rtlCol="0" anchor="ctr"/>
          <a:lstStyle/>
          <a:p>
            <a:pPr indent="0" marL="0">
              <a:buNone/>
            </a:pPr>
            <a:r>
              <a:rPr lang="en-US" sz="1400" dirty="0">
                <a:solidFill>
                  <a:schemeClr val="tx2"/>
                </a:solidFill>
              </a:rPr>
              <a:t>Constraints, what to avoid, edge cases</a:t>
            </a:r>
            <a:endParaRPr lang="en-US" sz="1400" dirty="0"/>
          </a:p>
        </p:txBody>
      </p:sp>
      <p:sp>
        <p:nvSpPr>
          <p:cNvPr id="15" name="part chip"/>
          <p:cNvSpPr/>
          <p:nvPr/>
        </p:nvSpPr>
        <p:spPr>
          <a:xfrm>
            <a:off x="548640" y="4517136"/>
            <a:ext cx="1463040" cy="621792"/>
          </a:xfrm>
          <a:prstGeom prst="roundRect">
            <a:avLst>
              <a:gd name="adj" fmla="val 8824"/>
            </a:avLst>
          </a:prstGeom>
          <a:solidFill>
            <a:schemeClr val="tx1"/>
          </a:solidFill>
          <a:ln w="12700">
            <a:solidFill>
              <a:schemeClr val="tx1"/>
            </a:solidFill>
            <a:prstDash val="solid"/>
          </a:ln>
        </p:spPr>
      </p:sp>
      <p:sp>
        <p:nvSpPr>
          <p:cNvPr id="16" name="Text 14"/>
          <p:cNvSpPr txBox="1"/>
          <p:nvPr/>
        </p:nvSpPr>
        <p:spPr>
          <a:xfrm>
            <a:off x="548640" y="4517136"/>
            <a:ext cx="1463040" cy="621792"/>
          </a:xfrm>
          <a:prstGeom prst="rect">
            <a:avLst/>
          </a:prstGeom>
          <a:noFill/>
          <a:ln/>
        </p:spPr>
        <p:txBody>
          <a:bodyPr wrap="square" lIns="0" tIns="0" rIns="0" bIns="0" rtlCol="0" anchor="ctr"/>
          <a:lstStyle/>
          <a:p>
            <a:pPr algn="ctr" indent="0" marL="0">
              <a:buNone/>
            </a:pPr>
            <a:r>
              <a:rPr lang="en-US" sz="1600" b="1" dirty="0">
                <a:solidFill>
                  <a:schemeClr val="bg1"/>
                </a:solidFill>
              </a:rPr>
              <a:t>Format</a:t>
            </a:r>
            <a:endParaRPr lang="en-US" sz="1600" dirty="0"/>
          </a:p>
        </p:txBody>
      </p:sp>
      <p:sp>
        <p:nvSpPr>
          <p:cNvPr id="17" name="Text 15"/>
          <p:cNvSpPr txBox="1"/>
          <p:nvPr/>
        </p:nvSpPr>
        <p:spPr>
          <a:xfrm>
            <a:off x="2194560" y="4517136"/>
            <a:ext cx="2743200" cy="621792"/>
          </a:xfrm>
          <a:prstGeom prst="rect">
            <a:avLst/>
          </a:prstGeom>
          <a:noFill/>
          <a:ln/>
        </p:spPr>
        <p:txBody>
          <a:bodyPr wrap="square" lIns="0" tIns="0" rIns="0" bIns="0" rtlCol="0" anchor="ctr"/>
          <a:lstStyle/>
          <a:p>
            <a:pPr indent="0" marL="0">
              <a:buNone/>
            </a:pPr>
            <a:r>
              <a:rPr lang="en-US" sz="1400" dirty="0">
                <a:solidFill>
                  <a:schemeClr val="tx2"/>
                </a:solidFill>
              </a:rPr>
              <a:t>Length, structure, tone, file type</a:t>
            </a:r>
            <a:endParaRPr lang="en-US" sz="1400" dirty="0"/>
          </a:p>
        </p:txBody>
      </p:sp>
      <p:sp>
        <p:nvSpPr>
          <p:cNvPr id="18" name="part chip"/>
          <p:cNvSpPr/>
          <p:nvPr/>
        </p:nvSpPr>
        <p:spPr>
          <a:xfrm>
            <a:off x="548640" y="5303520"/>
            <a:ext cx="1463040" cy="621792"/>
          </a:xfrm>
          <a:prstGeom prst="roundRect">
            <a:avLst>
              <a:gd name="adj" fmla="val 8824"/>
            </a:avLst>
          </a:prstGeom>
          <a:solidFill>
            <a:schemeClr val="tx2"/>
          </a:solidFill>
          <a:ln w="12700">
            <a:solidFill>
              <a:schemeClr val="tx2"/>
            </a:solidFill>
            <a:prstDash val="solid"/>
          </a:ln>
        </p:spPr>
      </p:sp>
      <p:sp>
        <p:nvSpPr>
          <p:cNvPr id="19" name="Text 17"/>
          <p:cNvSpPr txBox="1"/>
          <p:nvPr/>
        </p:nvSpPr>
        <p:spPr>
          <a:xfrm>
            <a:off x="548640" y="5303520"/>
            <a:ext cx="1463040" cy="621792"/>
          </a:xfrm>
          <a:prstGeom prst="rect">
            <a:avLst/>
          </a:prstGeom>
          <a:noFill/>
          <a:ln/>
        </p:spPr>
        <p:txBody>
          <a:bodyPr wrap="square" lIns="0" tIns="0" rIns="0" bIns="0" rtlCol="0" anchor="ctr"/>
          <a:lstStyle/>
          <a:p>
            <a:pPr algn="ctr" indent="0" marL="0">
              <a:buNone/>
            </a:pPr>
            <a:r>
              <a:rPr lang="en-US" sz="1600" b="1" dirty="0">
                <a:solidFill>
                  <a:schemeClr val="bg1"/>
                </a:solidFill>
              </a:rPr>
              <a:t>Examples</a:t>
            </a:r>
            <a:endParaRPr lang="en-US" sz="1600" dirty="0"/>
          </a:p>
        </p:txBody>
      </p:sp>
      <p:sp>
        <p:nvSpPr>
          <p:cNvPr id="20" name="Text 18"/>
          <p:cNvSpPr txBox="1"/>
          <p:nvPr/>
        </p:nvSpPr>
        <p:spPr>
          <a:xfrm>
            <a:off x="2194560" y="5303520"/>
            <a:ext cx="2743200" cy="621792"/>
          </a:xfrm>
          <a:prstGeom prst="rect">
            <a:avLst/>
          </a:prstGeom>
          <a:noFill/>
          <a:ln/>
        </p:spPr>
        <p:txBody>
          <a:bodyPr wrap="square" lIns="0" tIns="0" rIns="0" bIns="0" rtlCol="0" anchor="ctr"/>
          <a:lstStyle/>
          <a:p>
            <a:pPr indent="0" marL="0">
              <a:buNone/>
            </a:pPr>
            <a:r>
              <a:rPr lang="en-US" sz="1400" dirty="0">
                <a:solidFill>
                  <a:schemeClr val="tx2"/>
                </a:solidFill>
              </a:rPr>
              <a:t>1–5 samples of what good looks like</a:t>
            </a:r>
            <a:endParaRPr lang="en-US" sz="1400" dirty="0"/>
          </a:p>
        </p:txBody>
      </p:sp>
      <p:sp>
        <p:nvSpPr>
          <p:cNvPr id="21" name="code panel"/>
          <p:cNvSpPr/>
          <p:nvPr/>
        </p:nvSpPr>
        <p:spPr>
          <a:xfrm>
            <a:off x="5257800" y="1371600"/>
            <a:ext cx="6355080" cy="4663440"/>
          </a:xfrm>
          <a:prstGeom prst="roundRect">
            <a:avLst>
              <a:gd name="adj" fmla="val 1569"/>
            </a:avLst>
          </a:prstGeom>
          <a:solidFill>
            <a:schemeClr val="tx1"/>
          </a:solidFill>
          <a:ln w="12700">
            <a:solidFill>
              <a:schemeClr val="tx1"/>
            </a:solidFill>
            <a:prstDash val="solid"/>
          </a:ln>
        </p:spPr>
      </p:sp>
      <p:sp>
        <p:nvSpPr>
          <p:cNvPr id="22" name="Text 20"/>
          <p:cNvSpPr txBox="1"/>
          <p:nvPr/>
        </p:nvSpPr>
        <p:spPr>
          <a:xfrm>
            <a:off x="5486400" y="1554480"/>
            <a:ext cx="5897880" cy="4297680"/>
          </a:xfrm>
          <a:prstGeom prst="rect">
            <a:avLst/>
          </a:prstGeom>
          <a:noFill/>
          <a:ln/>
        </p:spPr>
        <p:txBody>
          <a:bodyPr wrap="square" lIns="0" tIns="0" rIns="0" bIns="0" rtlCol="0" anchor="t"/>
          <a:lstStyle/>
          <a:p>
            <a:pPr indent="0" marL="0">
              <a:buNone/>
            </a:pPr>
            <a:r>
              <a:rPr lang="en-US" sz="1300" dirty="0">
                <a:solidFill>
                  <a:srgbClr val="E3E5EC"/>
                </a:solidFill>
                <a:latin typeface="Courier New" pitchFamily="34" charset="0"/>
                <a:ea typeface="Courier New" pitchFamily="34" charset="-122"/>
                <a:cs typeface="Courier New" pitchFamily="34" charset="-120"/>
              </a:rPr>
              <a:t>&lt;role&gt;You are a financial analyst who writes for busy executives.&lt;/role&gt;</a:t>
            </a:r>
            <a:endParaRPr lang="en-US" sz="1300" dirty="0"/>
          </a:p>
          <a:p>
            <a:pPr indent="0" marL="0">
              <a:buNone/>
            </a:pPr>
            <a:endParaRPr lang="en-US" sz="1300" dirty="0"/>
          </a:p>
          <a:p>
            <a:pPr indent="0" marL="0">
              <a:buNone/>
            </a:pPr>
            <a:r>
              <a:rPr lang="en-US" sz="1300" dirty="0">
                <a:solidFill>
                  <a:srgbClr val="E3E5EC"/>
                </a:solidFill>
                <a:latin typeface="Courier New" pitchFamily="34" charset="0"/>
                <a:ea typeface="Courier New" pitchFamily="34" charset="-122"/>
                <a:cs typeface="Courier New" pitchFamily="34" charset="-120"/>
              </a:rPr>
              <a:t>&lt;context&gt;The attached Q3 report goes to the board on Friday.</a:t>
            </a:r>
            <a:endParaRPr lang="en-US" sz="1300" dirty="0"/>
          </a:p>
          <a:p>
            <a:pPr indent="0" marL="0">
              <a:buNone/>
            </a:pPr>
            <a:r>
              <a:rPr lang="en-US" sz="1300" dirty="0">
                <a:solidFill>
                  <a:srgbClr val="E3E5EC"/>
                </a:solidFill>
                <a:latin typeface="Courier New" pitchFamily="34" charset="0"/>
                <a:ea typeface="Courier New" pitchFamily="34" charset="-122"/>
                <a:cs typeface="Courier New" pitchFamily="34" charset="-120"/>
              </a:rPr>
              <a:t>They care most about cash runway and churn.&lt;/context&gt;</a:t>
            </a:r>
            <a:endParaRPr lang="en-US" sz="1300" dirty="0"/>
          </a:p>
          <a:p>
            <a:pPr indent="0" marL="0">
              <a:buNone/>
            </a:pPr>
            <a:endParaRPr lang="en-US" sz="1300" dirty="0"/>
          </a:p>
          <a:p>
            <a:pPr indent="0" marL="0">
              <a:buNone/>
            </a:pPr>
            <a:r>
              <a:rPr lang="en-US" sz="1300" dirty="0">
                <a:solidFill>
                  <a:srgbClr val="E3E5EC"/>
                </a:solidFill>
                <a:latin typeface="Courier New" pitchFamily="34" charset="0"/>
                <a:ea typeface="Courier New" pitchFamily="34" charset="-122"/>
                <a:cs typeface="Courier New" pitchFamily="34" charset="-120"/>
              </a:rPr>
              <a:t>&lt;task&gt;Summarise the report for the board.&lt;/task&gt;</a:t>
            </a:r>
            <a:endParaRPr lang="en-US" sz="1300" dirty="0"/>
          </a:p>
          <a:p>
            <a:pPr indent="0" marL="0">
              <a:buNone/>
            </a:pPr>
            <a:endParaRPr lang="en-US" sz="1300" dirty="0"/>
          </a:p>
          <a:p>
            <a:pPr indent="0" marL="0">
              <a:buNone/>
            </a:pPr>
            <a:r>
              <a:rPr lang="en-US" sz="1300" dirty="0">
                <a:solidFill>
                  <a:srgbClr val="E3E5EC"/>
                </a:solidFill>
                <a:latin typeface="Courier New" pitchFamily="34" charset="0"/>
                <a:ea typeface="Courier New" pitchFamily="34" charset="-122"/>
                <a:cs typeface="Courier New" pitchFamily="34" charset="-120"/>
              </a:rPr>
              <a:t>&lt;rules&gt;Use only figures from the report. If a number is</a:t>
            </a:r>
            <a:endParaRPr lang="en-US" sz="1300" dirty="0"/>
          </a:p>
          <a:p>
            <a:pPr indent="0" marL="0">
              <a:buNone/>
            </a:pPr>
            <a:r>
              <a:rPr lang="en-US" sz="1300" dirty="0">
                <a:solidFill>
                  <a:srgbClr val="E3E5EC"/>
                </a:solidFill>
                <a:latin typeface="Courier New" pitchFamily="34" charset="0"/>
                <a:ea typeface="Courier New" pitchFamily="34" charset="-122"/>
                <a:cs typeface="Courier New" pitchFamily="34" charset="-120"/>
              </a:rPr>
              <a:t>missing, say so; do not estimate.&lt;/rules&gt;</a:t>
            </a:r>
            <a:endParaRPr lang="en-US" sz="1300" dirty="0"/>
          </a:p>
          <a:p>
            <a:pPr indent="0" marL="0">
              <a:buNone/>
            </a:pPr>
            <a:endParaRPr lang="en-US" sz="1300" dirty="0"/>
          </a:p>
          <a:p>
            <a:pPr indent="0" marL="0">
              <a:buNone/>
            </a:pPr>
            <a:r>
              <a:rPr lang="en-US" sz="1300" dirty="0">
                <a:solidFill>
                  <a:srgbClr val="E3E5EC"/>
                </a:solidFill>
                <a:latin typeface="Courier New" pitchFamily="34" charset="0"/>
                <a:ea typeface="Courier New" pitchFamily="34" charset="-122"/>
                <a:cs typeface="Courier New" pitchFamily="34" charset="-120"/>
              </a:rPr>
              <a:t>&lt;format&gt;5 bullets, max 20 words each, then one line:</a:t>
            </a:r>
            <a:endParaRPr lang="en-US" sz="1300" dirty="0"/>
          </a:p>
          <a:p>
            <a:pPr indent="0" marL="0">
              <a:buNone/>
            </a:pPr>
            <a:r>
              <a:rPr lang="en-US" sz="1300" dirty="0">
                <a:solidFill>
                  <a:srgbClr val="E3E5EC"/>
                </a:solidFill>
                <a:latin typeface="Courier New" pitchFamily="34" charset="0"/>
                <a:ea typeface="Courier New" pitchFamily="34" charset="-122"/>
                <a:cs typeface="Courier New" pitchFamily="34" charset="-120"/>
              </a:rPr>
              <a:t>"Biggest risk: ..."&lt;/format&gt;</a:t>
            </a:r>
            <a:endParaRPr lang="en-US" sz="1300" dirty="0"/>
          </a:p>
          <a:p>
            <a:pPr indent="0" marL="0">
              <a:buNone/>
            </a:pPr>
            <a:endParaRPr lang="en-US" sz="1300" dirty="0"/>
          </a:p>
          <a:p>
            <a:pPr indent="0" marL="0">
              <a:buNone/>
            </a:pPr>
            <a:r>
              <a:rPr lang="en-US" sz="1300" dirty="0">
                <a:solidFill>
                  <a:srgbClr val="E3E5EC"/>
                </a:solidFill>
                <a:latin typeface="Courier New" pitchFamily="34" charset="0"/>
                <a:ea typeface="Courier New" pitchFamily="34" charset="-122"/>
                <a:cs typeface="Courier New" pitchFamily="34" charset="-120"/>
              </a:rPr>
              <a:t>&lt;example&gt;• Revenue up 12% QoQ to $4.1M, led by enterprise.&lt;/example&gt;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Six techniques that reliably improve results</a:t>
            </a:r>
            <a:endParaRPr lang="en-US" sz="3200" dirty="0"/>
          </a:p>
        </p:txBody>
      </p:sp>
      <p:sp>
        <p:nvSpPr>
          <p:cNvPr id="3" name="card"/>
          <p:cNvSpPr/>
          <p:nvPr/>
        </p:nvSpPr>
        <p:spPr>
          <a:xfrm>
            <a:off x="548640" y="1371600"/>
            <a:ext cx="3529584" cy="2194560"/>
          </a:xfrm>
          <a:prstGeom prst="roundRect">
            <a:avLst>
              <a:gd name="adj" fmla="val 333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4" name="icon circle"/>
          <p:cNvSpPr/>
          <p:nvPr/>
        </p:nvSpPr>
        <p:spPr>
          <a:xfrm>
            <a:off x="822960" y="1645920"/>
            <a:ext cx="640080" cy="640080"/>
          </a:xfrm>
          <a:prstGeom prst="ellipse">
            <a:avLst/>
          </a:prstGeom>
          <a:solidFill>
            <a:schemeClr val="accent1"/>
          </a:solidFill>
          <a:ln w="12700">
            <a:solidFill>
              <a:schemeClr val="accent1"/>
            </a:solidFill>
            <a:prstDash val="solid"/>
          </a:ln>
        </p:spPr>
      </p:sp>
      <p:pic>
        <p:nvPicPr>
          <p:cNvPr id="5" name="Image 0" descr="Bullseye icon">    </p:cNvPr>
          <p:cNvPicPr>
            <a:picLocks noChangeAspect="1"/>
          </p:cNvPicPr>
          <p:nvPr/>
        </p:nvPicPr>
        <p:blipFill>
          <a:blip r:embed="rId1"/>
          <a:stretch>
            <a:fillRect/>
          </a:stretch>
        </p:blipFill>
        <p:spPr>
          <a:xfrm>
            <a:off x="982980" y="1805940"/>
            <a:ext cx="320040" cy="320040"/>
          </a:xfrm>
          <a:prstGeom prst="rect">
            <a:avLst/>
          </a:prstGeom>
        </p:spPr>
      </p:pic>
      <p:sp>
        <p:nvSpPr>
          <p:cNvPr id="6" name="Text 3"/>
          <p:cNvSpPr txBox="1"/>
          <p:nvPr/>
        </p:nvSpPr>
        <p:spPr>
          <a:xfrm>
            <a:off x="1645920" y="1719072"/>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Be explicit</a:t>
            </a:r>
            <a:endParaRPr lang="en-US" sz="1800" dirty="0"/>
          </a:p>
        </p:txBody>
      </p:sp>
      <p:sp>
        <p:nvSpPr>
          <p:cNvPr id="7" name="Text 4"/>
          <p:cNvSpPr txBox="1"/>
          <p:nvPr/>
        </p:nvSpPr>
        <p:spPr>
          <a:xfrm>
            <a:off x="822960" y="2423160"/>
            <a:ext cx="3017520" cy="1051560"/>
          </a:xfrm>
          <a:prstGeom prst="rect">
            <a:avLst/>
          </a:prstGeom>
          <a:noFill/>
          <a:ln/>
        </p:spPr>
        <p:txBody>
          <a:bodyPr wrap="square" lIns="0" tIns="0" rIns="0" bIns="0" rtlCol="0" anchor="t"/>
          <a:lstStyle/>
          <a:p>
            <a:pPr indent="0" marL="0">
              <a:buNone/>
            </a:pPr>
            <a:r>
              <a:rPr lang="en-US" sz="1400" dirty="0">
                <a:solidFill>
                  <a:schemeClr val="tx2"/>
                </a:solidFill>
              </a:rPr>
              <a:t>Want more than the bare minimum? Ask for it. “Go beyond the basics, include X and Y.”</a:t>
            </a:r>
            <a:endParaRPr lang="en-US" sz="1400" dirty="0"/>
          </a:p>
        </p:txBody>
      </p:sp>
      <p:sp>
        <p:nvSpPr>
          <p:cNvPr id="8" name="card"/>
          <p:cNvSpPr/>
          <p:nvPr/>
        </p:nvSpPr>
        <p:spPr>
          <a:xfrm>
            <a:off x="4279392" y="1371600"/>
            <a:ext cx="3529584" cy="2194560"/>
          </a:xfrm>
          <a:prstGeom prst="roundRect">
            <a:avLst>
              <a:gd name="adj" fmla="val 333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9" name="icon circle"/>
          <p:cNvSpPr/>
          <p:nvPr/>
        </p:nvSpPr>
        <p:spPr>
          <a:xfrm>
            <a:off x="4553712" y="1645920"/>
            <a:ext cx="640080" cy="640080"/>
          </a:xfrm>
          <a:prstGeom prst="ellipse">
            <a:avLst/>
          </a:prstGeom>
          <a:solidFill>
            <a:schemeClr val="accent2"/>
          </a:solidFill>
          <a:ln w="12700">
            <a:solidFill>
              <a:schemeClr val="accent2"/>
            </a:solidFill>
            <a:prstDash val="solid"/>
          </a:ln>
        </p:spPr>
      </p:sp>
      <p:pic>
        <p:nvPicPr>
          <p:cNvPr id="10" name="Image 1" descr="CircleQuestion icon">    </p:cNvPr>
          <p:cNvPicPr>
            <a:picLocks noChangeAspect="1"/>
          </p:cNvPicPr>
          <p:nvPr/>
        </p:nvPicPr>
        <p:blipFill>
          <a:blip r:embed="rId2"/>
          <a:stretch>
            <a:fillRect/>
          </a:stretch>
        </p:blipFill>
        <p:spPr>
          <a:xfrm>
            <a:off x="4713732" y="1805940"/>
            <a:ext cx="320040" cy="320040"/>
          </a:xfrm>
          <a:prstGeom prst="rect">
            <a:avLst/>
          </a:prstGeom>
        </p:spPr>
      </p:pic>
      <p:sp>
        <p:nvSpPr>
          <p:cNvPr id="11" name="Text 7"/>
          <p:cNvSpPr txBox="1"/>
          <p:nvPr/>
        </p:nvSpPr>
        <p:spPr>
          <a:xfrm>
            <a:off x="5376672" y="1719072"/>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Explain why</a:t>
            </a:r>
            <a:endParaRPr lang="en-US" sz="1800" dirty="0"/>
          </a:p>
        </p:txBody>
      </p:sp>
      <p:sp>
        <p:nvSpPr>
          <p:cNvPr id="12" name="Text 8"/>
          <p:cNvSpPr txBox="1"/>
          <p:nvPr/>
        </p:nvSpPr>
        <p:spPr>
          <a:xfrm>
            <a:off x="4553712" y="2423160"/>
            <a:ext cx="3017520" cy="1051560"/>
          </a:xfrm>
          <a:prstGeom prst="rect">
            <a:avLst/>
          </a:prstGeom>
          <a:noFill/>
          <a:ln/>
        </p:spPr>
        <p:txBody>
          <a:bodyPr wrap="square" lIns="0" tIns="0" rIns="0" bIns="0" rtlCol="0" anchor="t"/>
          <a:lstStyle/>
          <a:p>
            <a:pPr indent="0" marL="0">
              <a:buNone/>
            </a:pPr>
            <a:r>
              <a:rPr lang="en-US" sz="1400" dirty="0">
                <a:solidFill>
                  <a:schemeClr val="tx2"/>
                </a:solidFill>
              </a:rPr>
              <a:t>“This is read aloud by text-to-speech, so never use ellipses” beats “NEVER use ellipses.”</a:t>
            </a:r>
            <a:endParaRPr lang="en-US" sz="1400" dirty="0"/>
          </a:p>
        </p:txBody>
      </p:sp>
      <p:sp>
        <p:nvSpPr>
          <p:cNvPr id="13" name="card"/>
          <p:cNvSpPr/>
          <p:nvPr/>
        </p:nvSpPr>
        <p:spPr>
          <a:xfrm>
            <a:off x="8010144" y="1371600"/>
            <a:ext cx="3529584" cy="2194560"/>
          </a:xfrm>
          <a:prstGeom prst="roundRect">
            <a:avLst>
              <a:gd name="adj" fmla="val 333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14" name="icon circle"/>
          <p:cNvSpPr/>
          <p:nvPr/>
        </p:nvSpPr>
        <p:spPr>
          <a:xfrm>
            <a:off x="8284464" y="1645920"/>
            <a:ext cx="640080" cy="640080"/>
          </a:xfrm>
          <a:prstGeom prst="ellipse">
            <a:avLst/>
          </a:prstGeom>
          <a:solidFill>
            <a:schemeClr val="accent3"/>
          </a:solidFill>
          <a:ln w="12700">
            <a:solidFill>
              <a:schemeClr val="accent3"/>
            </a:solidFill>
            <a:prstDash val="solid"/>
          </a:ln>
        </p:spPr>
      </p:sp>
      <p:pic>
        <p:nvPicPr>
          <p:cNvPr id="15" name="Image 2" descr="ListCheck icon">    </p:cNvPr>
          <p:cNvPicPr>
            <a:picLocks noChangeAspect="1"/>
          </p:cNvPicPr>
          <p:nvPr/>
        </p:nvPicPr>
        <p:blipFill>
          <a:blip r:embed="rId3"/>
          <a:stretch>
            <a:fillRect/>
          </a:stretch>
        </p:blipFill>
        <p:spPr>
          <a:xfrm>
            <a:off x="8444484" y="1805940"/>
            <a:ext cx="320040" cy="320040"/>
          </a:xfrm>
          <a:prstGeom prst="rect">
            <a:avLst/>
          </a:prstGeom>
        </p:spPr>
      </p:pic>
      <p:sp>
        <p:nvSpPr>
          <p:cNvPr id="16" name="Text 11"/>
          <p:cNvSpPr txBox="1"/>
          <p:nvPr/>
        </p:nvSpPr>
        <p:spPr>
          <a:xfrm>
            <a:off x="9107424" y="1719072"/>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Show examples</a:t>
            </a:r>
            <a:endParaRPr lang="en-US" sz="1800" dirty="0"/>
          </a:p>
        </p:txBody>
      </p:sp>
      <p:sp>
        <p:nvSpPr>
          <p:cNvPr id="17" name="Text 12"/>
          <p:cNvSpPr txBox="1"/>
          <p:nvPr/>
        </p:nvSpPr>
        <p:spPr>
          <a:xfrm>
            <a:off x="8284464" y="2423160"/>
            <a:ext cx="3017520" cy="1051560"/>
          </a:xfrm>
          <a:prstGeom prst="rect">
            <a:avLst/>
          </a:prstGeom>
          <a:noFill/>
          <a:ln/>
        </p:spPr>
        <p:txBody>
          <a:bodyPr wrap="square" lIns="0" tIns="0" rIns="0" bIns="0" rtlCol="0" anchor="t"/>
          <a:lstStyle/>
          <a:p>
            <a:pPr indent="0" marL="0">
              <a:buNone/>
            </a:pPr>
            <a:r>
              <a:rPr lang="en-US" sz="1400" dirty="0">
                <a:solidFill>
                  <a:schemeClr val="tx2"/>
                </a:solidFill>
              </a:rPr>
              <a:t>3–5 varied examples in &lt;example&gt; tags are one of the strongest ways to steer format and tone.</a:t>
            </a:r>
            <a:endParaRPr lang="en-US" sz="1400" dirty="0"/>
          </a:p>
        </p:txBody>
      </p:sp>
      <p:sp>
        <p:nvSpPr>
          <p:cNvPr id="18" name="card"/>
          <p:cNvSpPr/>
          <p:nvPr/>
        </p:nvSpPr>
        <p:spPr>
          <a:xfrm>
            <a:off x="548640" y="3794760"/>
            <a:ext cx="3529584" cy="2194560"/>
          </a:xfrm>
          <a:prstGeom prst="roundRect">
            <a:avLst>
              <a:gd name="adj" fmla="val 333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19" name="icon circle"/>
          <p:cNvSpPr/>
          <p:nvPr/>
        </p:nvSpPr>
        <p:spPr>
          <a:xfrm>
            <a:off x="822960" y="4069080"/>
            <a:ext cx="640080" cy="640080"/>
          </a:xfrm>
          <a:prstGeom prst="ellipse">
            <a:avLst/>
          </a:prstGeom>
          <a:solidFill>
            <a:schemeClr val="accent4"/>
          </a:solidFill>
          <a:ln w="12700">
            <a:solidFill>
              <a:schemeClr val="accent4"/>
            </a:solidFill>
            <a:prstDash val="solid"/>
          </a:ln>
        </p:spPr>
      </p:sp>
      <p:pic>
        <p:nvPicPr>
          <p:cNvPr id="20" name="Image 3" descr="Code icon">    </p:cNvPr>
          <p:cNvPicPr>
            <a:picLocks noChangeAspect="1"/>
          </p:cNvPicPr>
          <p:nvPr/>
        </p:nvPicPr>
        <p:blipFill>
          <a:blip r:embed="rId4"/>
          <a:stretch>
            <a:fillRect/>
          </a:stretch>
        </p:blipFill>
        <p:spPr>
          <a:xfrm>
            <a:off x="982980" y="4229100"/>
            <a:ext cx="320040" cy="320040"/>
          </a:xfrm>
          <a:prstGeom prst="rect">
            <a:avLst/>
          </a:prstGeom>
        </p:spPr>
      </p:pic>
      <p:sp>
        <p:nvSpPr>
          <p:cNvPr id="21" name="Text 15"/>
          <p:cNvSpPr txBox="1"/>
          <p:nvPr/>
        </p:nvSpPr>
        <p:spPr>
          <a:xfrm>
            <a:off x="1645920" y="4142232"/>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Use XML tags</a:t>
            </a:r>
            <a:endParaRPr lang="en-US" sz="1800" dirty="0"/>
          </a:p>
        </p:txBody>
      </p:sp>
      <p:sp>
        <p:nvSpPr>
          <p:cNvPr id="22" name="Text 16"/>
          <p:cNvSpPr txBox="1"/>
          <p:nvPr/>
        </p:nvSpPr>
        <p:spPr>
          <a:xfrm>
            <a:off x="822960" y="4846320"/>
            <a:ext cx="3017520" cy="1051560"/>
          </a:xfrm>
          <a:prstGeom prst="rect">
            <a:avLst/>
          </a:prstGeom>
          <a:noFill/>
          <a:ln/>
        </p:spPr>
        <p:txBody>
          <a:bodyPr wrap="square" lIns="0" tIns="0" rIns="0" bIns="0" rtlCol="0" anchor="t"/>
          <a:lstStyle/>
          <a:p>
            <a:pPr indent="0" marL="0">
              <a:buNone/>
            </a:pPr>
            <a:r>
              <a:rPr lang="en-US" sz="1400" dirty="0">
                <a:solidFill>
                  <a:schemeClr val="tx2"/>
                </a:solidFill>
              </a:rPr>
              <a:t>Separate instructions, documents and examples: &lt;instructions&gt;, &lt;document&gt;, &lt;example&gt;.</a:t>
            </a:r>
            <a:endParaRPr lang="en-US" sz="1400" dirty="0"/>
          </a:p>
        </p:txBody>
      </p:sp>
      <p:sp>
        <p:nvSpPr>
          <p:cNvPr id="23" name="card"/>
          <p:cNvSpPr/>
          <p:nvPr/>
        </p:nvSpPr>
        <p:spPr>
          <a:xfrm>
            <a:off x="4279392" y="3794760"/>
            <a:ext cx="3529584" cy="2194560"/>
          </a:xfrm>
          <a:prstGeom prst="roundRect">
            <a:avLst>
              <a:gd name="adj" fmla="val 333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24" name="icon circle"/>
          <p:cNvSpPr/>
          <p:nvPr/>
        </p:nvSpPr>
        <p:spPr>
          <a:xfrm>
            <a:off x="4553712" y="4069080"/>
            <a:ext cx="640080" cy="640080"/>
          </a:xfrm>
          <a:prstGeom prst="ellipse">
            <a:avLst/>
          </a:prstGeom>
          <a:solidFill>
            <a:schemeClr val="tx1"/>
          </a:solidFill>
          <a:ln w="12700">
            <a:solidFill>
              <a:schemeClr val="tx1"/>
            </a:solidFill>
            <a:prstDash val="solid"/>
          </a:ln>
        </p:spPr>
      </p:sp>
      <p:pic>
        <p:nvPicPr>
          <p:cNvPr id="25" name="Image 4" descr="ThumbsUp icon">    </p:cNvPr>
          <p:cNvPicPr>
            <a:picLocks noChangeAspect="1"/>
          </p:cNvPicPr>
          <p:nvPr/>
        </p:nvPicPr>
        <p:blipFill>
          <a:blip r:embed="rId5"/>
          <a:stretch>
            <a:fillRect/>
          </a:stretch>
        </p:blipFill>
        <p:spPr>
          <a:xfrm>
            <a:off x="4713732" y="4229100"/>
            <a:ext cx="320040" cy="320040"/>
          </a:xfrm>
          <a:prstGeom prst="rect">
            <a:avLst/>
          </a:prstGeom>
        </p:spPr>
      </p:pic>
      <p:sp>
        <p:nvSpPr>
          <p:cNvPr id="26" name="Text 19"/>
          <p:cNvSpPr txBox="1"/>
          <p:nvPr/>
        </p:nvSpPr>
        <p:spPr>
          <a:xfrm>
            <a:off x="5376672" y="4142232"/>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Say what to do</a:t>
            </a:r>
            <a:endParaRPr lang="en-US" sz="1800" dirty="0"/>
          </a:p>
        </p:txBody>
      </p:sp>
      <p:sp>
        <p:nvSpPr>
          <p:cNvPr id="27" name="Text 20"/>
          <p:cNvSpPr txBox="1"/>
          <p:nvPr/>
        </p:nvSpPr>
        <p:spPr>
          <a:xfrm>
            <a:off x="4553712" y="4846320"/>
            <a:ext cx="3017520" cy="1051560"/>
          </a:xfrm>
          <a:prstGeom prst="rect">
            <a:avLst/>
          </a:prstGeom>
          <a:noFill/>
          <a:ln/>
        </p:spPr>
        <p:txBody>
          <a:bodyPr wrap="square" lIns="0" tIns="0" rIns="0" bIns="0" rtlCol="0" anchor="t"/>
          <a:lstStyle/>
          <a:p>
            <a:pPr indent="0" marL="0">
              <a:buNone/>
            </a:pPr>
            <a:r>
              <a:rPr lang="en-US" sz="1400" dirty="0">
                <a:solidFill>
                  <a:schemeClr val="tx2"/>
                </a:solidFill>
              </a:rPr>
              <a:t>“Write in flowing paragraphs” works better than “Don’t use markdown.”</a:t>
            </a:r>
            <a:endParaRPr lang="en-US" sz="1400" dirty="0"/>
          </a:p>
        </p:txBody>
      </p:sp>
      <p:sp>
        <p:nvSpPr>
          <p:cNvPr id="28" name="card"/>
          <p:cNvSpPr/>
          <p:nvPr/>
        </p:nvSpPr>
        <p:spPr>
          <a:xfrm>
            <a:off x="8010144" y="3794760"/>
            <a:ext cx="3529584" cy="2194560"/>
          </a:xfrm>
          <a:prstGeom prst="roundRect">
            <a:avLst>
              <a:gd name="adj" fmla="val 333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29" name="icon circle"/>
          <p:cNvSpPr/>
          <p:nvPr/>
        </p:nvSpPr>
        <p:spPr>
          <a:xfrm>
            <a:off x="8284464" y="4069080"/>
            <a:ext cx="640080" cy="640080"/>
          </a:xfrm>
          <a:prstGeom prst="ellipse">
            <a:avLst/>
          </a:prstGeom>
          <a:solidFill>
            <a:schemeClr val="tx2"/>
          </a:solidFill>
          <a:ln w="12700">
            <a:solidFill>
              <a:schemeClr val="tx2"/>
            </a:solidFill>
            <a:prstDash val="solid"/>
          </a:ln>
        </p:spPr>
      </p:sp>
      <p:pic>
        <p:nvPicPr>
          <p:cNvPr id="30" name="Image 5" descr="MagnifyingGlass icon">    </p:cNvPr>
          <p:cNvPicPr>
            <a:picLocks noChangeAspect="1"/>
          </p:cNvPicPr>
          <p:nvPr/>
        </p:nvPicPr>
        <p:blipFill>
          <a:blip r:embed="rId6"/>
          <a:stretch>
            <a:fillRect/>
          </a:stretch>
        </p:blipFill>
        <p:spPr>
          <a:xfrm>
            <a:off x="8444484" y="4229100"/>
            <a:ext cx="320040" cy="320040"/>
          </a:xfrm>
          <a:prstGeom prst="rect">
            <a:avLst/>
          </a:prstGeom>
        </p:spPr>
      </p:pic>
      <p:sp>
        <p:nvSpPr>
          <p:cNvPr id="31" name="Text 23"/>
          <p:cNvSpPr txBox="1"/>
          <p:nvPr/>
        </p:nvSpPr>
        <p:spPr>
          <a:xfrm>
            <a:off x="9107424" y="4142232"/>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Ask for a check</a:t>
            </a:r>
            <a:endParaRPr lang="en-US" sz="1800" dirty="0"/>
          </a:p>
        </p:txBody>
      </p:sp>
      <p:sp>
        <p:nvSpPr>
          <p:cNvPr id="32" name="Text 24"/>
          <p:cNvSpPr txBox="1"/>
          <p:nvPr/>
        </p:nvSpPr>
        <p:spPr>
          <a:xfrm>
            <a:off x="8284464" y="4846320"/>
            <a:ext cx="3017520" cy="1051560"/>
          </a:xfrm>
          <a:prstGeom prst="rect">
            <a:avLst/>
          </a:prstGeom>
          <a:noFill/>
          <a:ln/>
        </p:spPr>
        <p:txBody>
          <a:bodyPr wrap="square" lIns="0" tIns="0" rIns="0" bIns="0" rtlCol="0" anchor="t"/>
          <a:lstStyle/>
          <a:p>
            <a:pPr indent="0" marL="0">
              <a:buNone/>
            </a:pPr>
            <a:r>
              <a:rPr lang="en-US" sz="1400" dirty="0">
                <a:solidFill>
                  <a:schemeClr val="tx2"/>
                </a:solidFill>
              </a:rPr>
              <a:t>“Before you finish, verify the answer against the test cases.” Catches its own mistakes.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Long documents: put them first, ask your question last</a:t>
            </a:r>
            <a:endParaRPr lang="en-US" sz="3200" dirty="0"/>
          </a:p>
        </p:txBody>
      </p:sp>
      <p:sp>
        <p:nvSpPr>
          <p:cNvPr id="3" name="prompt block"/>
          <p:cNvSpPr/>
          <p:nvPr/>
        </p:nvSpPr>
        <p:spPr>
          <a:xfrm>
            <a:off x="548640" y="1417320"/>
            <a:ext cx="5120640" cy="548640"/>
          </a:xfrm>
          <a:prstGeom prst="roundRect">
            <a:avLst>
              <a:gd name="adj" fmla="val 10000"/>
            </a:avLst>
          </a:prstGeom>
          <a:solidFill>
            <a:schemeClr val="tx1"/>
          </a:solidFill>
          <a:ln w="12700">
            <a:solidFill>
              <a:schemeClr val="tx1"/>
            </a:solidFill>
            <a:prstDash val="solid"/>
          </a:ln>
        </p:spPr>
      </p:sp>
      <p:sp>
        <p:nvSpPr>
          <p:cNvPr id="4" name="Text 2"/>
          <p:cNvSpPr txBox="1"/>
          <p:nvPr/>
        </p:nvSpPr>
        <p:spPr>
          <a:xfrm>
            <a:off x="777240" y="1417320"/>
            <a:ext cx="4663440" cy="548640"/>
          </a:xfrm>
          <a:prstGeom prst="rect">
            <a:avLst/>
          </a:prstGeom>
          <a:noFill/>
          <a:ln/>
        </p:spPr>
        <p:txBody>
          <a:bodyPr wrap="square" lIns="0" tIns="0" rIns="0" bIns="0" rtlCol="0" anchor="ctr"/>
          <a:lstStyle/>
          <a:p>
            <a:pPr indent="0" marL="0">
              <a:buNone/>
            </a:pPr>
            <a:r>
              <a:rPr lang="en-US" sz="1500" dirty="0">
                <a:solidFill>
                  <a:schemeClr val="bg1"/>
                </a:solidFill>
              </a:rPr>
              <a:t>System prompt: role, rules</a:t>
            </a:r>
            <a:endParaRPr lang="en-US" sz="1500" dirty="0"/>
          </a:p>
        </p:txBody>
      </p:sp>
      <p:sp>
        <p:nvSpPr>
          <p:cNvPr id="5" name="prompt block"/>
          <p:cNvSpPr/>
          <p:nvPr/>
        </p:nvSpPr>
        <p:spPr>
          <a:xfrm>
            <a:off x="548640" y="2075688"/>
            <a:ext cx="5120640" cy="2011680"/>
          </a:xfrm>
          <a:prstGeom prst="roundRect">
            <a:avLst>
              <a:gd name="adj" fmla="val 2727"/>
            </a:avLst>
          </a:prstGeom>
          <a:solidFill>
            <a:schemeClr val="accent2"/>
          </a:solidFill>
          <a:ln w="12700">
            <a:solidFill>
              <a:schemeClr val="accent2"/>
            </a:solidFill>
            <a:prstDash val="solid"/>
          </a:ln>
        </p:spPr>
      </p:sp>
      <p:sp>
        <p:nvSpPr>
          <p:cNvPr id="6" name="Text 4"/>
          <p:cNvSpPr txBox="1"/>
          <p:nvPr/>
        </p:nvSpPr>
        <p:spPr>
          <a:xfrm>
            <a:off x="777240" y="2075688"/>
            <a:ext cx="4663440" cy="2011680"/>
          </a:xfrm>
          <a:prstGeom prst="rect">
            <a:avLst/>
          </a:prstGeom>
          <a:noFill/>
          <a:ln/>
        </p:spPr>
        <p:txBody>
          <a:bodyPr wrap="square" lIns="0" tIns="0" rIns="0" bIns="0" rtlCol="0" anchor="ctr"/>
          <a:lstStyle/>
          <a:p>
            <a:pPr indent="0" marL="0">
              <a:buNone/>
            </a:pPr>
            <a:r>
              <a:rPr lang="en-US" sz="1500" dirty="0">
                <a:solidFill>
                  <a:schemeClr val="bg1"/>
                </a:solidFill>
              </a:rPr>
              <a:t>&lt;documents&gt; … 20k+ tokens of reports, contracts, code … &lt;/documents&gt;</a:t>
            </a:r>
            <a:endParaRPr lang="en-US" sz="1500" dirty="0"/>
          </a:p>
        </p:txBody>
      </p:sp>
      <p:sp>
        <p:nvSpPr>
          <p:cNvPr id="7" name="prompt block"/>
          <p:cNvSpPr/>
          <p:nvPr/>
        </p:nvSpPr>
        <p:spPr>
          <a:xfrm>
            <a:off x="548640" y="4197096"/>
            <a:ext cx="5120640" cy="685800"/>
          </a:xfrm>
          <a:prstGeom prst="roundRect">
            <a:avLst>
              <a:gd name="adj" fmla="val 8000"/>
            </a:avLst>
          </a:prstGeom>
          <a:solidFill>
            <a:schemeClr val="accent3"/>
          </a:solidFill>
          <a:ln w="12700">
            <a:solidFill>
              <a:schemeClr val="accent3"/>
            </a:solidFill>
            <a:prstDash val="solid"/>
          </a:ln>
        </p:spPr>
      </p:sp>
      <p:sp>
        <p:nvSpPr>
          <p:cNvPr id="8" name="Text 6"/>
          <p:cNvSpPr txBox="1"/>
          <p:nvPr/>
        </p:nvSpPr>
        <p:spPr>
          <a:xfrm>
            <a:off x="777240" y="4197096"/>
            <a:ext cx="4663440" cy="685800"/>
          </a:xfrm>
          <a:prstGeom prst="rect">
            <a:avLst/>
          </a:prstGeom>
          <a:noFill/>
          <a:ln/>
        </p:spPr>
        <p:txBody>
          <a:bodyPr wrap="square" lIns="0" tIns="0" rIns="0" bIns="0" rtlCol="0" anchor="ctr"/>
          <a:lstStyle/>
          <a:p>
            <a:pPr indent="0" marL="0">
              <a:buNone/>
            </a:pPr>
            <a:r>
              <a:rPr lang="en-US" sz="1500" dirty="0">
                <a:solidFill>
                  <a:schemeClr val="bg1"/>
                </a:solidFill>
              </a:rPr>
              <a:t>Instructions: what to do with them</a:t>
            </a:r>
            <a:endParaRPr lang="en-US" sz="1500" dirty="0"/>
          </a:p>
        </p:txBody>
      </p:sp>
      <p:sp>
        <p:nvSpPr>
          <p:cNvPr id="9" name="prompt block"/>
          <p:cNvSpPr/>
          <p:nvPr/>
        </p:nvSpPr>
        <p:spPr>
          <a:xfrm>
            <a:off x="548640" y="4992624"/>
            <a:ext cx="5120640" cy="685800"/>
          </a:xfrm>
          <a:prstGeom prst="roundRect">
            <a:avLst>
              <a:gd name="adj" fmla="val 8000"/>
            </a:avLst>
          </a:prstGeom>
          <a:solidFill>
            <a:schemeClr val="accent1"/>
          </a:solidFill>
          <a:ln w="12700">
            <a:solidFill>
              <a:schemeClr val="accent1"/>
            </a:solidFill>
            <a:prstDash val="solid"/>
          </a:ln>
        </p:spPr>
      </p:sp>
      <p:sp>
        <p:nvSpPr>
          <p:cNvPr id="10" name="Text 8"/>
          <p:cNvSpPr txBox="1"/>
          <p:nvPr/>
        </p:nvSpPr>
        <p:spPr>
          <a:xfrm>
            <a:off x="777240" y="4992624"/>
            <a:ext cx="4663440" cy="685800"/>
          </a:xfrm>
          <a:prstGeom prst="rect">
            <a:avLst/>
          </a:prstGeom>
          <a:noFill/>
          <a:ln/>
        </p:spPr>
        <p:txBody>
          <a:bodyPr wrap="square" lIns="0" tIns="0" rIns="0" bIns="0" rtlCol="0" anchor="ctr"/>
          <a:lstStyle/>
          <a:p>
            <a:pPr indent="0" marL="0">
              <a:buNone/>
            </a:pPr>
            <a:r>
              <a:rPr lang="en-US" sz="1500" b="1" dirty="0">
                <a:solidFill>
                  <a:schemeClr val="bg1"/>
                </a:solidFill>
              </a:rPr>
              <a:t>Your question (at the very end)</a:t>
            </a:r>
            <a:endParaRPr lang="en-US" sz="1500" dirty="0"/>
          </a:p>
        </p:txBody>
      </p:sp>
      <p:sp>
        <p:nvSpPr>
          <p:cNvPr id="11" name="Text 9"/>
          <p:cNvSpPr txBox="1"/>
          <p:nvPr/>
        </p:nvSpPr>
        <p:spPr>
          <a:xfrm>
            <a:off x="5806440" y="1463040"/>
            <a:ext cx="1463040" cy="274320"/>
          </a:xfrm>
          <a:prstGeom prst="rect">
            <a:avLst/>
          </a:prstGeom>
          <a:noFill/>
          <a:ln/>
        </p:spPr>
        <p:txBody>
          <a:bodyPr wrap="square" lIns="0" tIns="0" rIns="0" bIns="0" rtlCol="0" anchor="t"/>
          <a:lstStyle/>
          <a:p>
            <a:pPr indent="0" marL="0">
              <a:buNone/>
            </a:pPr>
            <a:r>
              <a:rPr lang="en-US" sz="1100" dirty="0">
                <a:solidFill>
                  <a:schemeClr val="accent5"/>
                </a:solidFill>
              </a:rPr>
              <a:t>Top of prompt</a:t>
            </a:r>
            <a:endParaRPr lang="en-US" sz="1100" dirty="0"/>
          </a:p>
        </p:txBody>
      </p:sp>
      <p:sp>
        <p:nvSpPr>
          <p:cNvPr id="12" name="Text 10"/>
          <p:cNvSpPr txBox="1"/>
          <p:nvPr/>
        </p:nvSpPr>
        <p:spPr>
          <a:xfrm>
            <a:off x="5806440" y="5257800"/>
            <a:ext cx="1463040" cy="274320"/>
          </a:xfrm>
          <a:prstGeom prst="rect">
            <a:avLst/>
          </a:prstGeom>
          <a:noFill/>
          <a:ln/>
        </p:spPr>
        <p:txBody>
          <a:bodyPr wrap="square" lIns="0" tIns="0" rIns="0" bIns="0" rtlCol="0" anchor="t"/>
          <a:lstStyle/>
          <a:p>
            <a:pPr indent="0" marL="0">
              <a:buNone/>
            </a:pPr>
            <a:r>
              <a:rPr lang="en-US" sz="1100" dirty="0">
                <a:solidFill>
                  <a:schemeClr val="accent5"/>
                </a:solidFill>
              </a:rPr>
              <a:t>End of prompt</a:t>
            </a:r>
            <a:endParaRPr lang="en-US" sz="1100" dirty="0"/>
          </a:p>
        </p:txBody>
      </p:sp>
      <p:sp>
        <p:nvSpPr>
          <p:cNvPr id="13" name="Text 11"/>
          <p:cNvSpPr txBox="1"/>
          <p:nvPr/>
        </p:nvSpPr>
        <p:spPr>
          <a:xfrm>
            <a:off x="7315200" y="1371600"/>
            <a:ext cx="4297680" cy="182880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up to 30%</a:t>
            </a:r>
            <a:endParaRPr lang="en-US" sz="5400" dirty="0"/>
          </a:p>
          <a:p>
            <a:pPr indent="0" marL="0">
              <a:buNone/>
            </a:pPr>
            <a:r>
              <a:rPr lang="en-US" sz="1400" dirty="0">
                <a:solidFill>
                  <a:schemeClr val="tx2"/>
                </a:solidFill>
              </a:rPr>
              <a:t>better answers on complex multi-document tasks when the query comes after the documents (Anthropic docs)</a:t>
            </a:r>
            <a:endParaRPr lang="en-US" sz="5400" dirty="0"/>
          </a:p>
        </p:txBody>
      </p:sp>
      <p:sp>
        <p:nvSpPr>
          <p:cNvPr id="14" name="card"/>
          <p:cNvSpPr/>
          <p:nvPr/>
        </p:nvSpPr>
        <p:spPr>
          <a:xfrm>
            <a:off x="7315200" y="3520440"/>
            <a:ext cx="4297680" cy="2514600"/>
          </a:xfrm>
          <a:prstGeom prst="roundRect">
            <a:avLst>
              <a:gd name="adj" fmla="val 2909"/>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7589520" y="3703320"/>
            <a:ext cx="3840480" cy="320040"/>
          </a:xfrm>
          <a:prstGeom prst="rect">
            <a:avLst/>
          </a:prstGeom>
          <a:noFill/>
          <a:ln/>
        </p:spPr>
        <p:txBody>
          <a:bodyPr wrap="square" lIns="0" tIns="0" rIns="0" bIns="0" rtlCol="0" anchor="t"/>
          <a:lstStyle/>
          <a:p>
            <a:pPr indent="0" marL="0">
              <a:buNone/>
            </a:pPr>
            <a:r>
              <a:rPr lang="en-US" sz="1600" b="1" dirty="0">
                <a:solidFill>
                  <a:schemeClr val="tx1"/>
                </a:solidFill>
              </a:rPr>
              <a:t>Two more tricks</a:t>
            </a:r>
            <a:endParaRPr lang="en-US" sz="1600" dirty="0"/>
          </a:p>
        </p:txBody>
      </p:sp>
      <p:sp>
        <p:nvSpPr>
          <p:cNvPr id="16" name="Text 14"/>
          <p:cNvSpPr txBox="1"/>
          <p:nvPr/>
        </p:nvSpPr>
        <p:spPr>
          <a:xfrm>
            <a:off x="7589520" y="4114800"/>
            <a:ext cx="384048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Ask Claude to quote the relevant passages in &lt;quotes&gt; first, then answer from them. It cuts through the noise.</a:t>
            </a:r>
            <a:endParaRPr lang="en-US" sz="1400" dirty="0"/>
          </a:p>
          <a:p>
            <a:pPr marL="342900" indent="-342900">
              <a:spcAft>
                <a:spcPts val="600"/>
              </a:spcAft>
              <a:buSzPct val="100000"/>
              <a:buChar char="•"/>
            </a:pPr>
            <a:r>
              <a:rPr lang="en-US" sz="1400" dirty="0">
                <a:solidFill>
                  <a:schemeClr val="tx2"/>
                </a:solidFill>
              </a:rPr>
              <a:t>Wrap each file in &lt;document&gt; with &lt;source&gt; and &lt;document_content&gt; tags so it can cite which file said what.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Treat a prompt like code: test it, change one thing, test again</a:t>
            </a:r>
            <a:endParaRPr lang="en-US" sz="3200" dirty="0"/>
          </a:p>
        </p:txBody>
      </p:sp>
      <p:sp>
        <p:nvSpPr>
          <p:cNvPr id="3" name="card"/>
          <p:cNvSpPr/>
          <p:nvPr/>
        </p:nvSpPr>
        <p:spPr>
          <a:xfrm>
            <a:off x="548640" y="1417320"/>
            <a:ext cx="2468880" cy="2377440"/>
          </a:xfrm>
          <a:prstGeom prst="roundRect">
            <a:avLst>
              <a:gd name="adj" fmla="val 3077"/>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4" name="icon circle"/>
          <p:cNvSpPr/>
          <p:nvPr/>
        </p:nvSpPr>
        <p:spPr>
          <a:xfrm>
            <a:off x="1417320" y="1645920"/>
            <a:ext cx="731520" cy="731520"/>
          </a:xfrm>
          <a:prstGeom prst="ellipse">
            <a:avLst/>
          </a:prstGeom>
          <a:solidFill>
            <a:schemeClr val="accent1"/>
          </a:solidFill>
          <a:ln w="12700">
            <a:solidFill>
              <a:schemeClr val="accent1"/>
            </a:solidFill>
            <a:prstDash val="solid"/>
          </a:ln>
        </p:spPr>
      </p:sp>
      <p:pic>
        <p:nvPicPr>
          <p:cNvPr id="5" name="Image 0" descr="PenNib icon">    </p:cNvPr>
          <p:cNvPicPr>
            <a:picLocks noChangeAspect="1"/>
          </p:cNvPicPr>
          <p:nvPr/>
        </p:nvPicPr>
        <p:blipFill>
          <a:blip r:embed="rId1"/>
          <a:stretch>
            <a:fillRect/>
          </a:stretch>
        </p:blipFill>
        <p:spPr>
          <a:xfrm>
            <a:off x="1600200" y="1828800"/>
            <a:ext cx="365760" cy="365760"/>
          </a:xfrm>
          <a:prstGeom prst="rect">
            <a:avLst/>
          </a:prstGeom>
        </p:spPr>
      </p:pic>
      <p:sp>
        <p:nvSpPr>
          <p:cNvPr id="6" name="Text 3"/>
          <p:cNvSpPr txBox="1"/>
          <p:nvPr/>
        </p:nvSpPr>
        <p:spPr>
          <a:xfrm>
            <a:off x="731520" y="2514600"/>
            <a:ext cx="2103120" cy="365760"/>
          </a:xfrm>
          <a:prstGeom prst="rect">
            <a:avLst/>
          </a:prstGeom>
          <a:noFill/>
          <a:ln/>
        </p:spPr>
        <p:txBody>
          <a:bodyPr wrap="square" lIns="0" tIns="0" rIns="0" bIns="0" rtlCol="0" anchor="t"/>
          <a:lstStyle/>
          <a:p>
            <a:pPr algn="ctr" indent="0" marL="0">
              <a:buNone/>
            </a:pPr>
            <a:r>
              <a:rPr lang="en-US" sz="1800" b="1" dirty="0">
                <a:solidFill>
                  <a:schemeClr val="tx1"/>
                </a:solidFill>
              </a:rPr>
              <a:t>Write</a:t>
            </a:r>
            <a:endParaRPr lang="en-US" sz="1800" dirty="0"/>
          </a:p>
        </p:txBody>
      </p:sp>
      <p:sp>
        <p:nvSpPr>
          <p:cNvPr id="7" name="Text 4"/>
          <p:cNvSpPr txBox="1"/>
          <p:nvPr/>
        </p:nvSpPr>
        <p:spPr>
          <a:xfrm>
            <a:off x="777240" y="2926080"/>
            <a:ext cx="2011680" cy="731520"/>
          </a:xfrm>
          <a:prstGeom prst="rect">
            <a:avLst/>
          </a:prstGeom>
          <a:noFill/>
          <a:ln/>
        </p:spPr>
        <p:txBody>
          <a:bodyPr wrap="square" lIns="0" tIns="0" rIns="0" bIns="0" rtlCol="0" anchor="t"/>
          <a:lstStyle/>
          <a:p>
            <a:pPr algn="ctr" indent="0" marL="0">
              <a:buNone/>
            </a:pPr>
            <a:r>
              <a:rPr lang="en-US" sz="1400" dirty="0">
                <a:solidFill>
                  <a:schemeClr val="tx2"/>
                </a:solidFill>
              </a:rPr>
              <a:t>First draft using the anatomy</a:t>
            </a:r>
            <a:endParaRPr lang="en-US" sz="1400" dirty="0"/>
          </a:p>
        </p:txBody>
      </p:sp>
      <p:sp>
        <p:nvSpPr>
          <p:cNvPr id="8" name="arrow"/>
          <p:cNvSpPr/>
          <p:nvPr/>
        </p:nvSpPr>
        <p:spPr>
          <a:xfrm>
            <a:off x="3063240" y="2606040"/>
            <a:ext cx="274320" cy="0"/>
          </a:xfrm>
          <a:prstGeom prst="line">
            <a:avLst/>
          </a:prstGeom>
          <a:noFill/>
          <a:ln w="19050">
            <a:solidFill>
              <a:schemeClr val="accent5"/>
            </a:solidFill>
            <a:prstDash val="solid"/>
            <a:tailEnd type="triangle"/>
          </a:ln>
        </p:spPr>
      </p:sp>
      <p:sp>
        <p:nvSpPr>
          <p:cNvPr id="9" name="card"/>
          <p:cNvSpPr/>
          <p:nvPr/>
        </p:nvSpPr>
        <p:spPr>
          <a:xfrm>
            <a:off x="3383280" y="1417320"/>
            <a:ext cx="2468880" cy="2377440"/>
          </a:xfrm>
          <a:prstGeom prst="roundRect">
            <a:avLst>
              <a:gd name="adj" fmla="val 3077"/>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10" name="icon circle"/>
          <p:cNvSpPr/>
          <p:nvPr/>
        </p:nvSpPr>
        <p:spPr>
          <a:xfrm>
            <a:off x="4251960" y="1645920"/>
            <a:ext cx="731520" cy="731520"/>
          </a:xfrm>
          <a:prstGeom prst="ellipse">
            <a:avLst/>
          </a:prstGeom>
          <a:solidFill>
            <a:schemeClr val="accent2"/>
          </a:solidFill>
          <a:ln w="12700">
            <a:solidFill>
              <a:schemeClr val="accent2"/>
            </a:solidFill>
            <a:prstDash val="solid"/>
          </a:ln>
        </p:spPr>
      </p:sp>
      <p:pic>
        <p:nvPicPr>
          <p:cNvPr id="11" name="Image 1" descr="Flask icon">    </p:cNvPr>
          <p:cNvPicPr>
            <a:picLocks noChangeAspect="1"/>
          </p:cNvPicPr>
          <p:nvPr/>
        </p:nvPicPr>
        <p:blipFill>
          <a:blip r:embed="rId2"/>
          <a:stretch>
            <a:fillRect/>
          </a:stretch>
        </p:blipFill>
        <p:spPr>
          <a:xfrm>
            <a:off x="4434840" y="1828800"/>
            <a:ext cx="365760" cy="365760"/>
          </a:xfrm>
          <a:prstGeom prst="rect">
            <a:avLst/>
          </a:prstGeom>
        </p:spPr>
      </p:pic>
      <p:sp>
        <p:nvSpPr>
          <p:cNvPr id="12" name="Text 8"/>
          <p:cNvSpPr txBox="1"/>
          <p:nvPr/>
        </p:nvSpPr>
        <p:spPr>
          <a:xfrm>
            <a:off x="3566160" y="2514600"/>
            <a:ext cx="2103120" cy="365760"/>
          </a:xfrm>
          <a:prstGeom prst="rect">
            <a:avLst/>
          </a:prstGeom>
          <a:noFill/>
          <a:ln/>
        </p:spPr>
        <p:txBody>
          <a:bodyPr wrap="square" lIns="0" tIns="0" rIns="0" bIns="0" rtlCol="0" anchor="t"/>
          <a:lstStyle/>
          <a:p>
            <a:pPr algn="ctr" indent="0" marL="0">
              <a:buNone/>
            </a:pPr>
            <a:r>
              <a:rPr lang="en-US" sz="1800" b="1" dirty="0">
                <a:solidFill>
                  <a:schemeClr val="tx1"/>
                </a:solidFill>
              </a:rPr>
              <a:t>Test</a:t>
            </a:r>
            <a:endParaRPr lang="en-US" sz="1800" dirty="0"/>
          </a:p>
        </p:txBody>
      </p:sp>
      <p:sp>
        <p:nvSpPr>
          <p:cNvPr id="13" name="Text 9"/>
          <p:cNvSpPr txBox="1"/>
          <p:nvPr/>
        </p:nvSpPr>
        <p:spPr>
          <a:xfrm>
            <a:off x="3611880" y="2926080"/>
            <a:ext cx="2011680" cy="731520"/>
          </a:xfrm>
          <a:prstGeom prst="rect">
            <a:avLst/>
          </a:prstGeom>
          <a:noFill/>
          <a:ln/>
        </p:spPr>
        <p:txBody>
          <a:bodyPr wrap="square" lIns="0" tIns="0" rIns="0" bIns="0" rtlCol="0" anchor="t"/>
          <a:lstStyle/>
          <a:p>
            <a:pPr algn="ctr" indent="0" marL="0">
              <a:buNone/>
            </a:pPr>
            <a:r>
              <a:rPr lang="en-US" sz="1400" dirty="0">
                <a:solidFill>
                  <a:schemeClr val="tx2"/>
                </a:solidFill>
              </a:rPr>
              <a:t>Run on 5–20 real, varied inputs</a:t>
            </a:r>
            <a:endParaRPr lang="en-US" sz="1400" dirty="0"/>
          </a:p>
        </p:txBody>
      </p:sp>
      <p:sp>
        <p:nvSpPr>
          <p:cNvPr id="14" name="arrow"/>
          <p:cNvSpPr/>
          <p:nvPr/>
        </p:nvSpPr>
        <p:spPr>
          <a:xfrm>
            <a:off x="5897880" y="2606040"/>
            <a:ext cx="274320" cy="0"/>
          </a:xfrm>
          <a:prstGeom prst="line">
            <a:avLst/>
          </a:prstGeom>
          <a:noFill/>
          <a:ln w="19050">
            <a:solidFill>
              <a:schemeClr val="accent5"/>
            </a:solidFill>
            <a:prstDash val="solid"/>
            <a:tailEnd type="triangle"/>
          </a:ln>
        </p:spPr>
      </p:sp>
      <p:sp>
        <p:nvSpPr>
          <p:cNvPr id="15" name="card"/>
          <p:cNvSpPr/>
          <p:nvPr/>
        </p:nvSpPr>
        <p:spPr>
          <a:xfrm>
            <a:off x="6217920" y="1417320"/>
            <a:ext cx="2468880" cy="2377440"/>
          </a:xfrm>
          <a:prstGeom prst="roundRect">
            <a:avLst>
              <a:gd name="adj" fmla="val 3077"/>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16" name="icon circle"/>
          <p:cNvSpPr/>
          <p:nvPr/>
        </p:nvSpPr>
        <p:spPr>
          <a:xfrm>
            <a:off x="7086600" y="1645920"/>
            <a:ext cx="731520" cy="731520"/>
          </a:xfrm>
          <a:prstGeom prst="ellipse">
            <a:avLst/>
          </a:prstGeom>
          <a:solidFill>
            <a:schemeClr val="accent3"/>
          </a:solidFill>
          <a:ln w="12700">
            <a:solidFill>
              <a:schemeClr val="accent3"/>
            </a:solidFill>
            <a:prstDash val="solid"/>
          </a:ln>
        </p:spPr>
      </p:sp>
      <p:pic>
        <p:nvPicPr>
          <p:cNvPr id="17" name="Image 2" descr="Eye icon">    </p:cNvPr>
          <p:cNvPicPr>
            <a:picLocks noChangeAspect="1"/>
          </p:cNvPicPr>
          <p:nvPr/>
        </p:nvPicPr>
        <p:blipFill>
          <a:blip r:embed="rId3"/>
          <a:stretch>
            <a:fillRect/>
          </a:stretch>
        </p:blipFill>
        <p:spPr>
          <a:xfrm>
            <a:off x="7269480" y="1828800"/>
            <a:ext cx="365760" cy="365760"/>
          </a:xfrm>
          <a:prstGeom prst="rect">
            <a:avLst/>
          </a:prstGeom>
        </p:spPr>
      </p:pic>
      <p:sp>
        <p:nvSpPr>
          <p:cNvPr id="18" name="Text 13"/>
          <p:cNvSpPr txBox="1"/>
          <p:nvPr/>
        </p:nvSpPr>
        <p:spPr>
          <a:xfrm>
            <a:off x="6400800" y="2514600"/>
            <a:ext cx="2103120" cy="365760"/>
          </a:xfrm>
          <a:prstGeom prst="rect">
            <a:avLst/>
          </a:prstGeom>
          <a:noFill/>
          <a:ln/>
        </p:spPr>
        <p:txBody>
          <a:bodyPr wrap="square" lIns="0" tIns="0" rIns="0" bIns="0" rtlCol="0" anchor="t"/>
          <a:lstStyle/>
          <a:p>
            <a:pPr algn="ctr" indent="0" marL="0">
              <a:buNone/>
            </a:pPr>
            <a:r>
              <a:rPr lang="en-US" sz="1800" b="1" dirty="0">
                <a:solidFill>
                  <a:schemeClr val="tx1"/>
                </a:solidFill>
              </a:rPr>
              <a:t>Read</a:t>
            </a:r>
            <a:endParaRPr lang="en-US" sz="1800" dirty="0"/>
          </a:p>
        </p:txBody>
      </p:sp>
      <p:sp>
        <p:nvSpPr>
          <p:cNvPr id="19" name="Text 14"/>
          <p:cNvSpPr txBox="1"/>
          <p:nvPr/>
        </p:nvSpPr>
        <p:spPr>
          <a:xfrm>
            <a:off x="6446520" y="2926080"/>
            <a:ext cx="2011680" cy="731520"/>
          </a:xfrm>
          <a:prstGeom prst="rect">
            <a:avLst/>
          </a:prstGeom>
          <a:noFill/>
          <a:ln/>
        </p:spPr>
        <p:txBody>
          <a:bodyPr wrap="square" lIns="0" tIns="0" rIns="0" bIns="0" rtlCol="0" anchor="t"/>
          <a:lstStyle/>
          <a:p>
            <a:pPr algn="ctr" indent="0" marL="0">
              <a:buNone/>
            </a:pPr>
            <a:r>
              <a:rPr lang="en-US" sz="1400" dirty="0">
                <a:solidFill>
                  <a:schemeClr val="tx2"/>
                </a:solidFill>
              </a:rPr>
              <a:t>Find the failure pattern, not one bad output</a:t>
            </a:r>
            <a:endParaRPr lang="en-US" sz="1400" dirty="0"/>
          </a:p>
        </p:txBody>
      </p:sp>
      <p:sp>
        <p:nvSpPr>
          <p:cNvPr id="20" name="arrow"/>
          <p:cNvSpPr/>
          <p:nvPr/>
        </p:nvSpPr>
        <p:spPr>
          <a:xfrm>
            <a:off x="8732520" y="2606040"/>
            <a:ext cx="274320" cy="0"/>
          </a:xfrm>
          <a:prstGeom prst="line">
            <a:avLst/>
          </a:prstGeom>
          <a:noFill/>
          <a:ln w="19050">
            <a:solidFill>
              <a:schemeClr val="accent5"/>
            </a:solidFill>
            <a:prstDash val="solid"/>
            <a:tailEnd type="triangle"/>
          </a:ln>
        </p:spPr>
      </p:sp>
      <p:sp>
        <p:nvSpPr>
          <p:cNvPr id="21" name="card"/>
          <p:cNvSpPr/>
          <p:nvPr/>
        </p:nvSpPr>
        <p:spPr>
          <a:xfrm>
            <a:off x="9052560" y="1417320"/>
            <a:ext cx="2468880" cy="2377440"/>
          </a:xfrm>
          <a:prstGeom prst="roundRect">
            <a:avLst>
              <a:gd name="adj" fmla="val 3077"/>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22" name="icon circle"/>
          <p:cNvSpPr/>
          <p:nvPr/>
        </p:nvSpPr>
        <p:spPr>
          <a:xfrm>
            <a:off x="9921240" y="1645920"/>
            <a:ext cx="731520" cy="731520"/>
          </a:xfrm>
          <a:prstGeom prst="ellipse">
            <a:avLst/>
          </a:prstGeom>
          <a:solidFill>
            <a:schemeClr val="accent4"/>
          </a:solidFill>
          <a:ln w="12700">
            <a:solidFill>
              <a:schemeClr val="accent4"/>
            </a:solidFill>
            <a:prstDash val="solid"/>
          </a:ln>
        </p:spPr>
      </p:sp>
      <p:pic>
        <p:nvPicPr>
          <p:cNvPr id="23" name="Image 3" descr="Wrench icon">    </p:cNvPr>
          <p:cNvPicPr>
            <a:picLocks noChangeAspect="1"/>
          </p:cNvPicPr>
          <p:nvPr/>
        </p:nvPicPr>
        <p:blipFill>
          <a:blip r:embed="rId4"/>
          <a:stretch>
            <a:fillRect/>
          </a:stretch>
        </p:blipFill>
        <p:spPr>
          <a:xfrm>
            <a:off x="10104120" y="1828800"/>
            <a:ext cx="365760" cy="365760"/>
          </a:xfrm>
          <a:prstGeom prst="rect">
            <a:avLst/>
          </a:prstGeom>
        </p:spPr>
      </p:pic>
      <p:sp>
        <p:nvSpPr>
          <p:cNvPr id="24" name="Text 18"/>
          <p:cNvSpPr txBox="1"/>
          <p:nvPr/>
        </p:nvSpPr>
        <p:spPr>
          <a:xfrm>
            <a:off x="9235440" y="2514600"/>
            <a:ext cx="2103120" cy="365760"/>
          </a:xfrm>
          <a:prstGeom prst="rect">
            <a:avLst/>
          </a:prstGeom>
          <a:noFill/>
          <a:ln/>
        </p:spPr>
        <p:txBody>
          <a:bodyPr wrap="square" lIns="0" tIns="0" rIns="0" bIns="0" rtlCol="0" anchor="t"/>
          <a:lstStyle/>
          <a:p>
            <a:pPr algn="ctr" indent="0" marL="0">
              <a:buNone/>
            </a:pPr>
            <a:r>
              <a:rPr lang="en-US" sz="1800" b="1" dirty="0">
                <a:solidFill>
                  <a:schemeClr val="tx1"/>
                </a:solidFill>
              </a:rPr>
              <a:t>Fix</a:t>
            </a:r>
            <a:endParaRPr lang="en-US" sz="1800" dirty="0"/>
          </a:p>
        </p:txBody>
      </p:sp>
      <p:sp>
        <p:nvSpPr>
          <p:cNvPr id="25" name="Text 19"/>
          <p:cNvSpPr txBox="1"/>
          <p:nvPr/>
        </p:nvSpPr>
        <p:spPr>
          <a:xfrm>
            <a:off x="9281160" y="2926080"/>
            <a:ext cx="2011680" cy="731520"/>
          </a:xfrm>
          <a:prstGeom prst="rect">
            <a:avLst/>
          </a:prstGeom>
          <a:noFill/>
          <a:ln/>
        </p:spPr>
        <p:txBody>
          <a:bodyPr wrap="square" lIns="0" tIns="0" rIns="0" bIns="0" rtlCol="0" anchor="t"/>
          <a:lstStyle/>
          <a:p>
            <a:pPr algn="ctr" indent="0" marL="0">
              <a:buNone/>
            </a:pPr>
            <a:r>
              <a:rPr lang="en-US" sz="1400" dirty="0">
                <a:solidFill>
                  <a:schemeClr val="tx2"/>
                </a:solidFill>
              </a:rPr>
              <a:t>Change one thing; add an example or rule</a:t>
            </a:r>
            <a:endParaRPr lang="en-US" sz="1400" dirty="0"/>
          </a:p>
        </p:txBody>
      </p:sp>
      <p:sp>
        <p:nvSpPr>
          <p:cNvPr id="26" name="card"/>
          <p:cNvSpPr/>
          <p:nvPr/>
        </p:nvSpPr>
        <p:spPr>
          <a:xfrm>
            <a:off x="548640" y="4114800"/>
            <a:ext cx="5486400" cy="1920240"/>
          </a:xfrm>
          <a:prstGeom prst="roundRect">
            <a:avLst>
              <a:gd name="adj" fmla="val 3810"/>
            </a:avLst>
          </a:prstGeom>
          <a:solidFill>
            <a:schemeClr val="bg1"/>
          </a:solidFill>
          <a:ln w="9525">
            <a:solidFill>
              <a:schemeClr val="accent6"/>
            </a:solidFill>
            <a:prstDash val="solid"/>
          </a:ln>
        </p:spPr>
      </p:sp>
      <p:sp>
        <p:nvSpPr>
          <p:cNvPr id="27" name="Text 21"/>
          <p:cNvSpPr txBox="1"/>
          <p:nvPr/>
        </p:nvSpPr>
        <p:spPr>
          <a:xfrm>
            <a:off x="822960" y="4297680"/>
            <a:ext cx="5029200" cy="320040"/>
          </a:xfrm>
          <a:prstGeom prst="rect">
            <a:avLst/>
          </a:prstGeom>
          <a:noFill/>
          <a:ln/>
        </p:spPr>
        <p:txBody>
          <a:bodyPr wrap="square" lIns="0" tIns="0" rIns="0" bIns="0" rtlCol="0" anchor="t"/>
          <a:lstStyle/>
          <a:p>
            <a:pPr indent="0" marL="0">
              <a:buNone/>
            </a:pPr>
            <a:r>
              <a:rPr lang="en-US" sz="1600" b="1" dirty="0">
                <a:solidFill>
                  <a:schemeClr val="tx1"/>
                </a:solidFill>
              </a:rPr>
              <a:t>Chain prompts for big tasks</a:t>
            </a:r>
            <a:endParaRPr lang="en-US" sz="1600" dirty="0"/>
          </a:p>
        </p:txBody>
      </p:sp>
      <p:sp>
        <p:nvSpPr>
          <p:cNvPr id="28" name="Text 22"/>
          <p:cNvSpPr txBox="1"/>
          <p:nvPr/>
        </p:nvSpPr>
        <p:spPr>
          <a:xfrm>
            <a:off x="822960" y="4709160"/>
            <a:ext cx="4937760" cy="1188720"/>
          </a:xfrm>
          <a:prstGeom prst="rect">
            <a:avLst/>
          </a:prstGeom>
          <a:noFill/>
          <a:ln/>
        </p:spPr>
        <p:txBody>
          <a:bodyPr wrap="square" lIns="0" tIns="0" rIns="0" bIns="0" rtlCol="0" anchor="t"/>
          <a:lstStyle/>
          <a:p>
            <a:pPr indent="0" marL="0">
              <a:buNone/>
            </a:pPr>
            <a:r>
              <a:rPr lang="en-US" sz="1400" dirty="0">
                <a:solidFill>
                  <a:schemeClr val="tx2"/>
                </a:solidFill>
              </a:rPr>
              <a:t>Draft → review against criteria → refine, as separate steps. You can inspect and fix each step, and each prompt stays simple.</a:t>
            </a:r>
            <a:endParaRPr lang="en-US" sz="1400" dirty="0"/>
          </a:p>
        </p:txBody>
      </p:sp>
      <p:sp>
        <p:nvSpPr>
          <p:cNvPr id="29" name="card"/>
          <p:cNvSpPr/>
          <p:nvPr/>
        </p:nvSpPr>
        <p:spPr>
          <a:xfrm>
            <a:off x="6309360" y="4114800"/>
            <a:ext cx="5303520" cy="1920240"/>
          </a:xfrm>
          <a:prstGeom prst="roundRect">
            <a:avLst>
              <a:gd name="adj" fmla="val 3810"/>
            </a:avLst>
          </a:prstGeom>
          <a:solidFill>
            <a:schemeClr val="bg1"/>
          </a:solidFill>
          <a:ln w="9525">
            <a:solidFill>
              <a:schemeClr val="accent6"/>
            </a:solidFill>
            <a:prstDash val="solid"/>
          </a:ln>
        </p:spPr>
      </p:sp>
      <p:sp>
        <p:nvSpPr>
          <p:cNvPr id="30" name="Text 24"/>
          <p:cNvSpPr txBox="1"/>
          <p:nvPr/>
        </p:nvSpPr>
        <p:spPr>
          <a:xfrm>
            <a:off x="6583680" y="4297680"/>
            <a:ext cx="4846320" cy="320040"/>
          </a:xfrm>
          <a:prstGeom prst="rect">
            <a:avLst/>
          </a:prstGeom>
          <a:noFill/>
          <a:ln/>
        </p:spPr>
        <p:txBody>
          <a:bodyPr wrap="square" lIns="0" tIns="0" rIns="0" bIns="0" rtlCol="0" anchor="t"/>
          <a:lstStyle/>
          <a:p>
            <a:pPr indent="0" marL="0">
              <a:buNone/>
            </a:pPr>
            <a:r>
              <a:rPr lang="en-US" sz="1600" b="1" dirty="0">
                <a:solidFill>
                  <a:schemeClr val="tx1"/>
                </a:solidFill>
              </a:rPr>
              <a:t>Let Claude help</a:t>
            </a:r>
            <a:endParaRPr lang="en-US" sz="1600" dirty="0"/>
          </a:p>
        </p:txBody>
      </p:sp>
      <p:sp>
        <p:nvSpPr>
          <p:cNvPr id="31" name="Text 25"/>
          <p:cNvSpPr txBox="1"/>
          <p:nvPr/>
        </p:nvSpPr>
        <p:spPr>
          <a:xfrm>
            <a:off x="6583680" y="4709160"/>
            <a:ext cx="4846320" cy="1188720"/>
          </a:xfrm>
          <a:prstGeom prst="rect">
            <a:avLst/>
          </a:prstGeom>
          <a:noFill/>
          <a:ln/>
        </p:spPr>
        <p:txBody>
          <a:bodyPr wrap="square" lIns="0" tIns="0" rIns="0" bIns="0" rtlCol="0" anchor="t"/>
          <a:lstStyle/>
          <a:p>
            <a:pPr indent="0" marL="0">
              <a:buNone/>
            </a:pPr>
            <a:r>
              <a:rPr lang="en-US" sz="1400" dirty="0">
                <a:solidFill>
                  <a:schemeClr val="tx2"/>
                </a:solidFill>
              </a:rPr>
              <a:t>Ask: “Here is my prompt and an output I didn’t like. Rewrite the prompt so this doesn’t happen.” The Claude Console also has a prompt generator and improver.</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011680"/>
            <a:ext cx="5486400" cy="365760"/>
          </a:xfrm>
          <a:prstGeom prst="rect">
            <a:avLst/>
          </a:prstGeom>
          <a:noFill/>
          <a:ln/>
        </p:spPr>
        <p:txBody>
          <a:bodyPr wrap="square" lIns="0" tIns="0" rIns="0" bIns="0" rtlCol="0"/>
          <a:lstStyle/>
          <a:p>
            <a:pPr indent="0" marL="0">
              <a:buNone/>
            </a:pPr>
            <a:r>
              <a:rPr lang="en-US" sz="1400" b="1" spc="400" kern="0" dirty="0">
                <a:solidFill>
                  <a:schemeClr val="accent1"/>
                </a:solidFill>
              </a:rPr>
              <a:t>PART 2</a:t>
            </a:r>
            <a:endParaRPr lang="en-US" sz="1400" dirty="0"/>
          </a:p>
        </p:txBody>
      </p:sp>
      <p:sp>
        <p:nvSpPr>
          <p:cNvPr id="3" name="Text 0"/>
          <p:cNvSpPr/>
          <p:nvPr>
            <p:ph idx="101" type="title" hasCustomPrompt="1"/>
          </p:nvPr>
        </p:nvSpPr>
        <p:spPr>
          <a:xfrm>
            <a:off x="548640" y="2423160"/>
            <a:ext cx="6583680" cy="9144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The knobs</a:t>
            </a:r>
            <a:endParaRPr lang="en-US" sz="4000" dirty="0"/>
          </a:p>
        </p:txBody>
      </p:sp>
      <p:sp>
        <p:nvSpPr>
          <p:cNvPr id="4" name="Text 0"/>
          <p:cNvSpPr/>
          <p:nvPr>
            <p:ph idx="102" type="body" hasCustomPrompt="1"/>
          </p:nvPr>
        </p:nvSpPr>
        <p:spPr>
          <a:xfrm>
            <a:off x="548640" y="3474720"/>
            <a:ext cx="6217920" cy="1097280"/>
          </a:xfrm>
          <a:prstGeom prst="rect">
            <a:avLst/>
          </a:prstGeom>
          <a:noFill/>
          <a:ln/>
        </p:spPr>
        <p:txBody>
          <a:bodyPr wrap="square" lIns="0" tIns="0" rIns="0" bIns="0" rtlCol="0" anchor="t"/>
          <a:lstStyle/>
          <a:p>
            <a:pPr indent="0" marL="0">
              <a:buNone/>
            </a:pPr>
            <a:r>
              <a:rPr lang="en-US" sz="1800" dirty="0">
                <a:solidFill>
                  <a:schemeClr val="accent6"/>
                </a:solidFill>
              </a:rPr>
              <a:t>Temperature, top-k, top-p, effort, context length, max tokens, KV cache: what each does and what you can actually change on Claude today.</a:t>
            </a:r>
            <a:endParaRPr lang="en-US" sz="1800" dirty="0"/>
          </a:p>
        </p:txBody>
      </p:sp>
      <p:sp>
        <p:nvSpPr>
          <p:cNvPr id="5" name="token chip"/>
          <p:cNvSpPr/>
          <p:nvPr/>
        </p:nvSpPr>
        <p:spPr>
          <a:xfrm>
            <a:off x="7863840" y="1645920"/>
            <a:ext cx="749808" cy="502920"/>
          </a:xfrm>
          <a:prstGeom prst="roundRect">
            <a:avLst>
              <a:gd name="adj" fmla="val 10909"/>
            </a:avLst>
          </a:prstGeom>
          <a:solidFill>
            <a:schemeClr val="accent1"/>
          </a:solidFill>
          <a:ln w="12700">
            <a:solidFill>
              <a:schemeClr val="accent1"/>
            </a:solidFill>
            <a:prstDash val="solid"/>
          </a:ln>
        </p:spPr>
      </p:sp>
      <p:sp>
        <p:nvSpPr>
          <p:cNvPr id="6" name="Text 4"/>
          <p:cNvSpPr txBox="1"/>
          <p:nvPr/>
        </p:nvSpPr>
        <p:spPr>
          <a:xfrm>
            <a:off x="7863840" y="1645920"/>
            <a:ext cx="749808" cy="502920"/>
          </a:xfrm>
          <a:prstGeom prst="rect">
            <a:avLst/>
          </a:prstGeom>
          <a:noFill/>
          <a:ln/>
        </p:spPr>
        <p:txBody>
          <a:bodyPr wrap="square" lIns="0" tIns="0" rIns="0" bIns="0" rtlCol="0" anchor="ctr"/>
          <a:lstStyle/>
          <a:p>
            <a:pPr algn="ctr" indent="0" marL="0">
              <a:buNone/>
            </a:pPr>
            <a:r>
              <a:rPr lang="en-US" sz="1600" dirty="0">
                <a:solidFill>
                  <a:schemeClr val="bg1"/>
                </a:solidFill>
              </a:rPr>
              <a:t>temp</a:t>
            </a:r>
            <a:endParaRPr lang="en-US" sz="1600" dirty="0"/>
          </a:p>
        </p:txBody>
      </p:sp>
      <p:sp>
        <p:nvSpPr>
          <p:cNvPr id="7" name="token chip"/>
          <p:cNvSpPr/>
          <p:nvPr/>
        </p:nvSpPr>
        <p:spPr>
          <a:xfrm>
            <a:off x="8750808" y="1645920"/>
            <a:ext cx="868680" cy="502920"/>
          </a:xfrm>
          <a:prstGeom prst="roundRect">
            <a:avLst>
              <a:gd name="adj" fmla="val 10909"/>
            </a:avLst>
          </a:prstGeom>
          <a:solidFill>
            <a:schemeClr val="accent2"/>
          </a:solidFill>
          <a:ln w="12700">
            <a:solidFill>
              <a:schemeClr val="accent2"/>
            </a:solidFill>
            <a:prstDash val="solid"/>
          </a:ln>
        </p:spPr>
      </p:sp>
      <p:sp>
        <p:nvSpPr>
          <p:cNvPr id="8" name="Text 6"/>
          <p:cNvSpPr txBox="1"/>
          <p:nvPr/>
        </p:nvSpPr>
        <p:spPr>
          <a:xfrm>
            <a:off x="8750808" y="1645920"/>
            <a:ext cx="868680" cy="502920"/>
          </a:xfrm>
          <a:prstGeom prst="rect">
            <a:avLst/>
          </a:prstGeom>
          <a:noFill/>
          <a:ln/>
        </p:spPr>
        <p:txBody>
          <a:bodyPr wrap="square" lIns="0" tIns="0" rIns="0" bIns="0" rtlCol="0" anchor="ctr"/>
          <a:lstStyle/>
          <a:p>
            <a:pPr algn="ctr" indent="0" marL="0">
              <a:buNone/>
            </a:pPr>
            <a:r>
              <a:rPr lang="en-US" sz="1600" dirty="0">
                <a:solidFill>
                  <a:schemeClr val="bg1"/>
                </a:solidFill>
              </a:rPr>
              <a:t>top_k</a:t>
            </a:r>
            <a:endParaRPr lang="en-US" sz="1600" dirty="0"/>
          </a:p>
        </p:txBody>
      </p:sp>
      <p:sp>
        <p:nvSpPr>
          <p:cNvPr id="9" name="token chip"/>
          <p:cNvSpPr/>
          <p:nvPr/>
        </p:nvSpPr>
        <p:spPr>
          <a:xfrm>
            <a:off x="9756648" y="1645920"/>
            <a:ext cx="868680" cy="502920"/>
          </a:xfrm>
          <a:prstGeom prst="roundRect">
            <a:avLst>
              <a:gd name="adj" fmla="val 10909"/>
            </a:avLst>
          </a:prstGeom>
          <a:solidFill>
            <a:schemeClr val="accent3"/>
          </a:solidFill>
          <a:ln w="12700">
            <a:solidFill>
              <a:schemeClr val="accent3"/>
            </a:solidFill>
            <a:prstDash val="solid"/>
          </a:ln>
        </p:spPr>
      </p:sp>
      <p:sp>
        <p:nvSpPr>
          <p:cNvPr id="10" name="Text 8"/>
          <p:cNvSpPr txBox="1"/>
          <p:nvPr/>
        </p:nvSpPr>
        <p:spPr>
          <a:xfrm>
            <a:off x="9756648" y="1645920"/>
            <a:ext cx="868680" cy="502920"/>
          </a:xfrm>
          <a:prstGeom prst="rect">
            <a:avLst/>
          </a:prstGeom>
          <a:noFill/>
          <a:ln/>
        </p:spPr>
        <p:txBody>
          <a:bodyPr wrap="square" lIns="0" tIns="0" rIns="0" bIns="0" rtlCol="0" anchor="ctr"/>
          <a:lstStyle/>
          <a:p>
            <a:pPr algn="ctr" indent="0" marL="0">
              <a:buNone/>
            </a:pPr>
            <a:r>
              <a:rPr lang="en-US" sz="1600" dirty="0">
                <a:solidFill>
                  <a:schemeClr val="bg1"/>
                </a:solidFill>
              </a:rPr>
              <a:t>top_p</a:t>
            </a:r>
            <a:endParaRPr lang="en-US" sz="1600" dirty="0"/>
          </a:p>
        </p:txBody>
      </p:sp>
      <p:sp>
        <p:nvSpPr>
          <p:cNvPr id="11" name="token chip"/>
          <p:cNvSpPr/>
          <p:nvPr/>
        </p:nvSpPr>
        <p:spPr>
          <a:xfrm>
            <a:off x="8321040" y="2423160"/>
            <a:ext cx="987552" cy="502920"/>
          </a:xfrm>
          <a:prstGeom prst="roundRect">
            <a:avLst>
              <a:gd name="adj" fmla="val 10909"/>
            </a:avLst>
          </a:prstGeom>
          <a:solidFill>
            <a:schemeClr val="accent4"/>
          </a:solidFill>
          <a:ln w="12700">
            <a:solidFill>
              <a:schemeClr val="accent4"/>
            </a:solidFill>
            <a:prstDash val="solid"/>
          </a:ln>
        </p:spPr>
      </p:sp>
      <p:sp>
        <p:nvSpPr>
          <p:cNvPr id="12" name="Text 10"/>
          <p:cNvSpPr txBox="1"/>
          <p:nvPr/>
        </p:nvSpPr>
        <p:spPr>
          <a:xfrm>
            <a:off x="8321040" y="2423160"/>
            <a:ext cx="987552" cy="502920"/>
          </a:xfrm>
          <a:prstGeom prst="rect">
            <a:avLst/>
          </a:prstGeom>
          <a:noFill/>
          <a:ln/>
        </p:spPr>
        <p:txBody>
          <a:bodyPr wrap="square" lIns="0" tIns="0" rIns="0" bIns="0" rtlCol="0" anchor="ctr"/>
          <a:lstStyle/>
          <a:p>
            <a:pPr algn="ctr" indent="0" marL="0">
              <a:buNone/>
            </a:pPr>
            <a:r>
              <a:rPr lang="en-US" sz="1600" dirty="0">
                <a:solidFill>
                  <a:schemeClr val="tx1"/>
                </a:solidFill>
              </a:rPr>
              <a:t>effort</a:t>
            </a:r>
            <a:endParaRPr lang="en-US" sz="1600" dirty="0"/>
          </a:p>
        </p:txBody>
      </p:sp>
      <p:sp>
        <p:nvSpPr>
          <p:cNvPr id="13" name="token chip"/>
          <p:cNvSpPr/>
          <p:nvPr/>
        </p:nvSpPr>
        <p:spPr>
          <a:xfrm>
            <a:off x="9445752" y="2423160"/>
            <a:ext cx="512064" cy="502920"/>
          </a:xfrm>
          <a:prstGeom prst="roundRect">
            <a:avLst>
              <a:gd name="adj" fmla="val 10909"/>
            </a:avLst>
          </a:prstGeom>
          <a:solidFill>
            <a:schemeClr val="accent1"/>
          </a:solidFill>
          <a:ln w="12700">
            <a:solidFill>
              <a:schemeClr val="accent1"/>
            </a:solidFill>
            <a:prstDash val="solid"/>
          </a:ln>
        </p:spPr>
      </p:sp>
      <p:sp>
        <p:nvSpPr>
          <p:cNvPr id="14" name="Text 12"/>
          <p:cNvSpPr txBox="1"/>
          <p:nvPr/>
        </p:nvSpPr>
        <p:spPr>
          <a:xfrm>
            <a:off x="9445752" y="2423160"/>
            <a:ext cx="512064" cy="502920"/>
          </a:xfrm>
          <a:prstGeom prst="rect">
            <a:avLst/>
          </a:prstGeom>
          <a:noFill/>
          <a:ln/>
        </p:spPr>
        <p:txBody>
          <a:bodyPr wrap="square" lIns="0" tIns="0" rIns="0" bIns="0" rtlCol="0" anchor="ctr"/>
          <a:lstStyle/>
          <a:p>
            <a:pPr algn="ctr" indent="0" marL="0">
              <a:buNone/>
            </a:pPr>
            <a:r>
              <a:rPr lang="en-US" sz="1600" dirty="0">
                <a:solidFill>
                  <a:schemeClr val="bg1"/>
                </a:solidFill>
              </a:rPr>
              <a:t>1M</a:t>
            </a:r>
            <a:endParaRPr lang="en-US" sz="1600" dirty="0"/>
          </a:p>
        </p:txBody>
      </p:sp>
      <p:sp>
        <p:nvSpPr>
          <p:cNvPr id="15" name="token chip"/>
          <p:cNvSpPr/>
          <p:nvPr/>
        </p:nvSpPr>
        <p:spPr>
          <a:xfrm>
            <a:off x="10094976" y="2423160"/>
            <a:ext cx="868680" cy="502920"/>
          </a:xfrm>
          <a:prstGeom prst="roundRect">
            <a:avLst>
              <a:gd name="adj" fmla="val 10909"/>
            </a:avLst>
          </a:prstGeom>
          <a:solidFill>
            <a:schemeClr val="accent2"/>
          </a:solidFill>
          <a:ln w="12700">
            <a:solidFill>
              <a:schemeClr val="accent2"/>
            </a:solidFill>
            <a:prstDash val="solid"/>
          </a:ln>
        </p:spPr>
      </p:sp>
      <p:sp>
        <p:nvSpPr>
          <p:cNvPr id="16" name="Text 14"/>
          <p:cNvSpPr txBox="1"/>
          <p:nvPr/>
        </p:nvSpPr>
        <p:spPr>
          <a:xfrm>
            <a:off x="10094976" y="2423160"/>
            <a:ext cx="868680" cy="502920"/>
          </a:xfrm>
          <a:prstGeom prst="rect">
            <a:avLst/>
          </a:prstGeom>
          <a:noFill/>
          <a:ln/>
        </p:spPr>
        <p:txBody>
          <a:bodyPr wrap="square" lIns="0" tIns="0" rIns="0" bIns="0" rtlCol="0" anchor="ctr"/>
          <a:lstStyle/>
          <a:p>
            <a:pPr algn="ctr" indent="0" marL="0">
              <a:buNone/>
            </a:pPr>
            <a:r>
              <a:rPr lang="en-US" sz="1600" dirty="0">
                <a:solidFill>
                  <a:schemeClr val="bg1"/>
                </a:solidFill>
              </a:rPr>
              <a:t>cache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Which knobs exist on Claude today (Opus 5.5 / Sonnet 5)</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651760"/>
                <a:gridCol w="2926080"/>
                <a:gridCol w="2011680"/>
                <a:gridCol w="3474720"/>
              </a:tblGrid>
              <a:tr h="603504">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Knob</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What it does</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Can you set it?</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Use instead / note</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tx1"/>
                    </a:solidFill>
                  </a:tcPr>
                </a:tc>
              </a:tr>
              <a:tr h="603504">
                <a:tc>
                  <a:txBody>
                    <a:bodyPr/>
                    <a:lstStyle/>
                    <a:p>
                      <a:pPr indent="0" marL="0">
                        <a:buNone/>
                      </a:pPr>
                      <a:r>
                        <a:rPr lang="en-US" sz="1400" dirty="0">
                          <a:solidFill>
                            <a:srgbClr val="5A6075"/>
                          </a:solidFill>
                          <a:latin typeface="Calibri" pitchFamily="34" charset="0"/>
                          <a:ea typeface="Calibri" pitchFamily="34" charset="-122"/>
                          <a:cs typeface="Calibri" pitchFamily="34" charset="-120"/>
                        </a:rPr>
                        <a:t>temperature · top_p · top_k</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indent="0" marL="0">
                        <a:buNone/>
                      </a:pPr>
                      <a:r>
                        <a:rPr lang="en-US" sz="1400" dirty="0">
                          <a:solidFill>
                            <a:srgbClr val="5A6075"/>
                          </a:solidFill>
                          <a:latin typeface="Calibri" pitchFamily="34" charset="0"/>
                          <a:ea typeface="Calibri" pitchFamily="34" charset="-122"/>
                          <a:cs typeface="Calibri" pitchFamily="34" charset="-120"/>
                        </a:rPr>
                        <a:t>Randomness of the next-token pick</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No: 400 error</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indent="0" marL="0">
                        <a:buNone/>
                      </a:pPr>
                      <a:r>
                        <a:rPr lang="en-US" sz="1400" dirty="0">
                          <a:solidFill>
                            <a:srgbClr val="5A6075"/>
                          </a:solidFill>
                          <a:latin typeface="Calibri" pitchFamily="34" charset="0"/>
                          <a:ea typeface="Calibri" pitchFamily="34" charset="-122"/>
                          <a:cs typeface="Calibri" pitchFamily="34" charset="-120"/>
                        </a:rPr>
                        <a:t>Omit them. Steer with the prompt, examples, structured outputs</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r>
              <a:tr h="603504">
                <a:tc>
                  <a:txBody>
                    <a:bodyPr/>
                    <a:lstStyle/>
                    <a:p>
                      <a:pPr indent="0" marL="0">
                        <a:buNone/>
                      </a:pPr>
                      <a:r>
                        <a:rPr lang="en-US" sz="1400" dirty="0">
                          <a:solidFill>
                            <a:srgbClr val="5A6075"/>
                          </a:solidFill>
                          <a:latin typeface="Calibri" pitchFamily="34" charset="0"/>
                          <a:ea typeface="Calibri" pitchFamily="34" charset="-122"/>
                          <a:cs typeface="Calibri" pitchFamily="34" charset="-120"/>
                        </a:rPr>
                        <a:t>effort</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indent="0" marL="0">
                        <a:buNone/>
                      </a:pPr>
                      <a:r>
                        <a:rPr lang="en-US" sz="1400" dirty="0">
                          <a:solidFill>
                            <a:srgbClr val="5A6075"/>
                          </a:solidFill>
                          <a:latin typeface="Calibri" pitchFamily="34" charset="0"/>
                          <a:ea typeface="Calibri" pitchFamily="34" charset="-122"/>
                          <a:cs typeface="Calibri" pitchFamily="34" charset="-120"/>
                        </a:rPr>
                        <a:t>How much Claude thinks and how thorough it is</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Yes: main knob</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indent="0" marL="0">
                        <a:buNone/>
                      </a:pPr>
                      <a:r>
                        <a:rPr lang="en-US" sz="1400" dirty="0">
                          <a:solidFill>
                            <a:srgbClr val="5A6075"/>
                          </a:solidFill>
                          <a:latin typeface="Calibri" pitchFamily="34" charset="0"/>
                          <a:ea typeface="Calibri" pitchFamily="34" charset="-122"/>
                          <a:cs typeface="Calibri" pitchFamily="34" charset="-120"/>
                        </a:rPr>
                        <a:t>low · medium · high · xhigh · max</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r>
              <a:tr h="603504">
                <a:tc>
                  <a:txBody>
                    <a:bodyPr/>
                    <a:lstStyle/>
                    <a:p>
                      <a:pPr indent="0" marL="0">
                        <a:buNone/>
                      </a:pPr>
                      <a:r>
                        <a:rPr lang="en-US" sz="1400" dirty="0">
                          <a:solidFill>
                            <a:srgbClr val="5A6075"/>
                          </a:solidFill>
                          <a:latin typeface="Calibri" pitchFamily="34" charset="0"/>
                          <a:ea typeface="Calibri" pitchFamily="34" charset="-122"/>
                          <a:cs typeface="Calibri" pitchFamily="34" charset="-120"/>
                        </a:rPr>
                        <a:t>thinking</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indent="0" marL="0">
                        <a:buNone/>
                      </a:pPr>
                      <a:r>
                        <a:rPr lang="en-US" sz="1400" dirty="0">
                          <a:solidFill>
                            <a:srgbClr val="5A6075"/>
                          </a:solidFill>
                          <a:latin typeface="Calibri" pitchFamily="34" charset="0"/>
                          <a:ea typeface="Calibri" pitchFamily="34" charset="-122"/>
                          <a:cs typeface="Calibri" pitchFamily="34" charset="-120"/>
                        </a:rPr>
                        <a:t>Reasoning before answering</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latin typeface="Calibri" pitchFamily="34" charset="0"/>
                          <a:ea typeface="Calibri" pitchFamily="34" charset="-122"/>
                          <a:cs typeface="Calibri" pitchFamily="34" charset="-120"/>
                        </a:rPr>
                        <a:t>Always adaptive</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indent="0" marL="0">
                        <a:buNone/>
                      </a:pPr>
                      <a:r>
                        <a:rPr lang="en-US" sz="1400" dirty="0">
                          <a:solidFill>
                            <a:srgbClr val="5A6075"/>
                          </a:solidFill>
                          <a:latin typeface="Calibri" pitchFamily="34" charset="0"/>
                          <a:ea typeface="Calibri" pitchFamily="34" charset="-122"/>
                          <a:cs typeface="Calibri" pitchFamily="34" charset="-120"/>
                        </a:rPr>
                        <a:t>Claude decides how much; set display to see summaries</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r>
              <a:tr h="603504">
                <a:tc>
                  <a:txBody>
                    <a:bodyPr/>
                    <a:lstStyle/>
                    <a:p>
                      <a:pPr indent="0" marL="0">
                        <a:buNone/>
                      </a:pPr>
                      <a:r>
                        <a:rPr lang="en-US" sz="1400" dirty="0">
                          <a:solidFill>
                            <a:srgbClr val="5A6075"/>
                          </a:solidFill>
                          <a:latin typeface="Calibri" pitchFamily="34" charset="0"/>
                          <a:ea typeface="Calibri" pitchFamily="34" charset="-122"/>
                          <a:cs typeface="Calibri" pitchFamily="34" charset="-120"/>
                        </a:rPr>
                        <a:t>max_tokens</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indent="0" marL="0">
                        <a:buNone/>
                      </a:pPr>
                      <a:r>
                        <a:rPr lang="en-US" sz="1400" dirty="0">
                          <a:solidFill>
                            <a:srgbClr val="5A6075"/>
                          </a:solidFill>
                          <a:latin typeface="Calibri" pitchFamily="34" charset="0"/>
                          <a:ea typeface="Calibri" pitchFamily="34" charset="-122"/>
                          <a:cs typeface="Calibri" pitchFamily="34" charset="-120"/>
                        </a:rPr>
                        <a:t>Hard cap on output (thinking + text)</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indent="0" marL="0">
                        <a:buNone/>
                      </a:pPr>
                      <a:r>
                        <a:rPr lang="en-US" sz="1400" dirty="0">
                          <a:solidFill>
                            <a:srgbClr val="5A6075"/>
                          </a:solidFill>
                          <a:latin typeface="Calibri" pitchFamily="34" charset="0"/>
                          <a:ea typeface="Calibri" pitchFamily="34" charset="-122"/>
                          <a:cs typeface="Calibri" pitchFamily="34" charset="-120"/>
                        </a:rPr>
                        <a:t>Up to 128k; start near 64k at high effort</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r>
              <a:tr h="603504">
                <a:tc>
                  <a:txBody>
                    <a:bodyPr/>
                    <a:lstStyle/>
                    <a:p>
                      <a:pPr indent="0" marL="0">
                        <a:buNone/>
                      </a:pPr>
                      <a:r>
                        <a:rPr lang="en-US" sz="1400" dirty="0">
                          <a:solidFill>
                            <a:srgbClr val="5A6075"/>
                          </a:solidFill>
                          <a:latin typeface="Calibri" pitchFamily="34" charset="0"/>
                          <a:ea typeface="Calibri" pitchFamily="34" charset="-122"/>
                          <a:cs typeface="Calibri" pitchFamily="34" charset="-120"/>
                        </a:rPr>
                        <a:t>Context window</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indent="0" marL="0">
                        <a:buNone/>
                      </a:pPr>
                      <a:r>
                        <a:rPr lang="en-US" sz="1400" dirty="0">
                          <a:solidFill>
                            <a:srgbClr val="5A6075"/>
                          </a:solidFill>
                          <a:latin typeface="Calibri" pitchFamily="34" charset="0"/>
                          <a:ea typeface="Calibri" pitchFamily="34" charset="-122"/>
                          <a:cs typeface="Calibri" pitchFamily="34" charset="-120"/>
                        </a:rPr>
                        <a:t>How much text fits in one request</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latin typeface="Calibri" pitchFamily="34" charset="0"/>
                          <a:ea typeface="Calibri" pitchFamily="34" charset="-122"/>
                          <a:cs typeface="Calibri" pitchFamily="34" charset="-120"/>
                        </a:rPr>
                        <a:t>Fixed by model</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indent="0" marL="0">
                        <a:buNone/>
                      </a:pPr>
                      <a:r>
                        <a:rPr lang="en-US" sz="1400" dirty="0">
                          <a:solidFill>
                            <a:srgbClr val="5A6075"/>
                          </a:solidFill>
                          <a:latin typeface="Calibri" pitchFamily="34" charset="0"/>
                          <a:ea typeface="Calibri" pitchFamily="34" charset="-122"/>
                          <a:cs typeface="Calibri" pitchFamily="34" charset="-120"/>
                        </a:rPr>
                        <a:t>1M tokens on current models</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r>
              <a:tr h="603504">
                <a:tc>
                  <a:txBody>
                    <a:bodyPr/>
                    <a:lstStyle/>
                    <a:p>
                      <a:pPr indent="0" marL="0">
                        <a:buNone/>
                      </a:pPr>
                      <a:r>
                        <a:rPr lang="en-US" sz="1400" dirty="0">
                          <a:solidFill>
                            <a:srgbClr val="5A6075"/>
                          </a:solidFill>
                          <a:latin typeface="Calibri" pitchFamily="34" charset="0"/>
                          <a:ea typeface="Calibri" pitchFamily="34" charset="-122"/>
                          <a:cs typeface="Calibri" pitchFamily="34" charset="-120"/>
                        </a:rPr>
                        <a:t>KV cache</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indent="0" marL="0">
                        <a:buNone/>
                      </a:pPr>
                      <a:r>
                        <a:rPr lang="en-US" sz="1400" dirty="0">
                          <a:solidFill>
                            <a:srgbClr val="5A6075"/>
                          </a:solidFill>
                          <a:latin typeface="Calibri" pitchFamily="34" charset="0"/>
                          <a:ea typeface="Calibri" pitchFamily="34" charset="-122"/>
                          <a:cs typeface="Calibri" pitchFamily="34" charset="-120"/>
                        </a:rPr>
                        <a:t>Server memory of processed tokens</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latin typeface="Calibri" pitchFamily="34" charset="0"/>
                          <a:ea typeface="Calibri" pitchFamily="34" charset="-122"/>
                          <a:cs typeface="Calibri" pitchFamily="34" charset="-120"/>
                        </a:rPr>
                        <a:t>Not directly</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c>
                  <a:txBody>
                    <a:bodyPr/>
                    <a:lstStyle/>
                    <a:p>
                      <a:pPr indent="0" marL="0">
                        <a:buNone/>
                      </a:pPr>
                      <a:r>
                        <a:rPr lang="en-US" sz="1400" dirty="0">
                          <a:solidFill>
                            <a:srgbClr val="5A6075"/>
                          </a:solidFill>
                          <a:latin typeface="Calibri" pitchFamily="34" charset="0"/>
                          <a:ea typeface="Calibri" pitchFamily="34" charset="-122"/>
                          <a:cs typeface="Calibri" pitchFamily="34" charset="-120"/>
                        </a:rPr>
                        <a:t>Prompt caching (cache_control) reuses it</a:t>
                      </a:r>
                      <a:endParaRPr lang="en-US" sz="1400" dirty="0">
                        <a:latin typeface="Calibri" charset="0"/>
                        <a:ea typeface="Calibri" charset="0"/>
                        <a:cs typeface="Calibri" charset="0"/>
                      </a:endParaRPr>
                    </a:p>
                  </a:txBody>
                  <a:tcPr marL="109728" marR="109728" marT="54864" marB="54864" anchor="ctr">
                    <a:lnL w="9525" cap="flat" cmpd="sng" algn="ctr">
                      <a:solidFill>
                        <a:srgbClr val="E3E5EC"/>
                      </a:solidFill>
                      <a:prstDash val="solid"/>
                      <a:round/>
                      <a:headEnd type="none" w="med" len="med"/>
                      <a:tailEnd type="none" w="med" len="med"/>
                    </a:lnL>
                    <a:lnR w="9525" cap="flat" cmpd="sng" algn="ctr">
                      <a:solidFill>
                        <a:srgbClr val="E3E5EC"/>
                      </a:solidFill>
                      <a:prstDash val="solid"/>
                      <a:round/>
                      <a:headEnd type="none" w="med" len="med"/>
                      <a:tailEnd type="none" w="med" len="med"/>
                    </a:lnR>
                    <a:lnT w="9525" cap="flat" cmpd="sng" algn="ctr">
                      <a:solidFill>
                        <a:srgbClr val="E3E5EC"/>
                      </a:solidFill>
                      <a:prstDash val="solid"/>
                      <a:round/>
                      <a:headEnd type="none" w="med" len="med"/>
                      <a:tailEnd type="none" w="med" len="med"/>
                    </a:lnT>
                    <a:lnB w="9525" cap="flat" cmpd="sng" algn="ctr">
                      <a:solidFill>
                        <a:srgbClr val="E3E5EC"/>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200" i="1" dirty="0">
                <a:solidFill>
                  <a:schemeClr val="accent5"/>
                </a:solidFill>
              </a:rPr>
              <a:t>Older models (Claude 4.5 and earlier) still accept temperature, top_p and top_k. The newest models moved these decisions inside the model.</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Refresher: what temperature, top-k and top-p do</a:t>
            </a:r>
            <a:endParaRPr lang="en-US" sz="3200" dirty="0"/>
          </a:p>
        </p:txBody>
      </p:sp>
      <p:graphicFrame>
        <p:nvGraphicFramePr>
          <p:cNvPr id="3" name="next token chart" descr=""/>
          <p:cNvGraphicFramePr/>
          <p:nvPr/>
        </p:nvGraphicFramePr>
        <p:xfrm>
          <a:off x="548640" y="1371600"/>
          <a:ext cx="6035040" cy="420624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6949440" y="1371600"/>
            <a:ext cx="4663440" cy="1234440"/>
          </a:xfrm>
          <a:prstGeom prst="roundRect">
            <a:avLst>
              <a:gd name="adj" fmla="val 5926"/>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5" name="dot"/>
          <p:cNvSpPr/>
          <p:nvPr/>
        </p:nvSpPr>
        <p:spPr>
          <a:xfrm>
            <a:off x="7178040" y="1600200"/>
            <a:ext cx="274320" cy="274320"/>
          </a:xfrm>
          <a:prstGeom prst="ellipse">
            <a:avLst/>
          </a:prstGeom>
          <a:solidFill>
            <a:schemeClr val="accent1"/>
          </a:solidFill>
          <a:ln w="12700">
            <a:solidFill>
              <a:schemeClr val="accent1"/>
            </a:solidFill>
            <a:prstDash val="solid"/>
          </a:ln>
        </p:spPr>
      </p:sp>
      <p:sp>
        <p:nvSpPr>
          <p:cNvPr id="6" name="Text 3"/>
          <p:cNvSpPr txBox="1"/>
          <p:nvPr/>
        </p:nvSpPr>
        <p:spPr>
          <a:xfrm>
            <a:off x="7589520" y="1554480"/>
            <a:ext cx="3840480" cy="365760"/>
          </a:xfrm>
          <a:prstGeom prst="rect">
            <a:avLst/>
          </a:prstGeom>
          <a:noFill/>
          <a:ln/>
        </p:spPr>
        <p:txBody>
          <a:bodyPr wrap="square" lIns="0" tIns="0" rIns="0" bIns="0" rtlCol="0" anchor="t"/>
          <a:lstStyle/>
          <a:p>
            <a:pPr indent="0" marL="0">
              <a:buNone/>
            </a:pPr>
            <a:r>
              <a:rPr lang="en-US" sz="1600" b="1" dirty="0">
                <a:solidFill>
                  <a:schemeClr val="tx1"/>
                </a:solidFill>
              </a:rPr>
              <a:t>Temperature</a:t>
            </a:r>
            <a:endParaRPr lang="en-US" sz="1600" dirty="0"/>
          </a:p>
        </p:txBody>
      </p:sp>
      <p:sp>
        <p:nvSpPr>
          <p:cNvPr id="7" name="Text 4"/>
          <p:cNvSpPr txBox="1"/>
          <p:nvPr/>
        </p:nvSpPr>
        <p:spPr>
          <a:xfrm>
            <a:off x="7589520" y="1920240"/>
            <a:ext cx="3840480" cy="640080"/>
          </a:xfrm>
          <a:prstGeom prst="rect">
            <a:avLst/>
          </a:prstGeom>
          <a:noFill/>
          <a:ln/>
        </p:spPr>
        <p:txBody>
          <a:bodyPr wrap="square" lIns="0" tIns="0" rIns="0" bIns="0" rtlCol="0" anchor="t"/>
          <a:lstStyle/>
          <a:p>
            <a:pPr indent="0" marL="0">
              <a:buNone/>
            </a:pPr>
            <a:r>
              <a:rPr lang="en-US" sz="1300" dirty="0">
                <a:solidFill>
                  <a:schemeClr val="tx2"/>
                </a:solidFill>
              </a:rPr>
              <a:t>Sharpens (low) or flattens (high) the whole distribution. Low = focused and repeatable; high = varied.</a:t>
            </a:r>
            <a:endParaRPr lang="en-US" sz="1300" dirty="0"/>
          </a:p>
        </p:txBody>
      </p:sp>
      <p:sp>
        <p:nvSpPr>
          <p:cNvPr id="8" name="card"/>
          <p:cNvSpPr/>
          <p:nvPr/>
        </p:nvSpPr>
        <p:spPr>
          <a:xfrm>
            <a:off x="6949440" y="2788920"/>
            <a:ext cx="4663440" cy="1234440"/>
          </a:xfrm>
          <a:prstGeom prst="roundRect">
            <a:avLst>
              <a:gd name="adj" fmla="val 5926"/>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9" name="dot"/>
          <p:cNvSpPr/>
          <p:nvPr/>
        </p:nvSpPr>
        <p:spPr>
          <a:xfrm>
            <a:off x="7178040" y="3017520"/>
            <a:ext cx="274320" cy="274320"/>
          </a:xfrm>
          <a:prstGeom prst="ellipse">
            <a:avLst/>
          </a:prstGeom>
          <a:solidFill>
            <a:schemeClr val="accent3"/>
          </a:solidFill>
          <a:ln w="12700">
            <a:solidFill>
              <a:schemeClr val="accent3"/>
            </a:solidFill>
            <a:prstDash val="solid"/>
          </a:ln>
        </p:spPr>
      </p:sp>
      <p:sp>
        <p:nvSpPr>
          <p:cNvPr id="10" name="Text 7"/>
          <p:cNvSpPr txBox="1"/>
          <p:nvPr/>
        </p:nvSpPr>
        <p:spPr>
          <a:xfrm>
            <a:off x="7589520" y="2971800"/>
            <a:ext cx="3840480" cy="365760"/>
          </a:xfrm>
          <a:prstGeom prst="rect">
            <a:avLst/>
          </a:prstGeom>
          <a:noFill/>
          <a:ln/>
        </p:spPr>
        <p:txBody>
          <a:bodyPr wrap="square" lIns="0" tIns="0" rIns="0" bIns="0" rtlCol="0" anchor="t"/>
          <a:lstStyle/>
          <a:p>
            <a:pPr indent="0" marL="0">
              <a:buNone/>
            </a:pPr>
            <a:r>
              <a:rPr lang="en-US" sz="1600" b="1" dirty="0">
                <a:solidFill>
                  <a:schemeClr val="tx1"/>
                </a:solidFill>
              </a:rPr>
              <a:t>Top-k</a:t>
            </a:r>
            <a:endParaRPr lang="en-US" sz="1600" dirty="0"/>
          </a:p>
        </p:txBody>
      </p:sp>
      <p:sp>
        <p:nvSpPr>
          <p:cNvPr id="11" name="Text 8"/>
          <p:cNvSpPr txBox="1"/>
          <p:nvPr/>
        </p:nvSpPr>
        <p:spPr>
          <a:xfrm>
            <a:off x="7589520" y="3337560"/>
            <a:ext cx="3840480" cy="640080"/>
          </a:xfrm>
          <a:prstGeom prst="rect">
            <a:avLst/>
          </a:prstGeom>
          <a:noFill/>
          <a:ln/>
        </p:spPr>
        <p:txBody>
          <a:bodyPr wrap="square" lIns="0" tIns="0" rIns="0" bIns="0" rtlCol="0" anchor="t"/>
          <a:lstStyle/>
          <a:p>
            <a:pPr indent="0" marL="0">
              <a:buNone/>
            </a:pPr>
            <a:r>
              <a:rPr lang="en-US" sz="1300" dirty="0">
                <a:solidFill>
                  <a:schemeClr val="tx2"/>
                </a:solidFill>
              </a:rPr>
              <a:t>Keep only the k most likely tokens. k = 3 → only mat, floor, sofa can be picked.</a:t>
            </a:r>
            <a:endParaRPr lang="en-US" sz="1300" dirty="0"/>
          </a:p>
        </p:txBody>
      </p:sp>
      <p:sp>
        <p:nvSpPr>
          <p:cNvPr id="12" name="card"/>
          <p:cNvSpPr/>
          <p:nvPr/>
        </p:nvSpPr>
        <p:spPr>
          <a:xfrm>
            <a:off x="6949440" y="4206240"/>
            <a:ext cx="4663440" cy="1234440"/>
          </a:xfrm>
          <a:prstGeom prst="roundRect">
            <a:avLst>
              <a:gd name="adj" fmla="val 5926"/>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13" name="dot"/>
          <p:cNvSpPr/>
          <p:nvPr/>
        </p:nvSpPr>
        <p:spPr>
          <a:xfrm>
            <a:off x="7178040" y="4434840"/>
            <a:ext cx="274320" cy="274320"/>
          </a:xfrm>
          <a:prstGeom prst="ellipse">
            <a:avLst/>
          </a:prstGeom>
          <a:solidFill>
            <a:schemeClr val="accent2"/>
          </a:solidFill>
          <a:ln w="12700">
            <a:solidFill>
              <a:schemeClr val="accent2"/>
            </a:solidFill>
            <a:prstDash val="solid"/>
          </a:ln>
        </p:spPr>
      </p:sp>
      <p:sp>
        <p:nvSpPr>
          <p:cNvPr id="14" name="Text 11"/>
          <p:cNvSpPr txBox="1"/>
          <p:nvPr/>
        </p:nvSpPr>
        <p:spPr>
          <a:xfrm>
            <a:off x="7589520" y="4389120"/>
            <a:ext cx="3840480" cy="365760"/>
          </a:xfrm>
          <a:prstGeom prst="rect">
            <a:avLst/>
          </a:prstGeom>
          <a:noFill/>
          <a:ln/>
        </p:spPr>
        <p:txBody>
          <a:bodyPr wrap="square" lIns="0" tIns="0" rIns="0" bIns="0" rtlCol="0" anchor="t"/>
          <a:lstStyle/>
          <a:p>
            <a:pPr indent="0" marL="0">
              <a:buNone/>
            </a:pPr>
            <a:r>
              <a:rPr lang="en-US" sz="1600" b="1" dirty="0">
                <a:solidFill>
                  <a:schemeClr val="tx1"/>
                </a:solidFill>
              </a:rPr>
              <a:t>Top-p</a:t>
            </a:r>
            <a:endParaRPr lang="en-US" sz="1600" dirty="0"/>
          </a:p>
        </p:txBody>
      </p:sp>
      <p:sp>
        <p:nvSpPr>
          <p:cNvPr id="15" name="Text 12"/>
          <p:cNvSpPr txBox="1"/>
          <p:nvPr/>
        </p:nvSpPr>
        <p:spPr>
          <a:xfrm>
            <a:off x="7589520" y="4754880"/>
            <a:ext cx="3840480" cy="640080"/>
          </a:xfrm>
          <a:prstGeom prst="rect">
            <a:avLst/>
          </a:prstGeom>
          <a:noFill/>
          <a:ln/>
        </p:spPr>
        <p:txBody>
          <a:bodyPr wrap="square" lIns="0" tIns="0" rIns="0" bIns="0" rtlCol="0" anchor="t"/>
          <a:lstStyle/>
          <a:p>
            <a:pPr indent="0" marL="0">
              <a:buNone/>
            </a:pPr>
            <a:r>
              <a:rPr lang="en-US" sz="1300" dirty="0">
                <a:solidFill>
                  <a:schemeClr val="tx2"/>
                </a:solidFill>
              </a:rPr>
              <a:t>Keep the fewest tokens whose probabilities add up to at least p. With p = 0.9: the 7 teal bars (92%).</a:t>
            </a:r>
            <a:endParaRPr lang="en-US" sz="1300" dirty="0"/>
          </a:p>
        </p:txBody>
      </p:sp>
      <p:sp>
        <p:nvSpPr>
          <p:cNvPr id="16" name="Text 13"/>
          <p:cNvSpPr txBox="1"/>
          <p:nvPr/>
        </p:nvSpPr>
        <p:spPr>
          <a:xfrm>
            <a:off x="548640" y="5669280"/>
            <a:ext cx="5486400" cy="274320"/>
          </a:xfrm>
          <a:prstGeom prst="rect">
            <a:avLst/>
          </a:prstGeom>
          <a:noFill/>
          <a:ln/>
        </p:spPr>
        <p:txBody>
          <a:bodyPr wrap="square" lIns="0" tIns="0" rIns="0" bIns="0" rtlCol="0" anchor="t"/>
          <a:lstStyle/>
          <a:p>
            <a:pPr indent="0" marL="0">
              <a:buNone/>
            </a:pPr>
            <a:r>
              <a:rPr lang="en-US" sz="1000" i="1" dirty="0">
                <a:solidFill>
                  <a:schemeClr val="accent5"/>
                </a:solidFill>
              </a:rPr>
              <a:t>Illustrative numbers.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Sampling on Claude: from sliders to “just prompt it”</a:t>
            </a:r>
            <a:endParaRPr lang="en-US" sz="3200" dirty="0"/>
          </a:p>
        </p:txBody>
      </p:sp>
      <p:sp>
        <p:nvSpPr>
          <p:cNvPr id="3" name="timeline"/>
          <p:cNvSpPr/>
          <p:nvPr/>
        </p:nvSpPr>
        <p:spPr>
          <a:xfrm>
            <a:off x="822960" y="2377440"/>
            <a:ext cx="10515600" cy="0"/>
          </a:xfrm>
          <a:prstGeom prst="line">
            <a:avLst/>
          </a:prstGeom>
          <a:noFill/>
          <a:ln w="38100">
            <a:solidFill>
              <a:schemeClr val="accent6"/>
            </a:solidFill>
            <a:prstDash val="solid"/>
          </a:ln>
        </p:spPr>
      </p:sp>
      <p:sp>
        <p:nvSpPr>
          <p:cNvPr id="4" name="milestone"/>
          <p:cNvSpPr/>
          <p:nvPr/>
        </p:nvSpPr>
        <p:spPr>
          <a:xfrm>
            <a:off x="822960" y="2212848"/>
            <a:ext cx="329184" cy="329184"/>
          </a:xfrm>
          <a:prstGeom prst="ellipse">
            <a:avLst/>
          </a:prstGeom>
          <a:solidFill>
            <a:schemeClr val="accent2"/>
          </a:solidFill>
          <a:ln w="25400">
            <a:solidFill>
              <a:schemeClr val="bg1"/>
            </a:solidFill>
            <a:prstDash val="solid"/>
          </a:ln>
        </p:spPr>
      </p:sp>
      <p:sp>
        <p:nvSpPr>
          <p:cNvPr id="5" name="Text 3"/>
          <p:cNvSpPr txBox="1"/>
          <p:nvPr/>
        </p:nvSpPr>
        <p:spPr>
          <a:xfrm>
            <a:off x="822960" y="1417320"/>
            <a:ext cx="2560320" cy="640080"/>
          </a:xfrm>
          <a:prstGeom prst="rect">
            <a:avLst/>
          </a:prstGeom>
          <a:noFill/>
          <a:ln/>
        </p:spPr>
        <p:txBody>
          <a:bodyPr wrap="square" lIns="0" tIns="0" rIns="0" bIns="0" rtlCol="0" anchor="b"/>
          <a:lstStyle/>
          <a:p>
            <a:pPr indent="0" marL="0">
              <a:buNone/>
            </a:pPr>
            <a:r>
              <a:rPr lang="en-US" sz="1600" b="1" dirty="0">
                <a:solidFill>
                  <a:schemeClr val="tx1"/>
                </a:solidFill>
              </a:rPr>
              <a:t>Claude 3 – 4.5</a:t>
            </a:r>
            <a:endParaRPr lang="en-US" sz="1600" dirty="0"/>
          </a:p>
        </p:txBody>
      </p:sp>
      <p:sp>
        <p:nvSpPr>
          <p:cNvPr id="6" name="Text 4"/>
          <p:cNvSpPr txBox="1"/>
          <p:nvPr/>
        </p:nvSpPr>
        <p:spPr>
          <a:xfrm>
            <a:off x="822960" y="2743200"/>
            <a:ext cx="2514600" cy="1005840"/>
          </a:xfrm>
          <a:prstGeom prst="rect">
            <a:avLst/>
          </a:prstGeom>
          <a:noFill/>
          <a:ln/>
        </p:spPr>
        <p:txBody>
          <a:bodyPr wrap="square" lIns="0" tIns="0" rIns="0" bIns="0" rtlCol="0" anchor="t"/>
          <a:lstStyle/>
          <a:p>
            <a:pPr indent="0" marL="0">
              <a:buNone/>
            </a:pPr>
            <a:r>
              <a:rPr lang="en-US" sz="1400" dirty="0">
                <a:solidFill>
                  <a:schemeClr val="tx2"/>
                </a:solidFill>
              </a:rPr>
              <a:t>temperature 0–1 (default 1.0), top_p, top_k all accepted</a:t>
            </a:r>
            <a:endParaRPr lang="en-US" sz="1400" dirty="0"/>
          </a:p>
        </p:txBody>
      </p:sp>
      <p:sp>
        <p:nvSpPr>
          <p:cNvPr id="7" name="milestone"/>
          <p:cNvSpPr/>
          <p:nvPr/>
        </p:nvSpPr>
        <p:spPr>
          <a:xfrm>
            <a:off x="3520440" y="2212848"/>
            <a:ext cx="329184" cy="329184"/>
          </a:xfrm>
          <a:prstGeom prst="ellipse">
            <a:avLst/>
          </a:prstGeom>
          <a:solidFill>
            <a:schemeClr val="accent4"/>
          </a:solidFill>
          <a:ln w="25400">
            <a:solidFill>
              <a:schemeClr val="bg1"/>
            </a:solidFill>
            <a:prstDash val="solid"/>
          </a:ln>
        </p:spPr>
      </p:sp>
      <p:sp>
        <p:nvSpPr>
          <p:cNvPr id="8" name="Text 6"/>
          <p:cNvSpPr txBox="1"/>
          <p:nvPr/>
        </p:nvSpPr>
        <p:spPr>
          <a:xfrm>
            <a:off x="3520440" y="1417320"/>
            <a:ext cx="2560320" cy="640080"/>
          </a:xfrm>
          <a:prstGeom prst="rect">
            <a:avLst/>
          </a:prstGeom>
          <a:noFill/>
          <a:ln/>
        </p:spPr>
        <p:txBody>
          <a:bodyPr wrap="square" lIns="0" tIns="0" rIns="0" bIns="0" rtlCol="0" anchor="b"/>
          <a:lstStyle/>
          <a:p>
            <a:pPr indent="0" marL="0">
              <a:buNone/>
            </a:pPr>
            <a:r>
              <a:rPr lang="en-US" sz="1600" b="1" dirty="0">
                <a:solidFill>
                  <a:schemeClr val="tx1"/>
                </a:solidFill>
              </a:rPr>
              <a:t>Later Claude 4.x</a:t>
            </a:r>
            <a:endParaRPr lang="en-US" sz="1600" dirty="0"/>
          </a:p>
        </p:txBody>
      </p:sp>
      <p:sp>
        <p:nvSpPr>
          <p:cNvPr id="9" name="Text 7"/>
          <p:cNvSpPr txBox="1"/>
          <p:nvPr/>
        </p:nvSpPr>
        <p:spPr>
          <a:xfrm>
            <a:off x="3520440" y="2743200"/>
            <a:ext cx="2514600" cy="1005840"/>
          </a:xfrm>
          <a:prstGeom prst="rect">
            <a:avLst/>
          </a:prstGeom>
          <a:noFill/>
          <a:ln/>
        </p:spPr>
        <p:txBody>
          <a:bodyPr wrap="square" lIns="0" tIns="0" rIns="0" bIns="0" rtlCol="0" anchor="t"/>
          <a:lstStyle/>
          <a:p>
            <a:pPr indent="0" marL="0">
              <a:buNone/>
            </a:pPr>
            <a:r>
              <a:rPr lang="en-US" sz="1400" dirty="0">
                <a:solidFill>
                  <a:schemeClr val="tx2"/>
                </a:solidFill>
              </a:rPr>
              <a:t>Pick temperature or top_p, not both; defaults recommended</a:t>
            </a:r>
            <a:endParaRPr lang="en-US" sz="1400" dirty="0"/>
          </a:p>
        </p:txBody>
      </p:sp>
      <p:sp>
        <p:nvSpPr>
          <p:cNvPr id="10" name="milestone"/>
          <p:cNvSpPr/>
          <p:nvPr/>
        </p:nvSpPr>
        <p:spPr>
          <a:xfrm>
            <a:off x="6217920" y="2212848"/>
            <a:ext cx="329184" cy="329184"/>
          </a:xfrm>
          <a:prstGeom prst="ellipse">
            <a:avLst/>
          </a:prstGeom>
          <a:solidFill>
            <a:schemeClr val="accent1"/>
          </a:solidFill>
          <a:ln w="25400">
            <a:solidFill>
              <a:schemeClr val="bg1"/>
            </a:solidFill>
            <a:prstDash val="solid"/>
          </a:ln>
        </p:spPr>
      </p:sp>
      <p:sp>
        <p:nvSpPr>
          <p:cNvPr id="11" name="Text 9"/>
          <p:cNvSpPr txBox="1"/>
          <p:nvPr/>
        </p:nvSpPr>
        <p:spPr>
          <a:xfrm>
            <a:off x="6217920" y="1417320"/>
            <a:ext cx="2560320" cy="640080"/>
          </a:xfrm>
          <a:prstGeom prst="rect">
            <a:avLst/>
          </a:prstGeom>
          <a:noFill/>
          <a:ln/>
        </p:spPr>
        <p:txBody>
          <a:bodyPr wrap="square" lIns="0" tIns="0" rIns="0" bIns="0" rtlCol="0" anchor="b"/>
          <a:lstStyle/>
          <a:p>
            <a:pPr indent="0" marL="0">
              <a:buNone/>
            </a:pPr>
            <a:r>
              <a:rPr lang="en-US" sz="1600" b="1" dirty="0">
                <a:solidFill>
                  <a:schemeClr val="tx1"/>
                </a:solidFill>
              </a:rPr>
              <a:t>Opus 4.7 (Apr 2026)</a:t>
            </a:r>
            <a:endParaRPr lang="en-US" sz="1600" dirty="0"/>
          </a:p>
        </p:txBody>
      </p:sp>
      <p:sp>
        <p:nvSpPr>
          <p:cNvPr id="12" name="Text 10"/>
          <p:cNvSpPr txBox="1"/>
          <p:nvPr/>
        </p:nvSpPr>
        <p:spPr>
          <a:xfrm>
            <a:off x="6217920" y="2743200"/>
            <a:ext cx="2514600" cy="1005840"/>
          </a:xfrm>
          <a:prstGeom prst="rect">
            <a:avLst/>
          </a:prstGeom>
          <a:noFill/>
          <a:ln/>
        </p:spPr>
        <p:txBody>
          <a:bodyPr wrap="square" lIns="0" tIns="0" rIns="0" bIns="0" rtlCol="0" anchor="t"/>
          <a:lstStyle/>
          <a:p>
            <a:pPr indent="0" marL="0">
              <a:buNone/>
            </a:pPr>
            <a:r>
              <a:rPr lang="en-US" sz="1400" dirty="0">
                <a:solidFill>
                  <a:schemeClr val="tx2"/>
                </a:solidFill>
              </a:rPr>
              <a:t>Sampling params deprecated; adaptive thinking only; effort gains xhigh</a:t>
            </a:r>
            <a:endParaRPr lang="en-US" sz="1400" dirty="0"/>
          </a:p>
        </p:txBody>
      </p:sp>
      <p:sp>
        <p:nvSpPr>
          <p:cNvPr id="13" name="milestone"/>
          <p:cNvSpPr/>
          <p:nvPr/>
        </p:nvSpPr>
        <p:spPr>
          <a:xfrm>
            <a:off x="8915400" y="2212848"/>
            <a:ext cx="329184" cy="329184"/>
          </a:xfrm>
          <a:prstGeom prst="ellipse">
            <a:avLst/>
          </a:prstGeom>
          <a:solidFill>
            <a:schemeClr val="accent3"/>
          </a:solidFill>
          <a:ln w="25400">
            <a:solidFill>
              <a:schemeClr val="bg1"/>
            </a:solidFill>
            <a:prstDash val="solid"/>
          </a:ln>
        </p:spPr>
      </p:sp>
      <p:sp>
        <p:nvSpPr>
          <p:cNvPr id="14" name="Text 12"/>
          <p:cNvSpPr txBox="1"/>
          <p:nvPr/>
        </p:nvSpPr>
        <p:spPr>
          <a:xfrm>
            <a:off x="8915400" y="1417320"/>
            <a:ext cx="2560320" cy="640080"/>
          </a:xfrm>
          <a:prstGeom prst="rect">
            <a:avLst/>
          </a:prstGeom>
          <a:noFill/>
          <a:ln/>
        </p:spPr>
        <p:txBody>
          <a:bodyPr wrap="square" lIns="0" tIns="0" rIns="0" bIns="0" rtlCol="0" anchor="b"/>
          <a:lstStyle/>
          <a:p>
            <a:pPr indent="0" marL="0">
              <a:buNone/>
            </a:pPr>
            <a:r>
              <a:rPr lang="en-US" sz="1600" b="1" dirty="0">
                <a:solidFill>
                  <a:schemeClr val="tx1"/>
                </a:solidFill>
              </a:rPr>
              <a:t>Opus 5.5 · Sonnet 5</a:t>
            </a:r>
            <a:endParaRPr lang="en-US" sz="1600" dirty="0"/>
          </a:p>
        </p:txBody>
      </p:sp>
      <p:sp>
        <p:nvSpPr>
          <p:cNvPr id="15" name="Text 13"/>
          <p:cNvSpPr txBox="1"/>
          <p:nvPr/>
        </p:nvSpPr>
        <p:spPr>
          <a:xfrm>
            <a:off x="8915400" y="2743200"/>
            <a:ext cx="2514600" cy="1005840"/>
          </a:xfrm>
          <a:prstGeom prst="rect">
            <a:avLst/>
          </a:prstGeom>
          <a:noFill/>
          <a:ln/>
        </p:spPr>
        <p:txBody>
          <a:bodyPr wrap="square" lIns="0" tIns="0" rIns="0" bIns="0" rtlCol="0" anchor="t"/>
          <a:lstStyle/>
          <a:p>
            <a:pPr indent="0" marL="0">
              <a:buNone/>
            </a:pPr>
            <a:r>
              <a:rPr lang="en-US" sz="1400" dirty="0">
                <a:solidFill>
                  <a:schemeClr val="tx2"/>
                </a:solidFill>
              </a:rPr>
              <a:t>Sampling params return HTTP 400. Thinking always on; effort is the dial</a:t>
            </a:r>
            <a:endParaRPr lang="en-US" sz="1400" dirty="0"/>
          </a:p>
        </p:txBody>
      </p:sp>
      <p:sp>
        <p:nvSpPr>
          <p:cNvPr id="16" name="card"/>
          <p:cNvSpPr/>
          <p:nvPr/>
        </p:nvSpPr>
        <p:spPr>
          <a:xfrm>
            <a:off x="548640" y="4069080"/>
            <a:ext cx="11064240" cy="1965960"/>
          </a:xfrm>
          <a:prstGeom prst="roundRect">
            <a:avLst>
              <a:gd name="adj" fmla="val 3721"/>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17" name="icon circle"/>
          <p:cNvSpPr/>
          <p:nvPr/>
        </p:nvSpPr>
        <p:spPr>
          <a:xfrm>
            <a:off x="822960" y="4343400"/>
            <a:ext cx="731520" cy="731520"/>
          </a:xfrm>
          <a:prstGeom prst="ellipse">
            <a:avLst/>
          </a:prstGeom>
          <a:solidFill>
            <a:schemeClr val="accent1"/>
          </a:solidFill>
          <a:ln w="12700">
            <a:solidFill>
              <a:schemeClr val="accent1"/>
            </a:solidFill>
            <a:prstDash val="solid"/>
          </a:ln>
        </p:spPr>
      </p:sp>
      <p:pic>
        <p:nvPicPr>
          <p:cNvPr id="18" name="Image 0" descr="Lightbulb icon">    </p:cNvPr>
          <p:cNvPicPr>
            <a:picLocks noChangeAspect="1"/>
          </p:cNvPicPr>
          <p:nvPr/>
        </p:nvPicPr>
        <p:blipFill>
          <a:blip r:embed="rId1"/>
          <a:stretch>
            <a:fillRect/>
          </a:stretch>
        </p:blipFill>
        <p:spPr>
          <a:xfrm>
            <a:off x="1005840" y="4526280"/>
            <a:ext cx="365760" cy="365760"/>
          </a:xfrm>
          <a:prstGeom prst="rect">
            <a:avLst/>
          </a:prstGeom>
        </p:spPr>
      </p:pic>
      <p:sp>
        <p:nvSpPr>
          <p:cNvPr id="19" name="Text 16"/>
          <p:cNvSpPr txBox="1"/>
          <p:nvPr/>
        </p:nvSpPr>
        <p:spPr>
          <a:xfrm>
            <a:off x="1828800" y="4297680"/>
            <a:ext cx="9144000" cy="365760"/>
          </a:xfrm>
          <a:prstGeom prst="rect">
            <a:avLst/>
          </a:prstGeom>
          <a:noFill/>
          <a:ln/>
        </p:spPr>
        <p:txBody>
          <a:bodyPr wrap="square" lIns="0" tIns="0" rIns="0" bIns="0" rtlCol="0" anchor="t"/>
          <a:lstStyle/>
          <a:p>
            <a:pPr indent="0" marL="0">
              <a:buNone/>
            </a:pPr>
            <a:r>
              <a:rPr lang="en-US" sz="1800" b="1" dirty="0">
                <a:solidFill>
                  <a:schemeClr val="tx1"/>
                </a:solidFill>
              </a:rPr>
              <a:t>What to do instead</a:t>
            </a:r>
            <a:endParaRPr lang="en-US" sz="1800" dirty="0"/>
          </a:p>
        </p:txBody>
      </p:sp>
      <p:sp>
        <p:nvSpPr>
          <p:cNvPr id="20" name="Text 17"/>
          <p:cNvSpPr txBox="1"/>
          <p:nvPr/>
        </p:nvSpPr>
        <p:spPr>
          <a:xfrm>
            <a:off x="1828800" y="4709160"/>
            <a:ext cx="9509760" cy="1234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Want consistent output? Give a fixed format, examples and structured outputs (a JSON schema). Even temperature 0 never guaranteed identical answers.</a:t>
            </a:r>
            <a:endParaRPr lang="en-US" sz="1400" dirty="0"/>
          </a:p>
          <a:p>
            <a:pPr marL="342900" indent="-342900">
              <a:spcAft>
                <a:spcPts val="600"/>
              </a:spcAft>
              <a:buSzPct val="100000"/>
              <a:buChar char="•"/>
            </a:pPr>
            <a:r>
              <a:rPr lang="en-US" sz="1400" dirty="0">
                <a:solidFill>
                  <a:schemeClr val="tx2"/>
                </a:solidFill>
              </a:rPr>
              <a:t>Want variety? Ask for it: “Give 5 very different options”, or say who the audience is and what tone to take.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Effort: the dial that replaced the sampling sliders</a:t>
            </a:r>
            <a:endParaRPr lang="en-US" sz="3200" dirty="0"/>
          </a:p>
        </p:txBody>
      </p:sp>
      <p:sp>
        <p:nvSpPr>
          <p:cNvPr id="3" name="effort bar"/>
          <p:cNvSpPr/>
          <p:nvPr/>
        </p:nvSpPr>
        <p:spPr>
          <a:xfrm>
            <a:off x="548640" y="1463040"/>
            <a:ext cx="310896" cy="457200"/>
          </a:xfrm>
          <a:prstGeom prst="roundRect">
            <a:avLst>
              <a:gd name="adj" fmla="val 11765"/>
            </a:avLst>
          </a:prstGeom>
          <a:solidFill>
            <a:schemeClr val="accent2"/>
          </a:solidFill>
          <a:ln w="12700">
            <a:solidFill>
              <a:schemeClr val="accent2"/>
            </a:solidFill>
            <a:prstDash val="solid"/>
          </a:ln>
        </p:spPr>
      </p:sp>
      <p:sp>
        <p:nvSpPr>
          <p:cNvPr id="4" name="effort bar"/>
          <p:cNvSpPr/>
          <p:nvPr/>
        </p:nvSpPr>
        <p:spPr>
          <a:xfrm>
            <a:off x="932688" y="1463040"/>
            <a:ext cx="310896" cy="457200"/>
          </a:xfrm>
          <a:prstGeom prst="roundRect">
            <a:avLst>
              <a:gd name="adj" fmla="val 11765"/>
            </a:avLst>
          </a:prstGeom>
          <a:solidFill>
            <a:schemeClr val="accent6"/>
          </a:solidFill>
          <a:ln w="12700">
            <a:solidFill>
              <a:schemeClr val="accent6"/>
            </a:solidFill>
            <a:prstDash val="solid"/>
          </a:ln>
        </p:spPr>
      </p:sp>
      <p:sp>
        <p:nvSpPr>
          <p:cNvPr id="5" name="effort bar"/>
          <p:cNvSpPr/>
          <p:nvPr/>
        </p:nvSpPr>
        <p:spPr>
          <a:xfrm>
            <a:off x="1316736" y="1463040"/>
            <a:ext cx="310896" cy="457200"/>
          </a:xfrm>
          <a:prstGeom prst="roundRect">
            <a:avLst>
              <a:gd name="adj" fmla="val 11765"/>
            </a:avLst>
          </a:prstGeom>
          <a:solidFill>
            <a:schemeClr val="accent6"/>
          </a:solidFill>
          <a:ln w="12700">
            <a:solidFill>
              <a:schemeClr val="accent6"/>
            </a:solidFill>
            <a:prstDash val="solid"/>
          </a:ln>
        </p:spPr>
      </p:sp>
      <p:sp>
        <p:nvSpPr>
          <p:cNvPr id="6" name="effort bar"/>
          <p:cNvSpPr/>
          <p:nvPr/>
        </p:nvSpPr>
        <p:spPr>
          <a:xfrm>
            <a:off x="1700784" y="1463040"/>
            <a:ext cx="310896" cy="457200"/>
          </a:xfrm>
          <a:prstGeom prst="roundRect">
            <a:avLst>
              <a:gd name="adj" fmla="val 11765"/>
            </a:avLst>
          </a:prstGeom>
          <a:solidFill>
            <a:schemeClr val="accent6"/>
          </a:solidFill>
          <a:ln w="12700">
            <a:solidFill>
              <a:schemeClr val="accent6"/>
            </a:solidFill>
            <a:prstDash val="solid"/>
          </a:ln>
        </p:spPr>
      </p:sp>
      <p:sp>
        <p:nvSpPr>
          <p:cNvPr id="7" name="effort bar"/>
          <p:cNvSpPr/>
          <p:nvPr/>
        </p:nvSpPr>
        <p:spPr>
          <a:xfrm>
            <a:off x="2084832" y="1463040"/>
            <a:ext cx="310896" cy="457200"/>
          </a:xfrm>
          <a:prstGeom prst="roundRect">
            <a:avLst>
              <a:gd name="adj" fmla="val 11765"/>
            </a:avLst>
          </a:prstGeom>
          <a:solidFill>
            <a:schemeClr val="accent6"/>
          </a:solidFill>
          <a:ln w="12700">
            <a:solidFill>
              <a:schemeClr val="accent6"/>
            </a:solidFill>
            <a:prstDash val="solid"/>
          </a:ln>
        </p:spPr>
      </p:sp>
      <p:sp>
        <p:nvSpPr>
          <p:cNvPr id="8" name="Text 6"/>
          <p:cNvSpPr txBox="1"/>
          <p:nvPr/>
        </p:nvSpPr>
        <p:spPr>
          <a:xfrm>
            <a:off x="548640" y="2057400"/>
            <a:ext cx="2011680" cy="411480"/>
          </a:xfrm>
          <a:prstGeom prst="rect">
            <a:avLst/>
          </a:prstGeom>
          <a:noFill/>
          <a:ln/>
        </p:spPr>
        <p:txBody>
          <a:bodyPr wrap="square" lIns="0" tIns="0" rIns="0" bIns="0" rtlCol="0" anchor="t"/>
          <a:lstStyle/>
          <a:p>
            <a:pPr indent="0" marL="0">
              <a:buNone/>
            </a:pPr>
            <a:r>
              <a:rPr lang="en-US" sz="2000" b="1" dirty="0">
                <a:solidFill>
                  <a:schemeClr val="tx1"/>
                </a:solidFill>
                <a:latin typeface="Courier New" pitchFamily="34" charset="0"/>
                <a:ea typeface="Courier New" pitchFamily="34" charset="-122"/>
                <a:cs typeface="Courier New" pitchFamily="34" charset="-120"/>
              </a:rPr>
              <a:t>low</a:t>
            </a:r>
            <a:endParaRPr lang="en-US" sz="2000" dirty="0"/>
          </a:p>
        </p:txBody>
      </p:sp>
      <p:sp>
        <p:nvSpPr>
          <p:cNvPr id="9" name="Text 7"/>
          <p:cNvSpPr txBox="1"/>
          <p:nvPr/>
        </p:nvSpPr>
        <p:spPr>
          <a:xfrm>
            <a:off x="548640" y="2514600"/>
            <a:ext cx="2011680" cy="914400"/>
          </a:xfrm>
          <a:prstGeom prst="rect">
            <a:avLst/>
          </a:prstGeom>
          <a:noFill/>
          <a:ln/>
        </p:spPr>
        <p:txBody>
          <a:bodyPr wrap="square" lIns="0" tIns="0" rIns="0" bIns="0" rtlCol="0" anchor="t"/>
          <a:lstStyle/>
          <a:p>
            <a:pPr indent="0" marL="0">
              <a:buNone/>
            </a:pPr>
            <a:r>
              <a:rPr lang="en-US" sz="1400" dirty="0">
                <a:solidFill>
                  <a:schemeClr val="tx2"/>
                </a:solidFill>
              </a:rPr>
              <a:t>Fast and cheap. Simple lookups, classification, chat</a:t>
            </a:r>
            <a:endParaRPr lang="en-US" sz="1400" dirty="0"/>
          </a:p>
        </p:txBody>
      </p:sp>
      <p:sp>
        <p:nvSpPr>
          <p:cNvPr id="10" name="effort bar"/>
          <p:cNvSpPr/>
          <p:nvPr/>
        </p:nvSpPr>
        <p:spPr>
          <a:xfrm>
            <a:off x="2798064" y="1463040"/>
            <a:ext cx="310896" cy="457200"/>
          </a:xfrm>
          <a:prstGeom prst="roundRect">
            <a:avLst>
              <a:gd name="adj" fmla="val 11765"/>
            </a:avLst>
          </a:prstGeom>
          <a:solidFill>
            <a:schemeClr val="accent2"/>
          </a:solidFill>
          <a:ln w="12700">
            <a:solidFill>
              <a:schemeClr val="accent2"/>
            </a:solidFill>
            <a:prstDash val="solid"/>
          </a:ln>
        </p:spPr>
      </p:sp>
      <p:sp>
        <p:nvSpPr>
          <p:cNvPr id="11" name="effort bar"/>
          <p:cNvSpPr/>
          <p:nvPr/>
        </p:nvSpPr>
        <p:spPr>
          <a:xfrm>
            <a:off x="3182112" y="1463040"/>
            <a:ext cx="310896" cy="457200"/>
          </a:xfrm>
          <a:prstGeom prst="roundRect">
            <a:avLst>
              <a:gd name="adj" fmla="val 11765"/>
            </a:avLst>
          </a:prstGeom>
          <a:solidFill>
            <a:schemeClr val="accent2"/>
          </a:solidFill>
          <a:ln w="12700">
            <a:solidFill>
              <a:schemeClr val="accent2"/>
            </a:solidFill>
            <a:prstDash val="solid"/>
          </a:ln>
        </p:spPr>
      </p:sp>
      <p:sp>
        <p:nvSpPr>
          <p:cNvPr id="12" name="effort bar"/>
          <p:cNvSpPr/>
          <p:nvPr/>
        </p:nvSpPr>
        <p:spPr>
          <a:xfrm>
            <a:off x="3566160" y="1463040"/>
            <a:ext cx="310896" cy="457200"/>
          </a:xfrm>
          <a:prstGeom prst="roundRect">
            <a:avLst>
              <a:gd name="adj" fmla="val 11765"/>
            </a:avLst>
          </a:prstGeom>
          <a:solidFill>
            <a:schemeClr val="accent6"/>
          </a:solidFill>
          <a:ln w="12700">
            <a:solidFill>
              <a:schemeClr val="accent6"/>
            </a:solidFill>
            <a:prstDash val="solid"/>
          </a:ln>
        </p:spPr>
      </p:sp>
      <p:sp>
        <p:nvSpPr>
          <p:cNvPr id="13" name="effort bar"/>
          <p:cNvSpPr/>
          <p:nvPr/>
        </p:nvSpPr>
        <p:spPr>
          <a:xfrm>
            <a:off x="3950208" y="1463040"/>
            <a:ext cx="310896" cy="457200"/>
          </a:xfrm>
          <a:prstGeom prst="roundRect">
            <a:avLst>
              <a:gd name="adj" fmla="val 11765"/>
            </a:avLst>
          </a:prstGeom>
          <a:solidFill>
            <a:schemeClr val="accent6"/>
          </a:solidFill>
          <a:ln w="12700">
            <a:solidFill>
              <a:schemeClr val="accent6"/>
            </a:solidFill>
            <a:prstDash val="solid"/>
          </a:ln>
        </p:spPr>
      </p:sp>
      <p:sp>
        <p:nvSpPr>
          <p:cNvPr id="14" name="effort bar"/>
          <p:cNvSpPr/>
          <p:nvPr/>
        </p:nvSpPr>
        <p:spPr>
          <a:xfrm>
            <a:off x="4334256" y="1463040"/>
            <a:ext cx="310896" cy="457200"/>
          </a:xfrm>
          <a:prstGeom prst="roundRect">
            <a:avLst>
              <a:gd name="adj" fmla="val 11765"/>
            </a:avLst>
          </a:prstGeom>
          <a:solidFill>
            <a:schemeClr val="accent6"/>
          </a:solidFill>
          <a:ln w="12700">
            <a:solidFill>
              <a:schemeClr val="accent6"/>
            </a:solidFill>
            <a:prstDash val="solid"/>
          </a:ln>
        </p:spPr>
      </p:sp>
      <p:sp>
        <p:nvSpPr>
          <p:cNvPr id="15" name="Text 13"/>
          <p:cNvSpPr txBox="1"/>
          <p:nvPr/>
        </p:nvSpPr>
        <p:spPr>
          <a:xfrm>
            <a:off x="2798064" y="2057400"/>
            <a:ext cx="2011680" cy="411480"/>
          </a:xfrm>
          <a:prstGeom prst="rect">
            <a:avLst/>
          </a:prstGeom>
          <a:noFill/>
          <a:ln/>
        </p:spPr>
        <p:txBody>
          <a:bodyPr wrap="square" lIns="0" tIns="0" rIns="0" bIns="0" rtlCol="0" anchor="t"/>
          <a:lstStyle/>
          <a:p>
            <a:pPr indent="0" marL="0">
              <a:buNone/>
            </a:pPr>
            <a:r>
              <a:rPr lang="en-US" sz="2000" b="1" dirty="0">
                <a:solidFill>
                  <a:schemeClr val="tx1"/>
                </a:solidFill>
                <a:latin typeface="Courier New" pitchFamily="34" charset="0"/>
                <a:ea typeface="Courier New" pitchFamily="34" charset="-122"/>
                <a:cs typeface="Courier New" pitchFamily="34" charset="-120"/>
              </a:rPr>
              <a:t>medium</a:t>
            </a:r>
            <a:endParaRPr lang="en-US" sz="2000" dirty="0"/>
          </a:p>
        </p:txBody>
      </p:sp>
      <p:sp>
        <p:nvSpPr>
          <p:cNvPr id="16" name="Text 14"/>
          <p:cNvSpPr txBox="1"/>
          <p:nvPr/>
        </p:nvSpPr>
        <p:spPr>
          <a:xfrm>
            <a:off x="2798064" y="2514600"/>
            <a:ext cx="2011680" cy="914400"/>
          </a:xfrm>
          <a:prstGeom prst="rect">
            <a:avLst/>
          </a:prstGeom>
          <a:noFill/>
          <a:ln/>
        </p:spPr>
        <p:txBody>
          <a:bodyPr wrap="square" lIns="0" tIns="0" rIns="0" bIns="0" rtlCol="0" anchor="t"/>
          <a:lstStyle/>
          <a:p>
            <a:pPr indent="0" marL="0">
              <a:buNone/>
            </a:pPr>
            <a:r>
              <a:rPr lang="en-US" sz="1400" dirty="0">
                <a:solidFill>
                  <a:schemeClr val="tx2"/>
                </a:solidFill>
              </a:rPr>
              <a:t>Default on Opus 5.5. Most everyday work</a:t>
            </a:r>
            <a:endParaRPr lang="en-US" sz="1400" dirty="0"/>
          </a:p>
        </p:txBody>
      </p:sp>
      <p:sp>
        <p:nvSpPr>
          <p:cNvPr id="17" name="effort bar"/>
          <p:cNvSpPr/>
          <p:nvPr/>
        </p:nvSpPr>
        <p:spPr>
          <a:xfrm>
            <a:off x="5047488" y="1463040"/>
            <a:ext cx="310896" cy="457200"/>
          </a:xfrm>
          <a:prstGeom prst="roundRect">
            <a:avLst>
              <a:gd name="adj" fmla="val 11765"/>
            </a:avLst>
          </a:prstGeom>
          <a:solidFill>
            <a:schemeClr val="accent3"/>
          </a:solidFill>
          <a:ln w="12700">
            <a:solidFill>
              <a:schemeClr val="accent3"/>
            </a:solidFill>
            <a:prstDash val="solid"/>
          </a:ln>
        </p:spPr>
      </p:sp>
      <p:sp>
        <p:nvSpPr>
          <p:cNvPr id="18" name="effort bar"/>
          <p:cNvSpPr/>
          <p:nvPr/>
        </p:nvSpPr>
        <p:spPr>
          <a:xfrm>
            <a:off x="5431536" y="1463040"/>
            <a:ext cx="310896" cy="457200"/>
          </a:xfrm>
          <a:prstGeom prst="roundRect">
            <a:avLst>
              <a:gd name="adj" fmla="val 11765"/>
            </a:avLst>
          </a:prstGeom>
          <a:solidFill>
            <a:schemeClr val="accent3"/>
          </a:solidFill>
          <a:ln w="12700">
            <a:solidFill>
              <a:schemeClr val="accent3"/>
            </a:solidFill>
            <a:prstDash val="solid"/>
          </a:ln>
        </p:spPr>
      </p:sp>
      <p:sp>
        <p:nvSpPr>
          <p:cNvPr id="19" name="effort bar"/>
          <p:cNvSpPr/>
          <p:nvPr/>
        </p:nvSpPr>
        <p:spPr>
          <a:xfrm>
            <a:off x="5815584" y="1463040"/>
            <a:ext cx="310896" cy="457200"/>
          </a:xfrm>
          <a:prstGeom prst="roundRect">
            <a:avLst>
              <a:gd name="adj" fmla="val 11765"/>
            </a:avLst>
          </a:prstGeom>
          <a:solidFill>
            <a:schemeClr val="accent3"/>
          </a:solidFill>
          <a:ln w="12700">
            <a:solidFill>
              <a:schemeClr val="accent3"/>
            </a:solidFill>
            <a:prstDash val="solid"/>
          </a:ln>
        </p:spPr>
      </p:sp>
      <p:sp>
        <p:nvSpPr>
          <p:cNvPr id="20" name="effort bar"/>
          <p:cNvSpPr/>
          <p:nvPr/>
        </p:nvSpPr>
        <p:spPr>
          <a:xfrm>
            <a:off x="6199632" y="1463040"/>
            <a:ext cx="310896" cy="457200"/>
          </a:xfrm>
          <a:prstGeom prst="roundRect">
            <a:avLst>
              <a:gd name="adj" fmla="val 11765"/>
            </a:avLst>
          </a:prstGeom>
          <a:solidFill>
            <a:schemeClr val="accent6"/>
          </a:solidFill>
          <a:ln w="12700">
            <a:solidFill>
              <a:schemeClr val="accent6"/>
            </a:solidFill>
            <a:prstDash val="solid"/>
          </a:ln>
        </p:spPr>
      </p:sp>
      <p:sp>
        <p:nvSpPr>
          <p:cNvPr id="21" name="effort bar"/>
          <p:cNvSpPr/>
          <p:nvPr/>
        </p:nvSpPr>
        <p:spPr>
          <a:xfrm>
            <a:off x="6583680" y="1463040"/>
            <a:ext cx="310896" cy="457200"/>
          </a:xfrm>
          <a:prstGeom prst="roundRect">
            <a:avLst>
              <a:gd name="adj" fmla="val 11765"/>
            </a:avLst>
          </a:prstGeom>
          <a:solidFill>
            <a:schemeClr val="accent6"/>
          </a:solidFill>
          <a:ln w="12700">
            <a:solidFill>
              <a:schemeClr val="accent6"/>
            </a:solidFill>
            <a:prstDash val="solid"/>
          </a:ln>
        </p:spPr>
      </p:sp>
      <p:sp>
        <p:nvSpPr>
          <p:cNvPr id="22" name="Text 20"/>
          <p:cNvSpPr txBox="1"/>
          <p:nvPr/>
        </p:nvSpPr>
        <p:spPr>
          <a:xfrm>
            <a:off x="5047488" y="2057400"/>
            <a:ext cx="2011680" cy="411480"/>
          </a:xfrm>
          <a:prstGeom prst="rect">
            <a:avLst/>
          </a:prstGeom>
          <a:noFill/>
          <a:ln/>
        </p:spPr>
        <p:txBody>
          <a:bodyPr wrap="square" lIns="0" tIns="0" rIns="0" bIns="0" rtlCol="0" anchor="t"/>
          <a:lstStyle/>
          <a:p>
            <a:pPr indent="0" marL="0">
              <a:buNone/>
            </a:pPr>
            <a:r>
              <a:rPr lang="en-US" sz="2000" b="1" dirty="0">
                <a:solidFill>
                  <a:schemeClr val="tx1"/>
                </a:solidFill>
                <a:latin typeface="Courier New" pitchFamily="34" charset="0"/>
                <a:ea typeface="Courier New" pitchFamily="34" charset="-122"/>
                <a:cs typeface="Courier New" pitchFamily="34" charset="-120"/>
              </a:rPr>
              <a:t>high</a:t>
            </a:r>
            <a:endParaRPr lang="en-US" sz="2000" dirty="0"/>
          </a:p>
        </p:txBody>
      </p:sp>
      <p:sp>
        <p:nvSpPr>
          <p:cNvPr id="23" name="Text 21"/>
          <p:cNvSpPr txBox="1"/>
          <p:nvPr/>
        </p:nvSpPr>
        <p:spPr>
          <a:xfrm>
            <a:off x="5047488" y="2514600"/>
            <a:ext cx="2011680" cy="914400"/>
          </a:xfrm>
          <a:prstGeom prst="rect">
            <a:avLst/>
          </a:prstGeom>
          <a:noFill/>
          <a:ln/>
        </p:spPr>
        <p:txBody>
          <a:bodyPr wrap="square" lIns="0" tIns="0" rIns="0" bIns="0" rtlCol="0" anchor="t"/>
          <a:lstStyle/>
          <a:p>
            <a:pPr indent="0" marL="0">
              <a:buNone/>
            </a:pPr>
            <a:r>
              <a:rPr lang="en-US" sz="1400" dirty="0">
                <a:solidFill>
                  <a:schemeClr val="tx2"/>
                </a:solidFill>
              </a:rPr>
              <a:t>Default on most other models. Harder reasoning</a:t>
            </a:r>
            <a:endParaRPr lang="en-US" sz="1400" dirty="0"/>
          </a:p>
        </p:txBody>
      </p:sp>
      <p:sp>
        <p:nvSpPr>
          <p:cNvPr id="24" name="effort bar"/>
          <p:cNvSpPr/>
          <p:nvPr/>
        </p:nvSpPr>
        <p:spPr>
          <a:xfrm>
            <a:off x="7296912" y="1463040"/>
            <a:ext cx="310896" cy="457200"/>
          </a:xfrm>
          <a:prstGeom prst="roundRect">
            <a:avLst>
              <a:gd name="adj" fmla="val 11765"/>
            </a:avLst>
          </a:prstGeom>
          <a:solidFill>
            <a:schemeClr val="accent1"/>
          </a:solidFill>
          <a:ln w="12700">
            <a:solidFill>
              <a:schemeClr val="accent1"/>
            </a:solidFill>
            <a:prstDash val="solid"/>
          </a:ln>
        </p:spPr>
      </p:sp>
      <p:sp>
        <p:nvSpPr>
          <p:cNvPr id="25" name="effort bar"/>
          <p:cNvSpPr/>
          <p:nvPr/>
        </p:nvSpPr>
        <p:spPr>
          <a:xfrm>
            <a:off x="7680960" y="1463040"/>
            <a:ext cx="310896" cy="457200"/>
          </a:xfrm>
          <a:prstGeom prst="roundRect">
            <a:avLst>
              <a:gd name="adj" fmla="val 11765"/>
            </a:avLst>
          </a:prstGeom>
          <a:solidFill>
            <a:schemeClr val="accent1"/>
          </a:solidFill>
          <a:ln w="12700">
            <a:solidFill>
              <a:schemeClr val="accent1"/>
            </a:solidFill>
            <a:prstDash val="solid"/>
          </a:ln>
        </p:spPr>
      </p:sp>
      <p:sp>
        <p:nvSpPr>
          <p:cNvPr id="26" name="effort bar"/>
          <p:cNvSpPr/>
          <p:nvPr/>
        </p:nvSpPr>
        <p:spPr>
          <a:xfrm>
            <a:off x="8065008" y="1463040"/>
            <a:ext cx="310896" cy="457200"/>
          </a:xfrm>
          <a:prstGeom prst="roundRect">
            <a:avLst>
              <a:gd name="adj" fmla="val 11765"/>
            </a:avLst>
          </a:prstGeom>
          <a:solidFill>
            <a:schemeClr val="accent1"/>
          </a:solidFill>
          <a:ln w="12700">
            <a:solidFill>
              <a:schemeClr val="accent1"/>
            </a:solidFill>
            <a:prstDash val="solid"/>
          </a:ln>
        </p:spPr>
      </p:sp>
      <p:sp>
        <p:nvSpPr>
          <p:cNvPr id="27" name="effort bar"/>
          <p:cNvSpPr/>
          <p:nvPr/>
        </p:nvSpPr>
        <p:spPr>
          <a:xfrm>
            <a:off x="8449056" y="1463040"/>
            <a:ext cx="310896" cy="457200"/>
          </a:xfrm>
          <a:prstGeom prst="roundRect">
            <a:avLst>
              <a:gd name="adj" fmla="val 11765"/>
            </a:avLst>
          </a:prstGeom>
          <a:solidFill>
            <a:schemeClr val="accent1"/>
          </a:solidFill>
          <a:ln w="12700">
            <a:solidFill>
              <a:schemeClr val="accent1"/>
            </a:solidFill>
            <a:prstDash val="solid"/>
          </a:ln>
        </p:spPr>
      </p:sp>
      <p:sp>
        <p:nvSpPr>
          <p:cNvPr id="28" name="effort bar"/>
          <p:cNvSpPr/>
          <p:nvPr/>
        </p:nvSpPr>
        <p:spPr>
          <a:xfrm>
            <a:off x="8833104" y="1463040"/>
            <a:ext cx="310896" cy="457200"/>
          </a:xfrm>
          <a:prstGeom prst="roundRect">
            <a:avLst>
              <a:gd name="adj" fmla="val 11765"/>
            </a:avLst>
          </a:prstGeom>
          <a:solidFill>
            <a:schemeClr val="accent6"/>
          </a:solidFill>
          <a:ln w="12700">
            <a:solidFill>
              <a:schemeClr val="accent6"/>
            </a:solidFill>
            <a:prstDash val="solid"/>
          </a:ln>
        </p:spPr>
      </p:sp>
      <p:sp>
        <p:nvSpPr>
          <p:cNvPr id="29" name="Text 27"/>
          <p:cNvSpPr txBox="1"/>
          <p:nvPr/>
        </p:nvSpPr>
        <p:spPr>
          <a:xfrm>
            <a:off x="7296912" y="2057400"/>
            <a:ext cx="2011680" cy="411480"/>
          </a:xfrm>
          <a:prstGeom prst="rect">
            <a:avLst/>
          </a:prstGeom>
          <a:noFill/>
          <a:ln/>
        </p:spPr>
        <p:txBody>
          <a:bodyPr wrap="square" lIns="0" tIns="0" rIns="0" bIns="0" rtlCol="0" anchor="t"/>
          <a:lstStyle/>
          <a:p>
            <a:pPr indent="0" marL="0">
              <a:buNone/>
            </a:pPr>
            <a:r>
              <a:rPr lang="en-US" sz="2000" b="1" dirty="0">
                <a:solidFill>
                  <a:schemeClr val="tx1"/>
                </a:solidFill>
                <a:latin typeface="Courier New" pitchFamily="34" charset="0"/>
                <a:ea typeface="Courier New" pitchFamily="34" charset="-122"/>
                <a:cs typeface="Courier New" pitchFamily="34" charset="-120"/>
              </a:rPr>
              <a:t>xhigh</a:t>
            </a:r>
            <a:endParaRPr lang="en-US" sz="2000" dirty="0"/>
          </a:p>
        </p:txBody>
      </p:sp>
      <p:sp>
        <p:nvSpPr>
          <p:cNvPr id="30" name="Text 28"/>
          <p:cNvSpPr txBox="1"/>
          <p:nvPr/>
        </p:nvSpPr>
        <p:spPr>
          <a:xfrm>
            <a:off x="7296912" y="2514600"/>
            <a:ext cx="2011680" cy="914400"/>
          </a:xfrm>
          <a:prstGeom prst="rect">
            <a:avLst/>
          </a:prstGeom>
          <a:noFill/>
          <a:ln/>
        </p:spPr>
        <p:txBody>
          <a:bodyPr wrap="square" lIns="0" tIns="0" rIns="0" bIns="0" rtlCol="0" anchor="t"/>
          <a:lstStyle/>
          <a:p>
            <a:pPr indent="0" marL="0">
              <a:buNone/>
            </a:pPr>
            <a:r>
              <a:rPr lang="en-US" sz="1400" dirty="0">
                <a:solidFill>
                  <a:schemeClr val="tx2"/>
                </a:solidFill>
              </a:rPr>
              <a:t>Long exploration, tricky code, deep analysis</a:t>
            </a:r>
            <a:endParaRPr lang="en-US" sz="1400" dirty="0"/>
          </a:p>
        </p:txBody>
      </p:sp>
      <p:sp>
        <p:nvSpPr>
          <p:cNvPr id="31" name="effort bar"/>
          <p:cNvSpPr/>
          <p:nvPr/>
        </p:nvSpPr>
        <p:spPr>
          <a:xfrm>
            <a:off x="9546336" y="1463040"/>
            <a:ext cx="310896" cy="457200"/>
          </a:xfrm>
          <a:prstGeom prst="roundRect">
            <a:avLst>
              <a:gd name="adj" fmla="val 11765"/>
            </a:avLst>
          </a:prstGeom>
          <a:solidFill>
            <a:schemeClr val="accent1"/>
          </a:solidFill>
          <a:ln w="12700">
            <a:solidFill>
              <a:schemeClr val="accent1"/>
            </a:solidFill>
            <a:prstDash val="solid"/>
          </a:ln>
        </p:spPr>
      </p:sp>
      <p:sp>
        <p:nvSpPr>
          <p:cNvPr id="32" name="effort bar"/>
          <p:cNvSpPr/>
          <p:nvPr/>
        </p:nvSpPr>
        <p:spPr>
          <a:xfrm>
            <a:off x="9930384" y="1463040"/>
            <a:ext cx="310896" cy="457200"/>
          </a:xfrm>
          <a:prstGeom prst="roundRect">
            <a:avLst>
              <a:gd name="adj" fmla="val 11765"/>
            </a:avLst>
          </a:prstGeom>
          <a:solidFill>
            <a:schemeClr val="accent1"/>
          </a:solidFill>
          <a:ln w="12700">
            <a:solidFill>
              <a:schemeClr val="accent1"/>
            </a:solidFill>
            <a:prstDash val="solid"/>
          </a:ln>
        </p:spPr>
      </p:sp>
      <p:sp>
        <p:nvSpPr>
          <p:cNvPr id="33" name="effort bar"/>
          <p:cNvSpPr/>
          <p:nvPr/>
        </p:nvSpPr>
        <p:spPr>
          <a:xfrm>
            <a:off x="10314432" y="1463040"/>
            <a:ext cx="310896" cy="457200"/>
          </a:xfrm>
          <a:prstGeom prst="roundRect">
            <a:avLst>
              <a:gd name="adj" fmla="val 11765"/>
            </a:avLst>
          </a:prstGeom>
          <a:solidFill>
            <a:schemeClr val="accent1"/>
          </a:solidFill>
          <a:ln w="12700">
            <a:solidFill>
              <a:schemeClr val="accent1"/>
            </a:solidFill>
            <a:prstDash val="solid"/>
          </a:ln>
        </p:spPr>
      </p:sp>
      <p:sp>
        <p:nvSpPr>
          <p:cNvPr id="34" name="effort bar"/>
          <p:cNvSpPr/>
          <p:nvPr/>
        </p:nvSpPr>
        <p:spPr>
          <a:xfrm>
            <a:off x="10698480" y="1463040"/>
            <a:ext cx="310896" cy="457200"/>
          </a:xfrm>
          <a:prstGeom prst="roundRect">
            <a:avLst>
              <a:gd name="adj" fmla="val 11765"/>
            </a:avLst>
          </a:prstGeom>
          <a:solidFill>
            <a:schemeClr val="accent1"/>
          </a:solidFill>
          <a:ln w="12700">
            <a:solidFill>
              <a:schemeClr val="accent1"/>
            </a:solidFill>
            <a:prstDash val="solid"/>
          </a:ln>
        </p:spPr>
      </p:sp>
      <p:sp>
        <p:nvSpPr>
          <p:cNvPr id="35" name="effort bar"/>
          <p:cNvSpPr/>
          <p:nvPr/>
        </p:nvSpPr>
        <p:spPr>
          <a:xfrm>
            <a:off x="11082528" y="1463040"/>
            <a:ext cx="310896" cy="457200"/>
          </a:xfrm>
          <a:prstGeom prst="roundRect">
            <a:avLst>
              <a:gd name="adj" fmla="val 11765"/>
            </a:avLst>
          </a:prstGeom>
          <a:solidFill>
            <a:schemeClr val="accent1"/>
          </a:solidFill>
          <a:ln w="12700">
            <a:solidFill>
              <a:schemeClr val="accent1"/>
            </a:solidFill>
            <a:prstDash val="solid"/>
          </a:ln>
        </p:spPr>
      </p:sp>
      <p:sp>
        <p:nvSpPr>
          <p:cNvPr id="36" name="Text 34"/>
          <p:cNvSpPr txBox="1"/>
          <p:nvPr/>
        </p:nvSpPr>
        <p:spPr>
          <a:xfrm>
            <a:off x="9546336" y="2057400"/>
            <a:ext cx="2011680" cy="411480"/>
          </a:xfrm>
          <a:prstGeom prst="rect">
            <a:avLst/>
          </a:prstGeom>
          <a:noFill/>
          <a:ln/>
        </p:spPr>
        <p:txBody>
          <a:bodyPr wrap="square" lIns="0" tIns="0" rIns="0" bIns="0" rtlCol="0" anchor="t"/>
          <a:lstStyle/>
          <a:p>
            <a:pPr indent="0" marL="0">
              <a:buNone/>
            </a:pPr>
            <a:r>
              <a:rPr lang="en-US" sz="2000" b="1" dirty="0">
                <a:solidFill>
                  <a:schemeClr val="tx1"/>
                </a:solidFill>
                <a:latin typeface="Courier New" pitchFamily="34" charset="0"/>
                <a:ea typeface="Courier New" pitchFamily="34" charset="-122"/>
                <a:cs typeface="Courier New" pitchFamily="34" charset="-120"/>
              </a:rPr>
              <a:t>max</a:t>
            </a:r>
            <a:endParaRPr lang="en-US" sz="2000" dirty="0"/>
          </a:p>
        </p:txBody>
      </p:sp>
      <p:sp>
        <p:nvSpPr>
          <p:cNvPr id="37" name="Text 35"/>
          <p:cNvSpPr txBox="1"/>
          <p:nvPr/>
        </p:nvSpPr>
        <p:spPr>
          <a:xfrm>
            <a:off x="9546336" y="2514600"/>
            <a:ext cx="2011680" cy="914400"/>
          </a:xfrm>
          <a:prstGeom prst="rect">
            <a:avLst/>
          </a:prstGeom>
          <a:noFill/>
          <a:ln/>
        </p:spPr>
        <p:txBody>
          <a:bodyPr wrap="square" lIns="0" tIns="0" rIns="0" bIns="0" rtlCol="0" anchor="t"/>
          <a:lstStyle/>
          <a:p>
            <a:pPr indent="0" marL="0">
              <a:buNone/>
            </a:pPr>
            <a:r>
              <a:rPr lang="en-US" sz="1400" dirty="0">
                <a:solidFill>
                  <a:schemeClr val="tx2"/>
                </a:solidFill>
              </a:rPr>
              <a:t>No limit on thinking. Hardest problems only</a:t>
            </a:r>
            <a:endParaRPr lang="en-US" sz="1400" dirty="0"/>
          </a:p>
        </p:txBody>
      </p:sp>
      <p:sp>
        <p:nvSpPr>
          <p:cNvPr id="38" name="code panel"/>
          <p:cNvSpPr/>
          <p:nvPr/>
        </p:nvSpPr>
        <p:spPr>
          <a:xfrm>
            <a:off x="548640" y="3703320"/>
            <a:ext cx="5486400" cy="2331720"/>
          </a:xfrm>
          <a:prstGeom prst="roundRect">
            <a:avLst>
              <a:gd name="adj" fmla="val 3137"/>
            </a:avLst>
          </a:prstGeom>
          <a:solidFill>
            <a:schemeClr val="tx1"/>
          </a:solidFill>
          <a:ln w="12700">
            <a:solidFill>
              <a:schemeClr val="tx1"/>
            </a:solidFill>
            <a:prstDash val="solid"/>
          </a:ln>
        </p:spPr>
      </p:sp>
      <p:sp>
        <p:nvSpPr>
          <p:cNvPr id="39" name="Text 37"/>
          <p:cNvSpPr txBox="1"/>
          <p:nvPr/>
        </p:nvSpPr>
        <p:spPr>
          <a:xfrm>
            <a:off x="777240" y="3886200"/>
            <a:ext cx="5029200" cy="1965960"/>
          </a:xfrm>
          <a:prstGeom prst="rect">
            <a:avLst/>
          </a:prstGeom>
          <a:noFill/>
          <a:ln/>
        </p:spPr>
        <p:txBody>
          <a:bodyPr wrap="square" lIns="0" tIns="0" rIns="0" bIns="0" rtlCol="0" anchor="t"/>
          <a:lstStyle/>
          <a:p>
            <a:pPr indent="0" marL="0">
              <a:buNone/>
            </a:pPr>
            <a:r>
              <a:rPr lang="en-US" sz="1300" dirty="0">
                <a:solidFill>
                  <a:srgbClr val="E3E5EC"/>
                </a:solidFill>
                <a:latin typeface="Courier New" pitchFamily="34" charset="0"/>
                <a:ea typeface="Courier New" pitchFamily="34" charset="-122"/>
                <a:cs typeface="Courier New" pitchFamily="34" charset="-120"/>
              </a:rPr>
              <a:t>client.messages.create(</a:t>
            </a:r>
            <a:endParaRPr lang="en-US" sz="1300" dirty="0"/>
          </a:p>
          <a:p>
            <a:pPr indent="0" marL="0">
              <a:buNone/>
            </a:pPr>
            <a:r>
              <a:rPr lang="en-US" sz="1300" dirty="0">
                <a:solidFill>
                  <a:srgbClr val="E3E5EC"/>
                </a:solidFill>
                <a:latin typeface="Courier New" pitchFamily="34" charset="0"/>
                <a:ea typeface="Courier New" pitchFamily="34" charset="-122"/>
                <a:cs typeface="Courier New" pitchFamily="34" charset="-120"/>
              </a:rPr>
              <a:t>  model="claude-opus-5-5",</a:t>
            </a:r>
            <a:endParaRPr lang="en-US" sz="1300" dirty="0"/>
          </a:p>
          <a:p>
            <a:pPr indent="0" marL="0">
              <a:buNone/>
            </a:pPr>
            <a:r>
              <a:rPr lang="en-US" sz="1300" dirty="0">
                <a:solidFill>
                  <a:srgbClr val="E3E5EC"/>
                </a:solidFill>
                <a:latin typeface="Courier New" pitchFamily="34" charset="0"/>
                <a:ea typeface="Courier New" pitchFamily="34" charset="-122"/>
                <a:cs typeface="Courier New" pitchFamily="34" charset="-120"/>
              </a:rPr>
              <a:t>  max_tokens=64000,</a:t>
            </a:r>
            <a:endParaRPr lang="en-US" sz="1300" dirty="0"/>
          </a:p>
          <a:p>
            <a:pPr indent="0" marL="0">
              <a:buNone/>
            </a:pPr>
            <a:r>
              <a:rPr lang="en-US" sz="1300" dirty="0">
                <a:solidFill>
                  <a:srgbClr val="E3E5EC"/>
                </a:solidFill>
                <a:latin typeface="Courier New" pitchFamily="34" charset="0"/>
                <a:ea typeface="Courier New" pitchFamily="34" charset="-122"/>
                <a:cs typeface="Courier New" pitchFamily="34" charset="-120"/>
              </a:rPr>
              <a:t>  output_config={"effort": "high"},</a:t>
            </a:r>
            <a:endParaRPr lang="en-US" sz="1300" dirty="0"/>
          </a:p>
          <a:p>
            <a:pPr indent="0" marL="0">
              <a:buNone/>
            </a:pPr>
            <a:r>
              <a:rPr lang="en-US" sz="1300" dirty="0">
                <a:solidFill>
                  <a:srgbClr val="E3E5EC"/>
                </a:solidFill>
                <a:latin typeface="Courier New" pitchFamily="34" charset="0"/>
                <a:ea typeface="Courier New" pitchFamily="34" charset="-122"/>
                <a:cs typeface="Courier New" pitchFamily="34" charset="-120"/>
              </a:rPr>
              <a:t>  messages=[{"role": "user",</a:t>
            </a:r>
            <a:endParaRPr lang="en-US" sz="1300" dirty="0"/>
          </a:p>
          <a:p>
            <a:pPr indent="0" marL="0">
              <a:buNone/>
            </a:pPr>
            <a:r>
              <a:rPr lang="en-US" sz="1300" dirty="0">
                <a:solidFill>
                  <a:srgbClr val="E3E5EC"/>
                </a:solidFill>
                <a:latin typeface="Courier New" pitchFamily="34" charset="0"/>
                <a:ea typeface="Courier New" pitchFamily="34" charset="-122"/>
                <a:cs typeface="Courier New" pitchFamily="34" charset="-120"/>
              </a:rPr>
              <a:t>             "content": "..."}],</a:t>
            </a:r>
            <a:endParaRPr lang="en-US" sz="1300" dirty="0"/>
          </a:p>
          <a:p>
            <a:pPr indent="0" marL="0">
              <a:buNone/>
            </a:pPr>
            <a:r>
              <a:rPr lang="en-US" sz="1300" dirty="0">
                <a:solidFill>
                  <a:srgbClr val="E3E5EC"/>
                </a:solidFill>
                <a:latin typeface="Courier New" pitchFamily="34" charset="0"/>
                <a:ea typeface="Courier New" pitchFamily="34" charset="-122"/>
                <a:cs typeface="Courier New" pitchFamily="34" charset="-120"/>
              </a:rPr>
              <a:t>)</a:t>
            </a:r>
            <a:endParaRPr lang="en-US" sz="1300" dirty="0"/>
          </a:p>
        </p:txBody>
      </p:sp>
      <p:sp>
        <p:nvSpPr>
          <p:cNvPr id="40" name="card"/>
          <p:cNvSpPr/>
          <p:nvPr/>
        </p:nvSpPr>
        <p:spPr>
          <a:xfrm>
            <a:off x="6309360" y="3703320"/>
            <a:ext cx="5303520" cy="2331720"/>
          </a:xfrm>
          <a:prstGeom prst="roundRect">
            <a:avLst>
              <a:gd name="adj" fmla="val 3137"/>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41" name="Text 39"/>
          <p:cNvSpPr txBox="1"/>
          <p:nvPr/>
        </p:nvSpPr>
        <p:spPr>
          <a:xfrm>
            <a:off x="6583680" y="3886200"/>
            <a:ext cx="4846320" cy="320040"/>
          </a:xfrm>
          <a:prstGeom prst="rect">
            <a:avLst/>
          </a:prstGeom>
          <a:noFill/>
          <a:ln/>
        </p:spPr>
        <p:txBody>
          <a:bodyPr wrap="square" lIns="0" tIns="0" rIns="0" bIns="0" rtlCol="0" anchor="t"/>
          <a:lstStyle/>
          <a:p>
            <a:pPr indent="0" marL="0">
              <a:buNone/>
            </a:pPr>
            <a:r>
              <a:rPr lang="en-US" sz="1600" b="1" dirty="0">
                <a:solidFill>
                  <a:schemeClr val="tx1"/>
                </a:solidFill>
              </a:rPr>
              <a:t>Rules of thumb</a:t>
            </a:r>
            <a:endParaRPr lang="en-US" sz="1600" dirty="0"/>
          </a:p>
        </p:txBody>
      </p:sp>
      <p:sp>
        <p:nvSpPr>
          <p:cNvPr id="42" name="Text 40"/>
          <p:cNvSpPr txBox="1"/>
          <p:nvPr/>
        </p:nvSpPr>
        <p:spPr>
          <a:xfrm>
            <a:off x="6583680" y="4297680"/>
            <a:ext cx="484632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Higher effort = more thinking tokens, billed as output</a:t>
            </a:r>
            <a:endParaRPr lang="en-US" sz="1400" dirty="0"/>
          </a:p>
          <a:p>
            <a:pPr marL="342900" indent="-342900">
              <a:spcAft>
                <a:spcPts val="600"/>
              </a:spcAft>
              <a:buSzPct val="100000"/>
              <a:buChar char="•"/>
            </a:pPr>
            <a:r>
              <a:rPr lang="en-US" sz="1400" dirty="0">
                <a:solidFill>
                  <a:schemeClr val="tx2"/>
                </a:solidFill>
              </a:rPr>
              <a:t>Changing effort mid-conversation breaks the prompt cache</a:t>
            </a:r>
            <a:endParaRPr lang="en-US" sz="1400" dirty="0"/>
          </a:p>
          <a:p>
            <a:pPr marL="342900" indent="-342900">
              <a:spcAft>
                <a:spcPts val="600"/>
              </a:spcAft>
              <a:buSzPct val="100000"/>
              <a:buChar char="•"/>
            </a:pPr>
            <a:r>
              <a:rPr lang="en-US" sz="1400" dirty="0">
                <a:solidFill>
                  <a:schemeClr val="tx2"/>
                </a:solidFill>
              </a:rPr>
              <a:t>Hitting max_tokens? Raise it, or lower effort if it overthinks</a:t>
            </a:r>
            <a:endParaRPr lang="en-US" sz="1400" dirty="0"/>
          </a:p>
          <a:p>
            <a:pPr marL="342900" indent="-342900">
              <a:spcAft>
                <a:spcPts val="600"/>
              </a:spcAft>
              <a:buSzPct val="100000"/>
              <a:buChar char="•"/>
            </a:pPr>
            <a:r>
              <a:rPr lang="en-US" sz="1400" dirty="0">
                <a:solidFill>
                  <a:schemeClr val="tx2"/>
                </a:solidFill>
              </a:rPr>
              <a:t>Test on your own tasks; don’t copy settings between models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Context window vs max_tokens: one is fixed, one is yours</a:t>
            </a:r>
            <a:endParaRPr lang="en-US" sz="3200" dirty="0"/>
          </a:p>
        </p:txBody>
      </p:sp>
      <p:sp>
        <p:nvSpPr>
          <p:cNvPr id="3" name="Text 1"/>
          <p:cNvSpPr txBox="1"/>
          <p:nvPr/>
        </p:nvSpPr>
        <p:spPr>
          <a:xfrm>
            <a:off x="548640" y="1371600"/>
            <a:ext cx="10972800" cy="320040"/>
          </a:xfrm>
          <a:prstGeom prst="rect">
            <a:avLst/>
          </a:prstGeom>
          <a:noFill/>
          <a:ln/>
        </p:spPr>
        <p:txBody>
          <a:bodyPr wrap="square" lIns="0" tIns="0" rIns="0" bIns="0" rtlCol="0" anchor="t"/>
          <a:lstStyle/>
          <a:p>
            <a:pPr indent="0" marL="0">
              <a:buNone/>
            </a:pPr>
            <a:r>
              <a:rPr lang="en-US" sz="1400" b="1" dirty="0">
                <a:solidFill>
                  <a:schemeClr val="tx1"/>
                </a:solidFill>
              </a:rPr>
              <a:t>Everything below must fit in the context window (1M tokens on current models)</a:t>
            </a:r>
            <a:endParaRPr lang="en-US" sz="1400" dirty="0"/>
          </a:p>
        </p:txBody>
      </p:sp>
      <p:sp>
        <p:nvSpPr>
          <p:cNvPr id="4" name="context segment"/>
          <p:cNvSpPr/>
          <p:nvPr/>
        </p:nvSpPr>
        <p:spPr>
          <a:xfrm>
            <a:off x="548640" y="1783080"/>
            <a:ext cx="822960" cy="685800"/>
          </a:xfrm>
          <a:prstGeom prst="rect">
            <a:avLst/>
          </a:prstGeom>
          <a:solidFill>
            <a:schemeClr val="tx2"/>
          </a:solidFill>
          <a:ln w="25400">
            <a:solidFill>
              <a:schemeClr val="bg1"/>
            </a:solidFill>
            <a:prstDash val="solid"/>
          </a:ln>
        </p:spPr>
      </p:sp>
      <p:sp>
        <p:nvSpPr>
          <p:cNvPr id="5" name="Text 3"/>
          <p:cNvSpPr txBox="1"/>
          <p:nvPr/>
        </p:nvSpPr>
        <p:spPr>
          <a:xfrm>
            <a:off x="594360" y="1783080"/>
            <a:ext cx="731520" cy="685800"/>
          </a:xfrm>
          <a:prstGeom prst="rect">
            <a:avLst/>
          </a:prstGeom>
          <a:noFill/>
          <a:ln/>
        </p:spPr>
        <p:txBody>
          <a:bodyPr wrap="square" lIns="0" tIns="0" rIns="0" bIns="0" rtlCol="0" anchor="ctr"/>
          <a:lstStyle/>
          <a:p>
            <a:pPr algn="ctr" indent="0" marL="0">
              <a:buNone/>
            </a:pPr>
            <a:r>
              <a:rPr lang="en-US" sz="1300" dirty="0">
                <a:solidFill>
                  <a:schemeClr val="bg1"/>
                </a:solidFill>
              </a:rPr>
              <a:t>Tools</a:t>
            </a:r>
            <a:endParaRPr lang="en-US" sz="1300" dirty="0"/>
          </a:p>
        </p:txBody>
      </p:sp>
      <p:sp>
        <p:nvSpPr>
          <p:cNvPr id="6" name="context segment"/>
          <p:cNvSpPr/>
          <p:nvPr/>
        </p:nvSpPr>
        <p:spPr>
          <a:xfrm>
            <a:off x="1371600" y="1783080"/>
            <a:ext cx="1463040" cy="685800"/>
          </a:xfrm>
          <a:prstGeom prst="rect">
            <a:avLst/>
          </a:prstGeom>
          <a:solidFill>
            <a:schemeClr val="tx1"/>
          </a:solidFill>
          <a:ln w="25400">
            <a:solidFill>
              <a:schemeClr val="bg1"/>
            </a:solidFill>
            <a:prstDash val="solid"/>
          </a:ln>
        </p:spPr>
      </p:sp>
      <p:sp>
        <p:nvSpPr>
          <p:cNvPr id="7" name="Text 5"/>
          <p:cNvSpPr txBox="1"/>
          <p:nvPr/>
        </p:nvSpPr>
        <p:spPr>
          <a:xfrm>
            <a:off x="1417320" y="1783080"/>
            <a:ext cx="1371600" cy="685800"/>
          </a:xfrm>
          <a:prstGeom prst="rect">
            <a:avLst/>
          </a:prstGeom>
          <a:noFill/>
          <a:ln/>
        </p:spPr>
        <p:txBody>
          <a:bodyPr wrap="square" lIns="0" tIns="0" rIns="0" bIns="0" rtlCol="0" anchor="ctr"/>
          <a:lstStyle/>
          <a:p>
            <a:pPr algn="ctr" indent="0" marL="0">
              <a:buNone/>
            </a:pPr>
            <a:r>
              <a:rPr lang="en-US" sz="1300" dirty="0">
                <a:solidFill>
                  <a:schemeClr val="bg1"/>
                </a:solidFill>
              </a:rPr>
              <a:t>System prompt</a:t>
            </a:r>
            <a:endParaRPr lang="en-US" sz="1300" dirty="0"/>
          </a:p>
        </p:txBody>
      </p:sp>
      <p:sp>
        <p:nvSpPr>
          <p:cNvPr id="8" name="context segment"/>
          <p:cNvSpPr/>
          <p:nvPr/>
        </p:nvSpPr>
        <p:spPr>
          <a:xfrm>
            <a:off x="2834640" y="1783080"/>
            <a:ext cx="3566160" cy="685800"/>
          </a:xfrm>
          <a:prstGeom prst="rect">
            <a:avLst/>
          </a:prstGeom>
          <a:solidFill>
            <a:schemeClr val="accent3"/>
          </a:solidFill>
          <a:ln w="25400">
            <a:solidFill>
              <a:schemeClr val="bg1"/>
            </a:solidFill>
            <a:prstDash val="solid"/>
          </a:ln>
        </p:spPr>
      </p:sp>
      <p:sp>
        <p:nvSpPr>
          <p:cNvPr id="9" name="Text 7"/>
          <p:cNvSpPr txBox="1"/>
          <p:nvPr/>
        </p:nvSpPr>
        <p:spPr>
          <a:xfrm>
            <a:off x="2880360" y="1783080"/>
            <a:ext cx="3474720" cy="685800"/>
          </a:xfrm>
          <a:prstGeom prst="rect">
            <a:avLst/>
          </a:prstGeom>
          <a:noFill/>
          <a:ln/>
        </p:spPr>
        <p:txBody>
          <a:bodyPr wrap="square" lIns="0" tIns="0" rIns="0" bIns="0" rtlCol="0" anchor="ctr"/>
          <a:lstStyle/>
          <a:p>
            <a:pPr algn="ctr" indent="0" marL="0">
              <a:buNone/>
            </a:pPr>
            <a:r>
              <a:rPr lang="en-US" sz="1300" dirty="0">
                <a:solidFill>
                  <a:schemeClr val="bg1"/>
                </a:solidFill>
              </a:rPr>
              <a:t>Chat history + tool results</a:t>
            </a:r>
            <a:endParaRPr lang="en-US" sz="1300" dirty="0"/>
          </a:p>
        </p:txBody>
      </p:sp>
      <p:sp>
        <p:nvSpPr>
          <p:cNvPr id="10" name="context segment"/>
          <p:cNvSpPr/>
          <p:nvPr/>
        </p:nvSpPr>
        <p:spPr>
          <a:xfrm>
            <a:off x="6400800" y="1783080"/>
            <a:ext cx="2011680" cy="685800"/>
          </a:xfrm>
          <a:prstGeom prst="rect">
            <a:avLst/>
          </a:prstGeom>
          <a:solidFill>
            <a:schemeClr val="accent2"/>
          </a:solidFill>
          <a:ln w="25400">
            <a:solidFill>
              <a:schemeClr val="bg1"/>
            </a:solidFill>
            <a:prstDash val="solid"/>
          </a:ln>
        </p:spPr>
      </p:sp>
      <p:sp>
        <p:nvSpPr>
          <p:cNvPr id="11" name="Text 9"/>
          <p:cNvSpPr txBox="1"/>
          <p:nvPr/>
        </p:nvSpPr>
        <p:spPr>
          <a:xfrm>
            <a:off x="6446520" y="1783080"/>
            <a:ext cx="1920240" cy="685800"/>
          </a:xfrm>
          <a:prstGeom prst="rect">
            <a:avLst/>
          </a:prstGeom>
          <a:noFill/>
          <a:ln/>
        </p:spPr>
        <p:txBody>
          <a:bodyPr wrap="square" lIns="0" tIns="0" rIns="0" bIns="0" rtlCol="0" anchor="ctr"/>
          <a:lstStyle/>
          <a:p>
            <a:pPr algn="ctr" indent="0" marL="0">
              <a:buNone/>
            </a:pPr>
            <a:r>
              <a:rPr lang="en-US" sz="1300" dirty="0">
                <a:solidFill>
                  <a:schemeClr val="bg1"/>
                </a:solidFill>
              </a:rPr>
              <a:t>Files / images</a:t>
            </a:r>
            <a:endParaRPr lang="en-US" sz="1300" dirty="0"/>
          </a:p>
        </p:txBody>
      </p:sp>
      <p:sp>
        <p:nvSpPr>
          <p:cNvPr id="12" name="context segment"/>
          <p:cNvSpPr/>
          <p:nvPr/>
        </p:nvSpPr>
        <p:spPr>
          <a:xfrm>
            <a:off x="8412480" y="1783080"/>
            <a:ext cx="2468880" cy="685800"/>
          </a:xfrm>
          <a:prstGeom prst="rect">
            <a:avLst/>
          </a:prstGeom>
          <a:solidFill>
            <a:schemeClr val="accent1"/>
          </a:solidFill>
          <a:ln w="25400">
            <a:solidFill>
              <a:schemeClr val="bg1"/>
            </a:solidFill>
            <a:prstDash val="solid"/>
          </a:ln>
        </p:spPr>
      </p:sp>
      <p:sp>
        <p:nvSpPr>
          <p:cNvPr id="13" name="Text 11"/>
          <p:cNvSpPr txBox="1"/>
          <p:nvPr/>
        </p:nvSpPr>
        <p:spPr>
          <a:xfrm>
            <a:off x="8458200" y="1783080"/>
            <a:ext cx="2377440" cy="685800"/>
          </a:xfrm>
          <a:prstGeom prst="rect">
            <a:avLst/>
          </a:prstGeom>
          <a:noFill/>
          <a:ln/>
        </p:spPr>
        <p:txBody>
          <a:bodyPr wrap="square" lIns="0" tIns="0" rIns="0" bIns="0" rtlCol="0" anchor="ctr"/>
          <a:lstStyle/>
          <a:p>
            <a:pPr algn="ctr" indent="0" marL="0">
              <a:buNone/>
            </a:pPr>
            <a:r>
              <a:rPr lang="en-US" sz="1300" dirty="0">
                <a:solidFill>
                  <a:schemeClr val="bg1"/>
                </a:solidFill>
              </a:rPr>
              <a:t>Thinking + answer</a:t>
            </a:r>
            <a:endParaRPr lang="en-US" sz="1300" dirty="0"/>
          </a:p>
        </p:txBody>
      </p:sp>
      <p:sp>
        <p:nvSpPr>
          <p:cNvPr id="14" name="Text 12"/>
          <p:cNvSpPr txBox="1"/>
          <p:nvPr/>
        </p:nvSpPr>
        <p:spPr>
          <a:xfrm>
            <a:off x="8595360" y="2542032"/>
            <a:ext cx="3017520" cy="274320"/>
          </a:xfrm>
          <a:prstGeom prst="rect">
            <a:avLst/>
          </a:prstGeom>
          <a:noFill/>
          <a:ln/>
        </p:spPr>
        <p:txBody>
          <a:bodyPr wrap="square" lIns="0" tIns="0" rIns="0" bIns="0" rtlCol="0" anchor="t"/>
          <a:lstStyle/>
          <a:p>
            <a:pPr algn="r" indent="0" marL="0">
              <a:buNone/>
            </a:pPr>
            <a:r>
              <a:rPr lang="en-US" sz="1200" dirty="0">
                <a:solidFill>
                  <a:schemeClr val="accent1"/>
                </a:solidFill>
              </a:rPr>
              <a:t>↑ capped by max_tokens (up to 128k)</a:t>
            </a:r>
            <a:endParaRPr lang="en-US" sz="1200" dirty="0"/>
          </a:p>
        </p:txBody>
      </p:sp>
      <p:sp>
        <p:nvSpPr>
          <p:cNvPr id="15" name="card"/>
          <p:cNvSpPr/>
          <p:nvPr/>
        </p:nvSpPr>
        <p:spPr>
          <a:xfrm>
            <a:off x="548640" y="3108960"/>
            <a:ext cx="3529584" cy="2926080"/>
          </a:xfrm>
          <a:prstGeom prst="roundRect">
            <a:avLst>
              <a:gd name="adj" fmla="val 2500"/>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16" name="icon circle"/>
          <p:cNvSpPr/>
          <p:nvPr/>
        </p:nvSpPr>
        <p:spPr>
          <a:xfrm>
            <a:off x="822960" y="3383280"/>
            <a:ext cx="640080" cy="640080"/>
          </a:xfrm>
          <a:prstGeom prst="ellipse">
            <a:avLst/>
          </a:prstGeom>
          <a:solidFill>
            <a:schemeClr val="accent3"/>
          </a:solidFill>
          <a:ln w="12700">
            <a:solidFill>
              <a:schemeClr val="accent3"/>
            </a:solidFill>
            <a:prstDash val="solid"/>
          </a:ln>
        </p:spPr>
      </p:sp>
      <p:pic>
        <p:nvPicPr>
          <p:cNvPr id="17" name="Image 0" descr="Lock icon">    </p:cNvPr>
          <p:cNvPicPr>
            <a:picLocks noChangeAspect="1"/>
          </p:cNvPicPr>
          <p:nvPr/>
        </p:nvPicPr>
        <p:blipFill>
          <a:blip r:embed="rId1"/>
          <a:stretch>
            <a:fillRect/>
          </a:stretch>
        </p:blipFill>
        <p:spPr>
          <a:xfrm>
            <a:off x="982980" y="3543300"/>
            <a:ext cx="320040" cy="320040"/>
          </a:xfrm>
          <a:prstGeom prst="rect">
            <a:avLst/>
          </a:prstGeom>
        </p:spPr>
      </p:pic>
      <p:sp>
        <p:nvSpPr>
          <p:cNvPr id="18" name="Text 15"/>
          <p:cNvSpPr txBox="1"/>
          <p:nvPr/>
        </p:nvSpPr>
        <p:spPr>
          <a:xfrm>
            <a:off x="1645920" y="3456432"/>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Context window</a:t>
            </a:r>
            <a:endParaRPr lang="en-US" sz="1800" dirty="0"/>
          </a:p>
        </p:txBody>
      </p:sp>
      <p:sp>
        <p:nvSpPr>
          <p:cNvPr id="19" name="Text 16"/>
          <p:cNvSpPr txBox="1"/>
          <p:nvPr/>
        </p:nvSpPr>
        <p:spPr>
          <a:xfrm>
            <a:off x="822960" y="4206240"/>
            <a:ext cx="3017520" cy="1737360"/>
          </a:xfrm>
          <a:prstGeom prst="rect">
            <a:avLst/>
          </a:prstGeom>
          <a:noFill/>
          <a:ln/>
        </p:spPr>
        <p:txBody>
          <a:bodyPr wrap="square" lIns="0" tIns="0" rIns="0" bIns="0" rtlCol="0" anchor="t"/>
          <a:lstStyle/>
          <a:p>
            <a:pPr indent="0" marL="0">
              <a:buNone/>
            </a:pPr>
            <a:r>
              <a:rPr lang="en-US" sz="1400" dirty="0">
                <a:solidFill>
                  <a:schemeClr val="tx2"/>
                </a:solidFill>
              </a:rPr>
              <a:t>Set by the model, not by you. 1M tokens ≈ 750k words. Cached tokens still take up space.</a:t>
            </a:r>
            <a:endParaRPr lang="en-US" sz="1400" dirty="0"/>
          </a:p>
        </p:txBody>
      </p:sp>
      <p:sp>
        <p:nvSpPr>
          <p:cNvPr id="20" name="card"/>
          <p:cNvSpPr/>
          <p:nvPr/>
        </p:nvSpPr>
        <p:spPr>
          <a:xfrm>
            <a:off x="4279392" y="3108960"/>
            <a:ext cx="3529584" cy="2926080"/>
          </a:xfrm>
          <a:prstGeom prst="roundRect">
            <a:avLst>
              <a:gd name="adj" fmla="val 2500"/>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21" name="icon circle"/>
          <p:cNvSpPr/>
          <p:nvPr/>
        </p:nvSpPr>
        <p:spPr>
          <a:xfrm>
            <a:off x="4553712" y="3383280"/>
            <a:ext cx="640080" cy="640080"/>
          </a:xfrm>
          <a:prstGeom prst="ellipse">
            <a:avLst/>
          </a:prstGeom>
          <a:solidFill>
            <a:schemeClr val="accent1"/>
          </a:solidFill>
          <a:ln w="12700">
            <a:solidFill>
              <a:schemeClr val="accent1"/>
            </a:solidFill>
            <a:prstDash val="solid"/>
          </a:ln>
        </p:spPr>
      </p:sp>
      <p:pic>
        <p:nvPicPr>
          <p:cNvPr id="22" name="Image 1" descr="Scissors icon">    </p:cNvPr>
          <p:cNvPicPr>
            <a:picLocks noChangeAspect="1"/>
          </p:cNvPicPr>
          <p:nvPr/>
        </p:nvPicPr>
        <p:blipFill>
          <a:blip r:embed="rId2"/>
          <a:stretch>
            <a:fillRect/>
          </a:stretch>
        </p:blipFill>
        <p:spPr>
          <a:xfrm>
            <a:off x="4713732" y="3543300"/>
            <a:ext cx="320040" cy="320040"/>
          </a:xfrm>
          <a:prstGeom prst="rect">
            <a:avLst/>
          </a:prstGeom>
        </p:spPr>
      </p:pic>
      <p:sp>
        <p:nvSpPr>
          <p:cNvPr id="23" name="Text 19"/>
          <p:cNvSpPr txBox="1"/>
          <p:nvPr/>
        </p:nvSpPr>
        <p:spPr>
          <a:xfrm>
            <a:off x="5376672" y="3456432"/>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max_tokens</a:t>
            </a:r>
            <a:endParaRPr lang="en-US" sz="1800" dirty="0"/>
          </a:p>
        </p:txBody>
      </p:sp>
      <p:sp>
        <p:nvSpPr>
          <p:cNvPr id="24" name="Text 20"/>
          <p:cNvSpPr txBox="1"/>
          <p:nvPr/>
        </p:nvSpPr>
        <p:spPr>
          <a:xfrm>
            <a:off x="4553712" y="4206240"/>
            <a:ext cx="3017520" cy="1737360"/>
          </a:xfrm>
          <a:prstGeom prst="rect">
            <a:avLst/>
          </a:prstGeom>
          <a:noFill/>
          <a:ln/>
        </p:spPr>
        <p:txBody>
          <a:bodyPr wrap="square" lIns="0" tIns="0" rIns="0" bIns="0" rtlCol="0" anchor="t"/>
          <a:lstStyle/>
          <a:p>
            <a:pPr indent="0" marL="0">
              <a:buNone/>
            </a:pPr>
            <a:r>
              <a:rPr lang="en-US" sz="1400" dirty="0">
                <a:solidFill>
                  <a:schemeClr val="tx2"/>
                </a:solidFill>
              </a:rPr>
              <a:t>Your hard cap on output, including thinking. Too low → stop_reason "max_tokens" and a cut-off answer.</a:t>
            </a:r>
            <a:endParaRPr lang="en-US" sz="1400" dirty="0"/>
          </a:p>
        </p:txBody>
      </p:sp>
      <p:sp>
        <p:nvSpPr>
          <p:cNvPr id="25" name="card"/>
          <p:cNvSpPr/>
          <p:nvPr/>
        </p:nvSpPr>
        <p:spPr>
          <a:xfrm>
            <a:off x="8010144" y="3108960"/>
            <a:ext cx="3529584" cy="2926080"/>
          </a:xfrm>
          <a:prstGeom prst="roundRect">
            <a:avLst>
              <a:gd name="adj" fmla="val 2500"/>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26" name="icon circle"/>
          <p:cNvSpPr/>
          <p:nvPr/>
        </p:nvSpPr>
        <p:spPr>
          <a:xfrm>
            <a:off x="8284464" y="3383280"/>
            <a:ext cx="640080" cy="640080"/>
          </a:xfrm>
          <a:prstGeom prst="ellipse">
            <a:avLst/>
          </a:prstGeom>
          <a:solidFill>
            <a:schemeClr val="accent2"/>
          </a:solidFill>
          <a:ln w="12700">
            <a:solidFill>
              <a:schemeClr val="accent2"/>
            </a:solidFill>
            <a:prstDash val="solid"/>
          </a:ln>
        </p:spPr>
      </p:sp>
      <p:pic>
        <p:nvPicPr>
          <p:cNvPr id="27" name="Image 2" descr="Compress icon">    </p:cNvPr>
          <p:cNvPicPr>
            <a:picLocks noChangeAspect="1"/>
          </p:cNvPicPr>
          <p:nvPr/>
        </p:nvPicPr>
        <p:blipFill>
          <a:blip r:embed="rId3"/>
          <a:stretch>
            <a:fillRect/>
          </a:stretch>
        </p:blipFill>
        <p:spPr>
          <a:xfrm>
            <a:off x="8444484" y="3543300"/>
            <a:ext cx="320040" cy="320040"/>
          </a:xfrm>
          <a:prstGeom prst="rect">
            <a:avLst/>
          </a:prstGeom>
        </p:spPr>
      </p:pic>
      <p:sp>
        <p:nvSpPr>
          <p:cNvPr id="28" name="Text 23"/>
          <p:cNvSpPr txBox="1"/>
          <p:nvPr/>
        </p:nvSpPr>
        <p:spPr>
          <a:xfrm>
            <a:off x="9107424" y="3456432"/>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When it fills up</a:t>
            </a:r>
            <a:endParaRPr lang="en-US" sz="1800" dirty="0"/>
          </a:p>
        </p:txBody>
      </p:sp>
      <p:sp>
        <p:nvSpPr>
          <p:cNvPr id="29" name="Text 24"/>
          <p:cNvSpPr txBox="1"/>
          <p:nvPr/>
        </p:nvSpPr>
        <p:spPr>
          <a:xfrm>
            <a:off x="8284464" y="4206240"/>
            <a:ext cx="3017520" cy="1737360"/>
          </a:xfrm>
          <a:prstGeom prst="rect">
            <a:avLst/>
          </a:prstGeom>
          <a:noFill/>
          <a:ln/>
        </p:spPr>
        <p:txBody>
          <a:bodyPr wrap="square" lIns="0" tIns="0" rIns="0" bIns="0" rtlCol="0" anchor="t"/>
          <a:lstStyle/>
          <a:p>
            <a:pPr indent="0" marL="0">
              <a:buNone/>
            </a:pPr>
            <a:r>
              <a:rPr lang="en-US" sz="1400" dirty="0">
                <a:solidFill>
                  <a:schemeClr val="tx2"/>
                </a:solidFill>
              </a:rPr>
              <a:t>Use compaction (server-side summary of old turns) or context editing (clear old tool results). Or start fresh from notes.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From KV cache to prompt caching</a:t>
            </a:r>
            <a:endParaRPr lang="en-US" sz="3200" dirty="0"/>
          </a:p>
        </p:txBody>
      </p:sp>
      <p:sp>
        <p:nvSpPr>
          <p:cNvPr id="3" name="card"/>
          <p:cNvSpPr/>
          <p:nvPr/>
        </p:nvSpPr>
        <p:spPr>
          <a:xfrm>
            <a:off x="548640" y="1371600"/>
            <a:ext cx="5120640" cy="2148840"/>
          </a:xfrm>
          <a:prstGeom prst="roundRect">
            <a:avLst>
              <a:gd name="adj" fmla="val 3404"/>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4" name="icon circle"/>
          <p:cNvSpPr/>
          <p:nvPr/>
        </p:nvSpPr>
        <p:spPr>
          <a:xfrm>
            <a:off x="822960" y="1645920"/>
            <a:ext cx="640080" cy="640080"/>
          </a:xfrm>
          <a:prstGeom prst="ellipse">
            <a:avLst/>
          </a:prstGeom>
          <a:solidFill>
            <a:schemeClr val="accent3"/>
          </a:solidFill>
          <a:ln w="12700">
            <a:solidFill>
              <a:schemeClr val="accent3"/>
            </a:solidFill>
            <a:prstDash val="solid"/>
          </a:ln>
        </p:spPr>
      </p:sp>
      <p:pic>
        <p:nvPicPr>
          <p:cNvPr id="5" name="Image 0" descr="Memory icon">    </p:cNvPr>
          <p:cNvPicPr>
            <a:picLocks noChangeAspect="1"/>
          </p:cNvPicPr>
          <p:nvPr/>
        </p:nvPicPr>
        <p:blipFill>
          <a:blip r:embed="rId1"/>
          <a:stretch>
            <a:fillRect/>
          </a:stretch>
        </p:blipFill>
        <p:spPr>
          <a:xfrm>
            <a:off x="982980" y="1805940"/>
            <a:ext cx="320040" cy="320040"/>
          </a:xfrm>
          <a:prstGeom prst="rect">
            <a:avLst/>
          </a:prstGeom>
        </p:spPr>
      </p:pic>
      <p:sp>
        <p:nvSpPr>
          <p:cNvPr id="6" name="Text 3"/>
          <p:cNvSpPr txBox="1"/>
          <p:nvPr/>
        </p:nvSpPr>
        <p:spPr>
          <a:xfrm>
            <a:off x="1645920" y="1691640"/>
            <a:ext cx="3840480" cy="457200"/>
          </a:xfrm>
          <a:prstGeom prst="rect">
            <a:avLst/>
          </a:prstGeom>
          <a:noFill/>
          <a:ln/>
        </p:spPr>
        <p:txBody>
          <a:bodyPr wrap="square" lIns="0" tIns="0" rIns="0" bIns="0" rtlCol="0" anchor="ctr"/>
          <a:lstStyle/>
          <a:p>
            <a:pPr indent="0" marL="0">
              <a:buNone/>
            </a:pPr>
            <a:r>
              <a:rPr lang="en-US" sz="1800" b="1" dirty="0">
                <a:solidFill>
                  <a:schemeClr val="tx1"/>
                </a:solidFill>
              </a:rPr>
              <a:t>What the KV cache is</a:t>
            </a:r>
            <a:endParaRPr lang="en-US" sz="1800" dirty="0"/>
          </a:p>
        </p:txBody>
      </p:sp>
      <p:sp>
        <p:nvSpPr>
          <p:cNvPr id="7" name="Text 4"/>
          <p:cNvSpPr txBox="1"/>
          <p:nvPr/>
        </p:nvSpPr>
        <p:spPr>
          <a:xfrm>
            <a:off x="822960" y="2423160"/>
            <a:ext cx="4663440" cy="1005840"/>
          </a:xfrm>
          <a:prstGeom prst="rect">
            <a:avLst/>
          </a:prstGeom>
          <a:noFill/>
          <a:ln/>
        </p:spPr>
        <p:txBody>
          <a:bodyPr wrap="square" lIns="0" tIns="0" rIns="0" bIns="0" rtlCol="0" anchor="t"/>
          <a:lstStyle/>
          <a:p>
            <a:pPr indent="0" marL="0">
              <a:buNone/>
            </a:pPr>
            <a:r>
              <a:rPr lang="en-US" sz="1400" dirty="0">
                <a:solidFill>
                  <a:schemeClr val="tx2"/>
                </a:solidFill>
              </a:rPr>
              <a:t>While reading your prompt, each layer stores keys and values for every token. Reusing them means the model doesn’t reprocess text it has already seen.</a:t>
            </a:r>
            <a:endParaRPr lang="en-US" sz="1400" dirty="0"/>
          </a:p>
        </p:txBody>
      </p:sp>
      <p:sp>
        <p:nvSpPr>
          <p:cNvPr id="8" name="card"/>
          <p:cNvSpPr/>
          <p:nvPr/>
        </p:nvSpPr>
        <p:spPr>
          <a:xfrm>
            <a:off x="548640" y="3703320"/>
            <a:ext cx="5120640" cy="2331720"/>
          </a:xfrm>
          <a:prstGeom prst="roundRect">
            <a:avLst>
              <a:gd name="adj" fmla="val 3137"/>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822960" y="3886200"/>
            <a:ext cx="4572000" cy="320040"/>
          </a:xfrm>
          <a:prstGeom prst="rect">
            <a:avLst/>
          </a:prstGeom>
          <a:noFill/>
          <a:ln/>
        </p:spPr>
        <p:txBody>
          <a:bodyPr wrap="square" lIns="0" tIns="0" rIns="0" bIns="0" rtlCol="0" anchor="t"/>
          <a:lstStyle/>
          <a:p>
            <a:pPr indent="0" marL="0">
              <a:buNone/>
            </a:pPr>
            <a:r>
              <a:rPr lang="en-US" sz="1600" b="1" dirty="0">
                <a:solidFill>
                  <a:schemeClr val="tx1"/>
                </a:solidFill>
              </a:rPr>
              <a:t>On the Claude API</a:t>
            </a:r>
            <a:endParaRPr lang="en-US" sz="1600" dirty="0"/>
          </a:p>
        </p:txBody>
      </p:sp>
      <p:sp>
        <p:nvSpPr>
          <p:cNvPr id="10" name="Text 7"/>
          <p:cNvSpPr txBox="1"/>
          <p:nvPr/>
        </p:nvSpPr>
        <p:spPr>
          <a:xfrm>
            <a:off x="822960" y="4297680"/>
            <a:ext cx="466344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You can’t size or tune the server’s KV cache</a:t>
            </a:r>
            <a:endParaRPr lang="en-US" sz="1400" dirty="0"/>
          </a:p>
          <a:p>
            <a:pPr marL="342900" indent="-342900">
              <a:spcAft>
                <a:spcPts val="600"/>
              </a:spcAft>
              <a:buSzPct val="100000"/>
              <a:buChar char="•"/>
            </a:pPr>
            <a:r>
              <a:rPr lang="en-US" sz="1400" dirty="0">
                <a:solidFill>
                  <a:schemeClr val="tx2"/>
                </a:solidFill>
              </a:rPr>
              <a:t>You can mark a stable prefix with cache_control</a:t>
            </a:r>
            <a:endParaRPr lang="en-US" sz="1400" dirty="0"/>
          </a:p>
          <a:p>
            <a:pPr marL="342900" indent="-342900">
              <a:spcAft>
                <a:spcPts val="600"/>
              </a:spcAft>
              <a:buSzPct val="100000"/>
              <a:buChar char="•"/>
            </a:pPr>
            <a:r>
              <a:rPr lang="en-US" sz="1400" dirty="0">
                <a:solidFill>
                  <a:schemeClr val="tx2"/>
                </a:solidFill>
              </a:rPr>
              <a:t>TTL 5 min (refreshed on each hit) or 1 hour</a:t>
            </a:r>
            <a:endParaRPr lang="en-US" sz="1400" dirty="0"/>
          </a:p>
          <a:p>
            <a:pPr marL="342900" indent="-342900">
              <a:spcAft>
                <a:spcPts val="600"/>
              </a:spcAft>
              <a:buSzPct val="100000"/>
              <a:buChar char="•"/>
            </a:pPr>
            <a:r>
              <a:rPr lang="en-US" sz="1400" dirty="0">
                <a:solidFill>
                  <a:schemeClr val="tx2"/>
                </a:solidFill>
              </a:rPr>
              <a:t>Up to 4 breakpoints; min ~512 tokens on new models</a:t>
            </a:r>
            <a:endParaRPr lang="en-US" sz="1400" dirty="0"/>
          </a:p>
        </p:txBody>
      </p:sp>
      <p:sp>
        <p:nvSpPr>
          <p:cNvPr id="11" name="Text 8"/>
          <p:cNvSpPr txBox="1"/>
          <p:nvPr/>
        </p:nvSpPr>
        <p:spPr>
          <a:xfrm>
            <a:off x="6035040" y="1371600"/>
            <a:ext cx="5577840" cy="320040"/>
          </a:xfrm>
          <a:prstGeom prst="rect">
            <a:avLst/>
          </a:prstGeom>
          <a:noFill/>
          <a:ln/>
        </p:spPr>
        <p:txBody>
          <a:bodyPr wrap="square" lIns="0" tIns="0" rIns="0" bIns="0" rtlCol="0" anchor="t"/>
          <a:lstStyle/>
          <a:p>
            <a:pPr indent="0" marL="0">
              <a:buNone/>
            </a:pPr>
            <a:r>
              <a:rPr lang="en-US" sz="1400" b="1" dirty="0">
                <a:solidFill>
                  <a:schemeClr val="tx1"/>
                </a:solidFill>
              </a:rPr>
              <a:t>Prefix order: a change invalidates its level and everything after it</a:t>
            </a:r>
            <a:endParaRPr lang="en-US" sz="1400" dirty="0"/>
          </a:p>
        </p:txBody>
      </p:sp>
      <p:sp>
        <p:nvSpPr>
          <p:cNvPr id="12" name="prefix block"/>
          <p:cNvSpPr/>
          <p:nvPr/>
        </p:nvSpPr>
        <p:spPr>
          <a:xfrm>
            <a:off x="6035040" y="1828800"/>
            <a:ext cx="1097280" cy="640080"/>
          </a:xfrm>
          <a:prstGeom prst="rect">
            <a:avLst/>
          </a:prstGeom>
          <a:solidFill>
            <a:schemeClr val="tx2"/>
          </a:solidFill>
          <a:ln w="25400">
            <a:solidFill>
              <a:schemeClr val="bg1"/>
            </a:solidFill>
            <a:prstDash val="solid"/>
          </a:ln>
        </p:spPr>
      </p:sp>
      <p:sp>
        <p:nvSpPr>
          <p:cNvPr id="13" name="Text 10"/>
          <p:cNvSpPr txBox="1"/>
          <p:nvPr/>
        </p:nvSpPr>
        <p:spPr>
          <a:xfrm>
            <a:off x="6035040" y="1828800"/>
            <a:ext cx="1097280" cy="640080"/>
          </a:xfrm>
          <a:prstGeom prst="rect">
            <a:avLst/>
          </a:prstGeom>
          <a:noFill/>
          <a:ln/>
        </p:spPr>
        <p:txBody>
          <a:bodyPr wrap="square" lIns="0" tIns="0" rIns="0" bIns="0" rtlCol="0" anchor="ctr"/>
          <a:lstStyle/>
          <a:p>
            <a:pPr algn="ctr" indent="0" marL="0">
              <a:buNone/>
            </a:pPr>
            <a:r>
              <a:rPr lang="en-US" sz="1300" dirty="0">
                <a:solidFill>
                  <a:schemeClr val="bg1"/>
                </a:solidFill>
              </a:rPr>
              <a:t>tools</a:t>
            </a:r>
            <a:endParaRPr lang="en-US" sz="1300" dirty="0"/>
          </a:p>
        </p:txBody>
      </p:sp>
      <p:sp>
        <p:nvSpPr>
          <p:cNvPr id="14" name="prefix block"/>
          <p:cNvSpPr/>
          <p:nvPr/>
        </p:nvSpPr>
        <p:spPr>
          <a:xfrm>
            <a:off x="7132320" y="1828800"/>
            <a:ext cx="2377440" cy="640080"/>
          </a:xfrm>
          <a:prstGeom prst="rect">
            <a:avLst/>
          </a:prstGeom>
          <a:solidFill>
            <a:schemeClr val="tx1"/>
          </a:solidFill>
          <a:ln w="25400">
            <a:solidFill>
              <a:schemeClr val="bg1"/>
            </a:solidFill>
            <a:prstDash val="solid"/>
          </a:ln>
        </p:spPr>
      </p:sp>
      <p:sp>
        <p:nvSpPr>
          <p:cNvPr id="15" name="Text 12"/>
          <p:cNvSpPr txBox="1"/>
          <p:nvPr/>
        </p:nvSpPr>
        <p:spPr>
          <a:xfrm>
            <a:off x="7132320" y="1828800"/>
            <a:ext cx="2377440" cy="640080"/>
          </a:xfrm>
          <a:prstGeom prst="rect">
            <a:avLst/>
          </a:prstGeom>
          <a:noFill/>
          <a:ln/>
        </p:spPr>
        <p:txBody>
          <a:bodyPr wrap="square" lIns="0" tIns="0" rIns="0" bIns="0" rtlCol="0" anchor="ctr"/>
          <a:lstStyle/>
          <a:p>
            <a:pPr algn="ctr" indent="0" marL="0">
              <a:buNone/>
            </a:pPr>
            <a:r>
              <a:rPr lang="en-US" sz="1300" dirty="0">
                <a:solidFill>
                  <a:schemeClr val="bg1"/>
                </a:solidFill>
              </a:rPr>
              <a:t>system prompt + big docs</a:t>
            </a:r>
            <a:endParaRPr lang="en-US" sz="1300" dirty="0"/>
          </a:p>
        </p:txBody>
      </p:sp>
      <p:sp>
        <p:nvSpPr>
          <p:cNvPr id="16" name="prefix block"/>
          <p:cNvSpPr/>
          <p:nvPr/>
        </p:nvSpPr>
        <p:spPr>
          <a:xfrm>
            <a:off x="9509760" y="1828800"/>
            <a:ext cx="1188720" cy="640080"/>
          </a:xfrm>
          <a:prstGeom prst="rect">
            <a:avLst/>
          </a:prstGeom>
          <a:solidFill>
            <a:schemeClr val="accent3"/>
          </a:solidFill>
          <a:ln w="25400">
            <a:solidFill>
              <a:schemeClr val="bg1"/>
            </a:solidFill>
            <a:prstDash val="solid"/>
          </a:ln>
        </p:spPr>
      </p:sp>
      <p:sp>
        <p:nvSpPr>
          <p:cNvPr id="17" name="Text 14"/>
          <p:cNvSpPr txBox="1"/>
          <p:nvPr/>
        </p:nvSpPr>
        <p:spPr>
          <a:xfrm>
            <a:off x="9509760" y="1828800"/>
            <a:ext cx="1188720" cy="640080"/>
          </a:xfrm>
          <a:prstGeom prst="rect">
            <a:avLst/>
          </a:prstGeom>
          <a:noFill/>
          <a:ln/>
        </p:spPr>
        <p:txBody>
          <a:bodyPr wrap="square" lIns="0" tIns="0" rIns="0" bIns="0" rtlCol="0" anchor="ctr"/>
          <a:lstStyle/>
          <a:p>
            <a:pPr algn="ctr" indent="0" marL="0">
              <a:buNone/>
            </a:pPr>
            <a:r>
              <a:rPr lang="en-US" sz="1300" dirty="0">
                <a:solidFill>
                  <a:schemeClr val="bg1"/>
                </a:solidFill>
              </a:rPr>
              <a:t>old messages</a:t>
            </a:r>
            <a:endParaRPr lang="en-US" sz="1300" dirty="0"/>
          </a:p>
        </p:txBody>
      </p:sp>
      <p:sp>
        <p:nvSpPr>
          <p:cNvPr id="18" name="prefix block"/>
          <p:cNvSpPr/>
          <p:nvPr/>
        </p:nvSpPr>
        <p:spPr>
          <a:xfrm>
            <a:off x="10698480" y="1828800"/>
            <a:ext cx="914400" cy="640080"/>
          </a:xfrm>
          <a:prstGeom prst="rect">
            <a:avLst/>
          </a:prstGeom>
          <a:solidFill>
            <a:schemeClr val="accent1"/>
          </a:solidFill>
          <a:ln w="25400">
            <a:solidFill>
              <a:schemeClr val="bg1"/>
            </a:solidFill>
            <a:prstDash val="solid"/>
          </a:ln>
        </p:spPr>
      </p:sp>
      <p:sp>
        <p:nvSpPr>
          <p:cNvPr id="19" name="Text 16"/>
          <p:cNvSpPr txBox="1"/>
          <p:nvPr/>
        </p:nvSpPr>
        <p:spPr>
          <a:xfrm>
            <a:off x="10698480" y="1828800"/>
            <a:ext cx="914400" cy="640080"/>
          </a:xfrm>
          <a:prstGeom prst="rect">
            <a:avLst/>
          </a:prstGeom>
          <a:noFill/>
          <a:ln/>
        </p:spPr>
        <p:txBody>
          <a:bodyPr wrap="square" lIns="0" tIns="0" rIns="0" bIns="0" rtlCol="0" anchor="ctr"/>
          <a:lstStyle/>
          <a:p>
            <a:pPr algn="ctr" indent="0" marL="0">
              <a:buNone/>
            </a:pPr>
            <a:r>
              <a:rPr lang="en-US" sz="1300" dirty="0">
                <a:solidFill>
                  <a:schemeClr val="bg1"/>
                </a:solidFill>
              </a:rPr>
              <a:t>new msg</a:t>
            </a:r>
            <a:endParaRPr lang="en-US" sz="1300" dirty="0"/>
          </a:p>
        </p:txBody>
      </p:sp>
      <p:sp>
        <p:nvSpPr>
          <p:cNvPr id="20" name="breakpoint"/>
          <p:cNvSpPr/>
          <p:nvPr/>
        </p:nvSpPr>
        <p:spPr>
          <a:xfrm>
            <a:off x="10698480" y="1737360"/>
            <a:ext cx="0" cy="822960"/>
          </a:xfrm>
          <a:prstGeom prst="line">
            <a:avLst/>
          </a:prstGeom>
          <a:noFill/>
          <a:ln w="31750">
            <a:solidFill>
              <a:schemeClr val="accent1"/>
            </a:solidFill>
            <a:prstDash val="dash"/>
          </a:ln>
        </p:spPr>
      </p:sp>
      <p:sp>
        <p:nvSpPr>
          <p:cNvPr id="21" name="Text 18"/>
          <p:cNvSpPr txBox="1"/>
          <p:nvPr/>
        </p:nvSpPr>
        <p:spPr>
          <a:xfrm>
            <a:off x="6035040" y="2560320"/>
            <a:ext cx="4572000" cy="274320"/>
          </a:xfrm>
          <a:prstGeom prst="rect">
            <a:avLst/>
          </a:prstGeom>
          <a:noFill/>
          <a:ln/>
        </p:spPr>
        <p:txBody>
          <a:bodyPr wrap="square" lIns="0" tIns="0" rIns="0" bIns="0" rtlCol="0" anchor="t"/>
          <a:lstStyle/>
          <a:p>
            <a:pPr algn="r" indent="0" marL="0">
              <a:buNone/>
            </a:pPr>
            <a:r>
              <a:rPr lang="en-US" sz="1200" dirty="0">
                <a:solidFill>
                  <a:schemeClr val="accent1"/>
                </a:solidFill>
              </a:rPr>
              <a:t>cache_control here: cached prefix ←</a:t>
            </a:r>
            <a:endParaRPr lang="en-US" sz="1200" dirty="0"/>
          </a:p>
        </p:txBody>
      </p:sp>
      <p:sp>
        <p:nvSpPr>
          <p:cNvPr id="22" name="code panel"/>
          <p:cNvSpPr/>
          <p:nvPr/>
        </p:nvSpPr>
        <p:spPr>
          <a:xfrm>
            <a:off x="6035040" y="3063240"/>
            <a:ext cx="5577840" cy="2194560"/>
          </a:xfrm>
          <a:prstGeom prst="roundRect">
            <a:avLst>
              <a:gd name="adj" fmla="val 3333"/>
            </a:avLst>
          </a:prstGeom>
          <a:solidFill>
            <a:schemeClr val="tx1"/>
          </a:solidFill>
          <a:ln w="12700">
            <a:solidFill>
              <a:schemeClr val="tx1"/>
            </a:solidFill>
            <a:prstDash val="solid"/>
          </a:ln>
        </p:spPr>
      </p:sp>
      <p:sp>
        <p:nvSpPr>
          <p:cNvPr id="23" name="Text 20"/>
          <p:cNvSpPr txBox="1"/>
          <p:nvPr/>
        </p:nvSpPr>
        <p:spPr>
          <a:xfrm>
            <a:off x="6263640" y="3246120"/>
            <a:ext cx="5120640" cy="1828800"/>
          </a:xfrm>
          <a:prstGeom prst="rect">
            <a:avLst/>
          </a:prstGeom>
          <a:noFill/>
          <a:ln/>
        </p:spPr>
        <p:txBody>
          <a:bodyPr wrap="square" lIns="0" tIns="0" rIns="0" bIns="0" rtlCol="0" anchor="t"/>
          <a:lstStyle/>
          <a:p>
            <a:pPr indent="0" marL="0">
              <a:buNone/>
            </a:pPr>
            <a:r>
              <a:rPr lang="en-US" sz="1200" dirty="0">
                <a:solidFill>
                  <a:srgbClr val="E3E5EC"/>
                </a:solidFill>
                <a:latin typeface="Courier New" pitchFamily="34" charset="0"/>
                <a:ea typeface="Courier New" pitchFamily="34" charset="-122"/>
                <a:cs typeface="Courier New" pitchFamily="34" charset="-120"/>
              </a:rPr>
              <a:t>system=[{</a:t>
            </a:r>
            <a:endParaRPr lang="en-US" sz="1200" dirty="0"/>
          </a:p>
          <a:p>
            <a:pPr indent="0" marL="0">
              <a:buNone/>
            </a:pPr>
            <a:r>
              <a:rPr lang="en-US" sz="1200" dirty="0">
                <a:solidFill>
                  <a:srgbClr val="E3E5EC"/>
                </a:solidFill>
                <a:latin typeface="Courier New" pitchFamily="34" charset="0"/>
                <a:ea typeface="Courier New" pitchFamily="34" charset="-122"/>
                <a:cs typeface="Courier New" pitchFamily="34" charset="-120"/>
              </a:rPr>
              <a:t>  "type": "text",</a:t>
            </a:r>
            <a:endParaRPr lang="en-US" sz="1200" dirty="0"/>
          </a:p>
          <a:p>
            <a:pPr indent="0" marL="0">
              <a:buNone/>
            </a:pPr>
            <a:r>
              <a:rPr lang="en-US" sz="1200" dirty="0">
                <a:solidFill>
                  <a:srgbClr val="E3E5EC"/>
                </a:solidFill>
                <a:latin typeface="Courier New" pitchFamily="34" charset="0"/>
                <a:ea typeface="Courier New" pitchFamily="34" charset="-122"/>
                <a:cs typeface="Courier New" pitchFamily="34" charset="-120"/>
              </a:rPr>
              <a:t>  "text": LONG_STABLE_INSTRUCTIONS,</a:t>
            </a:r>
            <a:endParaRPr lang="en-US" sz="1200" dirty="0"/>
          </a:p>
          <a:p>
            <a:pPr indent="0" marL="0">
              <a:buNone/>
            </a:pPr>
            <a:r>
              <a:rPr lang="en-US" sz="1200" dirty="0">
                <a:solidFill>
                  <a:srgbClr val="E3E5EC"/>
                </a:solidFill>
                <a:latin typeface="Courier New" pitchFamily="34" charset="0"/>
                <a:ea typeface="Courier New" pitchFamily="34" charset="-122"/>
                <a:cs typeface="Courier New" pitchFamily="34" charset="-120"/>
              </a:rPr>
              <a:t>  "cache_control": {"type": "ephemeral",</a:t>
            </a:r>
            <a:endParaRPr lang="en-US" sz="1200" dirty="0"/>
          </a:p>
          <a:p>
            <a:pPr indent="0" marL="0">
              <a:buNone/>
            </a:pPr>
            <a:r>
              <a:rPr lang="en-US" sz="1200" dirty="0">
                <a:solidFill>
                  <a:srgbClr val="E3E5EC"/>
                </a:solidFill>
                <a:latin typeface="Courier New" pitchFamily="34" charset="0"/>
                <a:ea typeface="Courier New" pitchFamily="34" charset="-122"/>
                <a:cs typeface="Courier New" pitchFamily="34" charset="-120"/>
              </a:rPr>
              <a:t>                    "ttl": "1h"},</a:t>
            </a:r>
            <a:endParaRPr lang="en-US" sz="1200" dirty="0"/>
          </a:p>
          <a:p>
            <a:pPr indent="0" marL="0">
              <a:buNone/>
            </a:pPr>
            <a:r>
              <a:rPr lang="en-US" sz="1200" dirty="0">
                <a:solidFill>
                  <a:srgbClr val="E3E5EC"/>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E3E5EC"/>
                </a:solidFill>
                <a:latin typeface="Courier New" pitchFamily="34" charset="0"/>
                <a:ea typeface="Courier New" pitchFamily="34" charset="-122"/>
                <a:cs typeface="Courier New" pitchFamily="34" charset="-120"/>
              </a:rPr>
              <a:t># or top-level cache_control for automatic</a:t>
            </a:r>
            <a:endParaRPr lang="en-US" sz="1200" dirty="0"/>
          </a:p>
        </p:txBody>
      </p:sp>
      <p:sp>
        <p:nvSpPr>
          <p:cNvPr id="24" name="Text 21"/>
          <p:cNvSpPr txBox="1"/>
          <p:nvPr/>
        </p:nvSpPr>
        <p:spPr>
          <a:xfrm>
            <a:off x="6035040" y="5440680"/>
            <a:ext cx="5577840" cy="457200"/>
          </a:xfrm>
          <a:prstGeom prst="rect">
            <a:avLst/>
          </a:prstGeom>
          <a:noFill/>
          <a:ln/>
        </p:spPr>
        <p:txBody>
          <a:bodyPr wrap="square" lIns="0" tIns="0" rIns="0" bIns="0" rtlCol="0" anchor="t"/>
          <a:lstStyle/>
          <a:p>
            <a:pPr indent="0" marL="0">
              <a:buNone/>
            </a:pPr>
            <a:r>
              <a:rPr lang="en-US" sz="1300" i="1" dirty="0">
                <a:solidFill>
                  <a:schemeClr val="tx2"/>
                </a:solidFill>
              </a:rPr>
              <a:t>Check usage: cache_read_input_tokens &gt; 0 means it worked.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10 questions on one 50k-token document: up to 83% cheaper</a:t>
            </a:r>
            <a:endParaRPr lang="en-US" sz="3200" dirty="0"/>
          </a:p>
        </p:txBody>
      </p:sp>
      <p:graphicFrame>
        <p:nvGraphicFramePr>
          <p:cNvPr id="3" name="caching cost chart" descr=""/>
          <p:cNvGraphicFramePr/>
          <p:nvPr/>
        </p:nvGraphicFramePr>
        <p:xfrm>
          <a:off x="548640" y="1371600"/>
          <a:ext cx="6217920" cy="457200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7132320" y="1371600"/>
            <a:ext cx="4480560" cy="1371600"/>
          </a:xfrm>
          <a:prstGeom prst="roundRect">
            <a:avLst>
              <a:gd name="adj" fmla="val 533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5" name="dot"/>
          <p:cNvSpPr/>
          <p:nvPr/>
        </p:nvSpPr>
        <p:spPr>
          <a:xfrm>
            <a:off x="7360920" y="1618488"/>
            <a:ext cx="274320" cy="274320"/>
          </a:xfrm>
          <a:prstGeom prst="ellipse">
            <a:avLst/>
          </a:prstGeom>
          <a:solidFill>
            <a:schemeClr val="accent3"/>
          </a:solidFill>
          <a:ln w="12700">
            <a:solidFill>
              <a:schemeClr val="accent3"/>
            </a:solidFill>
            <a:prstDash val="solid"/>
          </a:ln>
        </p:spPr>
      </p:sp>
      <p:sp>
        <p:nvSpPr>
          <p:cNvPr id="6" name="Text 3"/>
          <p:cNvSpPr txBox="1"/>
          <p:nvPr/>
        </p:nvSpPr>
        <p:spPr>
          <a:xfrm>
            <a:off x="7772400" y="1554480"/>
            <a:ext cx="3657600" cy="365760"/>
          </a:xfrm>
          <a:prstGeom prst="rect">
            <a:avLst/>
          </a:prstGeom>
          <a:noFill/>
          <a:ln/>
        </p:spPr>
        <p:txBody>
          <a:bodyPr wrap="square" lIns="0" tIns="0" rIns="0" bIns="0" rtlCol="0" anchor="t"/>
          <a:lstStyle/>
          <a:p>
            <a:pPr indent="0" marL="0">
              <a:buNone/>
            </a:pPr>
            <a:r>
              <a:rPr lang="en-US" sz="1600" b="1" dirty="0">
                <a:solidFill>
                  <a:schemeClr val="tx1"/>
                </a:solidFill>
              </a:rPr>
              <a:t>Cache write</a:t>
            </a:r>
            <a:endParaRPr lang="en-US" sz="1600" dirty="0"/>
          </a:p>
        </p:txBody>
      </p:sp>
      <p:sp>
        <p:nvSpPr>
          <p:cNvPr id="7" name="Text 4"/>
          <p:cNvSpPr txBox="1"/>
          <p:nvPr/>
        </p:nvSpPr>
        <p:spPr>
          <a:xfrm>
            <a:off x="7772400" y="1938528"/>
            <a:ext cx="3657600" cy="731520"/>
          </a:xfrm>
          <a:prstGeom prst="rect">
            <a:avLst/>
          </a:prstGeom>
          <a:noFill/>
          <a:ln/>
        </p:spPr>
        <p:txBody>
          <a:bodyPr wrap="square" lIns="0" tIns="0" rIns="0" bIns="0" rtlCol="0" anchor="t"/>
          <a:lstStyle/>
          <a:p>
            <a:pPr indent="0" marL="0">
              <a:buNone/>
            </a:pPr>
            <a:r>
              <a:rPr lang="en-US" sz="1400" dirty="0">
                <a:solidFill>
                  <a:schemeClr val="tx2"/>
                </a:solidFill>
              </a:rPr>
              <a:t>1.25× base price (5 min)</a:t>
            </a:r>
            <a:endParaRPr lang="en-US" sz="1400" dirty="0"/>
          </a:p>
          <a:p>
            <a:pPr indent="0" marL="0">
              <a:buNone/>
            </a:pPr>
            <a:r>
              <a:rPr lang="en-US" sz="1400" dirty="0">
                <a:solidFill>
                  <a:schemeClr val="tx2"/>
                </a:solidFill>
              </a:rPr>
              <a:t>2× base price (1 hour)</a:t>
            </a:r>
            <a:endParaRPr lang="en-US" sz="1400" dirty="0"/>
          </a:p>
        </p:txBody>
      </p:sp>
      <p:sp>
        <p:nvSpPr>
          <p:cNvPr id="8" name="card"/>
          <p:cNvSpPr/>
          <p:nvPr/>
        </p:nvSpPr>
        <p:spPr>
          <a:xfrm>
            <a:off x="7132320" y="2926080"/>
            <a:ext cx="4480560" cy="1371600"/>
          </a:xfrm>
          <a:prstGeom prst="roundRect">
            <a:avLst>
              <a:gd name="adj" fmla="val 533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9" name="dot"/>
          <p:cNvSpPr/>
          <p:nvPr/>
        </p:nvSpPr>
        <p:spPr>
          <a:xfrm>
            <a:off x="7360920" y="3172968"/>
            <a:ext cx="274320" cy="274320"/>
          </a:xfrm>
          <a:prstGeom prst="ellipse">
            <a:avLst/>
          </a:prstGeom>
          <a:solidFill>
            <a:schemeClr val="accent2"/>
          </a:solidFill>
          <a:ln w="12700">
            <a:solidFill>
              <a:schemeClr val="accent2"/>
            </a:solidFill>
            <a:prstDash val="solid"/>
          </a:ln>
        </p:spPr>
      </p:sp>
      <p:sp>
        <p:nvSpPr>
          <p:cNvPr id="10" name="Text 7"/>
          <p:cNvSpPr txBox="1"/>
          <p:nvPr/>
        </p:nvSpPr>
        <p:spPr>
          <a:xfrm>
            <a:off x="7772400" y="3108960"/>
            <a:ext cx="3657600" cy="365760"/>
          </a:xfrm>
          <a:prstGeom prst="rect">
            <a:avLst/>
          </a:prstGeom>
          <a:noFill/>
          <a:ln/>
        </p:spPr>
        <p:txBody>
          <a:bodyPr wrap="square" lIns="0" tIns="0" rIns="0" bIns="0" rtlCol="0" anchor="t"/>
          <a:lstStyle/>
          <a:p>
            <a:pPr indent="0" marL="0">
              <a:buNone/>
            </a:pPr>
            <a:r>
              <a:rPr lang="en-US" sz="1600" b="1" dirty="0">
                <a:solidFill>
                  <a:schemeClr val="tx1"/>
                </a:solidFill>
              </a:rPr>
              <a:t>Cache read</a:t>
            </a:r>
            <a:endParaRPr lang="en-US" sz="1600" dirty="0"/>
          </a:p>
        </p:txBody>
      </p:sp>
      <p:sp>
        <p:nvSpPr>
          <p:cNvPr id="11" name="Text 8"/>
          <p:cNvSpPr txBox="1"/>
          <p:nvPr/>
        </p:nvSpPr>
        <p:spPr>
          <a:xfrm>
            <a:off x="7772400" y="3493008"/>
            <a:ext cx="3657600" cy="731520"/>
          </a:xfrm>
          <a:prstGeom prst="rect">
            <a:avLst/>
          </a:prstGeom>
          <a:noFill/>
          <a:ln/>
        </p:spPr>
        <p:txBody>
          <a:bodyPr wrap="square" lIns="0" tIns="0" rIns="0" bIns="0" rtlCol="0" anchor="t"/>
          <a:lstStyle/>
          <a:p>
            <a:pPr indent="0" marL="0">
              <a:buNone/>
            </a:pPr>
            <a:r>
              <a:rPr lang="en-US" sz="1400" dirty="0">
                <a:solidFill>
                  <a:schemeClr val="tx2"/>
                </a:solidFill>
              </a:rPr>
              <a:t>0.1× base on most models</a:t>
            </a:r>
            <a:endParaRPr lang="en-US" sz="1400" dirty="0"/>
          </a:p>
          <a:p>
            <a:pPr indent="0" marL="0">
              <a:buNone/>
            </a:pPr>
            <a:r>
              <a:rPr lang="en-US" sz="1400" dirty="0">
                <a:solidFill>
                  <a:schemeClr val="tx2"/>
                </a:solidFill>
              </a:rPr>
              <a:t>0.05× on Opus 5.5 / Sonnet 5.5</a:t>
            </a:r>
            <a:endParaRPr lang="en-US" sz="1400" dirty="0"/>
          </a:p>
        </p:txBody>
      </p:sp>
      <p:sp>
        <p:nvSpPr>
          <p:cNvPr id="12" name="card"/>
          <p:cNvSpPr/>
          <p:nvPr/>
        </p:nvSpPr>
        <p:spPr>
          <a:xfrm>
            <a:off x="7132320" y="4480560"/>
            <a:ext cx="4480560" cy="1371600"/>
          </a:xfrm>
          <a:prstGeom prst="roundRect">
            <a:avLst>
              <a:gd name="adj" fmla="val 533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13" name="dot"/>
          <p:cNvSpPr/>
          <p:nvPr/>
        </p:nvSpPr>
        <p:spPr>
          <a:xfrm>
            <a:off x="7360920" y="4727448"/>
            <a:ext cx="274320" cy="274320"/>
          </a:xfrm>
          <a:prstGeom prst="ellipse">
            <a:avLst/>
          </a:prstGeom>
          <a:solidFill>
            <a:schemeClr val="accent1"/>
          </a:solidFill>
          <a:ln w="12700">
            <a:solidFill>
              <a:schemeClr val="accent1"/>
            </a:solidFill>
            <a:prstDash val="solid"/>
          </a:ln>
        </p:spPr>
      </p:sp>
      <p:sp>
        <p:nvSpPr>
          <p:cNvPr id="14" name="Text 11"/>
          <p:cNvSpPr txBox="1"/>
          <p:nvPr/>
        </p:nvSpPr>
        <p:spPr>
          <a:xfrm>
            <a:off x="7772400" y="4663440"/>
            <a:ext cx="3657600" cy="365760"/>
          </a:xfrm>
          <a:prstGeom prst="rect">
            <a:avLst/>
          </a:prstGeom>
          <a:noFill/>
          <a:ln/>
        </p:spPr>
        <p:txBody>
          <a:bodyPr wrap="square" lIns="0" tIns="0" rIns="0" bIns="0" rtlCol="0" anchor="t"/>
          <a:lstStyle/>
          <a:p>
            <a:pPr indent="0" marL="0">
              <a:buNone/>
            </a:pPr>
            <a:r>
              <a:rPr lang="en-US" sz="1600" b="1" dirty="0">
                <a:solidFill>
                  <a:schemeClr val="tx1"/>
                </a:solidFill>
              </a:rPr>
              <a:t>Also faster</a:t>
            </a:r>
            <a:endParaRPr lang="en-US" sz="1600" dirty="0"/>
          </a:p>
        </p:txBody>
      </p:sp>
      <p:sp>
        <p:nvSpPr>
          <p:cNvPr id="15" name="Text 12"/>
          <p:cNvSpPr txBox="1"/>
          <p:nvPr/>
        </p:nvSpPr>
        <p:spPr>
          <a:xfrm>
            <a:off x="7772400" y="5047488"/>
            <a:ext cx="3657600" cy="731520"/>
          </a:xfrm>
          <a:prstGeom prst="rect">
            <a:avLst/>
          </a:prstGeom>
          <a:noFill/>
          <a:ln/>
        </p:spPr>
        <p:txBody>
          <a:bodyPr wrap="square" lIns="0" tIns="0" rIns="0" bIns="0" rtlCol="0" anchor="t"/>
          <a:lstStyle/>
          <a:p>
            <a:pPr indent="0" marL="0">
              <a:buNone/>
            </a:pPr>
            <a:r>
              <a:rPr lang="en-US" sz="1400" dirty="0">
                <a:solidFill>
                  <a:schemeClr val="tx2"/>
                </a:solidFill>
              </a:rPr>
              <a:t>Cached prefixes skip reprocessing, so long prompts answer sooner</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011680"/>
            <a:ext cx="5486400" cy="365760"/>
          </a:xfrm>
          <a:prstGeom prst="rect">
            <a:avLst/>
          </a:prstGeom>
          <a:noFill/>
          <a:ln/>
        </p:spPr>
        <p:txBody>
          <a:bodyPr wrap="square" lIns="0" tIns="0" rIns="0" bIns="0" rtlCol="0"/>
          <a:lstStyle/>
          <a:p>
            <a:pPr indent="0" marL="0">
              <a:buNone/>
            </a:pPr>
            <a:r>
              <a:rPr lang="en-US" sz="1400" b="1" spc="400" kern="0" dirty="0">
                <a:solidFill>
                  <a:schemeClr val="accent1"/>
                </a:solidFill>
              </a:rPr>
              <a:t>PART 3</a:t>
            </a:r>
            <a:endParaRPr lang="en-US" sz="1400" dirty="0"/>
          </a:p>
        </p:txBody>
      </p:sp>
      <p:sp>
        <p:nvSpPr>
          <p:cNvPr id="3" name="Text 0"/>
          <p:cNvSpPr/>
          <p:nvPr>
            <p:ph idx="101" type="title" hasCustomPrompt="1"/>
          </p:nvPr>
        </p:nvSpPr>
        <p:spPr>
          <a:xfrm>
            <a:off x="548640" y="2423160"/>
            <a:ext cx="6583680" cy="9144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Where to set them</a:t>
            </a:r>
            <a:endParaRPr lang="en-US" sz="4000" dirty="0"/>
          </a:p>
        </p:txBody>
      </p:sp>
      <p:sp>
        <p:nvSpPr>
          <p:cNvPr id="4" name="Text 0"/>
          <p:cNvSpPr/>
          <p:nvPr>
            <p:ph idx="102" type="body" hasCustomPrompt="1"/>
          </p:nvPr>
        </p:nvSpPr>
        <p:spPr>
          <a:xfrm>
            <a:off x="548640" y="3474720"/>
            <a:ext cx="6217920" cy="1097280"/>
          </a:xfrm>
          <a:prstGeom prst="rect">
            <a:avLst/>
          </a:prstGeom>
          <a:noFill/>
          <a:ln/>
        </p:spPr>
        <p:txBody>
          <a:bodyPr wrap="square" lIns="0" tIns="0" rIns="0" bIns="0" rtlCol="0" anchor="t"/>
          <a:lstStyle/>
          <a:p>
            <a:pPr indent="0" marL="0">
              <a:buNone/>
            </a:pPr>
            <a:r>
              <a:rPr lang="en-US" sz="1800" dirty="0">
                <a:solidFill>
                  <a:schemeClr val="accent6"/>
                </a:solidFill>
              </a:rPr>
              <a:t>The same ideas show up in four places, each with different controls.</a:t>
            </a:r>
            <a:endParaRPr lang="en-US" sz="1800" dirty="0"/>
          </a:p>
        </p:txBody>
      </p:sp>
      <p:sp>
        <p:nvSpPr>
          <p:cNvPr id="5" name="token chip"/>
          <p:cNvSpPr/>
          <p:nvPr/>
        </p:nvSpPr>
        <p:spPr>
          <a:xfrm>
            <a:off x="7863840" y="1645920"/>
            <a:ext cx="630936" cy="502920"/>
          </a:xfrm>
          <a:prstGeom prst="roundRect">
            <a:avLst>
              <a:gd name="adj" fmla="val 10909"/>
            </a:avLst>
          </a:prstGeom>
          <a:solidFill>
            <a:schemeClr val="accent1"/>
          </a:solidFill>
          <a:ln w="12700">
            <a:solidFill>
              <a:schemeClr val="accent1"/>
            </a:solidFill>
            <a:prstDash val="solid"/>
          </a:ln>
        </p:spPr>
      </p:sp>
      <p:sp>
        <p:nvSpPr>
          <p:cNvPr id="6" name="Text 4"/>
          <p:cNvSpPr txBox="1"/>
          <p:nvPr/>
        </p:nvSpPr>
        <p:spPr>
          <a:xfrm>
            <a:off x="7863840" y="1645920"/>
            <a:ext cx="630936" cy="502920"/>
          </a:xfrm>
          <a:prstGeom prst="rect">
            <a:avLst/>
          </a:prstGeom>
          <a:noFill/>
          <a:ln/>
        </p:spPr>
        <p:txBody>
          <a:bodyPr wrap="square" lIns="0" tIns="0" rIns="0" bIns="0" rtlCol="0" anchor="ctr"/>
          <a:lstStyle/>
          <a:p>
            <a:pPr algn="ctr" indent="0" marL="0">
              <a:buNone/>
            </a:pPr>
            <a:r>
              <a:rPr lang="en-US" sz="1600" dirty="0">
                <a:solidFill>
                  <a:schemeClr val="bg1"/>
                </a:solidFill>
              </a:rPr>
              <a:t>app</a:t>
            </a:r>
            <a:endParaRPr lang="en-US" sz="1600" dirty="0"/>
          </a:p>
        </p:txBody>
      </p:sp>
      <p:sp>
        <p:nvSpPr>
          <p:cNvPr id="7" name="token chip"/>
          <p:cNvSpPr/>
          <p:nvPr/>
        </p:nvSpPr>
        <p:spPr>
          <a:xfrm>
            <a:off x="8631936" y="1645920"/>
            <a:ext cx="630936" cy="502920"/>
          </a:xfrm>
          <a:prstGeom prst="roundRect">
            <a:avLst>
              <a:gd name="adj" fmla="val 10909"/>
            </a:avLst>
          </a:prstGeom>
          <a:solidFill>
            <a:schemeClr val="accent2"/>
          </a:solidFill>
          <a:ln w="12700">
            <a:solidFill>
              <a:schemeClr val="accent2"/>
            </a:solidFill>
            <a:prstDash val="solid"/>
          </a:ln>
        </p:spPr>
      </p:sp>
      <p:sp>
        <p:nvSpPr>
          <p:cNvPr id="8" name="Text 6"/>
          <p:cNvSpPr txBox="1"/>
          <p:nvPr/>
        </p:nvSpPr>
        <p:spPr>
          <a:xfrm>
            <a:off x="8631936" y="1645920"/>
            <a:ext cx="630936" cy="502920"/>
          </a:xfrm>
          <a:prstGeom prst="rect">
            <a:avLst/>
          </a:prstGeom>
          <a:noFill/>
          <a:ln/>
        </p:spPr>
        <p:txBody>
          <a:bodyPr wrap="square" lIns="0" tIns="0" rIns="0" bIns="0" rtlCol="0" anchor="ctr"/>
          <a:lstStyle/>
          <a:p>
            <a:pPr algn="ctr" indent="0" marL="0">
              <a:buNone/>
            </a:pPr>
            <a:r>
              <a:rPr lang="en-US" sz="1600" dirty="0">
                <a:solidFill>
                  <a:schemeClr val="bg1"/>
                </a:solidFill>
              </a:rPr>
              <a:t>API</a:t>
            </a:r>
            <a:endParaRPr lang="en-US" sz="1600" dirty="0"/>
          </a:p>
        </p:txBody>
      </p:sp>
      <p:sp>
        <p:nvSpPr>
          <p:cNvPr id="9" name="token chip"/>
          <p:cNvSpPr/>
          <p:nvPr/>
        </p:nvSpPr>
        <p:spPr>
          <a:xfrm>
            <a:off x="9400032" y="1645920"/>
            <a:ext cx="749808" cy="502920"/>
          </a:xfrm>
          <a:prstGeom prst="roundRect">
            <a:avLst>
              <a:gd name="adj" fmla="val 10909"/>
            </a:avLst>
          </a:prstGeom>
          <a:solidFill>
            <a:schemeClr val="accent3"/>
          </a:solidFill>
          <a:ln w="12700">
            <a:solidFill>
              <a:schemeClr val="accent3"/>
            </a:solidFill>
            <a:prstDash val="solid"/>
          </a:ln>
        </p:spPr>
      </p:sp>
      <p:sp>
        <p:nvSpPr>
          <p:cNvPr id="10" name="Text 8"/>
          <p:cNvSpPr txBox="1"/>
          <p:nvPr/>
        </p:nvSpPr>
        <p:spPr>
          <a:xfrm>
            <a:off x="9400032" y="1645920"/>
            <a:ext cx="749808" cy="502920"/>
          </a:xfrm>
          <a:prstGeom prst="rect">
            <a:avLst/>
          </a:prstGeom>
          <a:noFill/>
          <a:ln/>
        </p:spPr>
        <p:txBody>
          <a:bodyPr wrap="square" lIns="0" tIns="0" rIns="0" bIns="0" rtlCol="0" anchor="ctr"/>
          <a:lstStyle/>
          <a:p>
            <a:pPr algn="ctr" indent="0" marL="0">
              <a:buNone/>
            </a:pPr>
            <a:r>
              <a:rPr lang="en-US" sz="1600" dirty="0">
                <a:solidFill>
                  <a:schemeClr val="bg1"/>
                </a:solidFill>
              </a:rPr>
              <a:t>Code</a:t>
            </a:r>
            <a:endParaRPr lang="en-US" sz="1600" dirty="0"/>
          </a:p>
        </p:txBody>
      </p:sp>
      <p:sp>
        <p:nvSpPr>
          <p:cNvPr id="11" name="token chip"/>
          <p:cNvSpPr/>
          <p:nvPr/>
        </p:nvSpPr>
        <p:spPr>
          <a:xfrm>
            <a:off x="8321040" y="2423160"/>
            <a:ext cx="868680" cy="502920"/>
          </a:xfrm>
          <a:prstGeom prst="roundRect">
            <a:avLst>
              <a:gd name="adj" fmla="val 10909"/>
            </a:avLst>
          </a:prstGeom>
          <a:solidFill>
            <a:schemeClr val="accent4"/>
          </a:solidFill>
          <a:ln w="12700">
            <a:solidFill>
              <a:schemeClr val="accent4"/>
            </a:solidFill>
            <a:prstDash val="solid"/>
          </a:ln>
        </p:spPr>
      </p:sp>
      <p:sp>
        <p:nvSpPr>
          <p:cNvPr id="12" name="Text 10"/>
          <p:cNvSpPr txBox="1"/>
          <p:nvPr/>
        </p:nvSpPr>
        <p:spPr>
          <a:xfrm>
            <a:off x="8321040" y="2423160"/>
            <a:ext cx="868680" cy="502920"/>
          </a:xfrm>
          <a:prstGeom prst="rect">
            <a:avLst/>
          </a:prstGeom>
          <a:noFill/>
          <a:ln/>
        </p:spPr>
        <p:txBody>
          <a:bodyPr wrap="square" lIns="0" tIns="0" rIns="0" bIns="0" rtlCol="0" anchor="ctr"/>
          <a:lstStyle/>
          <a:p>
            <a:pPr algn="ctr" indent="0" marL="0">
              <a:buNone/>
            </a:pPr>
            <a:r>
              <a:rPr lang="en-US" sz="1600" dirty="0">
                <a:solidFill>
                  <a:schemeClr val="tx1"/>
                </a:solidFill>
              </a:rPr>
              <a:t>local</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Four places you use Claude, and the controls in each</a:t>
            </a:r>
            <a:endParaRPr lang="en-US" sz="3200" dirty="0"/>
          </a:p>
        </p:txBody>
      </p:sp>
      <p:sp>
        <p:nvSpPr>
          <p:cNvPr id="3" name="card"/>
          <p:cNvSpPr/>
          <p:nvPr/>
        </p:nvSpPr>
        <p:spPr>
          <a:xfrm>
            <a:off x="548640" y="1371600"/>
            <a:ext cx="2615184" cy="4663440"/>
          </a:xfrm>
          <a:prstGeom prst="roundRect">
            <a:avLst>
              <a:gd name="adj" fmla="val 2797"/>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4" name="icon circle"/>
          <p:cNvSpPr/>
          <p:nvPr/>
        </p:nvSpPr>
        <p:spPr>
          <a:xfrm>
            <a:off x="822960" y="1645920"/>
            <a:ext cx="685800" cy="685800"/>
          </a:xfrm>
          <a:prstGeom prst="ellipse">
            <a:avLst/>
          </a:prstGeom>
          <a:solidFill>
            <a:schemeClr val="accent1"/>
          </a:solidFill>
          <a:ln w="12700">
            <a:solidFill>
              <a:schemeClr val="accent1"/>
            </a:solidFill>
            <a:prstDash val="solid"/>
          </a:ln>
        </p:spPr>
      </p:sp>
      <p:pic>
        <p:nvPicPr>
          <p:cNvPr id="5" name="Image 0" descr="Comments icon">    </p:cNvPr>
          <p:cNvPicPr>
            <a:picLocks noChangeAspect="1"/>
          </p:cNvPicPr>
          <p:nvPr/>
        </p:nvPicPr>
        <p:blipFill>
          <a:blip r:embed="rId1"/>
          <a:stretch>
            <a:fillRect/>
          </a:stretch>
        </p:blipFill>
        <p:spPr>
          <a:xfrm>
            <a:off x="994410" y="1817370"/>
            <a:ext cx="342900" cy="342900"/>
          </a:xfrm>
          <a:prstGeom prst="rect">
            <a:avLst/>
          </a:prstGeom>
        </p:spPr>
      </p:pic>
      <p:sp>
        <p:nvSpPr>
          <p:cNvPr id="6" name="Text 3"/>
          <p:cNvSpPr txBox="1"/>
          <p:nvPr/>
        </p:nvSpPr>
        <p:spPr>
          <a:xfrm>
            <a:off x="822960" y="2468880"/>
            <a:ext cx="2194560" cy="365760"/>
          </a:xfrm>
          <a:prstGeom prst="rect">
            <a:avLst/>
          </a:prstGeom>
          <a:noFill/>
          <a:ln/>
        </p:spPr>
        <p:txBody>
          <a:bodyPr wrap="square" lIns="0" tIns="0" rIns="0" bIns="0" rtlCol="0" anchor="t"/>
          <a:lstStyle/>
          <a:p>
            <a:pPr indent="0" marL="0">
              <a:buNone/>
            </a:pPr>
            <a:r>
              <a:rPr lang="en-US" sz="1800" b="1" dirty="0">
                <a:solidFill>
                  <a:schemeClr val="tx1"/>
                </a:solidFill>
              </a:rPr>
              <a:t>Claude app</a:t>
            </a:r>
            <a:endParaRPr lang="en-US" sz="1800" dirty="0"/>
          </a:p>
        </p:txBody>
      </p:sp>
      <p:sp>
        <p:nvSpPr>
          <p:cNvPr id="7" name="Text 4"/>
          <p:cNvSpPr txBox="1"/>
          <p:nvPr/>
        </p:nvSpPr>
        <p:spPr>
          <a:xfrm>
            <a:off x="822960" y="2834640"/>
            <a:ext cx="2194560" cy="274320"/>
          </a:xfrm>
          <a:prstGeom prst="rect">
            <a:avLst/>
          </a:prstGeom>
          <a:noFill/>
          <a:ln/>
        </p:spPr>
        <p:txBody>
          <a:bodyPr wrap="square" lIns="0" tIns="0" rIns="0" bIns="0" rtlCol="0" anchor="t"/>
          <a:lstStyle/>
          <a:p>
            <a:pPr indent="0" marL="0">
              <a:buNone/>
            </a:pPr>
            <a:r>
              <a:rPr lang="en-US" sz="1200" i="1" dirty="0">
                <a:solidFill>
                  <a:schemeClr val="accent5"/>
                </a:solidFill>
              </a:rPr>
              <a:t>claude.ai, desktop, mobile</a:t>
            </a:r>
            <a:endParaRPr lang="en-US" sz="1200" dirty="0"/>
          </a:p>
        </p:txBody>
      </p:sp>
      <p:sp>
        <p:nvSpPr>
          <p:cNvPr id="8" name="Text 5"/>
          <p:cNvSpPr txBox="1"/>
          <p:nvPr/>
        </p:nvSpPr>
        <p:spPr>
          <a:xfrm>
            <a:off x="822960" y="3246120"/>
            <a:ext cx="21945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Model picker</a:t>
            </a:r>
            <a:endParaRPr lang="en-US" sz="1300" dirty="0"/>
          </a:p>
          <a:p>
            <a:pPr marL="342900" indent="-342900">
              <a:spcAft>
                <a:spcPts val="600"/>
              </a:spcAft>
              <a:buSzPct val="100000"/>
              <a:buChar char="•"/>
            </a:pPr>
            <a:r>
              <a:rPr lang="en-US" sz="1300" dirty="0">
                <a:solidFill>
                  <a:schemeClr val="tx2"/>
                </a:solidFill>
              </a:rPr>
              <a:t>Extended thinking / effort</a:t>
            </a:r>
            <a:endParaRPr lang="en-US" sz="1300" dirty="0"/>
          </a:p>
          <a:p>
            <a:pPr marL="342900" indent="-342900">
              <a:spcAft>
                <a:spcPts val="600"/>
              </a:spcAft>
              <a:buSzPct val="100000"/>
              <a:buChar char="•"/>
            </a:pPr>
            <a:r>
              <a:rPr lang="en-US" sz="1300" dirty="0">
                <a:solidFill>
                  <a:schemeClr val="tx2"/>
                </a:solidFill>
              </a:rPr>
              <a:t>Projects: shared files and instructions</a:t>
            </a:r>
            <a:endParaRPr lang="en-US" sz="1300" dirty="0"/>
          </a:p>
          <a:p>
            <a:pPr marL="342900" indent="-342900">
              <a:spcAft>
                <a:spcPts val="600"/>
              </a:spcAft>
              <a:buSzPct val="100000"/>
              <a:buChar char="•"/>
            </a:pPr>
            <a:r>
              <a:rPr lang="en-US" sz="1300" dirty="0">
                <a:solidFill>
                  <a:schemeClr val="tx2"/>
                </a:solidFill>
              </a:rPr>
              <a:t>Styles, custom instructions, memory</a:t>
            </a:r>
            <a:endParaRPr lang="en-US" sz="1300" dirty="0"/>
          </a:p>
          <a:p>
            <a:pPr marL="342900" indent="-342900">
              <a:spcAft>
                <a:spcPts val="600"/>
              </a:spcAft>
              <a:buSzPct val="100000"/>
              <a:buChar char="•"/>
            </a:pPr>
            <a:r>
              <a:rPr lang="en-US" sz="1300" dirty="0">
                <a:solidFill>
                  <a:schemeClr val="tx2"/>
                </a:solidFill>
              </a:rPr>
              <a:t>No temperature or context sliders</a:t>
            </a:r>
            <a:endParaRPr lang="en-US" sz="1300" dirty="0"/>
          </a:p>
        </p:txBody>
      </p:sp>
      <p:sp>
        <p:nvSpPr>
          <p:cNvPr id="9" name="card"/>
          <p:cNvSpPr/>
          <p:nvPr/>
        </p:nvSpPr>
        <p:spPr>
          <a:xfrm>
            <a:off x="3364992" y="1371600"/>
            <a:ext cx="2615184" cy="4663440"/>
          </a:xfrm>
          <a:prstGeom prst="roundRect">
            <a:avLst>
              <a:gd name="adj" fmla="val 2797"/>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10" name="icon circle"/>
          <p:cNvSpPr/>
          <p:nvPr/>
        </p:nvSpPr>
        <p:spPr>
          <a:xfrm>
            <a:off x="3639312" y="1645920"/>
            <a:ext cx="685800" cy="685800"/>
          </a:xfrm>
          <a:prstGeom prst="ellipse">
            <a:avLst/>
          </a:prstGeom>
          <a:solidFill>
            <a:schemeClr val="accent2"/>
          </a:solidFill>
          <a:ln w="12700">
            <a:solidFill>
              <a:schemeClr val="accent2"/>
            </a:solidFill>
            <a:prstDash val="solid"/>
          </a:ln>
        </p:spPr>
      </p:sp>
      <p:pic>
        <p:nvPicPr>
          <p:cNvPr id="11" name="Image 1" descr="Code icon">    </p:cNvPr>
          <p:cNvPicPr>
            <a:picLocks noChangeAspect="1"/>
          </p:cNvPicPr>
          <p:nvPr/>
        </p:nvPicPr>
        <p:blipFill>
          <a:blip r:embed="rId2"/>
          <a:stretch>
            <a:fillRect/>
          </a:stretch>
        </p:blipFill>
        <p:spPr>
          <a:xfrm>
            <a:off x="3810762" y="1817370"/>
            <a:ext cx="342900" cy="342900"/>
          </a:xfrm>
          <a:prstGeom prst="rect">
            <a:avLst/>
          </a:prstGeom>
        </p:spPr>
      </p:pic>
      <p:sp>
        <p:nvSpPr>
          <p:cNvPr id="12" name="Text 8"/>
          <p:cNvSpPr txBox="1"/>
          <p:nvPr/>
        </p:nvSpPr>
        <p:spPr>
          <a:xfrm>
            <a:off x="3639312" y="2468880"/>
            <a:ext cx="2194560" cy="365760"/>
          </a:xfrm>
          <a:prstGeom prst="rect">
            <a:avLst/>
          </a:prstGeom>
          <a:noFill/>
          <a:ln/>
        </p:spPr>
        <p:txBody>
          <a:bodyPr wrap="square" lIns="0" tIns="0" rIns="0" bIns="0" rtlCol="0" anchor="t"/>
          <a:lstStyle/>
          <a:p>
            <a:pPr indent="0" marL="0">
              <a:buNone/>
            </a:pPr>
            <a:r>
              <a:rPr lang="en-US" sz="1800" b="1" dirty="0">
                <a:solidFill>
                  <a:schemeClr val="tx1"/>
                </a:solidFill>
              </a:rPr>
              <a:t>Claude API</a:t>
            </a:r>
            <a:endParaRPr lang="en-US" sz="1800" dirty="0"/>
          </a:p>
        </p:txBody>
      </p:sp>
      <p:sp>
        <p:nvSpPr>
          <p:cNvPr id="13" name="Text 9"/>
          <p:cNvSpPr txBox="1"/>
          <p:nvPr/>
        </p:nvSpPr>
        <p:spPr>
          <a:xfrm>
            <a:off x="3639312" y="2834640"/>
            <a:ext cx="2194560" cy="274320"/>
          </a:xfrm>
          <a:prstGeom prst="rect">
            <a:avLst/>
          </a:prstGeom>
          <a:noFill/>
          <a:ln/>
        </p:spPr>
        <p:txBody>
          <a:bodyPr wrap="square" lIns="0" tIns="0" rIns="0" bIns="0" rtlCol="0" anchor="t"/>
          <a:lstStyle/>
          <a:p>
            <a:pPr indent="0" marL="0">
              <a:buNone/>
            </a:pPr>
            <a:r>
              <a:rPr lang="en-US" sz="1200" i="1" dirty="0">
                <a:solidFill>
                  <a:schemeClr val="accent5"/>
                </a:solidFill>
              </a:rPr>
              <a:t>Console Workbench + SDKs</a:t>
            </a:r>
            <a:endParaRPr lang="en-US" sz="1200" dirty="0"/>
          </a:p>
        </p:txBody>
      </p:sp>
      <p:sp>
        <p:nvSpPr>
          <p:cNvPr id="14" name="Text 10"/>
          <p:cNvSpPr txBox="1"/>
          <p:nvPr/>
        </p:nvSpPr>
        <p:spPr>
          <a:xfrm>
            <a:off x="3639312" y="3246120"/>
            <a:ext cx="21945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model, max_tokens, effort</a:t>
            </a:r>
            <a:endParaRPr lang="en-US" sz="1300" dirty="0"/>
          </a:p>
          <a:p>
            <a:pPr marL="342900" indent="-342900">
              <a:spcAft>
                <a:spcPts val="600"/>
              </a:spcAft>
              <a:buSzPct val="100000"/>
              <a:buChar char="•"/>
            </a:pPr>
            <a:r>
              <a:rPr lang="en-US" sz="1300" dirty="0">
                <a:solidFill>
                  <a:schemeClr val="tx2"/>
                </a:solidFill>
              </a:rPr>
              <a:t>system prompt, tools</a:t>
            </a:r>
            <a:endParaRPr lang="en-US" sz="1300" dirty="0"/>
          </a:p>
          <a:p>
            <a:pPr marL="342900" indent="-342900">
              <a:spcAft>
                <a:spcPts val="600"/>
              </a:spcAft>
              <a:buSzPct val="100000"/>
              <a:buChar char="•"/>
            </a:pPr>
            <a:r>
              <a:rPr lang="en-US" sz="1300" dirty="0">
                <a:solidFill>
                  <a:schemeClr val="tx2"/>
                </a:solidFill>
              </a:rPr>
              <a:t>cache_control, structured outputs</a:t>
            </a:r>
            <a:endParaRPr lang="en-US" sz="1300" dirty="0"/>
          </a:p>
          <a:p>
            <a:pPr marL="342900" indent="-342900">
              <a:spcAft>
                <a:spcPts val="600"/>
              </a:spcAft>
              <a:buSzPct val="100000"/>
              <a:buChar char="•"/>
            </a:pPr>
            <a:r>
              <a:rPr lang="en-US" sz="1300" dirty="0">
                <a:solidFill>
                  <a:schemeClr val="tx2"/>
                </a:solidFill>
              </a:rPr>
              <a:t>thinking display</a:t>
            </a:r>
            <a:endParaRPr lang="en-US" sz="1300" dirty="0"/>
          </a:p>
          <a:p>
            <a:pPr marL="342900" indent="-342900">
              <a:spcAft>
                <a:spcPts val="600"/>
              </a:spcAft>
              <a:buSzPct val="100000"/>
              <a:buChar char="•"/>
            </a:pPr>
            <a:r>
              <a:rPr lang="en-US" sz="1300" dirty="0">
                <a:solidFill>
                  <a:schemeClr val="tx2"/>
                </a:solidFill>
              </a:rPr>
              <a:t>Sampling: older models only</a:t>
            </a:r>
            <a:endParaRPr lang="en-US" sz="1300" dirty="0"/>
          </a:p>
        </p:txBody>
      </p:sp>
      <p:sp>
        <p:nvSpPr>
          <p:cNvPr id="15" name="card"/>
          <p:cNvSpPr/>
          <p:nvPr/>
        </p:nvSpPr>
        <p:spPr>
          <a:xfrm>
            <a:off x="6181344" y="1371600"/>
            <a:ext cx="2615184" cy="4663440"/>
          </a:xfrm>
          <a:prstGeom prst="roundRect">
            <a:avLst>
              <a:gd name="adj" fmla="val 2797"/>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16" name="icon circle"/>
          <p:cNvSpPr/>
          <p:nvPr/>
        </p:nvSpPr>
        <p:spPr>
          <a:xfrm>
            <a:off x="6455664" y="1645920"/>
            <a:ext cx="685800" cy="685800"/>
          </a:xfrm>
          <a:prstGeom prst="ellipse">
            <a:avLst/>
          </a:prstGeom>
          <a:solidFill>
            <a:schemeClr val="accent3"/>
          </a:solidFill>
          <a:ln w="12700">
            <a:solidFill>
              <a:schemeClr val="accent3"/>
            </a:solidFill>
            <a:prstDash val="solid"/>
          </a:ln>
        </p:spPr>
      </p:sp>
      <p:pic>
        <p:nvPicPr>
          <p:cNvPr id="17" name="Image 2" descr="Terminal icon">    </p:cNvPr>
          <p:cNvPicPr>
            <a:picLocks noChangeAspect="1"/>
          </p:cNvPicPr>
          <p:nvPr/>
        </p:nvPicPr>
        <p:blipFill>
          <a:blip r:embed="rId3"/>
          <a:stretch>
            <a:fillRect/>
          </a:stretch>
        </p:blipFill>
        <p:spPr>
          <a:xfrm>
            <a:off x="6627114" y="1817370"/>
            <a:ext cx="342900" cy="342900"/>
          </a:xfrm>
          <a:prstGeom prst="rect">
            <a:avLst/>
          </a:prstGeom>
        </p:spPr>
      </p:pic>
      <p:sp>
        <p:nvSpPr>
          <p:cNvPr id="18" name="Text 13"/>
          <p:cNvSpPr txBox="1"/>
          <p:nvPr/>
        </p:nvSpPr>
        <p:spPr>
          <a:xfrm>
            <a:off x="6455664" y="2468880"/>
            <a:ext cx="2194560" cy="365760"/>
          </a:xfrm>
          <a:prstGeom prst="rect">
            <a:avLst/>
          </a:prstGeom>
          <a:noFill/>
          <a:ln/>
        </p:spPr>
        <p:txBody>
          <a:bodyPr wrap="square" lIns="0" tIns="0" rIns="0" bIns="0" rtlCol="0" anchor="t"/>
          <a:lstStyle/>
          <a:p>
            <a:pPr indent="0" marL="0">
              <a:buNone/>
            </a:pPr>
            <a:r>
              <a:rPr lang="en-US" sz="1800" b="1" dirty="0">
                <a:solidFill>
                  <a:schemeClr val="tx1"/>
                </a:solidFill>
              </a:rPr>
              <a:t>Claude Code</a:t>
            </a:r>
            <a:endParaRPr lang="en-US" sz="1800" dirty="0"/>
          </a:p>
        </p:txBody>
      </p:sp>
      <p:sp>
        <p:nvSpPr>
          <p:cNvPr id="19" name="Text 14"/>
          <p:cNvSpPr txBox="1"/>
          <p:nvPr/>
        </p:nvSpPr>
        <p:spPr>
          <a:xfrm>
            <a:off x="6455664" y="2834640"/>
            <a:ext cx="2194560" cy="274320"/>
          </a:xfrm>
          <a:prstGeom prst="rect">
            <a:avLst/>
          </a:prstGeom>
          <a:noFill/>
          <a:ln/>
        </p:spPr>
        <p:txBody>
          <a:bodyPr wrap="square" lIns="0" tIns="0" rIns="0" bIns="0" rtlCol="0" anchor="t"/>
          <a:lstStyle/>
          <a:p>
            <a:pPr indent="0" marL="0">
              <a:buNone/>
            </a:pPr>
            <a:r>
              <a:rPr lang="en-US" sz="1200" i="1" dirty="0">
                <a:solidFill>
                  <a:schemeClr val="accent5"/>
                </a:solidFill>
              </a:rPr>
              <a:t>terminal, IDE, desktop, web</a:t>
            </a:r>
            <a:endParaRPr lang="en-US" sz="1200" dirty="0"/>
          </a:p>
        </p:txBody>
      </p:sp>
      <p:sp>
        <p:nvSpPr>
          <p:cNvPr id="20" name="Text 15"/>
          <p:cNvSpPr txBox="1"/>
          <p:nvPr/>
        </p:nvSpPr>
        <p:spPr>
          <a:xfrm>
            <a:off x="6455664" y="3246120"/>
            <a:ext cx="21945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/model and /effort</a:t>
            </a:r>
            <a:endParaRPr lang="en-US" sz="1300" dirty="0"/>
          </a:p>
          <a:p>
            <a:pPr marL="342900" indent="-342900">
              <a:spcAft>
                <a:spcPts val="600"/>
              </a:spcAft>
              <a:buSzPct val="100000"/>
              <a:buChar char="•"/>
            </a:pPr>
            <a:r>
              <a:rPr lang="en-US" sz="1300" dirty="0">
                <a:solidFill>
                  <a:schemeClr val="tx2"/>
                </a:solidFill>
              </a:rPr>
              <a:t>Shift+Tab → plan mode</a:t>
            </a:r>
            <a:endParaRPr lang="en-US" sz="1300" dirty="0"/>
          </a:p>
          <a:p>
            <a:pPr marL="342900" indent="-342900">
              <a:spcAft>
                <a:spcPts val="600"/>
              </a:spcAft>
              <a:buSzPct val="100000"/>
              <a:buChar char="•"/>
            </a:pPr>
            <a:r>
              <a:rPr lang="en-US" sz="1300" dirty="0">
                <a:solidFill>
                  <a:schemeClr val="tx2"/>
                </a:solidFill>
              </a:rPr>
              <a:t>CLAUDE.md, settings.json</a:t>
            </a:r>
            <a:endParaRPr lang="en-US" sz="1300" dirty="0"/>
          </a:p>
          <a:p>
            <a:pPr marL="342900" indent="-342900">
              <a:spcAft>
                <a:spcPts val="600"/>
              </a:spcAft>
              <a:buSzPct val="100000"/>
              <a:buChar char="•"/>
            </a:pPr>
            <a:r>
              <a:rPr lang="en-US" sz="1300" dirty="0">
                <a:solidFill>
                  <a:schemeClr val="tx2"/>
                </a:solidFill>
              </a:rPr>
              <a:t>/compact, /clear for context</a:t>
            </a:r>
            <a:endParaRPr lang="en-US" sz="1300" dirty="0"/>
          </a:p>
          <a:p>
            <a:pPr marL="342900" indent="-342900">
              <a:spcAft>
                <a:spcPts val="600"/>
              </a:spcAft>
              <a:buSzPct val="100000"/>
              <a:buChar char="•"/>
            </a:pPr>
            <a:r>
              <a:rPr lang="en-US" sz="1300" dirty="0">
                <a:solidFill>
                  <a:schemeClr val="tx2"/>
                </a:solidFill>
              </a:rPr>
              <a:t>Subagents, skills, hooks</a:t>
            </a:r>
            <a:endParaRPr lang="en-US" sz="1300" dirty="0"/>
          </a:p>
        </p:txBody>
      </p:sp>
      <p:sp>
        <p:nvSpPr>
          <p:cNvPr id="21" name="card"/>
          <p:cNvSpPr/>
          <p:nvPr/>
        </p:nvSpPr>
        <p:spPr>
          <a:xfrm>
            <a:off x="8997696" y="1371600"/>
            <a:ext cx="2615184" cy="4663440"/>
          </a:xfrm>
          <a:prstGeom prst="roundRect">
            <a:avLst>
              <a:gd name="adj" fmla="val 2797"/>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22" name="icon circle"/>
          <p:cNvSpPr/>
          <p:nvPr/>
        </p:nvSpPr>
        <p:spPr>
          <a:xfrm>
            <a:off x="9272016" y="1645920"/>
            <a:ext cx="685800" cy="685800"/>
          </a:xfrm>
          <a:prstGeom prst="ellipse">
            <a:avLst/>
          </a:prstGeom>
          <a:solidFill>
            <a:schemeClr val="accent4"/>
          </a:solidFill>
          <a:ln w="12700">
            <a:solidFill>
              <a:schemeClr val="accent4"/>
            </a:solidFill>
            <a:prstDash val="solid"/>
          </a:ln>
        </p:spPr>
      </p:sp>
      <p:pic>
        <p:nvPicPr>
          <p:cNvPr id="23" name="Image 3" descr="Server icon">    </p:cNvPr>
          <p:cNvPicPr>
            <a:picLocks noChangeAspect="1"/>
          </p:cNvPicPr>
          <p:nvPr/>
        </p:nvPicPr>
        <p:blipFill>
          <a:blip r:embed="rId4"/>
          <a:stretch>
            <a:fillRect/>
          </a:stretch>
        </p:blipFill>
        <p:spPr>
          <a:xfrm>
            <a:off x="9443466" y="1817370"/>
            <a:ext cx="342900" cy="342900"/>
          </a:xfrm>
          <a:prstGeom prst="rect">
            <a:avLst/>
          </a:prstGeom>
        </p:spPr>
      </p:pic>
      <p:sp>
        <p:nvSpPr>
          <p:cNvPr id="24" name="Text 18"/>
          <p:cNvSpPr txBox="1"/>
          <p:nvPr/>
        </p:nvSpPr>
        <p:spPr>
          <a:xfrm>
            <a:off x="9272016" y="2468880"/>
            <a:ext cx="2194560" cy="365760"/>
          </a:xfrm>
          <a:prstGeom prst="rect">
            <a:avLst/>
          </a:prstGeom>
          <a:noFill/>
          <a:ln/>
        </p:spPr>
        <p:txBody>
          <a:bodyPr wrap="square" lIns="0" tIns="0" rIns="0" bIns="0" rtlCol="0" anchor="t"/>
          <a:lstStyle/>
          <a:p>
            <a:pPr indent="0" marL="0">
              <a:buNone/>
            </a:pPr>
            <a:r>
              <a:rPr lang="en-US" sz="1800" b="1" dirty="0">
                <a:solidFill>
                  <a:schemeClr val="tx1"/>
                </a:solidFill>
              </a:rPr>
              <a:t>Local open models</a:t>
            </a:r>
            <a:endParaRPr lang="en-US" sz="1800" dirty="0"/>
          </a:p>
        </p:txBody>
      </p:sp>
      <p:sp>
        <p:nvSpPr>
          <p:cNvPr id="25" name="Text 19"/>
          <p:cNvSpPr txBox="1"/>
          <p:nvPr/>
        </p:nvSpPr>
        <p:spPr>
          <a:xfrm>
            <a:off x="9272016" y="2834640"/>
            <a:ext cx="2194560" cy="274320"/>
          </a:xfrm>
          <a:prstGeom prst="rect">
            <a:avLst/>
          </a:prstGeom>
          <a:noFill/>
          <a:ln/>
        </p:spPr>
        <p:txBody>
          <a:bodyPr wrap="square" lIns="0" tIns="0" rIns="0" bIns="0" rtlCol="0" anchor="t"/>
          <a:lstStyle/>
          <a:p>
            <a:pPr indent="0" marL="0">
              <a:buNone/>
            </a:pPr>
            <a:r>
              <a:rPr lang="en-US" sz="1200" i="1" dirty="0">
                <a:solidFill>
                  <a:schemeClr val="accent5"/>
                </a:solidFill>
              </a:rPr>
              <a:t>llama.cpp, Ollama, vLLM</a:t>
            </a:r>
            <a:endParaRPr lang="en-US" sz="1200" dirty="0"/>
          </a:p>
        </p:txBody>
      </p:sp>
      <p:sp>
        <p:nvSpPr>
          <p:cNvPr id="26" name="Text 20"/>
          <p:cNvSpPr txBox="1"/>
          <p:nvPr/>
        </p:nvSpPr>
        <p:spPr>
          <a:xfrm>
            <a:off x="9272016" y="3246120"/>
            <a:ext cx="21945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temperature, top_k, top_p</a:t>
            </a:r>
            <a:endParaRPr lang="en-US" sz="1300" dirty="0"/>
          </a:p>
          <a:p>
            <a:pPr marL="342900" indent="-342900">
              <a:spcAft>
                <a:spcPts val="600"/>
              </a:spcAft>
              <a:buSzPct val="100000"/>
              <a:buChar char="•"/>
            </a:pPr>
            <a:r>
              <a:rPr lang="en-US" sz="1300" dirty="0">
                <a:solidFill>
                  <a:schemeClr val="tx2"/>
                </a:solidFill>
              </a:rPr>
              <a:t>Context length</a:t>
            </a:r>
            <a:endParaRPr lang="en-US" sz="1300" dirty="0"/>
          </a:p>
          <a:p>
            <a:pPr marL="342900" indent="-342900">
              <a:spcAft>
                <a:spcPts val="600"/>
              </a:spcAft>
              <a:buSzPct val="100000"/>
              <a:buChar char="•"/>
            </a:pPr>
            <a:r>
              <a:rPr lang="en-US" sz="1300" dirty="0">
                <a:solidFill>
                  <a:schemeClr val="tx2"/>
                </a:solidFill>
              </a:rPr>
              <a:t>KV cache type (f16, q8_0)</a:t>
            </a:r>
            <a:endParaRPr lang="en-US" sz="1300" dirty="0"/>
          </a:p>
          <a:p>
            <a:pPr marL="342900" indent="-342900">
              <a:spcAft>
                <a:spcPts val="600"/>
              </a:spcAft>
              <a:buSzPct val="100000"/>
              <a:buChar char="•"/>
            </a:pPr>
            <a:r>
              <a:rPr lang="en-US" sz="1300" dirty="0">
                <a:solidFill>
                  <a:schemeClr val="tx2"/>
                </a:solidFill>
              </a:rPr>
              <a:t>GPU layers, batch size</a:t>
            </a:r>
            <a:endParaRPr lang="en-US" sz="1300" dirty="0"/>
          </a:p>
          <a:p>
            <a:pPr marL="342900" indent="-342900">
              <a:spcAft>
                <a:spcPts val="600"/>
              </a:spcAft>
              <a:buSzPct val="100000"/>
              <a:buChar char="•"/>
            </a:pPr>
            <a:r>
              <a:rPr lang="en-US" sz="1300" dirty="0">
                <a:solidFill>
                  <a:schemeClr val="tx2"/>
                </a:solidFill>
              </a:rPr>
              <a:t>All knobs, all yours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Anatomy of an API request: every setting in one place</a:t>
            </a:r>
            <a:endParaRPr lang="en-US" sz="3200" dirty="0"/>
          </a:p>
        </p:txBody>
      </p:sp>
      <p:sp>
        <p:nvSpPr>
          <p:cNvPr id="3" name="code panel"/>
          <p:cNvSpPr/>
          <p:nvPr/>
        </p:nvSpPr>
        <p:spPr>
          <a:xfrm>
            <a:off x="548640" y="1371600"/>
            <a:ext cx="6949440" cy="4663440"/>
          </a:xfrm>
          <a:prstGeom prst="roundRect">
            <a:avLst>
              <a:gd name="adj" fmla="val 1569"/>
            </a:avLst>
          </a:prstGeom>
          <a:solidFill>
            <a:schemeClr val="tx1"/>
          </a:solidFill>
          <a:ln w="12700">
            <a:solidFill>
              <a:schemeClr val="tx1"/>
            </a:solidFill>
            <a:prstDash val="solid"/>
          </a:ln>
        </p:spPr>
      </p:sp>
      <p:sp>
        <p:nvSpPr>
          <p:cNvPr id="4" name="Text 2"/>
          <p:cNvSpPr txBox="1"/>
          <p:nvPr/>
        </p:nvSpPr>
        <p:spPr>
          <a:xfrm>
            <a:off x="777240" y="1554480"/>
            <a:ext cx="6492240" cy="4297680"/>
          </a:xfrm>
          <a:prstGeom prst="rect">
            <a:avLst/>
          </a:prstGeom>
          <a:noFill/>
          <a:ln/>
        </p:spPr>
        <p:txBody>
          <a:bodyPr wrap="square" lIns="0" tIns="0" rIns="0" bIns="0" rtlCol="0" anchor="t"/>
          <a:lstStyle/>
          <a:p>
            <a:pPr indent="0" marL="0">
              <a:buNone/>
            </a:pPr>
            <a:r>
              <a:rPr lang="en-US" sz="1200" dirty="0">
                <a:solidFill>
                  <a:srgbClr val="E3E5EC"/>
                </a:solidFill>
                <a:latin typeface="Courier New" pitchFamily="34" charset="0"/>
                <a:ea typeface="Courier New" pitchFamily="34" charset="-122"/>
                <a:cs typeface="Courier New" pitchFamily="34" charset="-120"/>
              </a:rPr>
              <a:t>import anthropic</a:t>
            </a:r>
            <a:endParaRPr lang="en-US" sz="1200" dirty="0"/>
          </a:p>
          <a:p>
            <a:pPr indent="0" marL="0">
              <a:buNone/>
            </a:pPr>
            <a:r>
              <a:rPr lang="en-US" sz="1200" dirty="0">
                <a:solidFill>
                  <a:srgbClr val="E3E5EC"/>
                </a:solidFill>
                <a:latin typeface="Courier New" pitchFamily="34" charset="0"/>
                <a:ea typeface="Courier New" pitchFamily="34" charset="-122"/>
                <a:cs typeface="Courier New" pitchFamily="34" charset="-120"/>
              </a:rPr>
              <a:t>client = anthropic.Anthropic()</a:t>
            </a:r>
            <a:endParaRPr lang="en-US" sz="1200" dirty="0"/>
          </a:p>
          <a:p>
            <a:pPr indent="0" marL="0">
              <a:buNone/>
            </a:pPr>
            <a:endParaRPr lang="en-US" sz="1200" dirty="0"/>
          </a:p>
          <a:p>
            <a:pPr indent="0" marL="0">
              <a:buNone/>
            </a:pPr>
            <a:r>
              <a:rPr lang="en-US" sz="1200" dirty="0">
                <a:solidFill>
                  <a:srgbClr val="E3E5EC"/>
                </a:solidFill>
                <a:latin typeface="Courier New" pitchFamily="34" charset="0"/>
                <a:ea typeface="Courier New" pitchFamily="34" charset="-122"/>
                <a:cs typeface="Courier New" pitchFamily="34" charset="-120"/>
              </a:rPr>
              <a:t>resp = client.messages.create(</a:t>
            </a:r>
            <a:endParaRPr lang="en-US" sz="1200" dirty="0"/>
          </a:p>
          <a:p>
            <a:pPr indent="0" marL="0">
              <a:buNone/>
            </a:pPr>
            <a:r>
              <a:rPr lang="en-US" sz="1200" dirty="0">
                <a:solidFill>
                  <a:srgbClr val="E3E5EC"/>
                </a:solidFill>
                <a:latin typeface="Courier New" pitchFamily="34" charset="0"/>
                <a:ea typeface="Courier New" pitchFamily="34" charset="-122"/>
                <a:cs typeface="Courier New" pitchFamily="34" charset="-120"/>
              </a:rPr>
              <a:t>    model="claude-opus-5-5",          # 1 which model</a:t>
            </a:r>
            <a:endParaRPr lang="en-US" sz="1200" dirty="0"/>
          </a:p>
          <a:p>
            <a:pPr indent="0" marL="0">
              <a:buNone/>
            </a:pPr>
            <a:r>
              <a:rPr lang="en-US" sz="1200" dirty="0">
                <a:solidFill>
                  <a:srgbClr val="E3E5EC"/>
                </a:solidFill>
                <a:latin typeface="Courier New" pitchFamily="34" charset="0"/>
                <a:ea typeface="Courier New" pitchFamily="34" charset="-122"/>
                <a:cs typeface="Courier New" pitchFamily="34" charset="-120"/>
              </a:rPr>
              <a:t>    max_tokens=16000,                 # 2 output cap</a:t>
            </a:r>
            <a:endParaRPr lang="en-US" sz="1200" dirty="0"/>
          </a:p>
          <a:p>
            <a:pPr indent="0" marL="0">
              <a:buNone/>
            </a:pPr>
            <a:r>
              <a:rPr lang="en-US" sz="1200" dirty="0">
                <a:solidFill>
                  <a:srgbClr val="E3E5EC"/>
                </a:solidFill>
                <a:latin typeface="Courier New" pitchFamily="34" charset="0"/>
                <a:ea typeface="Courier New" pitchFamily="34" charset="-122"/>
                <a:cs typeface="Courier New" pitchFamily="34" charset="-120"/>
              </a:rPr>
              <a:t>    output_config={"effort": "medium"},  # 3 depth</a:t>
            </a:r>
            <a:endParaRPr lang="en-US" sz="1200" dirty="0"/>
          </a:p>
          <a:p>
            <a:pPr indent="0" marL="0">
              <a:buNone/>
            </a:pPr>
            <a:r>
              <a:rPr lang="en-US" sz="1200" dirty="0">
                <a:solidFill>
                  <a:srgbClr val="E3E5EC"/>
                </a:solidFill>
                <a:latin typeface="Courier New" pitchFamily="34" charset="0"/>
                <a:ea typeface="Courier New" pitchFamily="34" charset="-122"/>
                <a:cs typeface="Courier New" pitchFamily="34" charset="-120"/>
              </a:rPr>
              <a:t>    thinking={"type": "adaptive",</a:t>
            </a:r>
            <a:endParaRPr lang="en-US" sz="1200" dirty="0"/>
          </a:p>
          <a:p>
            <a:pPr indent="0" marL="0">
              <a:buNone/>
            </a:pPr>
            <a:r>
              <a:rPr lang="en-US" sz="1200" dirty="0">
                <a:solidFill>
                  <a:srgbClr val="E3E5EC"/>
                </a:solidFill>
                <a:latin typeface="Courier New" pitchFamily="34" charset="0"/>
                <a:ea typeface="Courier New" pitchFamily="34" charset="-122"/>
                <a:cs typeface="Courier New" pitchFamily="34" charset="-120"/>
              </a:rPr>
              <a:t>              "display": "summarized"},  # 4 see reasoning</a:t>
            </a:r>
            <a:endParaRPr lang="en-US" sz="1200" dirty="0"/>
          </a:p>
          <a:p>
            <a:pPr indent="0" marL="0">
              <a:buNone/>
            </a:pPr>
            <a:r>
              <a:rPr lang="en-US" sz="1200" dirty="0">
                <a:solidFill>
                  <a:srgbClr val="E3E5EC"/>
                </a:solidFill>
                <a:latin typeface="Courier New" pitchFamily="34" charset="0"/>
                <a:ea typeface="Courier New" pitchFamily="34" charset="-122"/>
                <a:cs typeface="Courier New" pitchFamily="34" charset="-120"/>
              </a:rPr>
              <a:t>    system=[{"type": "text", "text": RULES,</a:t>
            </a:r>
            <a:endParaRPr lang="en-US" sz="1200" dirty="0"/>
          </a:p>
          <a:p>
            <a:pPr indent="0" marL="0">
              <a:buNone/>
            </a:pPr>
            <a:r>
              <a:rPr lang="en-US" sz="1200" dirty="0">
                <a:solidFill>
                  <a:srgbClr val="E3E5EC"/>
                </a:solidFill>
                <a:latin typeface="Courier New" pitchFamily="34" charset="0"/>
                <a:ea typeface="Courier New" pitchFamily="34" charset="-122"/>
                <a:cs typeface="Courier New" pitchFamily="34" charset="-120"/>
              </a:rPr>
              <a:t>             "cache_control": {"type": "ephemeral"}}],  # 5</a:t>
            </a:r>
            <a:endParaRPr lang="en-US" sz="1200" dirty="0"/>
          </a:p>
          <a:p>
            <a:pPr indent="0" marL="0">
              <a:buNone/>
            </a:pPr>
            <a:r>
              <a:rPr lang="en-US" sz="1200" dirty="0">
                <a:solidFill>
                  <a:srgbClr val="E3E5EC"/>
                </a:solidFill>
                <a:latin typeface="Courier New" pitchFamily="34" charset="0"/>
                <a:ea typeface="Courier New" pitchFamily="34" charset="-122"/>
                <a:cs typeface="Courier New" pitchFamily="34" charset="-120"/>
              </a:rPr>
              <a:t>    tools=[search_tool],              # 6 what it can do</a:t>
            </a:r>
            <a:endParaRPr lang="en-US" sz="1200" dirty="0"/>
          </a:p>
          <a:p>
            <a:pPr indent="0" marL="0">
              <a:buNone/>
            </a:pPr>
            <a:r>
              <a:rPr lang="en-US" sz="1200" dirty="0">
                <a:solidFill>
                  <a:srgbClr val="E3E5EC"/>
                </a:solidFill>
                <a:latin typeface="Courier New" pitchFamily="34" charset="0"/>
                <a:ea typeface="Courier New" pitchFamily="34" charset="-122"/>
                <a:cs typeface="Courier New" pitchFamily="34" charset="-120"/>
              </a:rPr>
              <a:t>    messages=[{"role": "user", "content": question}],</a:t>
            </a:r>
            <a:endParaRPr lang="en-US" sz="1200" dirty="0"/>
          </a:p>
          <a:p>
            <a:pPr indent="0" marL="0">
              <a:buNone/>
            </a:pPr>
            <a:r>
              <a:rPr lang="en-US" sz="1200" dirty="0">
                <a:solidFill>
                  <a:srgbClr val="E3E5EC"/>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E3E5EC"/>
                </a:solidFill>
                <a:latin typeface="Courier New" pitchFamily="34" charset="0"/>
                <a:ea typeface="Courier New" pitchFamily="34" charset="-122"/>
                <a:cs typeface="Courier New" pitchFamily="34" charset="-120"/>
              </a:rPr>
              <a:t>print(resp.usage)   # 7 tokens, cache hits, cost</a:t>
            </a:r>
            <a:endParaRPr lang="en-US" sz="1200" dirty="0"/>
          </a:p>
        </p:txBody>
      </p:sp>
      <p:sp>
        <p:nvSpPr>
          <p:cNvPr id="5" name="number"/>
          <p:cNvSpPr/>
          <p:nvPr/>
        </p:nvSpPr>
        <p:spPr>
          <a:xfrm>
            <a:off x="7772400" y="1417320"/>
            <a:ext cx="411480" cy="411480"/>
          </a:xfrm>
          <a:prstGeom prst="ellipse">
            <a:avLst/>
          </a:prstGeom>
          <a:solidFill>
            <a:schemeClr val="accent1"/>
          </a:solidFill>
          <a:ln w="12700">
            <a:solidFill>
              <a:schemeClr val="accent1"/>
            </a:solidFill>
            <a:prstDash val="solid"/>
          </a:ln>
        </p:spPr>
      </p:sp>
      <p:sp>
        <p:nvSpPr>
          <p:cNvPr id="6" name="Text 4"/>
          <p:cNvSpPr txBox="1"/>
          <p:nvPr/>
        </p:nvSpPr>
        <p:spPr>
          <a:xfrm>
            <a:off x="7772400" y="14173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8321040" y="1371600"/>
            <a:ext cx="3291840" cy="548640"/>
          </a:xfrm>
          <a:prstGeom prst="rect">
            <a:avLst/>
          </a:prstGeom>
          <a:noFill/>
          <a:ln/>
        </p:spPr>
        <p:txBody>
          <a:bodyPr wrap="square" lIns="0" tIns="0" rIns="0" bIns="0" rtlCol="0" anchor="ctr"/>
          <a:lstStyle/>
          <a:p>
            <a:pPr indent="0" marL="0">
              <a:buNone/>
            </a:pPr>
            <a:r>
              <a:rPr lang="en-US" sz="1300" b="1" dirty="0">
                <a:solidFill>
                  <a:schemeClr val="tx1"/>
                </a:solidFill>
              </a:rPr>
              <a:t>Model  </a:t>
            </a:r>
            <a:pPr indent="0" marL="0">
              <a:buNone/>
            </a:pPr>
            <a:r>
              <a:rPr lang="en-US" sz="1300" dirty="0">
                <a:solidFill>
                  <a:schemeClr val="tx2"/>
                </a:solidFill>
              </a:rPr>
              <a:t>Opus for hard work, Sonnet for balance, Haiku for speed</a:t>
            </a:r>
            <a:endParaRPr lang="en-US" sz="1300" dirty="0"/>
          </a:p>
        </p:txBody>
      </p:sp>
      <p:sp>
        <p:nvSpPr>
          <p:cNvPr id="8" name="number"/>
          <p:cNvSpPr/>
          <p:nvPr/>
        </p:nvSpPr>
        <p:spPr>
          <a:xfrm>
            <a:off x="7772400" y="2084832"/>
            <a:ext cx="411480" cy="411480"/>
          </a:xfrm>
          <a:prstGeom prst="ellipse">
            <a:avLst/>
          </a:prstGeom>
          <a:solidFill>
            <a:schemeClr val="accent1"/>
          </a:solidFill>
          <a:ln w="12700">
            <a:solidFill>
              <a:schemeClr val="accent1"/>
            </a:solidFill>
            <a:prstDash val="solid"/>
          </a:ln>
        </p:spPr>
      </p:sp>
      <p:sp>
        <p:nvSpPr>
          <p:cNvPr id="9" name="Text 7"/>
          <p:cNvSpPr txBox="1"/>
          <p:nvPr/>
        </p:nvSpPr>
        <p:spPr>
          <a:xfrm>
            <a:off x="7772400" y="2084832"/>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8"/>
          <p:cNvSpPr txBox="1"/>
          <p:nvPr/>
        </p:nvSpPr>
        <p:spPr>
          <a:xfrm>
            <a:off x="8321040" y="2039112"/>
            <a:ext cx="3291840" cy="548640"/>
          </a:xfrm>
          <a:prstGeom prst="rect">
            <a:avLst/>
          </a:prstGeom>
          <a:noFill/>
          <a:ln/>
        </p:spPr>
        <p:txBody>
          <a:bodyPr wrap="square" lIns="0" tIns="0" rIns="0" bIns="0" rtlCol="0" anchor="ctr"/>
          <a:lstStyle/>
          <a:p>
            <a:pPr indent="0" marL="0">
              <a:buNone/>
            </a:pPr>
            <a:r>
              <a:rPr lang="en-US" sz="1300" b="1" dirty="0">
                <a:solidFill>
                  <a:schemeClr val="tx1"/>
                </a:solidFill>
              </a:rPr>
              <a:t>max_tokens  </a:t>
            </a:r>
            <a:pPr indent="0" marL="0">
              <a:buNone/>
            </a:pPr>
            <a:r>
              <a:rPr lang="en-US" sz="1300" dirty="0">
                <a:solidFill>
                  <a:schemeClr val="tx2"/>
                </a:solidFill>
              </a:rPr>
              <a:t>Covers thinking + answer</a:t>
            </a:r>
            <a:endParaRPr lang="en-US" sz="1300" dirty="0"/>
          </a:p>
        </p:txBody>
      </p:sp>
      <p:sp>
        <p:nvSpPr>
          <p:cNvPr id="11" name="number"/>
          <p:cNvSpPr/>
          <p:nvPr/>
        </p:nvSpPr>
        <p:spPr>
          <a:xfrm>
            <a:off x="7772400" y="2752344"/>
            <a:ext cx="411480" cy="411480"/>
          </a:xfrm>
          <a:prstGeom prst="ellipse">
            <a:avLst/>
          </a:prstGeom>
          <a:solidFill>
            <a:schemeClr val="accent1"/>
          </a:solidFill>
          <a:ln w="12700">
            <a:solidFill>
              <a:schemeClr val="accent1"/>
            </a:solidFill>
            <a:prstDash val="solid"/>
          </a:ln>
        </p:spPr>
      </p:sp>
      <p:sp>
        <p:nvSpPr>
          <p:cNvPr id="12" name="Text 10"/>
          <p:cNvSpPr txBox="1"/>
          <p:nvPr/>
        </p:nvSpPr>
        <p:spPr>
          <a:xfrm>
            <a:off x="7772400" y="2752344"/>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8321040" y="2706624"/>
            <a:ext cx="3291840" cy="548640"/>
          </a:xfrm>
          <a:prstGeom prst="rect">
            <a:avLst/>
          </a:prstGeom>
          <a:noFill/>
          <a:ln/>
        </p:spPr>
        <p:txBody>
          <a:bodyPr wrap="square" lIns="0" tIns="0" rIns="0" bIns="0" rtlCol="0" anchor="ctr"/>
          <a:lstStyle/>
          <a:p>
            <a:pPr indent="0" marL="0">
              <a:buNone/>
            </a:pPr>
            <a:r>
              <a:rPr lang="en-US" sz="1300" b="1" dirty="0">
                <a:solidFill>
                  <a:schemeClr val="tx1"/>
                </a:solidFill>
              </a:rPr>
              <a:t>Effort  </a:t>
            </a:r>
            <a:pPr indent="0" marL="0">
              <a:buNone/>
            </a:pPr>
            <a:r>
              <a:rPr lang="en-US" sz="1300" dirty="0">
                <a:solidFill>
                  <a:schemeClr val="tx2"/>
                </a:solidFill>
              </a:rPr>
              <a:t>The quality / speed / cost dial</a:t>
            </a:r>
            <a:endParaRPr lang="en-US" sz="1300" dirty="0"/>
          </a:p>
        </p:txBody>
      </p:sp>
      <p:sp>
        <p:nvSpPr>
          <p:cNvPr id="14" name="number"/>
          <p:cNvSpPr/>
          <p:nvPr/>
        </p:nvSpPr>
        <p:spPr>
          <a:xfrm>
            <a:off x="7772400" y="3419856"/>
            <a:ext cx="411480" cy="411480"/>
          </a:xfrm>
          <a:prstGeom prst="ellipse">
            <a:avLst/>
          </a:prstGeom>
          <a:solidFill>
            <a:schemeClr val="accent1"/>
          </a:solidFill>
          <a:ln w="12700">
            <a:solidFill>
              <a:schemeClr val="accent1"/>
            </a:solidFill>
            <a:prstDash val="solid"/>
          </a:ln>
        </p:spPr>
      </p:sp>
      <p:sp>
        <p:nvSpPr>
          <p:cNvPr id="15" name="Text 13"/>
          <p:cNvSpPr txBox="1"/>
          <p:nvPr/>
        </p:nvSpPr>
        <p:spPr>
          <a:xfrm>
            <a:off x="7772400" y="3419856"/>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6" name="Text 14"/>
          <p:cNvSpPr txBox="1"/>
          <p:nvPr/>
        </p:nvSpPr>
        <p:spPr>
          <a:xfrm>
            <a:off x="8321040" y="3374136"/>
            <a:ext cx="3291840" cy="548640"/>
          </a:xfrm>
          <a:prstGeom prst="rect">
            <a:avLst/>
          </a:prstGeom>
          <a:noFill/>
          <a:ln/>
        </p:spPr>
        <p:txBody>
          <a:bodyPr wrap="square" lIns="0" tIns="0" rIns="0" bIns="0" rtlCol="0" anchor="ctr"/>
          <a:lstStyle/>
          <a:p>
            <a:pPr indent="0" marL="0">
              <a:buNone/>
            </a:pPr>
            <a:r>
              <a:rPr lang="en-US" sz="1300" b="1" dirty="0">
                <a:solidFill>
                  <a:schemeClr val="tx1"/>
                </a:solidFill>
              </a:rPr>
              <a:t>Thinking  </a:t>
            </a:r>
            <a:pPr indent="0" marL="0">
              <a:buNone/>
            </a:pPr>
            <a:r>
              <a:rPr lang="en-US" sz="1300" dirty="0">
                <a:solidFill>
                  <a:schemeClr val="tx2"/>
                </a:solidFill>
              </a:rPr>
              <a:t>Adaptive; 'summarized' shows a readable summary</a:t>
            </a:r>
            <a:endParaRPr lang="en-US" sz="1300" dirty="0"/>
          </a:p>
        </p:txBody>
      </p:sp>
      <p:sp>
        <p:nvSpPr>
          <p:cNvPr id="17" name="number"/>
          <p:cNvSpPr/>
          <p:nvPr/>
        </p:nvSpPr>
        <p:spPr>
          <a:xfrm>
            <a:off x="7772400" y="4087368"/>
            <a:ext cx="411480" cy="411480"/>
          </a:xfrm>
          <a:prstGeom prst="ellipse">
            <a:avLst/>
          </a:prstGeom>
          <a:solidFill>
            <a:schemeClr val="accent1"/>
          </a:solidFill>
          <a:ln w="12700">
            <a:solidFill>
              <a:schemeClr val="accent1"/>
            </a:solidFill>
            <a:prstDash val="solid"/>
          </a:ln>
        </p:spPr>
      </p:sp>
      <p:sp>
        <p:nvSpPr>
          <p:cNvPr id="18" name="Text 16"/>
          <p:cNvSpPr txBox="1"/>
          <p:nvPr/>
        </p:nvSpPr>
        <p:spPr>
          <a:xfrm>
            <a:off x="7772400" y="408736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9" name="Text 17"/>
          <p:cNvSpPr txBox="1"/>
          <p:nvPr/>
        </p:nvSpPr>
        <p:spPr>
          <a:xfrm>
            <a:off x="8321040" y="4041648"/>
            <a:ext cx="3291840" cy="548640"/>
          </a:xfrm>
          <a:prstGeom prst="rect">
            <a:avLst/>
          </a:prstGeom>
          <a:noFill/>
          <a:ln/>
        </p:spPr>
        <p:txBody>
          <a:bodyPr wrap="square" lIns="0" tIns="0" rIns="0" bIns="0" rtlCol="0" anchor="ctr"/>
          <a:lstStyle/>
          <a:p>
            <a:pPr indent="0" marL="0">
              <a:buNone/>
            </a:pPr>
            <a:r>
              <a:rPr lang="en-US" sz="1300" b="1" dirty="0">
                <a:solidFill>
                  <a:schemeClr val="tx1"/>
                </a:solidFill>
              </a:rPr>
              <a:t>Cached system prompt  </a:t>
            </a:r>
            <a:pPr indent="0" marL="0">
              <a:buNone/>
            </a:pPr>
            <a:r>
              <a:rPr lang="en-US" sz="1300" dirty="0">
                <a:solidFill>
                  <a:schemeClr val="tx2"/>
                </a:solidFill>
              </a:rPr>
              <a:t>Stable rules first, cached</a:t>
            </a:r>
            <a:endParaRPr lang="en-US" sz="1300" dirty="0"/>
          </a:p>
        </p:txBody>
      </p:sp>
      <p:sp>
        <p:nvSpPr>
          <p:cNvPr id="20" name="number"/>
          <p:cNvSpPr/>
          <p:nvPr/>
        </p:nvSpPr>
        <p:spPr>
          <a:xfrm>
            <a:off x="7772400" y="4754880"/>
            <a:ext cx="411480" cy="411480"/>
          </a:xfrm>
          <a:prstGeom prst="ellipse">
            <a:avLst/>
          </a:prstGeom>
          <a:solidFill>
            <a:schemeClr val="accent1"/>
          </a:solidFill>
          <a:ln w="12700">
            <a:solidFill>
              <a:schemeClr val="accent1"/>
            </a:solidFill>
            <a:prstDash val="solid"/>
          </a:ln>
        </p:spPr>
      </p:sp>
      <p:sp>
        <p:nvSpPr>
          <p:cNvPr id="21" name="Text 19"/>
          <p:cNvSpPr txBox="1"/>
          <p:nvPr/>
        </p:nvSpPr>
        <p:spPr>
          <a:xfrm>
            <a:off x="7772400" y="47548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2" name="Text 20"/>
          <p:cNvSpPr txBox="1"/>
          <p:nvPr/>
        </p:nvSpPr>
        <p:spPr>
          <a:xfrm>
            <a:off x="8321040" y="4709160"/>
            <a:ext cx="3291840" cy="548640"/>
          </a:xfrm>
          <a:prstGeom prst="rect">
            <a:avLst/>
          </a:prstGeom>
          <a:noFill/>
          <a:ln/>
        </p:spPr>
        <p:txBody>
          <a:bodyPr wrap="square" lIns="0" tIns="0" rIns="0" bIns="0" rtlCol="0" anchor="ctr"/>
          <a:lstStyle/>
          <a:p>
            <a:pPr indent="0" marL="0">
              <a:buNone/>
            </a:pPr>
            <a:r>
              <a:rPr lang="en-US" sz="1300" b="1" dirty="0">
                <a:solidFill>
                  <a:schemeClr val="tx1"/>
                </a:solidFill>
              </a:rPr>
              <a:t>Tools  </a:t>
            </a:r>
            <a:pPr indent="0" marL="0">
              <a:buNone/>
            </a:pPr>
            <a:r>
              <a:rPr lang="en-US" sz="1300" dirty="0">
                <a:solidFill>
                  <a:schemeClr val="tx2"/>
                </a:solidFill>
              </a:rPr>
              <a:t>Functions, web search, code execution, MCP</a:t>
            </a:r>
            <a:endParaRPr lang="en-US" sz="1300" dirty="0"/>
          </a:p>
        </p:txBody>
      </p:sp>
      <p:sp>
        <p:nvSpPr>
          <p:cNvPr id="23" name="number"/>
          <p:cNvSpPr/>
          <p:nvPr/>
        </p:nvSpPr>
        <p:spPr>
          <a:xfrm>
            <a:off x="7772400" y="5422392"/>
            <a:ext cx="411480" cy="411480"/>
          </a:xfrm>
          <a:prstGeom prst="ellipse">
            <a:avLst/>
          </a:prstGeom>
          <a:solidFill>
            <a:schemeClr val="accent1"/>
          </a:solidFill>
          <a:ln w="12700">
            <a:solidFill>
              <a:schemeClr val="accent1"/>
            </a:solidFill>
            <a:prstDash val="solid"/>
          </a:ln>
        </p:spPr>
      </p:sp>
      <p:sp>
        <p:nvSpPr>
          <p:cNvPr id="24" name="Text 22"/>
          <p:cNvSpPr txBox="1"/>
          <p:nvPr/>
        </p:nvSpPr>
        <p:spPr>
          <a:xfrm>
            <a:off x="7772400" y="5422392"/>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25" name="Text 23"/>
          <p:cNvSpPr txBox="1"/>
          <p:nvPr/>
        </p:nvSpPr>
        <p:spPr>
          <a:xfrm>
            <a:off x="8321040" y="5376672"/>
            <a:ext cx="3291840" cy="548640"/>
          </a:xfrm>
          <a:prstGeom prst="rect">
            <a:avLst/>
          </a:prstGeom>
          <a:noFill/>
          <a:ln/>
        </p:spPr>
        <p:txBody>
          <a:bodyPr wrap="square" lIns="0" tIns="0" rIns="0" bIns="0" rtlCol="0" anchor="ctr"/>
          <a:lstStyle/>
          <a:p>
            <a:pPr indent="0" marL="0">
              <a:buNone/>
            </a:pPr>
            <a:r>
              <a:rPr lang="en-US" sz="1300" b="1" dirty="0">
                <a:solidFill>
                  <a:schemeClr val="tx1"/>
                </a:solidFill>
              </a:rPr>
              <a:t>usage  </a:t>
            </a:r>
            <a:pPr indent="0" marL="0">
              <a:buNone/>
            </a:pPr>
            <a:r>
              <a:rPr lang="en-US" sz="1300" dirty="0">
                <a:solidFill>
                  <a:schemeClr val="tx2"/>
                </a:solidFill>
              </a:rPr>
              <a:t>Always check it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Running models yourself? Here the classic knobs are real</a:t>
            </a:r>
            <a:endParaRPr lang="en-US" sz="3200" dirty="0"/>
          </a:p>
        </p:txBody>
      </p:sp>
      <p:graphicFrame>
        <p:nvGraphicFramePr>
          <p:cNvPr id="3" name="kv cache chart" descr=""/>
          <p:cNvGraphicFramePr/>
          <p:nvPr/>
        </p:nvGraphicFramePr>
        <p:xfrm>
          <a:off x="548640" y="1371600"/>
          <a:ext cx="5394960" cy="40233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486400"/>
            <a:ext cx="5394960" cy="548640"/>
          </a:xfrm>
          <a:prstGeom prst="rect">
            <a:avLst/>
          </a:prstGeom>
          <a:noFill/>
          <a:ln/>
        </p:spPr>
        <p:txBody>
          <a:bodyPr wrap="square" lIns="0" tIns="0" rIns="0" bIns="0" rtlCol="0" anchor="t"/>
          <a:lstStyle/>
          <a:p>
            <a:pPr indent="0" marL="0">
              <a:buNone/>
            </a:pPr>
            <a:r>
              <a:rPr lang="en-US" sz="1100" i="1" dirty="0">
                <a:solidFill>
                  <a:schemeClr val="accent5"/>
                </a:solidFill>
              </a:rPr>
              <a:t>KV bytes ≈ 2 × layers × KV heads × head dim × context × bytes per value  (Llama-3-8B: 128 KB per token at FP16)</a:t>
            </a:r>
            <a:endParaRPr lang="en-US" sz="1100" dirty="0"/>
          </a:p>
        </p:txBody>
      </p:sp>
      <p:sp>
        <p:nvSpPr>
          <p:cNvPr id="5" name="code panel"/>
          <p:cNvSpPr/>
          <p:nvPr/>
        </p:nvSpPr>
        <p:spPr>
          <a:xfrm>
            <a:off x="6309360" y="1371600"/>
            <a:ext cx="5303520" cy="4023360"/>
          </a:xfrm>
          <a:prstGeom prst="roundRect">
            <a:avLst>
              <a:gd name="adj" fmla="val 1818"/>
            </a:avLst>
          </a:prstGeom>
          <a:solidFill>
            <a:schemeClr val="tx1"/>
          </a:solidFill>
          <a:ln w="12700">
            <a:solidFill>
              <a:schemeClr val="tx1"/>
            </a:solidFill>
            <a:prstDash val="solid"/>
          </a:ln>
        </p:spPr>
      </p:sp>
      <p:sp>
        <p:nvSpPr>
          <p:cNvPr id="6" name="Text 3"/>
          <p:cNvSpPr txBox="1"/>
          <p:nvPr/>
        </p:nvSpPr>
        <p:spPr>
          <a:xfrm>
            <a:off x="6537960" y="1554480"/>
            <a:ext cx="4846320" cy="3657600"/>
          </a:xfrm>
          <a:prstGeom prst="rect">
            <a:avLst/>
          </a:prstGeom>
          <a:noFill/>
          <a:ln/>
        </p:spPr>
        <p:txBody>
          <a:bodyPr wrap="square" lIns="0" tIns="0" rIns="0" bIns="0" rtlCol="0" anchor="t"/>
          <a:lstStyle/>
          <a:p>
            <a:pPr indent="0" marL="0">
              <a:buNone/>
            </a:pPr>
            <a:r>
              <a:rPr lang="en-US" sz="1200" dirty="0">
                <a:solidFill>
                  <a:srgbClr val="E3E5EC"/>
                </a:solidFill>
                <a:latin typeface="Courier New" pitchFamily="34" charset="0"/>
                <a:ea typeface="Courier New" pitchFamily="34" charset="-122"/>
                <a:cs typeface="Courier New" pitchFamily="34" charset="-120"/>
              </a:rPr>
              <a:t># llama.cpp</a:t>
            </a:r>
            <a:endParaRPr lang="en-US" sz="1200" dirty="0"/>
          </a:p>
          <a:p>
            <a:pPr indent="0" marL="0">
              <a:buNone/>
            </a:pPr>
            <a:r>
              <a:rPr lang="en-US" sz="1200" dirty="0">
                <a:solidFill>
                  <a:srgbClr val="E3E5EC"/>
                </a:solidFill>
                <a:latin typeface="Courier New" pitchFamily="34" charset="0"/>
                <a:ea typeface="Courier New" pitchFamily="34" charset="-122"/>
                <a:cs typeface="Courier New" pitchFamily="34" charset="-120"/>
              </a:rPr>
              <a:t>llama-server -m model.gguf \</a:t>
            </a:r>
            <a:endParaRPr lang="en-US" sz="1200" dirty="0"/>
          </a:p>
          <a:p>
            <a:pPr indent="0" marL="0">
              <a:buNone/>
            </a:pPr>
            <a:r>
              <a:rPr lang="en-US" sz="1200" dirty="0">
                <a:solidFill>
                  <a:srgbClr val="E3E5EC"/>
                </a:solidFill>
                <a:latin typeface="Courier New" pitchFamily="34" charset="0"/>
                <a:ea typeface="Courier New" pitchFamily="34" charset="-122"/>
                <a:cs typeface="Courier New" pitchFamily="34" charset="-120"/>
              </a:rPr>
              <a:t>  --temp 0.7 --top-k 40 --top-p 0.9 \</a:t>
            </a:r>
            <a:endParaRPr lang="en-US" sz="1200" dirty="0"/>
          </a:p>
          <a:p>
            <a:pPr indent="0" marL="0">
              <a:buNone/>
            </a:pPr>
            <a:r>
              <a:rPr lang="en-US" sz="1200" dirty="0">
                <a:solidFill>
                  <a:srgbClr val="E3E5EC"/>
                </a:solidFill>
                <a:latin typeface="Courier New" pitchFamily="34" charset="0"/>
                <a:ea typeface="Courier New" pitchFamily="34" charset="-122"/>
                <a:cs typeface="Courier New" pitchFamily="34" charset="-120"/>
              </a:rPr>
              <a:t>  -c 32768 -fa on \</a:t>
            </a:r>
            <a:endParaRPr lang="en-US" sz="1200" dirty="0"/>
          </a:p>
          <a:p>
            <a:pPr indent="0" marL="0">
              <a:buNone/>
            </a:pPr>
            <a:r>
              <a:rPr lang="en-US" sz="1200" dirty="0">
                <a:solidFill>
                  <a:srgbClr val="E3E5EC"/>
                </a:solidFill>
                <a:latin typeface="Courier New" pitchFamily="34" charset="0"/>
                <a:ea typeface="Courier New" pitchFamily="34" charset="-122"/>
                <a:cs typeface="Courier New" pitchFamily="34" charset="-120"/>
              </a:rPr>
              <a:t>  --cache-type-k q8_0 --cache-type-v q8_0</a:t>
            </a:r>
            <a:endParaRPr lang="en-US" sz="1200" dirty="0"/>
          </a:p>
          <a:p>
            <a:pPr indent="0" marL="0">
              <a:buNone/>
            </a:pPr>
            <a:endParaRPr lang="en-US" sz="1200" dirty="0"/>
          </a:p>
          <a:p>
            <a:pPr indent="0" marL="0">
              <a:buNone/>
            </a:pPr>
            <a:r>
              <a:rPr lang="en-US" sz="1200" dirty="0">
                <a:solidFill>
                  <a:srgbClr val="E3E5EC"/>
                </a:solidFill>
                <a:latin typeface="Courier New" pitchFamily="34" charset="0"/>
                <a:ea typeface="Courier New" pitchFamily="34" charset="-122"/>
                <a:cs typeface="Courier New" pitchFamily="34" charset="-120"/>
              </a:rPr>
              <a:t># Ollama (Modelfile)</a:t>
            </a:r>
            <a:endParaRPr lang="en-US" sz="1200" dirty="0"/>
          </a:p>
          <a:p>
            <a:pPr indent="0" marL="0">
              <a:buNone/>
            </a:pPr>
            <a:r>
              <a:rPr lang="en-US" sz="1200" dirty="0">
                <a:solidFill>
                  <a:srgbClr val="E3E5EC"/>
                </a:solidFill>
                <a:latin typeface="Courier New" pitchFamily="34" charset="0"/>
                <a:ea typeface="Courier New" pitchFamily="34" charset="-122"/>
                <a:cs typeface="Courier New" pitchFamily="34" charset="-120"/>
              </a:rPr>
              <a:t>PARAMETER temperature 0.7</a:t>
            </a:r>
            <a:endParaRPr lang="en-US" sz="1200" dirty="0"/>
          </a:p>
          <a:p>
            <a:pPr indent="0" marL="0">
              <a:buNone/>
            </a:pPr>
            <a:r>
              <a:rPr lang="en-US" sz="1200" dirty="0">
                <a:solidFill>
                  <a:srgbClr val="E3E5EC"/>
                </a:solidFill>
                <a:latin typeface="Courier New" pitchFamily="34" charset="0"/>
                <a:ea typeface="Courier New" pitchFamily="34" charset="-122"/>
                <a:cs typeface="Courier New" pitchFamily="34" charset="-120"/>
              </a:rPr>
              <a:t>PARAMETER top_k 40</a:t>
            </a:r>
            <a:endParaRPr lang="en-US" sz="1200" dirty="0"/>
          </a:p>
          <a:p>
            <a:pPr indent="0" marL="0">
              <a:buNone/>
            </a:pPr>
            <a:r>
              <a:rPr lang="en-US" sz="1200" dirty="0">
                <a:solidFill>
                  <a:srgbClr val="E3E5EC"/>
                </a:solidFill>
                <a:latin typeface="Courier New" pitchFamily="34" charset="0"/>
                <a:ea typeface="Courier New" pitchFamily="34" charset="-122"/>
                <a:cs typeface="Courier New" pitchFamily="34" charset="-120"/>
              </a:rPr>
              <a:t>PARAMETER num_ctx 32768</a:t>
            </a:r>
            <a:endParaRPr lang="en-US" sz="1200" dirty="0"/>
          </a:p>
          <a:p>
            <a:pPr indent="0" marL="0">
              <a:buNone/>
            </a:pPr>
            <a:r>
              <a:rPr lang="en-US" sz="1200" dirty="0">
                <a:solidFill>
                  <a:srgbClr val="E3E5EC"/>
                </a:solidFill>
                <a:latin typeface="Courier New" pitchFamily="34" charset="0"/>
                <a:ea typeface="Courier New" pitchFamily="34" charset="-122"/>
                <a:cs typeface="Courier New" pitchFamily="34" charset="-120"/>
              </a:rPr>
              <a:t># env: OLLAMA_FLASH_ATTENTION=1</a:t>
            </a:r>
            <a:endParaRPr lang="en-US" sz="1200" dirty="0"/>
          </a:p>
          <a:p>
            <a:pPr indent="0" marL="0">
              <a:buNone/>
            </a:pPr>
            <a:r>
              <a:rPr lang="en-US" sz="1200" dirty="0">
                <a:solidFill>
                  <a:srgbClr val="E3E5EC"/>
                </a:solidFill>
                <a:latin typeface="Courier New" pitchFamily="34" charset="0"/>
                <a:ea typeface="Courier New" pitchFamily="34" charset="-122"/>
                <a:cs typeface="Courier New" pitchFamily="34" charset="-120"/>
              </a:rPr>
              <a:t>#      OLLAMA_KV_CACHE_TYPE=q8_0</a:t>
            </a:r>
            <a:endParaRPr lang="en-US" sz="1200" dirty="0"/>
          </a:p>
        </p:txBody>
      </p:sp>
      <p:sp>
        <p:nvSpPr>
          <p:cNvPr id="7" name="Text 4"/>
          <p:cNvSpPr txBox="1"/>
          <p:nvPr/>
        </p:nvSpPr>
        <p:spPr>
          <a:xfrm>
            <a:off x="6309360" y="5486400"/>
            <a:ext cx="5303520" cy="548640"/>
          </a:xfrm>
          <a:prstGeom prst="rect">
            <a:avLst/>
          </a:prstGeom>
          <a:noFill/>
          <a:ln/>
        </p:spPr>
        <p:txBody>
          <a:bodyPr wrap="square" lIns="0" tIns="0" rIns="0" bIns="0" rtlCol="0" anchor="t"/>
          <a:lstStyle/>
          <a:p>
            <a:pPr indent="0" marL="0">
              <a:buNone/>
            </a:pPr>
            <a:r>
              <a:rPr lang="en-US" sz="1300" dirty="0">
                <a:solidFill>
                  <a:schemeClr val="tx2"/>
                </a:solidFill>
              </a:rPr>
              <a:t>Longer context costs memory linearly. Quantizing the KV cache to 8-bit roughly halves it with little quality loss.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011680"/>
            <a:ext cx="5486400" cy="365760"/>
          </a:xfrm>
          <a:prstGeom prst="rect">
            <a:avLst/>
          </a:prstGeom>
          <a:noFill/>
          <a:ln/>
        </p:spPr>
        <p:txBody>
          <a:bodyPr wrap="square" lIns="0" tIns="0" rIns="0" bIns="0" rtlCol="0"/>
          <a:lstStyle/>
          <a:p>
            <a:pPr indent="0" marL="0">
              <a:buNone/>
            </a:pPr>
            <a:r>
              <a:rPr lang="en-US" sz="1400" b="1" spc="400" kern="0" dirty="0">
                <a:solidFill>
                  <a:schemeClr val="accent1"/>
                </a:solidFill>
              </a:rPr>
              <a:t>PART 4</a:t>
            </a:r>
            <a:endParaRPr lang="en-US" sz="1400" dirty="0"/>
          </a:p>
        </p:txBody>
      </p:sp>
      <p:sp>
        <p:nvSpPr>
          <p:cNvPr id="3" name="Text 0"/>
          <p:cNvSpPr/>
          <p:nvPr>
            <p:ph idx="101" type="title" hasCustomPrompt="1"/>
          </p:nvPr>
        </p:nvSpPr>
        <p:spPr>
          <a:xfrm>
            <a:off x="548640" y="2423160"/>
            <a:ext cx="6583680" cy="9144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Agents &amp; multi-agent</a:t>
            </a:r>
            <a:endParaRPr lang="en-US" sz="4000" dirty="0"/>
          </a:p>
        </p:txBody>
      </p:sp>
      <p:sp>
        <p:nvSpPr>
          <p:cNvPr id="4" name="Text 0"/>
          <p:cNvSpPr/>
          <p:nvPr>
            <p:ph idx="102" type="body" hasCustomPrompt="1"/>
          </p:nvPr>
        </p:nvSpPr>
        <p:spPr>
          <a:xfrm>
            <a:off x="548640" y="3474720"/>
            <a:ext cx="6217920" cy="1097280"/>
          </a:xfrm>
          <a:prstGeom prst="rect">
            <a:avLst/>
          </a:prstGeom>
          <a:noFill/>
          <a:ln/>
        </p:spPr>
        <p:txBody>
          <a:bodyPr wrap="square" lIns="0" tIns="0" rIns="0" bIns="0" rtlCol="0" anchor="t"/>
          <a:lstStyle/>
          <a:p>
            <a:pPr indent="0" marL="0">
              <a:buNone/>
            </a:pPr>
            <a:r>
              <a:rPr lang="en-US" sz="1800" dirty="0">
                <a:solidFill>
                  <a:schemeClr val="accent6"/>
                </a:solidFill>
              </a:rPr>
              <a:t>Give Claude tools and a loop, and it stops answering and starts doing. Then give it teammates.</a:t>
            </a:r>
            <a:endParaRPr lang="en-US" sz="1800" dirty="0"/>
          </a:p>
        </p:txBody>
      </p:sp>
      <p:sp>
        <p:nvSpPr>
          <p:cNvPr id="5" name="token chip"/>
          <p:cNvSpPr/>
          <p:nvPr/>
        </p:nvSpPr>
        <p:spPr>
          <a:xfrm>
            <a:off x="7863840" y="1645920"/>
            <a:ext cx="868680" cy="502920"/>
          </a:xfrm>
          <a:prstGeom prst="roundRect">
            <a:avLst>
              <a:gd name="adj" fmla="val 10909"/>
            </a:avLst>
          </a:prstGeom>
          <a:solidFill>
            <a:schemeClr val="accent1"/>
          </a:solidFill>
          <a:ln w="12700">
            <a:solidFill>
              <a:schemeClr val="accent1"/>
            </a:solidFill>
            <a:prstDash val="solid"/>
          </a:ln>
        </p:spPr>
      </p:sp>
      <p:sp>
        <p:nvSpPr>
          <p:cNvPr id="6" name="Text 4"/>
          <p:cNvSpPr txBox="1"/>
          <p:nvPr/>
        </p:nvSpPr>
        <p:spPr>
          <a:xfrm>
            <a:off x="7863840" y="1645920"/>
            <a:ext cx="868680" cy="502920"/>
          </a:xfrm>
          <a:prstGeom prst="rect">
            <a:avLst/>
          </a:prstGeom>
          <a:noFill/>
          <a:ln/>
        </p:spPr>
        <p:txBody>
          <a:bodyPr wrap="square" lIns="0" tIns="0" rIns="0" bIns="0" rtlCol="0" anchor="ctr"/>
          <a:lstStyle/>
          <a:p>
            <a:pPr algn="ctr" indent="0" marL="0">
              <a:buNone/>
            </a:pPr>
            <a:r>
              <a:rPr lang="en-US" sz="1600" dirty="0">
                <a:solidFill>
                  <a:schemeClr val="bg1"/>
                </a:solidFill>
              </a:rPr>
              <a:t>think</a:t>
            </a:r>
            <a:endParaRPr lang="en-US" sz="1600" dirty="0"/>
          </a:p>
        </p:txBody>
      </p:sp>
      <p:sp>
        <p:nvSpPr>
          <p:cNvPr id="7" name="token chip"/>
          <p:cNvSpPr/>
          <p:nvPr/>
        </p:nvSpPr>
        <p:spPr>
          <a:xfrm>
            <a:off x="8869680" y="1645920"/>
            <a:ext cx="630936" cy="502920"/>
          </a:xfrm>
          <a:prstGeom prst="roundRect">
            <a:avLst>
              <a:gd name="adj" fmla="val 10909"/>
            </a:avLst>
          </a:prstGeom>
          <a:solidFill>
            <a:schemeClr val="accent2"/>
          </a:solidFill>
          <a:ln w="12700">
            <a:solidFill>
              <a:schemeClr val="accent2"/>
            </a:solidFill>
            <a:prstDash val="solid"/>
          </a:ln>
        </p:spPr>
      </p:sp>
      <p:sp>
        <p:nvSpPr>
          <p:cNvPr id="8" name="Text 6"/>
          <p:cNvSpPr txBox="1"/>
          <p:nvPr/>
        </p:nvSpPr>
        <p:spPr>
          <a:xfrm>
            <a:off x="8869680" y="1645920"/>
            <a:ext cx="630936" cy="502920"/>
          </a:xfrm>
          <a:prstGeom prst="rect">
            <a:avLst/>
          </a:prstGeom>
          <a:noFill/>
          <a:ln/>
        </p:spPr>
        <p:txBody>
          <a:bodyPr wrap="square" lIns="0" tIns="0" rIns="0" bIns="0" rtlCol="0" anchor="ctr"/>
          <a:lstStyle/>
          <a:p>
            <a:pPr algn="ctr" indent="0" marL="0">
              <a:buNone/>
            </a:pPr>
            <a:r>
              <a:rPr lang="en-US" sz="1600" dirty="0">
                <a:solidFill>
                  <a:schemeClr val="bg1"/>
                </a:solidFill>
              </a:rPr>
              <a:t>act</a:t>
            </a:r>
            <a:endParaRPr lang="en-US" sz="1600" dirty="0"/>
          </a:p>
        </p:txBody>
      </p:sp>
      <p:sp>
        <p:nvSpPr>
          <p:cNvPr id="9" name="token chip"/>
          <p:cNvSpPr/>
          <p:nvPr/>
        </p:nvSpPr>
        <p:spPr>
          <a:xfrm>
            <a:off x="9637776" y="1645920"/>
            <a:ext cx="1106424" cy="502920"/>
          </a:xfrm>
          <a:prstGeom prst="roundRect">
            <a:avLst>
              <a:gd name="adj" fmla="val 10909"/>
            </a:avLst>
          </a:prstGeom>
          <a:solidFill>
            <a:schemeClr val="accent3"/>
          </a:solidFill>
          <a:ln w="12700">
            <a:solidFill>
              <a:schemeClr val="accent3"/>
            </a:solidFill>
            <a:prstDash val="solid"/>
          </a:ln>
        </p:spPr>
      </p:sp>
      <p:sp>
        <p:nvSpPr>
          <p:cNvPr id="10" name="Text 8"/>
          <p:cNvSpPr txBox="1"/>
          <p:nvPr/>
        </p:nvSpPr>
        <p:spPr>
          <a:xfrm>
            <a:off x="9637776" y="1645920"/>
            <a:ext cx="1106424" cy="502920"/>
          </a:xfrm>
          <a:prstGeom prst="rect">
            <a:avLst/>
          </a:prstGeom>
          <a:noFill/>
          <a:ln/>
        </p:spPr>
        <p:txBody>
          <a:bodyPr wrap="square" lIns="0" tIns="0" rIns="0" bIns="0" rtlCol="0" anchor="ctr"/>
          <a:lstStyle/>
          <a:p>
            <a:pPr algn="ctr" indent="0" marL="0">
              <a:buNone/>
            </a:pPr>
            <a:r>
              <a:rPr lang="en-US" sz="1600" dirty="0">
                <a:solidFill>
                  <a:schemeClr val="bg1"/>
                </a:solidFill>
              </a:rPr>
              <a:t>observe</a:t>
            </a:r>
            <a:endParaRPr lang="en-US" sz="1600" dirty="0"/>
          </a:p>
        </p:txBody>
      </p:sp>
      <p:sp>
        <p:nvSpPr>
          <p:cNvPr id="11" name="token chip"/>
          <p:cNvSpPr/>
          <p:nvPr/>
        </p:nvSpPr>
        <p:spPr>
          <a:xfrm>
            <a:off x="8321040" y="2423160"/>
            <a:ext cx="987552" cy="502920"/>
          </a:xfrm>
          <a:prstGeom prst="roundRect">
            <a:avLst>
              <a:gd name="adj" fmla="val 10909"/>
            </a:avLst>
          </a:prstGeom>
          <a:solidFill>
            <a:schemeClr val="accent4"/>
          </a:solidFill>
          <a:ln w="12700">
            <a:solidFill>
              <a:schemeClr val="accent4"/>
            </a:solidFill>
            <a:prstDash val="solid"/>
          </a:ln>
        </p:spPr>
      </p:sp>
      <p:sp>
        <p:nvSpPr>
          <p:cNvPr id="12" name="Text 10"/>
          <p:cNvSpPr txBox="1"/>
          <p:nvPr/>
        </p:nvSpPr>
        <p:spPr>
          <a:xfrm>
            <a:off x="8321040" y="2423160"/>
            <a:ext cx="987552" cy="502920"/>
          </a:xfrm>
          <a:prstGeom prst="rect">
            <a:avLst/>
          </a:prstGeom>
          <a:noFill/>
          <a:ln/>
        </p:spPr>
        <p:txBody>
          <a:bodyPr wrap="square" lIns="0" tIns="0" rIns="0" bIns="0" rtlCol="0" anchor="ctr"/>
          <a:lstStyle/>
          <a:p>
            <a:pPr algn="ctr" indent="0" marL="0">
              <a:buNone/>
            </a:pPr>
            <a:r>
              <a:rPr lang="en-US" sz="1600" dirty="0">
                <a:solidFill>
                  <a:schemeClr val="tx1"/>
                </a:solidFill>
              </a:rPr>
              <a:t>repeat</a:t>
            </a:r>
            <a:endParaRPr lang="en-US" sz="1600" dirty="0"/>
          </a:p>
        </p:txBody>
      </p:sp>
      <p:sp>
        <p:nvSpPr>
          <p:cNvPr id="13" name="token chip"/>
          <p:cNvSpPr/>
          <p:nvPr/>
        </p:nvSpPr>
        <p:spPr>
          <a:xfrm>
            <a:off x="9445752" y="2423160"/>
            <a:ext cx="749808" cy="502920"/>
          </a:xfrm>
          <a:prstGeom prst="roundRect">
            <a:avLst>
              <a:gd name="adj" fmla="val 10909"/>
            </a:avLst>
          </a:prstGeom>
          <a:solidFill>
            <a:schemeClr val="accent1"/>
          </a:solidFill>
          <a:ln w="12700">
            <a:solidFill>
              <a:schemeClr val="accent1"/>
            </a:solidFill>
            <a:prstDash val="solid"/>
          </a:ln>
        </p:spPr>
      </p:sp>
      <p:sp>
        <p:nvSpPr>
          <p:cNvPr id="14" name="Text 12"/>
          <p:cNvSpPr txBox="1"/>
          <p:nvPr/>
        </p:nvSpPr>
        <p:spPr>
          <a:xfrm>
            <a:off x="9445752" y="2423160"/>
            <a:ext cx="749808" cy="502920"/>
          </a:xfrm>
          <a:prstGeom prst="rect">
            <a:avLst/>
          </a:prstGeom>
          <a:noFill/>
          <a:ln/>
        </p:spPr>
        <p:txBody>
          <a:bodyPr wrap="square" lIns="0" tIns="0" rIns="0" bIns="0" rtlCol="0" anchor="ctr"/>
          <a:lstStyle/>
          <a:p>
            <a:pPr algn="ctr" indent="0" marL="0">
              <a:buNone/>
            </a:pPr>
            <a:r>
              <a:rPr lang="en-US" sz="1600" dirty="0">
                <a:solidFill>
                  <a:schemeClr val="bg1"/>
                </a:solidFill>
              </a:rPr>
              <a:t>lead</a:t>
            </a:r>
            <a:endParaRPr lang="en-US" sz="1600" dirty="0"/>
          </a:p>
        </p:txBody>
      </p:sp>
      <p:sp>
        <p:nvSpPr>
          <p:cNvPr id="15" name="token chip"/>
          <p:cNvSpPr/>
          <p:nvPr/>
        </p:nvSpPr>
        <p:spPr>
          <a:xfrm>
            <a:off x="10332720" y="2423160"/>
            <a:ext cx="749808" cy="502920"/>
          </a:xfrm>
          <a:prstGeom prst="roundRect">
            <a:avLst>
              <a:gd name="adj" fmla="val 10909"/>
            </a:avLst>
          </a:prstGeom>
          <a:solidFill>
            <a:schemeClr val="accent2"/>
          </a:solidFill>
          <a:ln w="12700">
            <a:solidFill>
              <a:schemeClr val="accent2"/>
            </a:solidFill>
            <a:prstDash val="solid"/>
          </a:ln>
        </p:spPr>
      </p:sp>
      <p:sp>
        <p:nvSpPr>
          <p:cNvPr id="16" name="Text 14"/>
          <p:cNvSpPr txBox="1"/>
          <p:nvPr/>
        </p:nvSpPr>
        <p:spPr>
          <a:xfrm>
            <a:off x="10332720" y="2423160"/>
            <a:ext cx="749808" cy="502920"/>
          </a:xfrm>
          <a:prstGeom prst="rect">
            <a:avLst/>
          </a:prstGeom>
          <a:noFill/>
          <a:ln/>
        </p:spPr>
        <p:txBody>
          <a:bodyPr wrap="square" lIns="0" tIns="0" rIns="0" bIns="0" rtlCol="0" anchor="ctr"/>
          <a:lstStyle/>
          <a:p>
            <a:pPr algn="ctr" indent="0" marL="0">
              <a:buNone/>
            </a:pPr>
            <a:r>
              <a:rPr lang="en-US" sz="1600" dirty="0">
                <a:solidFill>
                  <a:schemeClr val="bg1"/>
                </a:solidFill>
              </a:rPr>
              <a:t>team</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An agent is Claude in a loop with tools</a:t>
            </a:r>
            <a:endParaRPr lang="en-US" sz="3200" dirty="0"/>
          </a:p>
        </p:txBody>
      </p:sp>
      <p:sp>
        <p:nvSpPr>
          <p:cNvPr id="3" name="loop node"/>
          <p:cNvSpPr/>
          <p:nvPr/>
        </p:nvSpPr>
        <p:spPr>
          <a:xfrm>
            <a:off x="1463040" y="1463040"/>
            <a:ext cx="1463040" cy="1463040"/>
          </a:xfrm>
          <a:prstGeom prst="ellipse">
            <a:avLst/>
          </a:prstGeom>
          <a:solidFill>
            <a:schemeClr val="accent3"/>
          </a:solidFill>
          <a:ln w="12700">
            <a:solidFill>
              <a:schemeClr val="accent3"/>
            </a:solidFill>
            <a:prstDash val="solid"/>
          </a:ln>
        </p:spPr>
      </p:sp>
      <p:sp>
        <p:nvSpPr>
          <p:cNvPr id="4" name="Text 2"/>
          <p:cNvSpPr txBox="1"/>
          <p:nvPr/>
        </p:nvSpPr>
        <p:spPr>
          <a:xfrm>
            <a:off x="1463040" y="1874520"/>
            <a:ext cx="1463040" cy="365760"/>
          </a:xfrm>
          <a:prstGeom prst="rect">
            <a:avLst/>
          </a:prstGeom>
          <a:noFill/>
          <a:ln/>
        </p:spPr>
        <p:txBody>
          <a:bodyPr wrap="square" lIns="0" tIns="0" rIns="0" bIns="0" rtlCol="0" anchor="t"/>
          <a:lstStyle/>
          <a:p>
            <a:pPr algn="ctr" indent="0" marL="0">
              <a:buNone/>
            </a:pPr>
            <a:r>
              <a:rPr lang="en-US" sz="1800" b="1" dirty="0">
                <a:solidFill>
                  <a:schemeClr val="bg1"/>
                </a:solidFill>
              </a:rPr>
              <a:t>Think</a:t>
            </a:r>
            <a:endParaRPr lang="en-US" sz="1800" dirty="0"/>
          </a:p>
        </p:txBody>
      </p:sp>
      <p:sp>
        <p:nvSpPr>
          <p:cNvPr id="5" name="Text 3"/>
          <p:cNvSpPr txBox="1"/>
          <p:nvPr/>
        </p:nvSpPr>
        <p:spPr>
          <a:xfrm>
            <a:off x="1554480" y="2240280"/>
            <a:ext cx="1280160" cy="365760"/>
          </a:xfrm>
          <a:prstGeom prst="rect">
            <a:avLst/>
          </a:prstGeom>
          <a:noFill/>
          <a:ln/>
        </p:spPr>
        <p:txBody>
          <a:bodyPr wrap="square" lIns="0" tIns="0" rIns="0" bIns="0" rtlCol="0" anchor="t"/>
          <a:lstStyle/>
          <a:p>
            <a:pPr algn="ctr" indent="0" marL="0">
              <a:buNone/>
            </a:pPr>
            <a:r>
              <a:rPr lang="en-US" sz="1200" dirty="0">
                <a:solidFill>
                  <a:schemeClr val="bg1"/>
                </a:solidFill>
              </a:rPr>
              <a:t>Plan the next step</a:t>
            </a:r>
            <a:endParaRPr lang="en-US" sz="1200" dirty="0"/>
          </a:p>
        </p:txBody>
      </p:sp>
      <p:sp>
        <p:nvSpPr>
          <p:cNvPr id="6" name="loop node"/>
          <p:cNvSpPr/>
          <p:nvPr/>
        </p:nvSpPr>
        <p:spPr>
          <a:xfrm>
            <a:off x="3657600" y="2834640"/>
            <a:ext cx="1463040" cy="1463040"/>
          </a:xfrm>
          <a:prstGeom prst="ellipse">
            <a:avLst/>
          </a:prstGeom>
          <a:solidFill>
            <a:schemeClr val="accent1"/>
          </a:solidFill>
          <a:ln w="12700">
            <a:solidFill>
              <a:schemeClr val="accent1"/>
            </a:solidFill>
            <a:prstDash val="solid"/>
          </a:ln>
        </p:spPr>
      </p:sp>
      <p:sp>
        <p:nvSpPr>
          <p:cNvPr id="7" name="Text 5"/>
          <p:cNvSpPr txBox="1"/>
          <p:nvPr/>
        </p:nvSpPr>
        <p:spPr>
          <a:xfrm>
            <a:off x="3657600" y="3246120"/>
            <a:ext cx="1463040" cy="365760"/>
          </a:xfrm>
          <a:prstGeom prst="rect">
            <a:avLst/>
          </a:prstGeom>
          <a:noFill/>
          <a:ln/>
        </p:spPr>
        <p:txBody>
          <a:bodyPr wrap="square" lIns="0" tIns="0" rIns="0" bIns="0" rtlCol="0" anchor="t"/>
          <a:lstStyle/>
          <a:p>
            <a:pPr algn="ctr" indent="0" marL="0">
              <a:buNone/>
            </a:pPr>
            <a:r>
              <a:rPr lang="en-US" sz="1800" b="1" dirty="0">
                <a:solidFill>
                  <a:schemeClr val="bg1"/>
                </a:solidFill>
              </a:rPr>
              <a:t>Act</a:t>
            </a:r>
            <a:endParaRPr lang="en-US" sz="1800" dirty="0"/>
          </a:p>
        </p:txBody>
      </p:sp>
      <p:sp>
        <p:nvSpPr>
          <p:cNvPr id="8" name="Text 6"/>
          <p:cNvSpPr txBox="1"/>
          <p:nvPr/>
        </p:nvSpPr>
        <p:spPr>
          <a:xfrm>
            <a:off x="3749040" y="3611880"/>
            <a:ext cx="1280160" cy="365760"/>
          </a:xfrm>
          <a:prstGeom prst="rect">
            <a:avLst/>
          </a:prstGeom>
          <a:noFill/>
          <a:ln/>
        </p:spPr>
        <p:txBody>
          <a:bodyPr wrap="square" lIns="0" tIns="0" rIns="0" bIns="0" rtlCol="0" anchor="t"/>
          <a:lstStyle/>
          <a:p>
            <a:pPr algn="ctr" indent="0" marL="0">
              <a:buNone/>
            </a:pPr>
            <a:r>
              <a:rPr lang="en-US" sz="1200" dirty="0">
                <a:solidFill>
                  <a:schemeClr val="bg1"/>
                </a:solidFill>
              </a:rPr>
              <a:t>Call a tool</a:t>
            </a:r>
            <a:endParaRPr lang="en-US" sz="1200" dirty="0"/>
          </a:p>
        </p:txBody>
      </p:sp>
      <p:sp>
        <p:nvSpPr>
          <p:cNvPr id="9" name="loop node"/>
          <p:cNvSpPr/>
          <p:nvPr/>
        </p:nvSpPr>
        <p:spPr>
          <a:xfrm>
            <a:off x="1463040" y="4206240"/>
            <a:ext cx="1463040" cy="1463040"/>
          </a:xfrm>
          <a:prstGeom prst="ellipse">
            <a:avLst/>
          </a:prstGeom>
          <a:solidFill>
            <a:schemeClr val="accent2"/>
          </a:solidFill>
          <a:ln w="12700">
            <a:solidFill>
              <a:schemeClr val="accent2"/>
            </a:solidFill>
            <a:prstDash val="solid"/>
          </a:ln>
        </p:spPr>
      </p:sp>
      <p:sp>
        <p:nvSpPr>
          <p:cNvPr id="10" name="Text 8"/>
          <p:cNvSpPr txBox="1"/>
          <p:nvPr/>
        </p:nvSpPr>
        <p:spPr>
          <a:xfrm>
            <a:off x="1463040" y="4617720"/>
            <a:ext cx="1463040" cy="365760"/>
          </a:xfrm>
          <a:prstGeom prst="rect">
            <a:avLst/>
          </a:prstGeom>
          <a:noFill/>
          <a:ln/>
        </p:spPr>
        <p:txBody>
          <a:bodyPr wrap="square" lIns="0" tIns="0" rIns="0" bIns="0" rtlCol="0" anchor="t"/>
          <a:lstStyle/>
          <a:p>
            <a:pPr algn="ctr" indent="0" marL="0">
              <a:buNone/>
            </a:pPr>
            <a:r>
              <a:rPr lang="en-US" sz="1800" b="1" dirty="0">
                <a:solidFill>
                  <a:schemeClr val="bg1"/>
                </a:solidFill>
              </a:rPr>
              <a:t>Observe</a:t>
            </a:r>
            <a:endParaRPr lang="en-US" sz="1800" dirty="0"/>
          </a:p>
        </p:txBody>
      </p:sp>
      <p:sp>
        <p:nvSpPr>
          <p:cNvPr id="11" name="Text 9"/>
          <p:cNvSpPr txBox="1"/>
          <p:nvPr/>
        </p:nvSpPr>
        <p:spPr>
          <a:xfrm>
            <a:off x="1554480" y="4983480"/>
            <a:ext cx="1280160" cy="365760"/>
          </a:xfrm>
          <a:prstGeom prst="rect">
            <a:avLst/>
          </a:prstGeom>
          <a:noFill/>
          <a:ln/>
        </p:spPr>
        <p:txBody>
          <a:bodyPr wrap="square" lIns="0" tIns="0" rIns="0" bIns="0" rtlCol="0" anchor="t"/>
          <a:lstStyle/>
          <a:p>
            <a:pPr algn="ctr" indent="0" marL="0">
              <a:buNone/>
            </a:pPr>
            <a:r>
              <a:rPr lang="en-US" sz="1200" dirty="0">
                <a:solidFill>
                  <a:schemeClr val="bg1"/>
                </a:solidFill>
              </a:rPr>
              <a:t>Read the result</a:t>
            </a:r>
            <a:endParaRPr lang="en-US" sz="1200" dirty="0"/>
          </a:p>
        </p:txBody>
      </p:sp>
      <p:sp>
        <p:nvSpPr>
          <p:cNvPr id="12" name="arrow"/>
          <p:cNvSpPr/>
          <p:nvPr/>
        </p:nvSpPr>
        <p:spPr>
          <a:xfrm>
            <a:off x="2926080" y="2286000"/>
            <a:ext cx="822960" cy="640080"/>
          </a:xfrm>
          <a:prstGeom prst="line">
            <a:avLst/>
          </a:prstGeom>
          <a:noFill/>
          <a:ln w="19050">
            <a:solidFill>
              <a:schemeClr val="accent5"/>
            </a:solidFill>
            <a:prstDash val="solid"/>
            <a:tailEnd type="triangle"/>
          </a:ln>
        </p:spPr>
      </p:sp>
      <p:sp>
        <p:nvSpPr>
          <p:cNvPr id="13" name="arrow"/>
          <p:cNvSpPr/>
          <p:nvPr/>
        </p:nvSpPr>
        <p:spPr>
          <a:xfrm>
            <a:off x="3749040" y="4114800"/>
            <a:ext cx="-822960" cy="731520"/>
          </a:xfrm>
          <a:prstGeom prst="line">
            <a:avLst/>
          </a:prstGeom>
          <a:noFill/>
          <a:ln w="19050">
            <a:solidFill>
              <a:schemeClr val="accent5"/>
            </a:solidFill>
            <a:prstDash val="solid"/>
            <a:tailEnd type="triangle"/>
          </a:ln>
        </p:spPr>
      </p:sp>
      <p:sp>
        <p:nvSpPr>
          <p:cNvPr id="14" name="arrow"/>
          <p:cNvSpPr/>
          <p:nvPr/>
        </p:nvSpPr>
        <p:spPr>
          <a:xfrm>
            <a:off x="2194560" y="4206240"/>
            <a:ext cx="914" cy="-1280160"/>
          </a:xfrm>
          <a:prstGeom prst="line">
            <a:avLst/>
          </a:prstGeom>
          <a:noFill/>
          <a:ln w="19050">
            <a:solidFill>
              <a:schemeClr val="accent5"/>
            </a:solidFill>
            <a:prstDash val="solid"/>
            <a:tailEnd type="triangle"/>
          </a:ln>
        </p:spPr>
      </p:sp>
      <p:sp>
        <p:nvSpPr>
          <p:cNvPr id="15" name="Text 13"/>
          <p:cNvSpPr txBox="1"/>
          <p:nvPr/>
        </p:nvSpPr>
        <p:spPr>
          <a:xfrm>
            <a:off x="3566160" y="5394960"/>
            <a:ext cx="2194560" cy="274320"/>
          </a:xfrm>
          <a:prstGeom prst="rect">
            <a:avLst/>
          </a:prstGeom>
          <a:noFill/>
          <a:ln/>
        </p:spPr>
        <p:txBody>
          <a:bodyPr wrap="square" lIns="0" tIns="0" rIns="0" bIns="0" rtlCol="0" anchor="t"/>
          <a:lstStyle/>
          <a:p>
            <a:pPr indent="0" marL="0">
              <a:buNone/>
            </a:pPr>
            <a:r>
              <a:rPr lang="en-US" sz="1200" i="1" dirty="0">
                <a:solidFill>
                  <a:schemeClr val="accent5"/>
                </a:solidFill>
              </a:rPr>
              <a:t>…until the goal is met</a:t>
            </a:r>
            <a:endParaRPr lang="en-US" sz="1200" dirty="0"/>
          </a:p>
        </p:txBody>
      </p:sp>
      <p:sp>
        <p:nvSpPr>
          <p:cNvPr id="16" name="card"/>
          <p:cNvSpPr/>
          <p:nvPr/>
        </p:nvSpPr>
        <p:spPr>
          <a:xfrm>
            <a:off x="6035040" y="1371600"/>
            <a:ext cx="5577840" cy="1024128"/>
          </a:xfrm>
          <a:prstGeom prst="roundRect">
            <a:avLst>
              <a:gd name="adj" fmla="val 714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17" name="icon circle"/>
          <p:cNvSpPr/>
          <p:nvPr/>
        </p:nvSpPr>
        <p:spPr>
          <a:xfrm>
            <a:off x="6263640" y="1563624"/>
            <a:ext cx="640080" cy="640080"/>
          </a:xfrm>
          <a:prstGeom prst="ellipse">
            <a:avLst/>
          </a:prstGeom>
          <a:solidFill>
            <a:schemeClr val="accent1"/>
          </a:solidFill>
          <a:ln w="12700">
            <a:solidFill>
              <a:schemeClr val="accent1"/>
            </a:solidFill>
            <a:prstDash val="solid"/>
          </a:ln>
        </p:spPr>
      </p:sp>
      <p:pic>
        <p:nvPicPr>
          <p:cNvPr id="18" name="Image 0" descr="Wrench icon">    </p:cNvPr>
          <p:cNvPicPr>
            <a:picLocks noChangeAspect="1"/>
          </p:cNvPicPr>
          <p:nvPr/>
        </p:nvPicPr>
        <p:blipFill>
          <a:blip r:embed="rId1"/>
          <a:stretch>
            <a:fillRect/>
          </a:stretch>
        </p:blipFill>
        <p:spPr>
          <a:xfrm>
            <a:off x="6423660" y="1723644"/>
            <a:ext cx="320040" cy="320040"/>
          </a:xfrm>
          <a:prstGeom prst="rect">
            <a:avLst/>
          </a:prstGeom>
        </p:spPr>
      </p:pic>
      <p:sp>
        <p:nvSpPr>
          <p:cNvPr id="19" name="Text 16"/>
          <p:cNvSpPr txBox="1"/>
          <p:nvPr/>
        </p:nvSpPr>
        <p:spPr>
          <a:xfrm>
            <a:off x="7132320" y="1499616"/>
            <a:ext cx="4297680" cy="320040"/>
          </a:xfrm>
          <a:prstGeom prst="rect">
            <a:avLst/>
          </a:prstGeom>
          <a:noFill/>
          <a:ln/>
        </p:spPr>
        <p:txBody>
          <a:bodyPr wrap="square" lIns="0" tIns="0" rIns="0" bIns="0" rtlCol="0" anchor="t"/>
          <a:lstStyle/>
          <a:p>
            <a:pPr indent="0" marL="0">
              <a:buNone/>
            </a:pPr>
            <a:r>
              <a:rPr lang="en-US" sz="1600" b="1" dirty="0">
                <a:solidFill>
                  <a:schemeClr val="tx1"/>
                </a:solidFill>
              </a:rPr>
              <a:t>Tools</a:t>
            </a:r>
            <a:endParaRPr lang="en-US" sz="1600" dirty="0"/>
          </a:p>
        </p:txBody>
      </p:sp>
      <p:sp>
        <p:nvSpPr>
          <p:cNvPr id="20" name="Text 17"/>
          <p:cNvSpPr txBox="1"/>
          <p:nvPr/>
        </p:nvSpPr>
        <p:spPr>
          <a:xfrm>
            <a:off x="7132320" y="1828800"/>
            <a:ext cx="4297680" cy="502920"/>
          </a:xfrm>
          <a:prstGeom prst="rect">
            <a:avLst/>
          </a:prstGeom>
          <a:noFill/>
          <a:ln/>
        </p:spPr>
        <p:txBody>
          <a:bodyPr wrap="square" lIns="0" tIns="0" rIns="0" bIns="0" rtlCol="0" anchor="t"/>
          <a:lstStyle/>
          <a:p>
            <a:pPr indent="0" marL="0">
              <a:buNone/>
            </a:pPr>
            <a:r>
              <a:rPr lang="en-US" sz="1300" dirty="0">
                <a:solidFill>
                  <a:schemeClr val="tx2"/>
                </a:solidFill>
              </a:rPr>
              <a:t>Functions Claude can call: search, run code, edit files, send email</a:t>
            </a:r>
            <a:endParaRPr lang="en-US" sz="1300" dirty="0"/>
          </a:p>
        </p:txBody>
      </p:sp>
      <p:sp>
        <p:nvSpPr>
          <p:cNvPr id="21" name="card"/>
          <p:cNvSpPr/>
          <p:nvPr/>
        </p:nvSpPr>
        <p:spPr>
          <a:xfrm>
            <a:off x="6035040" y="2560320"/>
            <a:ext cx="5577840" cy="1024128"/>
          </a:xfrm>
          <a:prstGeom prst="roundRect">
            <a:avLst>
              <a:gd name="adj" fmla="val 714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22" name="icon circle"/>
          <p:cNvSpPr/>
          <p:nvPr/>
        </p:nvSpPr>
        <p:spPr>
          <a:xfrm>
            <a:off x="6263640" y="2752344"/>
            <a:ext cx="640080" cy="640080"/>
          </a:xfrm>
          <a:prstGeom prst="ellipse">
            <a:avLst/>
          </a:prstGeom>
          <a:solidFill>
            <a:schemeClr val="accent2"/>
          </a:solidFill>
          <a:ln w="12700">
            <a:solidFill>
              <a:schemeClr val="accent2"/>
            </a:solidFill>
            <a:prstDash val="solid"/>
          </a:ln>
        </p:spPr>
      </p:sp>
      <p:pic>
        <p:nvPicPr>
          <p:cNvPr id="23" name="Image 1" descr="Plug icon">    </p:cNvPr>
          <p:cNvPicPr>
            <a:picLocks noChangeAspect="1"/>
          </p:cNvPicPr>
          <p:nvPr/>
        </p:nvPicPr>
        <p:blipFill>
          <a:blip r:embed="rId2"/>
          <a:stretch>
            <a:fillRect/>
          </a:stretch>
        </p:blipFill>
        <p:spPr>
          <a:xfrm>
            <a:off x="6423660" y="2912364"/>
            <a:ext cx="320040" cy="320040"/>
          </a:xfrm>
          <a:prstGeom prst="rect">
            <a:avLst/>
          </a:prstGeom>
        </p:spPr>
      </p:pic>
      <p:sp>
        <p:nvSpPr>
          <p:cNvPr id="24" name="Text 20"/>
          <p:cNvSpPr txBox="1"/>
          <p:nvPr/>
        </p:nvSpPr>
        <p:spPr>
          <a:xfrm>
            <a:off x="7132320" y="2688336"/>
            <a:ext cx="4297680" cy="320040"/>
          </a:xfrm>
          <a:prstGeom prst="rect">
            <a:avLst/>
          </a:prstGeom>
          <a:noFill/>
          <a:ln/>
        </p:spPr>
        <p:txBody>
          <a:bodyPr wrap="square" lIns="0" tIns="0" rIns="0" bIns="0" rtlCol="0" anchor="t"/>
          <a:lstStyle/>
          <a:p>
            <a:pPr indent="0" marL="0">
              <a:buNone/>
            </a:pPr>
            <a:r>
              <a:rPr lang="en-US" sz="1600" b="1" dirty="0">
                <a:solidFill>
                  <a:schemeClr val="tx1"/>
                </a:solidFill>
              </a:rPr>
              <a:t>MCP connectors</a:t>
            </a:r>
            <a:endParaRPr lang="en-US" sz="1600" dirty="0"/>
          </a:p>
        </p:txBody>
      </p:sp>
      <p:sp>
        <p:nvSpPr>
          <p:cNvPr id="25" name="Text 21"/>
          <p:cNvSpPr txBox="1"/>
          <p:nvPr/>
        </p:nvSpPr>
        <p:spPr>
          <a:xfrm>
            <a:off x="7132320" y="3017520"/>
            <a:ext cx="4297680" cy="502920"/>
          </a:xfrm>
          <a:prstGeom prst="rect">
            <a:avLst/>
          </a:prstGeom>
          <a:noFill/>
          <a:ln/>
        </p:spPr>
        <p:txBody>
          <a:bodyPr wrap="square" lIns="0" tIns="0" rIns="0" bIns="0" rtlCol="0" anchor="t"/>
          <a:lstStyle/>
          <a:p>
            <a:pPr indent="0" marL="0">
              <a:buNone/>
            </a:pPr>
            <a:r>
              <a:rPr lang="en-US" sz="1300" dirty="0">
                <a:solidFill>
                  <a:schemeClr val="tx2"/>
                </a:solidFill>
              </a:rPr>
              <a:t>A standard way to plug in apps: Drive, Slack, GitHub, databases</a:t>
            </a:r>
            <a:endParaRPr lang="en-US" sz="1300" dirty="0"/>
          </a:p>
        </p:txBody>
      </p:sp>
      <p:sp>
        <p:nvSpPr>
          <p:cNvPr id="26" name="card"/>
          <p:cNvSpPr/>
          <p:nvPr/>
        </p:nvSpPr>
        <p:spPr>
          <a:xfrm>
            <a:off x="6035040" y="3749040"/>
            <a:ext cx="5577840" cy="1024128"/>
          </a:xfrm>
          <a:prstGeom prst="roundRect">
            <a:avLst>
              <a:gd name="adj" fmla="val 714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27" name="icon circle"/>
          <p:cNvSpPr/>
          <p:nvPr/>
        </p:nvSpPr>
        <p:spPr>
          <a:xfrm>
            <a:off x="6263640" y="3941064"/>
            <a:ext cx="640080" cy="640080"/>
          </a:xfrm>
          <a:prstGeom prst="ellipse">
            <a:avLst/>
          </a:prstGeom>
          <a:solidFill>
            <a:schemeClr val="accent3"/>
          </a:solidFill>
          <a:ln w="12700">
            <a:solidFill>
              <a:schemeClr val="accent3"/>
            </a:solidFill>
            <a:prstDash val="solid"/>
          </a:ln>
        </p:spPr>
      </p:sp>
      <p:pic>
        <p:nvPicPr>
          <p:cNvPr id="28" name="Image 2" descr="Book icon">    </p:cNvPr>
          <p:cNvPicPr>
            <a:picLocks noChangeAspect="1"/>
          </p:cNvPicPr>
          <p:nvPr/>
        </p:nvPicPr>
        <p:blipFill>
          <a:blip r:embed="rId3"/>
          <a:stretch>
            <a:fillRect/>
          </a:stretch>
        </p:blipFill>
        <p:spPr>
          <a:xfrm>
            <a:off x="6423660" y="4101084"/>
            <a:ext cx="320040" cy="320040"/>
          </a:xfrm>
          <a:prstGeom prst="rect">
            <a:avLst/>
          </a:prstGeom>
        </p:spPr>
      </p:pic>
      <p:sp>
        <p:nvSpPr>
          <p:cNvPr id="29" name="Text 24"/>
          <p:cNvSpPr txBox="1"/>
          <p:nvPr/>
        </p:nvSpPr>
        <p:spPr>
          <a:xfrm>
            <a:off x="7132320" y="3877056"/>
            <a:ext cx="4297680" cy="320040"/>
          </a:xfrm>
          <a:prstGeom prst="rect">
            <a:avLst/>
          </a:prstGeom>
          <a:noFill/>
          <a:ln/>
        </p:spPr>
        <p:txBody>
          <a:bodyPr wrap="square" lIns="0" tIns="0" rIns="0" bIns="0" rtlCol="0" anchor="t"/>
          <a:lstStyle/>
          <a:p>
            <a:pPr indent="0" marL="0">
              <a:buNone/>
            </a:pPr>
            <a:r>
              <a:rPr lang="en-US" sz="1600" b="1" dirty="0">
                <a:solidFill>
                  <a:schemeClr val="tx1"/>
                </a:solidFill>
              </a:rPr>
              <a:t>Skills</a:t>
            </a:r>
            <a:endParaRPr lang="en-US" sz="1600" dirty="0"/>
          </a:p>
        </p:txBody>
      </p:sp>
      <p:sp>
        <p:nvSpPr>
          <p:cNvPr id="30" name="Text 25"/>
          <p:cNvSpPr txBox="1"/>
          <p:nvPr/>
        </p:nvSpPr>
        <p:spPr>
          <a:xfrm>
            <a:off x="7132320" y="4206240"/>
            <a:ext cx="4297680" cy="502920"/>
          </a:xfrm>
          <a:prstGeom prst="rect">
            <a:avLst/>
          </a:prstGeom>
          <a:noFill/>
          <a:ln/>
        </p:spPr>
        <p:txBody>
          <a:bodyPr wrap="square" lIns="0" tIns="0" rIns="0" bIns="0" rtlCol="0" anchor="t"/>
          <a:lstStyle/>
          <a:p>
            <a:pPr indent="0" marL="0">
              <a:buNone/>
            </a:pPr>
            <a:r>
              <a:rPr lang="en-US" sz="1300" dirty="0">
                <a:solidFill>
                  <a:schemeClr val="tx2"/>
                </a:solidFill>
              </a:rPr>
              <a:t>Folders of instructions and scripts Claude loads only when relevant</a:t>
            </a:r>
            <a:endParaRPr lang="en-US" sz="1300" dirty="0"/>
          </a:p>
        </p:txBody>
      </p:sp>
      <p:sp>
        <p:nvSpPr>
          <p:cNvPr id="31" name="card"/>
          <p:cNvSpPr/>
          <p:nvPr/>
        </p:nvSpPr>
        <p:spPr>
          <a:xfrm>
            <a:off x="6035040" y="4937760"/>
            <a:ext cx="5577840" cy="1024128"/>
          </a:xfrm>
          <a:prstGeom prst="roundRect">
            <a:avLst>
              <a:gd name="adj" fmla="val 714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32" name="icon circle"/>
          <p:cNvSpPr/>
          <p:nvPr/>
        </p:nvSpPr>
        <p:spPr>
          <a:xfrm>
            <a:off x="6263640" y="5129784"/>
            <a:ext cx="640080" cy="640080"/>
          </a:xfrm>
          <a:prstGeom prst="ellipse">
            <a:avLst/>
          </a:prstGeom>
          <a:solidFill>
            <a:schemeClr val="accent4"/>
          </a:solidFill>
          <a:ln w="12700">
            <a:solidFill>
              <a:schemeClr val="accent4"/>
            </a:solidFill>
            <a:prstDash val="solid"/>
          </a:ln>
        </p:spPr>
      </p:sp>
      <p:pic>
        <p:nvPicPr>
          <p:cNvPr id="33" name="Image 3" descr="Brain icon">    </p:cNvPr>
          <p:cNvPicPr>
            <a:picLocks noChangeAspect="1"/>
          </p:cNvPicPr>
          <p:nvPr/>
        </p:nvPicPr>
        <p:blipFill>
          <a:blip r:embed="rId4"/>
          <a:stretch>
            <a:fillRect/>
          </a:stretch>
        </p:blipFill>
        <p:spPr>
          <a:xfrm>
            <a:off x="6423660" y="5289804"/>
            <a:ext cx="320040" cy="320040"/>
          </a:xfrm>
          <a:prstGeom prst="rect">
            <a:avLst/>
          </a:prstGeom>
        </p:spPr>
      </p:pic>
      <p:sp>
        <p:nvSpPr>
          <p:cNvPr id="34" name="Text 28"/>
          <p:cNvSpPr txBox="1"/>
          <p:nvPr/>
        </p:nvSpPr>
        <p:spPr>
          <a:xfrm>
            <a:off x="7132320" y="5065776"/>
            <a:ext cx="4297680" cy="320040"/>
          </a:xfrm>
          <a:prstGeom prst="rect">
            <a:avLst/>
          </a:prstGeom>
          <a:noFill/>
          <a:ln/>
        </p:spPr>
        <p:txBody>
          <a:bodyPr wrap="square" lIns="0" tIns="0" rIns="0" bIns="0" rtlCol="0" anchor="t"/>
          <a:lstStyle/>
          <a:p>
            <a:pPr indent="0" marL="0">
              <a:buNone/>
            </a:pPr>
            <a:r>
              <a:rPr lang="en-US" sz="1600" b="1" dirty="0">
                <a:solidFill>
                  <a:schemeClr val="tx1"/>
                </a:solidFill>
              </a:rPr>
              <a:t>Memory</a:t>
            </a:r>
            <a:endParaRPr lang="en-US" sz="1600" dirty="0"/>
          </a:p>
        </p:txBody>
      </p:sp>
      <p:sp>
        <p:nvSpPr>
          <p:cNvPr id="35" name="Text 29"/>
          <p:cNvSpPr txBox="1"/>
          <p:nvPr/>
        </p:nvSpPr>
        <p:spPr>
          <a:xfrm>
            <a:off x="7132320" y="5394960"/>
            <a:ext cx="4297680" cy="502920"/>
          </a:xfrm>
          <a:prstGeom prst="rect">
            <a:avLst/>
          </a:prstGeom>
          <a:noFill/>
          <a:ln/>
        </p:spPr>
        <p:txBody>
          <a:bodyPr wrap="square" lIns="0" tIns="0" rIns="0" bIns="0" rtlCol="0" anchor="t"/>
          <a:lstStyle/>
          <a:p>
            <a:pPr indent="0" marL="0">
              <a:buNone/>
            </a:pPr>
            <a:r>
              <a:rPr lang="en-US" sz="1300" dirty="0">
                <a:solidFill>
                  <a:schemeClr val="tx2"/>
                </a:solidFill>
              </a:rPr>
              <a:t>CLAUDE.md, project files, notes it writes for its future self</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Five workflow patterns: start with the simplest</a:t>
            </a:r>
            <a:endParaRPr lang="en-US" sz="3200" dirty="0"/>
          </a:p>
        </p:txBody>
      </p:sp>
      <p:sp>
        <p:nvSpPr>
          <p:cNvPr id="3" name="card"/>
          <p:cNvSpPr/>
          <p:nvPr/>
        </p:nvSpPr>
        <p:spPr>
          <a:xfrm>
            <a:off x="548640" y="1371600"/>
            <a:ext cx="2066544" cy="4663440"/>
          </a:xfrm>
          <a:prstGeom prst="roundRect">
            <a:avLst>
              <a:gd name="adj" fmla="val 3540"/>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4" name="node"/>
          <p:cNvSpPr/>
          <p:nvPr/>
        </p:nvSpPr>
        <p:spPr>
          <a:xfrm>
            <a:off x="713232" y="2057400"/>
            <a:ext cx="457200" cy="411480"/>
          </a:xfrm>
          <a:prstGeom prst="roundRect">
            <a:avLst>
              <a:gd name="adj" fmla="val 11111"/>
            </a:avLst>
          </a:prstGeom>
          <a:solidFill>
            <a:schemeClr val="accent1"/>
          </a:solidFill>
          <a:ln w="12700">
            <a:solidFill>
              <a:schemeClr val="accent1"/>
            </a:solidFill>
            <a:prstDash val="solid"/>
          </a:ln>
        </p:spPr>
      </p:sp>
      <p:sp>
        <p:nvSpPr>
          <p:cNvPr id="5" name="arrow"/>
          <p:cNvSpPr/>
          <p:nvPr/>
        </p:nvSpPr>
        <p:spPr>
          <a:xfrm>
            <a:off x="1188720" y="2263140"/>
            <a:ext cx="128016" cy="0"/>
          </a:xfrm>
          <a:prstGeom prst="line">
            <a:avLst/>
          </a:prstGeom>
          <a:noFill/>
          <a:ln w="19050">
            <a:solidFill>
              <a:schemeClr val="accent5"/>
            </a:solidFill>
            <a:prstDash val="solid"/>
            <a:tailEnd type="triangle"/>
          </a:ln>
        </p:spPr>
      </p:sp>
      <p:sp>
        <p:nvSpPr>
          <p:cNvPr id="6" name="node"/>
          <p:cNvSpPr/>
          <p:nvPr/>
        </p:nvSpPr>
        <p:spPr>
          <a:xfrm>
            <a:off x="1335024" y="2057400"/>
            <a:ext cx="457200" cy="411480"/>
          </a:xfrm>
          <a:prstGeom prst="roundRect">
            <a:avLst>
              <a:gd name="adj" fmla="val 11111"/>
            </a:avLst>
          </a:prstGeom>
          <a:solidFill>
            <a:schemeClr val="accent1"/>
          </a:solidFill>
          <a:ln w="12700">
            <a:solidFill>
              <a:schemeClr val="accent1"/>
            </a:solidFill>
            <a:prstDash val="solid"/>
          </a:ln>
        </p:spPr>
      </p:sp>
      <p:sp>
        <p:nvSpPr>
          <p:cNvPr id="7" name="arrow"/>
          <p:cNvSpPr/>
          <p:nvPr/>
        </p:nvSpPr>
        <p:spPr>
          <a:xfrm>
            <a:off x="1810512" y="2263140"/>
            <a:ext cx="128016" cy="0"/>
          </a:xfrm>
          <a:prstGeom prst="line">
            <a:avLst/>
          </a:prstGeom>
          <a:noFill/>
          <a:ln w="19050">
            <a:solidFill>
              <a:schemeClr val="accent5"/>
            </a:solidFill>
            <a:prstDash val="solid"/>
            <a:tailEnd type="triangle"/>
          </a:ln>
        </p:spPr>
      </p:sp>
      <p:sp>
        <p:nvSpPr>
          <p:cNvPr id="8" name="node"/>
          <p:cNvSpPr/>
          <p:nvPr/>
        </p:nvSpPr>
        <p:spPr>
          <a:xfrm>
            <a:off x="1956816" y="2057400"/>
            <a:ext cx="457200" cy="411480"/>
          </a:xfrm>
          <a:prstGeom prst="roundRect">
            <a:avLst>
              <a:gd name="adj" fmla="val 11111"/>
            </a:avLst>
          </a:prstGeom>
          <a:solidFill>
            <a:schemeClr val="accent1"/>
          </a:solidFill>
          <a:ln w="12700">
            <a:solidFill>
              <a:schemeClr val="accent1"/>
            </a:solidFill>
            <a:prstDash val="solid"/>
          </a:ln>
        </p:spPr>
      </p:sp>
      <p:sp>
        <p:nvSpPr>
          <p:cNvPr id="9" name="Text 7"/>
          <p:cNvSpPr txBox="1"/>
          <p:nvPr/>
        </p:nvSpPr>
        <p:spPr>
          <a:xfrm>
            <a:off x="731520" y="3200400"/>
            <a:ext cx="1737360" cy="640080"/>
          </a:xfrm>
          <a:prstGeom prst="rect">
            <a:avLst/>
          </a:prstGeom>
          <a:noFill/>
          <a:ln/>
        </p:spPr>
        <p:txBody>
          <a:bodyPr wrap="square" lIns="0" tIns="0" rIns="0" bIns="0" rtlCol="0" anchor="t"/>
          <a:lstStyle/>
          <a:p>
            <a:pPr indent="0" marL="0">
              <a:buNone/>
            </a:pPr>
            <a:r>
              <a:rPr lang="en-US" sz="1600" b="1" dirty="0">
                <a:solidFill>
                  <a:schemeClr val="tx1"/>
                </a:solidFill>
              </a:rPr>
              <a:t>Prompt chaining</a:t>
            </a:r>
            <a:endParaRPr lang="en-US" sz="1600" dirty="0"/>
          </a:p>
        </p:txBody>
      </p:sp>
      <p:sp>
        <p:nvSpPr>
          <p:cNvPr id="10" name="Text 8"/>
          <p:cNvSpPr txBox="1"/>
          <p:nvPr/>
        </p:nvSpPr>
        <p:spPr>
          <a:xfrm>
            <a:off x="731520" y="3886200"/>
            <a:ext cx="1737360" cy="914400"/>
          </a:xfrm>
          <a:prstGeom prst="rect">
            <a:avLst/>
          </a:prstGeom>
          <a:noFill/>
          <a:ln/>
        </p:spPr>
        <p:txBody>
          <a:bodyPr wrap="square" lIns="0" tIns="0" rIns="0" bIns="0" rtlCol="0" anchor="t"/>
          <a:lstStyle/>
          <a:p>
            <a:pPr indent="0" marL="0">
              <a:buNone/>
            </a:pPr>
            <a:r>
              <a:rPr lang="en-US" sz="1300" dirty="0">
                <a:solidFill>
                  <a:schemeClr val="tx2"/>
                </a:solidFill>
              </a:rPr>
              <a:t>Fixed steps, each feeds the next</a:t>
            </a:r>
            <a:endParaRPr lang="en-US" sz="1300" dirty="0"/>
          </a:p>
        </p:txBody>
      </p:sp>
      <p:sp>
        <p:nvSpPr>
          <p:cNvPr id="11" name="Text 9"/>
          <p:cNvSpPr txBox="1"/>
          <p:nvPr/>
        </p:nvSpPr>
        <p:spPr>
          <a:xfrm>
            <a:off x="731520" y="4937760"/>
            <a:ext cx="1737360" cy="914400"/>
          </a:xfrm>
          <a:prstGeom prst="rect">
            <a:avLst/>
          </a:prstGeom>
          <a:noFill/>
          <a:ln/>
        </p:spPr>
        <p:txBody>
          <a:bodyPr wrap="square" lIns="0" tIns="0" rIns="0" bIns="0" rtlCol="0" anchor="t"/>
          <a:lstStyle/>
          <a:p>
            <a:pPr indent="0" marL="0">
              <a:buNone/>
            </a:pPr>
            <a:r>
              <a:rPr lang="en-US" sz="1200" i="1" dirty="0">
                <a:solidFill>
                  <a:schemeClr val="accent5"/>
                </a:solidFill>
              </a:rPr>
              <a:t>Outline → draft → translate</a:t>
            </a:r>
            <a:endParaRPr lang="en-US" sz="1200" dirty="0"/>
          </a:p>
        </p:txBody>
      </p:sp>
      <p:sp>
        <p:nvSpPr>
          <p:cNvPr id="12" name="card"/>
          <p:cNvSpPr/>
          <p:nvPr/>
        </p:nvSpPr>
        <p:spPr>
          <a:xfrm>
            <a:off x="2798064" y="1371600"/>
            <a:ext cx="2066544" cy="4663440"/>
          </a:xfrm>
          <a:prstGeom prst="roundRect">
            <a:avLst>
              <a:gd name="adj" fmla="val 3540"/>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13" name="node"/>
          <p:cNvSpPr/>
          <p:nvPr/>
        </p:nvSpPr>
        <p:spPr>
          <a:xfrm>
            <a:off x="3602736" y="1691640"/>
            <a:ext cx="457200" cy="365760"/>
          </a:xfrm>
          <a:prstGeom prst="roundRect">
            <a:avLst>
              <a:gd name="adj" fmla="val 12500"/>
            </a:avLst>
          </a:prstGeom>
          <a:solidFill>
            <a:schemeClr val="accent2"/>
          </a:solidFill>
          <a:ln w="12700">
            <a:solidFill>
              <a:schemeClr val="accent2"/>
            </a:solidFill>
            <a:prstDash val="solid"/>
          </a:ln>
        </p:spPr>
      </p:sp>
      <p:sp>
        <p:nvSpPr>
          <p:cNvPr id="14" name="node"/>
          <p:cNvSpPr/>
          <p:nvPr/>
        </p:nvSpPr>
        <p:spPr>
          <a:xfrm>
            <a:off x="3008376" y="2606040"/>
            <a:ext cx="457200" cy="365760"/>
          </a:xfrm>
          <a:prstGeom prst="roundRect">
            <a:avLst>
              <a:gd name="adj" fmla="val 12500"/>
            </a:avLst>
          </a:prstGeom>
          <a:solidFill>
            <a:schemeClr val="accent5"/>
          </a:solidFill>
          <a:ln w="12700">
            <a:solidFill>
              <a:schemeClr val="accent5"/>
            </a:solidFill>
            <a:prstDash val="solid"/>
          </a:ln>
        </p:spPr>
      </p:sp>
      <p:sp>
        <p:nvSpPr>
          <p:cNvPr id="15" name="arrow"/>
          <p:cNvSpPr/>
          <p:nvPr/>
        </p:nvSpPr>
        <p:spPr>
          <a:xfrm>
            <a:off x="3831336" y="2075688"/>
            <a:ext cx="-594360" cy="512064"/>
          </a:xfrm>
          <a:prstGeom prst="line">
            <a:avLst/>
          </a:prstGeom>
          <a:noFill/>
          <a:ln w="19050">
            <a:solidFill>
              <a:schemeClr val="accent5"/>
            </a:solidFill>
            <a:prstDash val="solid"/>
            <a:tailEnd type="triangle"/>
          </a:ln>
        </p:spPr>
      </p:sp>
      <p:sp>
        <p:nvSpPr>
          <p:cNvPr id="16" name="node"/>
          <p:cNvSpPr/>
          <p:nvPr/>
        </p:nvSpPr>
        <p:spPr>
          <a:xfrm>
            <a:off x="3602736" y="2606040"/>
            <a:ext cx="457200" cy="365760"/>
          </a:xfrm>
          <a:prstGeom prst="roundRect">
            <a:avLst>
              <a:gd name="adj" fmla="val 12500"/>
            </a:avLst>
          </a:prstGeom>
          <a:solidFill>
            <a:schemeClr val="accent5"/>
          </a:solidFill>
          <a:ln w="12700">
            <a:solidFill>
              <a:schemeClr val="accent5"/>
            </a:solidFill>
            <a:prstDash val="solid"/>
          </a:ln>
        </p:spPr>
      </p:sp>
      <p:sp>
        <p:nvSpPr>
          <p:cNvPr id="17" name="arrow"/>
          <p:cNvSpPr/>
          <p:nvPr/>
        </p:nvSpPr>
        <p:spPr>
          <a:xfrm>
            <a:off x="3831336" y="2075688"/>
            <a:ext cx="914" cy="512064"/>
          </a:xfrm>
          <a:prstGeom prst="line">
            <a:avLst/>
          </a:prstGeom>
          <a:noFill/>
          <a:ln w="19050">
            <a:solidFill>
              <a:schemeClr val="accent5"/>
            </a:solidFill>
            <a:prstDash val="solid"/>
            <a:tailEnd type="triangle"/>
          </a:ln>
        </p:spPr>
      </p:sp>
      <p:sp>
        <p:nvSpPr>
          <p:cNvPr id="18" name="node"/>
          <p:cNvSpPr/>
          <p:nvPr/>
        </p:nvSpPr>
        <p:spPr>
          <a:xfrm>
            <a:off x="4197096" y="2606040"/>
            <a:ext cx="457200" cy="365760"/>
          </a:xfrm>
          <a:prstGeom prst="roundRect">
            <a:avLst>
              <a:gd name="adj" fmla="val 12500"/>
            </a:avLst>
          </a:prstGeom>
          <a:solidFill>
            <a:schemeClr val="accent5"/>
          </a:solidFill>
          <a:ln w="12700">
            <a:solidFill>
              <a:schemeClr val="accent5"/>
            </a:solidFill>
            <a:prstDash val="solid"/>
          </a:ln>
        </p:spPr>
      </p:sp>
      <p:sp>
        <p:nvSpPr>
          <p:cNvPr id="19" name="arrow"/>
          <p:cNvSpPr/>
          <p:nvPr/>
        </p:nvSpPr>
        <p:spPr>
          <a:xfrm>
            <a:off x="3831336" y="2075688"/>
            <a:ext cx="594360" cy="512064"/>
          </a:xfrm>
          <a:prstGeom prst="line">
            <a:avLst/>
          </a:prstGeom>
          <a:noFill/>
          <a:ln w="19050">
            <a:solidFill>
              <a:schemeClr val="accent5"/>
            </a:solidFill>
            <a:prstDash val="solid"/>
            <a:tailEnd type="triangle"/>
          </a:ln>
        </p:spPr>
      </p:sp>
      <p:sp>
        <p:nvSpPr>
          <p:cNvPr id="20" name="Text 18"/>
          <p:cNvSpPr txBox="1"/>
          <p:nvPr/>
        </p:nvSpPr>
        <p:spPr>
          <a:xfrm>
            <a:off x="2980944" y="3200400"/>
            <a:ext cx="1737360" cy="640080"/>
          </a:xfrm>
          <a:prstGeom prst="rect">
            <a:avLst/>
          </a:prstGeom>
          <a:noFill/>
          <a:ln/>
        </p:spPr>
        <p:txBody>
          <a:bodyPr wrap="square" lIns="0" tIns="0" rIns="0" bIns="0" rtlCol="0" anchor="t"/>
          <a:lstStyle/>
          <a:p>
            <a:pPr indent="0" marL="0">
              <a:buNone/>
            </a:pPr>
            <a:r>
              <a:rPr lang="en-US" sz="1600" b="1" dirty="0">
                <a:solidFill>
                  <a:schemeClr val="tx1"/>
                </a:solidFill>
              </a:rPr>
              <a:t>Routing</a:t>
            </a:r>
            <a:endParaRPr lang="en-US" sz="1600" dirty="0"/>
          </a:p>
        </p:txBody>
      </p:sp>
      <p:sp>
        <p:nvSpPr>
          <p:cNvPr id="21" name="Text 19"/>
          <p:cNvSpPr txBox="1"/>
          <p:nvPr/>
        </p:nvSpPr>
        <p:spPr>
          <a:xfrm>
            <a:off x="2980944" y="3886200"/>
            <a:ext cx="1737360" cy="914400"/>
          </a:xfrm>
          <a:prstGeom prst="rect">
            <a:avLst/>
          </a:prstGeom>
          <a:noFill/>
          <a:ln/>
        </p:spPr>
        <p:txBody>
          <a:bodyPr wrap="square" lIns="0" tIns="0" rIns="0" bIns="0" rtlCol="0" anchor="t"/>
          <a:lstStyle/>
          <a:p>
            <a:pPr indent="0" marL="0">
              <a:buNone/>
            </a:pPr>
            <a:r>
              <a:rPr lang="en-US" sz="1300" dirty="0">
                <a:solidFill>
                  <a:schemeClr val="tx2"/>
                </a:solidFill>
              </a:rPr>
              <a:t>Classify, then send to a specialist</a:t>
            </a:r>
            <a:endParaRPr lang="en-US" sz="1300" dirty="0"/>
          </a:p>
        </p:txBody>
      </p:sp>
      <p:sp>
        <p:nvSpPr>
          <p:cNvPr id="22" name="Text 20"/>
          <p:cNvSpPr txBox="1"/>
          <p:nvPr/>
        </p:nvSpPr>
        <p:spPr>
          <a:xfrm>
            <a:off x="2980944" y="4937760"/>
            <a:ext cx="1737360" cy="914400"/>
          </a:xfrm>
          <a:prstGeom prst="rect">
            <a:avLst/>
          </a:prstGeom>
          <a:noFill/>
          <a:ln/>
        </p:spPr>
        <p:txBody>
          <a:bodyPr wrap="square" lIns="0" tIns="0" rIns="0" bIns="0" rtlCol="0" anchor="t"/>
          <a:lstStyle/>
          <a:p>
            <a:pPr indent="0" marL="0">
              <a:buNone/>
            </a:pPr>
            <a:r>
              <a:rPr lang="en-US" sz="1200" i="1" dirty="0">
                <a:solidFill>
                  <a:schemeClr val="accent5"/>
                </a:solidFill>
              </a:rPr>
              <a:t>Support: billing vs tech vs refund</a:t>
            </a:r>
            <a:endParaRPr lang="en-US" sz="1200" dirty="0"/>
          </a:p>
        </p:txBody>
      </p:sp>
      <p:sp>
        <p:nvSpPr>
          <p:cNvPr id="23" name="card"/>
          <p:cNvSpPr/>
          <p:nvPr/>
        </p:nvSpPr>
        <p:spPr>
          <a:xfrm>
            <a:off x="5047488" y="1371600"/>
            <a:ext cx="2066544" cy="4663440"/>
          </a:xfrm>
          <a:prstGeom prst="roundRect">
            <a:avLst>
              <a:gd name="adj" fmla="val 3540"/>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24" name="node"/>
          <p:cNvSpPr/>
          <p:nvPr/>
        </p:nvSpPr>
        <p:spPr>
          <a:xfrm>
            <a:off x="5852160" y="2606040"/>
            <a:ext cx="457200" cy="365760"/>
          </a:xfrm>
          <a:prstGeom prst="roundRect">
            <a:avLst>
              <a:gd name="adj" fmla="val 12500"/>
            </a:avLst>
          </a:prstGeom>
          <a:solidFill>
            <a:schemeClr val="accent3"/>
          </a:solidFill>
          <a:ln w="12700">
            <a:solidFill>
              <a:schemeClr val="accent3"/>
            </a:solidFill>
            <a:prstDash val="solid"/>
          </a:ln>
        </p:spPr>
      </p:sp>
      <p:sp>
        <p:nvSpPr>
          <p:cNvPr id="25" name="node"/>
          <p:cNvSpPr/>
          <p:nvPr/>
        </p:nvSpPr>
        <p:spPr>
          <a:xfrm>
            <a:off x="5257800" y="1691640"/>
            <a:ext cx="457200" cy="365760"/>
          </a:xfrm>
          <a:prstGeom prst="roundRect">
            <a:avLst>
              <a:gd name="adj" fmla="val 12500"/>
            </a:avLst>
          </a:prstGeom>
          <a:solidFill>
            <a:schemeClr val="accent5"/>
          </a:solidFill>
          <a:ln w="12700">
            <a:solidFill>
              <a:schemeClr val="accent5"/>
            </a:solidFill>
            <a:prstDash val="solid"/>
          </a:ln>
        </p:spPr>
      </p:sp>
      <p:sp>
        <p:nvSpPr>
          <p:cNvPr id="26" name="arrow"/>
          <p:cNvSpPr/>
          <p:nvPr/>
        </p:nvSpPr>
        <p:spPr>
          <a:xfrm>
            <a:off x="5486400" y="2075688"/>
            <a:ext cx="594360" cy="512064"/>
          </a:xfrm>
          <a:prstGeom prst="line">
            <a:avLst/>
          </a:prstGeom>
          <a:noFill/>
          <a:ln w="19050">
            <a:solidFill>
              <a:schemeClr val="accent5"/>
            </a:solidFill>
            <a:prstDash val="solid"/>
            <a:tailEnd type="triangle"/>
          </a:ln>
        </p:spPr>
      </p:sp>
      <p:sp>
        <p:nvSpPr>
          <p:cNvPr id="27" name="node"/>
          <p:cNvSpPr/>
          <p:nvPr/>
        </p:nvSpPr>
        <p:spPr>
          <a:xfrm>
            <a:off x="5852160" y="1691640"/>
            <a:ext cx="457200" cy="365760"/>
          </a:xfrm>
          <a:prstGeom prst="roundRect">
            <a:avLst>
              <a:gd name="adj" fmla="val 12500"/>
            </a:avLst>
          </a:prstGeom>
          <a:solidFill>
            <a:schemeClr val="accent5"/>
          </a:solidFill>
          <a:ln w="12700">
            <a:solidFill>
              <a:schemeClr val="accent5"/>
            </a:solidFill>
            <a:prstDash val="solid"/>
          </a:ln>
        </p:spPr>
      </p:sp>
      <p:sp>
        <p:nvSpPr>
          <p:cNvPr id="28" name="arrow"/>
          <p:cNvSpPr/>
          <p:nvPr/>
        </p:nvSpPr>
        <p:spPr>
          <a:xfrm>
            <a:off x="6080760" y="2075688"/>
            <a:ext cx="914" cy="512064"/>
          </a:xfrm>
          <a:prstGeom prst="line">
            <a:avLst/>
          </a:prstGeom>
          <a:noFill/>
          <a:ln w="19050">
            <a:solidFill>
              <a:schemeClr val="accent5"/>
            </a:solidFill>
            <a:prstDash val="solid"/>
            <a:tailEnd type="triangle"/>
          </a:ln>
        </p:spPr>
      </p:sp>
      <p:sp>
        <p:nvSpPr>
          <p:cNvPr id="29" name="node"/>
          <p:cNvSpPr/>
          <p:nvPr/>
        </p:nvSpPr>
        <p:spPr>
          <a:xfrm>
            <a:off x="6446520" y="1691640"/>
            <a:ext cx="457200" cy="365760"/>
          </a:xfrm>
          <a:prstGeom prst="roundRect">
            <a:avLst>
              <a:gd name="adj" fmla="val 12500"/>
            </a:avLst>
          </a:prstGeom>
          <a:solidFill>
            <a:schemeClr val="accent5"/>
          </a:solidFill>
          <a:ln w="12700">
            <a:solidFill>
              <a:schemeClr val="accent5"/>
            </a:solidFill>
            <a:prstDash val="solid"/>
          </a:ln>
        </p:spPr>
      </p:sp>
      <p:sp>
        <p:nvSpPr>
          <p:cNvPr id="30" name="arrow"/>
          <p:cNvSpPr/>
          <p:nvPr/>
        </p:nvSpPr>
        <p:spPr>
          <a:xfrm>
            <a:off x="6675120" y="2075688"/>
            <a:ext cx="-594360" cy="512064"/>
          </a:xfrm>
          <a:prstGeom prst="line">
            <a:avLst/>
          </a:prstGeom>
          <a:noFill/>
          <a:ln w="19050">
            <a:solidFill>
              <a:schemeClr val="accent5"/>
            </a:solidFill>
            <a:prstDash val="solid"/>
            <a:tailEnd type="triangle"/>
          </a:ln>
        </p:spPr>
      </p:sp>
      <p:sp>
        <p:nvSpPr>
          <p:cNvPr id="31" name="Text 29"/>
          <p:cNvSpPr txBox="1"/>
          <p:nvPr/>
        </p:nvSpPr>
        <p:spPr>
          <a:xfrm>
            <a:off x="5230368" y="3200400"/>
            <a:ext cx="1737360" cy="640080"/>
          </a:xfrm>
          <a:prstGeom prst="rect">
            <a:avLst/>
          </a:prstGeom>
          <a:noFill/>
          <a:ln/>
        </p:spPr>
        <p:txBody>
          <a:bodyPr wrap="square" lIns="0" tIns="0" rIns="0" bIns="0" rtlCol="0" anchor="t"/>
          <a:lstStyle/>
          <a:p>
            <a:pPr indent="0" marL="0">
              <a:buNone/>
            </a:pPr>
            <a:r>
              <a:rPr lang="en-US" sz="1600" b="1" dirty="0">
                <a:solidFill>
                  <a:schemeClr val="tx1"/>
                </a:solidFill>
              </a:rPr>
              <a:t>Parallelization</a:t>
            </a:r>
            <a:endParaRPr lang="en-US" sz="1600" dirty="0"/>
          </a:p>
        </p:txBody>
      </p:sp>
      <p:sp>
        <p:nvSpPr>
          <p:cNvPr id="32" name="Text 30"/>
          <p:cNvSpPr txBox="1"/>
          <p:nvPr/>
        </p:nvSpPr>
        <p:spPr>
          <a:xfrm>
            <a:off x="5230368" y="3886200"/>
            <a:ext cx="1737360" cy="914400"/>
          </a:xfrm>
          <a:prstGeom prst="rect">
            <a:avLst/>
          </a:prstGeom>
          <a:noFill/>
          <a:ln/>
        </p:spPr>
        <p:txBody>
          <a:bodyPr wrap="square" lIns="0" tIns="0" rIns="0" bIns="0" rtlCol="0" anchor="t"/>
          <a:lstStyle/>
          <a:p>
            <a:pPr indent="0" marL="0">
              <a:buNone/>
            </a:pPr>
            <a:r>
              <a:rPr lang="en-US" sz="1300" dirty="0">
                <a:solidFill>
                  <a:schemeClr val="tx2"/>
                </a:solidFill>
              </a:rPr>
              <a:t>Same or split task run at once, then combine</a:t>
            </a:r>
            <a:endParaRPr lang="en-US" sz="1300" dirty="0"/>
          </a:p>
        </p:txBody>
      </p:sp>
      <p:sp>
        <p:nvSpPr>
          <p:cNvPr id="33" name="Text 31"/>
          <p:cNvSpPr txBox="1"/>
          <p:nvPr/>
        </p:nvSpPr>
        <p:spPr>
          <a:xfrm>
            <a:off x="5230368" y="4937760"/>
            <a:ext cx="1737360" cy="914400"/>
          </a:xfrm>
          <a:prstGeom prst="rect">
            <a:avLst/>
          </a:prstGeom>
          <a:noFill/>
          <a:ln/>
        </p:spPr>
        <p:txBody>
          <a:bodyPr wrap="square" lIns="0" tIns="0" rIns="0" bIns="0" rtlCol="0" anchor="t"/>
          <a:lstStyle/>
          <a:p>
            <a:pPr indent="0" marL="0">
              <a:buNone/>
            </a:pPr>
            <a:r>
              <a:rPr lang="en-US" sz="1200" i="1" dirty="0">
                <a:solidFill>
                  <a:schemeClr val="accent5"/>
                </a:solidFill>
              </a:rPr>
              <a:t>3 reviewers vote on a risky change</a:t>
            </a:r>
            <a:endParaRPr lang="en-US" sz="1200" dirty="0"/>
          </a:p>
        </p:txBody>
      </p:sp>
      <p:sp>
        <p:nvSpPr>
          <p:cNvPr id="34" name="card"/>
          <p:cNvSpPr/>
          <p:nvPr/>
        </p:nvSpPr>
        <p:spPr>
          <a:xfrm>
            <a:off x="7296912" y="1371600"/>
            <a:ext cx="2066544" cy="4663440"/>
          </a:xfrm>
          <a:prstGeom prst="roundRect">
            <a:avLst>
              <a:gd name="adj" fmla="val 3540"/>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35" name="node"/>
          <p:cNvSpPr/>
          <p:nvPr/>
        </p:nvSpPr>
        <p:spPr>
          <a:xfrm>
            <a:off x="8101584" y="1691640"/>
            <a:ext cx="457200" cy="365760"/>
          </a:xfrm>
          <a:prstGeom prst="roundRect">
            <a:avLst>
              <a:gd name="adj" fmla="val 12500"/>
            </a:avLst>
          </a:prstGeom>
          <a:solidFill>
            <a:schemeClr val="accent4"/>
          </a:solidFill>
          <a:ln w="12700">
            <a:solidFill>
              <a:schemeClr val="accent4"/>
            </a:solidFill>
            <a:prstDash val="solid"/>
          </a:ln>
        </p:spPr>
      </p:sp>
      <p:sp>
        <p:nvSpPr>
          <p:cNvPr id="36" name="node"/>
          <p:cNvSpPr/>
          <p:nvPr/>
        </p:nvSpPr>
        <p:spPr>
          <a:xfrm>
            <a:off x="7507224" y="2606040"/>
            <a:ext cx="457200" cy="365760"/>
          </a:xfrm>
          <a:prstGeom prst="roundRect">
            <a:avLst>
              <a:gd name="adj" fmla="val 12500"/>
            </a:avLst>
          </a:prstGeom>
          <a:solidFill>
            <a:schemeClr val="accent5"/>
          </a:solidFill>
          <a:ln w="12700">
            <a:solidFill>
              <a:schemeClr val="accent5"/>
            </a:solidFill>
            <a:prstDash val="solid"/>
          </a:ln>
        </p:spPr>
      </p:sp>
      <p:sp>
        <p:nvSpPr>
          <p:cNvPr id="37" name="arrow"/>
          <p:cNvSpPr/>
          <p:nvPr/>
        </p:nvSpPr>
        <p:spPr>
          <a:xfrm>
            <a:off x="8330184" y="2075688"/>
            <a:ext cx="-594360" cy="512064"/>
          </a:xfrm>
          <a:prstGeom prst="line">
            <a:avLst/>
          </a:prstGeom>
          <a:noFill/>
          <a:ln w="19050">
            <a:solidFill>
              <a:schemeClr val="accent5"/>
            </a:solidFill>
            <a:prstDash val="solid"/>
            <a:tailEnd type="triangle"/>
          </a:ln>
        </p:spPr>
      </p:sp>
      <p:sp>
        <p:nvSpPr>
          <p:cNvPr id="38" name="node"/>
          <p:cNvSpPr/>
          <p:nvPr/>
        </p:nvSpPr>
        <p:spPr>
          <a:xfrm>
            <a:off x="8101584" y="2606040"/>
            <a:ext cx="457200" cy="365760"/>
          </a:xfrm>
          <a:prstGeom prst="roundRect">
            <a:avLst>
              <a:gd name="adj" fmla="val 12500"/>
            </a:avLst>
          </a:prstGeom>
          <a:solidFill>
            <a:schemeClr val="accent5"/>
          </a:solidFill>
          <a:ln w="12700">
            <a:solidFill>
              <a:schemeClr val="accent5"/>
            </a:solidFill>
            <a:prstDash val="solid"/>
          </a:ln>
        </p:spPr>
      </p:sp>
      <p:sp>
        <p:nvSpPr>
          <p:cNvPr id="39" name="arrow"/>
          <p:cNvSpPr/>
          <p:nvPr/>
        </p:nvSpPr>
        <p:spPr>
          <a:xfrm>
            <a:off x="8330184" y="2075688"/>
            <a:ext cx="0" cy="512064"/>
          </a:xfrm>
          <a:prstGeom prst="line">
            <a:avLst/>
          </a:prstGeom>
          <a:noFill/>
          <a:ln w="19050">
            <a:solidFill>
              <a:schemeClr val="accent5"/>
            </a:solidFill>
            <a:prstDash val="solid"/>
            <a:tailEnd type="triangle"/>
          </a:ln>
        </p:spPr>
      </p:sp>
      <p:sp>
        <p:nvSpPr>
          <p:cNvPr id="40" name="node"/>
          <p:cNvSpPr/>
          <p:nvPr/>
        </p:nvSpPr>
        <p:spPr>
          <a:xfrm>
            <a:off x="8695944" y="2606040"/>
            <a:ext cx="457200" cy="365760"/>
          </a:xfrm>
          <a:prstGeom prst="roundRect">
            <a:avLst>
              <a:gd name="adj" fmla="val 12500"/>
            </a:avLst>
          </a:prstGeom>
          <a:solidFill>
            <a:schemeClr val="accent5"/>
          </a:solidFill>
          <a:ln w="12700">
            <a:solidFill>
              <a:schemeClr val="accent5"/>
            </a:solidFill>
            <a:prstDash val="solid"/>
          </a:ln>
        </p:spPr>
      </p:sp>
      <p:sp>
        <p:nvSpPr>
          <p:cNvPr id="41" name="arrow"/>
          <p:cNvSpPr/>
          <p:nvPr/>
        </p:nvSpPr>
        <p:spPr>
          <a:xfrm>
            <a:off x="8330184" y="2075688"/>
            <a:ext cx="594360" cy="512064"/>
          </a:xfrm>
          <a:prstGeom prst="line">
            <a:avLst/>
          </a:prstGeom>
          <a:noFill/>
          <a:ln w="19050">
            <a:solidFill>
              <a:schemeClr val="accent5"/>
            </a:solidFill>
            <a:prstDash val="solid"/>
            <a:tailEnd type="triangle"/>
          </a:ln>
        </p:spPr>
      </p:sp>
      <p:sp>
        <p:nvSpPr>
          <p:cNvPr id="42" name="Text 40"/>
          <p:cNvSpPr txBox="1"/>
          <p:nvPr/>
        </p:nvSpPr>
        <p:spPr>
          <a:xfrm>
            <a:off x="7479792" y="3200400"/>
            <a:ext cx="1737360" cy="640080"/>
          </a:xfrm>
          <a:prstGeom prst="rect">
            <a:avLst/>
          </a:prstGeom>
          <a:noFill/>
          <a:ln/>
        </p:spPr>
        <p:txBody>
          <a:bodyPr wrap="square" lIns="0" tIns="0" rIns="0" bIns="0" rtlCol="0" anchor="t"/>
          <a:lstStyle/>
          <a:p>
            <a:pPr indent="0" marL="0">
              <a:buNone/>
            </a:pPr>
            <a:r>
              <a:rPr lang="en-US" sz="1600" b="1" dirty="0">
                <a:solidFill>
                  <a:schemeClr val="tx1"/>
                </a:solidFill>
              </a:rPr>
              <a:t>Orchestrator–workers</a:t>
            </a:r>
            <a:endParaRPr lang="en-US" sz="1600" dirty="0"/>
          </a:p>
        </p:txBody>
      </p:sp>
      <p:sp>
        <p:nvSpPr>
          <p:cNvPr id="43" name="Text 41"/>
          <p:cNvSpPr txBox="1"/>
          <p:nvPr/>
        </p:nvSpPr>
        <p:spPr>
          <a:xfrm>
            <a:off x="7479792" y="3886200"/>
            <a:ext cx="1737360" cy="914400"/>
          </a:xfrm>
          <a:prstGeom prst="rect">
            <a:avLst/>
          </a:prstGeom>
          <a:noFill/>
          <a:ln/>
        </p:spPr>
        <p:txBody>
          <a:bodyPr wrap="square" lIns="0" tIns="0" rIns="0" bIns="0" rtlCol="0" anchor="t"/>
          <a:lstStyle/>
          <a:p>
            <a:pPr indent="0" marL="0">
              <a:buNone/>
            </a:pPr>
            <a:r>
              <a:rPr lang="en-US" sz="1300" dirty="0">
                <a:solidFill>
                  <a:schemeClr val="tx2"/>
                </a:solidFill>
              </a:rPr>
              <a:t>A lead decides subtasks on the fly</a:t>
            </a:r>
            <a:endParaRPr lang="en-US" sz="1300" dirty="0"/>
          </a:p>
        </p:txBody>
      </p:sp>
      <p:sp>
        <p:nvSpPr>
          <p:cNvPr id="44" name="Text 42"/>
          <p:cNvSpPr txBox="1"/>
          <p:nvPr/>
        </p:nvSpPr>
        <p:spPr>
          <a:xfrm>
            <a:off x="7479792" y="4937760"/>
            <a:ext cx="1737360" cy="914400"/>
          </a:xfrm>
          <a:prstGeom prst="rect">
            <a:avLst/>
          </a:prstGeom>
          <a:noFill/>
          <a:ln/>
        </p:spPr>
        <p:txBody>
          <a:bodyPr wrap="square" lIns="0" tIns="0" rIns="0" bIns="0" rtlCol="0" anchor="t"/>
          <a:lstStyle/>
          <a:p>
            <a:pPr indent="0" marL="0">
              <a:buNone/>
            </a:pPr>
            <a:r>
              <a:rPr lang="en-US" sz="1200" i="1" dirty="0">
                <a:solidFill>
                  <a:schemeClr val="accent5"/>
                </a:solidFill>
              </a:rPr>
              <a:t>Research report, big code change</a:t>
            </a:r>
            <a:endParaRPr lang="en-US" sz="1200" dirty="0"/>
          </a:p>
        </p:txBody>
      </p:sp>
      <p:sp>
        <p:nvSpPr>
          <p:cNvPr id="45" name="card"/>
          <p:cNvSpPr/>
          <p:nvPr/>
        </p:nvSpPr>
        <p:spPr>
          <a:xfrm>
            <a:off x="9546336" y="1371600"/>
            <a:ext cx="2066544" cy="4663440"/>
          </a:xfrm>
          <a:prstGeom prst="roundRect">
            <a:avLst>
              <a:gd name="adj" fmla="val 3540"/>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46" name="node"/>
          <p:cNvSpPr/>
          <p:nvPr/>
        </p:nvSpPr>
        <p:spPr>
          <a:xfrm>
            <a:off x="9802368" y="2011680"/>
            <a:ext cx="594360" cy="457200"/>
          </a:xfrm>
          <a:prstGeom prst="roundRect">
            <a:avLst>
              <a:gd name="adj" fmla="val 10000"/>
            </a:avLst>
          </a:prstGeom>
          <a:solidFill>
            <a:schemeClr val="tx1"/>
          </a:solidFill>
          <a:ln w="12700">
            <a:solidFill>
              <a:schemeClr val="tx1"/>
            </a:solidFill>
            <a:prstDash val="solid"/>
          </a:ln>
        </p:spPr>
      </p:sp>
      <p:sp>
        <p:nvSpPr>
          <p:cNvPr id="47" name="node"/>
          <p:cNvSpPr/>
          <p:nvPr/>
        </p:nvSpPr>
        <p:spPr>
          <a:xfrm>
            <a:off x="10762488" y="2011680"/>
            <a:ext cx="594360" cy="457200"/>
          </a:xfrm>
          <a:prstGeom prst="roundRect">
            <a:avLst>
              <a:gd name="adj" fmla="val 10000"/>
            </a:avLst>
          </a:prstGeom>
          <a:solidFill>
            <a:schemeClr val="accent1"/>
          </a:solidFill>
          <a:ln w="12700">
            <a:solidFill>
              <a:schemeClr val="accent1"/>
            </a:solidFill>
            <a:prstDash val="solid"/>
          </a:ln>
        </p:spPr>
      </p:sp>
      <p:sp>
        <p:nvSpPr>
          <p:cNvPr id="48" name="arrow"/>
          <p:cNvSpPr/>
          <p:nvPr/>
        </p:nvSpPr>
        <p:spPr>
          <a:xfrm>
            <a:off x="10424160" y="2121408"/>
            <a:ext cx="310896" cy="0"/>
          </a:xfrm>
          <a:prstGeom prst="line">
            <a:avLst/>
          </a:prstGeom>
          <a:noFill/>
          <a:ln w="19050">
            <a:solidFill>
              <a:schemeClr val="accent5"/>
            </a:solidFill>
            <a:prstDash val="solid"/>
            <a:tailEnd type="triangle"/>
          </a:ln>
        </p:spPr>
      </p:sp>
      <p:sp>
        <p:nvSpPr>
          <p:cNvPr id="49" name="arrow"/>
          <p:cNvSpPr/>
          <p:nvPr/>
        </p:nvSpPr>
        <p:spPr>
          <a:xfrm>
            <a:off x="10735056" y="2359152"/>
            <a:ext cx="-310896" cy="0"/>
          </a:xfrm>
          <a:prstGeom prst="line">
            <a:avLst/>
          </a:prstGeom>
          <a:noFill/>
          <a:ln w="19050">
            <a:solidFill>
              <a:schemeClr val="accent5"/>
            </a:solidFill>
            <a:prstDash val="solid"/>
            <a:tailEnd type="triangle"/>
          </a:ln>
        </p:spPr>
      </p:sp>
      <p:sp>
        <p:nvSpPr>
          <p:cNvPr id="50" name="Text 48"/>
          <p:cNvSpPr txBox="1"/>
          <p:nvPr/>
        </p:nvSpPr>
        <p:spPr>
          <a:xfrm>
            <a:off x="9729216" y="3200400"/>
            <a:ext cx="1737360" cy="640080"/>
          </a:xfrm>
          <a:prstGeom prst="rect">
            <a:avLst/>
          </a:prstGeom>
          <a:noFill/>
          <a:ln/>
        </p:spPr>
        <p:txBody>
          <a:bodyPr wrap="square" lIns="0" tIns="0" rIns="0" bIns="0" rtlCol="0" anchor="t"/>
          <a:lstStyle/>
          <a:p>
            <a:pPr indent="0" marL="0">
              <a:buNone/>
            </a:pPr>
            <a:r>
              <a:rPr lang="en-US" sz="1600" b="1" dirty="0">
                <a:solidFill>
                  <a:schemeClr val="tx1"/>
                </a:solidFill>
              </a:rPr>
              <a:t>Evaluator–optimizer</a:t>
            </a:r>
            <a:endParaRPr lang="en-US" sz="1600" dirty="0"/>
          </a:p>
        </p:txBody>
      </p:sp>
      <p:sp>
        <p:nvSpPr>
          <p:cNvPr id="51" name="Text 49"/>
          <p:cNvSpPr txBox="1"/>
          <p:nvPr/>
        </p:nvSpPr>
        <p:spPr>
          <a:xfrm>
            <a:off x="9729216" y="3886200"/>
            <a:ext cx="1737360" cy="914400"/>
          </a:xfrm>
          <a:prstGeom prst="rect">
            <a:avLst/>
          </a:prstGeom>
          <a:noFill/>
          <a:ln/>
        </p:spPr>
        <p:txBody>
          <a:bodyPr wrap="square" lIns="0" tIns="0" rIns="0" bIns="0" rtlCol="0" anchor="t"/>
          <a:lstStyle/>
          <a:p>
            <a:pPr indent="0" marL="0">
              <a:buNone/>
            </a:pPr>
            <a:r>
              <a:rPr lang="en-US" sz="1300" dirty="0">
                <a:solidFill>
                  <a:schemeClr val="tx2"/>
                </a:solidFill>
              </a:rPr>
              <a:t>One writes, one critiques, loop</a:t>
            </a:r>
            <a:endParaRPr lang="en-US" sz="1300" dirty="0"/>
          </a:p>
        </p:txBody>
      </p:sp>
      <p:sp>
        <p:nvSpPr>
          <p:cNvPr id="52" name="Text 50"/>
          <p:cNvSpPr txBox="1"/>
          <p:nvPr/>
        </p:nvSpPr>
        <p:spPr>
          <a:xfrm>
            <a:off x="9729216" y="4937760"/>
            <a:ext cx="1737360" cy="914400"/>
          </a:xfrm>
          <a:prstGeom prst="rect">
            <a:avLst/>
          </a:prstGeom>
          <a:noFill/>
          <a:ln/>
        </p:spPr>
        <p:txBody>
          <a:bodyPr wrap="square" lIns="0" tIns="0" rIns="0" bIns="0" rtlCol="0" anchor="t"/>
          <a:lstStyle/>
          <a:p>
            <a:pPr indent="0" marL="0">
              <a:buNone/>
            </a:pPr>
            <a:r>
              <a:rPr lang="en-US" sz="1200" i="1" dirty="0">
                <a:solidFill>
                  <a:schemeClr val="accent5"/>
                </a:solidFill>
              </a:rPr>
              <a:t>Translation, polishing a proposal</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Multi-agent: a lead agent and parallel subagents</a:t>
            </a:r>
            <a:endParaRPr lang="en-US" sz="3200" dirty="0"/>
          </a:p>
        </p:txBody>
      </p:sp>
      <p:sp>
        <p:nvSpPr>
          <p:cNvPr id="3" name="lead"/>
          <p:cNvSpPr/>
          <p:nvPr/>
        </p:nvSpPr>
        <p:spPr>
          <a:xfrm>
            <a:off x="1920240" y="1463040"/>
            <a:ext cx="2194560" cy="731520"/>
          </a:xfrm>
          <a:prstGeom prst="roundRect">
            <a:avLst>
              <a:gd name="adj" fmla="val 10000"/>
            </a:avLst>
          </a:prstGeom>
          <a:solidFill>
            <a:schemeClr val="tx1"/>
          </a:solidFill>
          <a:ln w="12700">
            <a:solidFill>
              <a:schemeClr val="tx1"/>
            </a:solidFill>
            <a:prstDash val="solid"/>
          </a:ln>
        </p:spPr>
      </p:sp>
      <p:sp>
        <p:nvSpPr>
          <p:cNvPr id="4" name="Text 2"/>
          <p:cNvSpPr txBox="1"/>
          <p:nvPr/>
        </p:nvSpPr>
        <p:spPr>
          <a:xfrm>
            <a:off x="1965960" y="1463040"/>
            <a:ext cx="2103120" cy="731520"/>
          </a:xfrm>
          <a:prstGeom prst="rect">
            <a:avLst/>
          </a:prstGeom>
          <a:noFill/>
          <a:ln/>
        </p:spPr>
        <p:txBody>
          <a:bodyPr wrap="square" lIns="0" tIns="0" rIns="0" bIns="0" rtlCol="0" anchor="ctr"/>
          <a:lstStyle/>
          <a:p>
            <a:pPr algn="ctr" indent="0" marL="0">
              <a:buNone/>
            </a:pPr>
            <a:r>
              <a:rPr lang="en-US" sz="1300" b="1" dirty="0">
                <a:solidFill>
                  <a:schemeClr val="bg1"/>
                </a:solidFill>
              </a:rPr>
              <a:t>Lead agent: plans, delegates, combines</a:t>
            </a:r>
            <a:endParaRPr lang="en-US" sz="1300" dirty="0"/>
          </a:p>
        </p:txBody>
      </p:sp>
      <p:sp>
        <p:nvSpPr>
          <p:cNvPr id="5" name="subagent"/>
          <p:cNvSpPr/>
          <p:nvPr/>
        </p:nvSpPr>
        <p:spPr>
          <a:xfrm>
            <a:off x="548640" y="2926080"/>
            <a:ext cx="1463040" cy="640080"/>
          </a:xfrm>
          <a:prstGeom prst="roundRect">
            <a:avLst>
              <a:gd name="adj" fmla="val 11429"/>
            </a:avLst>
          </a:prstGeom>
          <a:solidFill>
            <a:schemeClr val="accent1"/>
          </a:solidFill>
          <a:ln w="12700">
            <a:solidFill>
              <a:schemeClr val="accent1"/>
            </a:solidFill>
            <a:prstDash val="solid"/>
          </a:ln>
        </p:spPr>
      </p:sp>
      <p:sp>
        <p:nvSpPr>
          <p:cNvPr id="6" name="Text 4"/>
          <p:cNvSpPr txBox="1"/>
          <p:nvPr/>
        </p:nvSpPr>
        <p:spPr>
          <a:xfrm>
            <a:off x="548640" y="2926080"/>
            <a:ext cx="1463040" cy="640080"/>
          </a:xfrm>
          <a:prstGeom prst="rect">
            <a:avLst/>
          </a:prstGeom>
          <a:noFill/>
          <a:ln/>
        </p:spPr>
        <p:txBody>
          <a:bodyPr wrap="square" lIns="0" tIns="0" rIns="0" bIns="0" rtlCol="0" anchor="ctr"/>
          <a:lstStyle/>
          <a:p>
            <a:pPr algn="ctr" indent="0" marL="0">
              <a:buNone/>
            </a:pPr>
            <a:r>
              <a:rPr lang="en-US" sz="1300" dirty="0">
                <a:solidFill>
                  <a:schemeClr val="bg1"/>
                </a:solidFill>
              </a:rPr>
              <a:t>Subagent A</a:t>
            </a:r>
            <a:endParaRPr lang="en-US" sz="1300" dirty="0"/>
          </a:p>
        </p:txBody>
      </p:sp>
      <p:sp>
        <p:nvSpPr>
          <p:cNvPr id="7" name="arrow"/>
          <p:cNvSpPr/>
          <p:nvPr/>
        </p:nvSpPr>
        <p:spPr>
          <a:xfrm>
            <a:off x="3017520" y="2212848"/>
            <a:ext cx="-1737360" cy="694944"/>
          </a:xfrm>
          <a:prstGeom prst="line">
            <a:avLst/>
          </a:prstGeom>
          <a:noFill/>
          <a:ln w="19050">
            <a:solidFill>
              <a:schemeClr val="accent5"/>
            </a:solidFill>
            <a:prstDash val="solid"/>
            <a:tailEnd type="triangle"/>
          </a:ln>
        </p:spPr>
      </p:sp>
      <p:sp>
        <p:nvSpPr>
          <p:cNvPr id="8" name="subagent"/>
          <p:cNvSpPr/>
          <p:nvPr/>
        </p:nvSpPr>
        <p:spPr>
          <a:xfrm>
            <a:off x="2240280" y="2926080"/>
            <a:ext cx="1463040" cy="640080"/>
          </a:xfrm>
          <a:prstGeom prst="roundRect">
            <a:avLst>
              <a:gd name="adj" fmla="val 11429"/>
            </a:avLst>
          </a:prstGeom>
          <a:solidFill>
            <a:schemeClr val="accent2"/>
          </a:solidFill>
          <a:ln w="12700">
            <a:solidFill>
              <a:schemeClr val="accent2"/>
            </a:solidFill>
            <a:prstDash val="solid"/>
          </a:ln>
        </p:spPr>
      </p:sp>
      <p:sp>
        <p:nvSpPr>
          <p:cNvPr id="9" name="Text 7"/>
          <p:cNvSpPr txBox="1"/>
          <p:nvPr/>
        </p:nvSpPr>
        <p:spPr>
          <a:xfrm>
            <a:off x="2240280" y="2926080"/>
            <a:ext cx="1463040" cy="640080"/>
          </a:xfrm>
          <a:prstGeom prst="rect">
            <a:avLst/>
          </a:prstGeom>
          <a:noFill/>
          <a:ln/>
        </p:spPr>
        <p:txBody>
          <a:bodyPr wrap="square" lIns="0" tIns="0" rIns="0" bIns="0" rtlCol="0" anchor="ctr"/>
          <a:lstStyle/>
          <a:p>
            <a:pPr algn="ctr" indent="0" marL="0">
              <a:buNone/>
            </a:pPr>
            <a:r>
              <a:rPr lang="en-US" sz="1300" dirty="0">
                <a:solidFill>
                  <a:schemeClr val="bg1"/>
                </a:solidFill>
              </a:rPr>
              <a:t>Subagent B</a:t>
            </a:r>
            <a:endParaRPr lang="en-US" sz="1300" dirty="0"/>
          </a:p>
        </p:txBody>
      </p:sp>
      <p:sp>
        <p:nvSpPr>
          <p:cNvPr id="10" name="arrow"/>
          <p:cNvSpPr/>
          <p:nvPr/>
        </p:nvSpPr>
        <p:spPr>
          <a:xfrm>
            <a:off x="3017520" y="2212848"/>
            <a:ext cx="-45720" cy="694944"/>
          </a:xfrm>
          <a:prstGeom prst="line">
            <a:avLst/>
          </a:prstGeom>
          <a:noFill/>
          <a:ln w="19050">
            <a:solidFill>
              <a:schemeClr val="accent5"/>
            </a:solidFill>
            <a:prstDash val="solid"/>
            <a:tailEnd type="triangle"/>
          </a:ln>
        </p:spPr>
      </p:sp>
      <p:sp>
        <p:nvSpPr>
          <p:cNvPr id="11" name="subagent"/>
          <p:cNvSpPr/>
          <p:nvPr/>
        </p:nvSpPr>
        <p:spPr>
          <a:xfrm>
            <a:off x="3931920" y="2926080"/>
            <a:ext cx="1463040" cy="640080"/>
          </a:xfrm>
          <a:prstGeom prst="roundRect">
            <a:avLst>
              <a:gd name="adj" fmla="val 11429"/>
            </a:avLst>
          </a:prstGeom>
          <a:solidFill>
            <a:schemeClr val="accent3"/>
          </a:solidFill>
          <a:ln w="12700">
            <a:solidFill>
              <a:schemeClr val="accent3"/>
            </a:solidFill>
            <a:prstDash val="solid"/>
          </a:ln>
        </p:spPr>
      </p:sp>
      <p:sp>
        <p:nvSpPr>
          <p:cNvPr id="12" name="Text 10"/>
          <p:cNvSpPr txBox="1"/>
          <p:nvPr/>
        </p:nvSpPr>
        <p:spPr>
          <a:xfrm>
            <a:off x="3931920" y="2926080"/>
            <a:ext cx="1463040" cy="640080"/>
          </a:xfrm>
          <a:prstGeom prst="rect">
            <a:avLst/>
          </a:prstGeom>
          <a:noFill/>
          <a:ln/>
        </p:spPr>
        <p:txBody>
          <a:bodyPr wrap="square" lIns="0" tIns="0" rIns="0" bIns="0" rtlCol="0" anchor="ctr"/>
          <a:lstStyle/>
          <a:p>
            <a:pPr algn="ctr" indent="0" marL="0">
              <a:buNone/>
            </a:pPr>
            <a:r>
              <a:rPr lang="en-US" sz="1300" dirty="0">
                <a:solidFill>
                  <a:schemeClr val="bg1"/>
                </a:solidFill>
              </a:rPr>
              <a:t>Subagent C</a:t>
            </a:r>
            <a:endParaRPr lang="en-US" sz="1300" dirty="0"/>
          </a:p>
        </p:txBody>
      </p:sp>
      <p:sp>
        <p:nvSpPr>
          <p:cNvPr id="13" name="arrow"/>
          <p:cNvSpPr/>
          <p:nvPr/>
        </p:nvSpPr>
        <p:spPr>
          <a:xfrm>
            <a:off x="3017520" y="2212848"/>
            <a:ext cx="1645920" cy="694944"/>
          </a:xfrm>
          <a:prstGeom prst="line">
            <a:avLst/>
          </a:prstGeom>
          <a:noFill/>
          <a:ln w="19050">
            <a:solidFill>
              <a:schemeClr val="accent5"/>
            </a:solidFill>
            <a:prstDash val="solid"/>
            <a:tailEnd type="triangle"/>
          </a:ln>
        </p:spPr>
      </p:sp>
      <p:sp>
        <p:nvSpPr>
          <p:cNvPr id="14" name="Text 12"/>
          <p:cNvSpPr txBox="1"/>
          <p:nvPr/>
        </p:nvSpPr>
        <p:spPr>
          <a:xfrm>
            <a:off x="548640" y="3703320"/>
            <a:ext cx="4937760" cy="457200"/>
          </a:xfrm>
          <a:prstGeom prst="rect">
            <a:avLst/>
          </a:prstGeom>
          <a:noFill/>
          <a:ln/>
        </p:spPr>
        <p:txBody>
          <a:bodyPr wrap="square" lIns="0" tIns="0" rIns="0" bIns="0" rtlCol="0" anchor="t"/>
          <a:lstStyle/>
          <a:p>
            <a:pPr algn="ctr" indent="0" marL="0">
              <a:buNone/>
            </a:pPr>
            <a:r>
              <a:rPr lang="en-US" sz="1200" i="1" dirty="0">
                <a:solidFill>
                  <a:schemeClr val="accent5"/>
                </a:solidFill>
              </a:rPr>
              <a:t>Each has its own context window and returns only a short summary</a:t>
            </a:r>
            <a:endParaRPr lang="en-US" sz="1200" dirty="0"/>
          </a:p>
        </p:txBody>
      </p:sp>
      <p:sp>
        <p:nvSpPr>
          <p:cNvPr id="15" name="card"/>
          <p:cNvSpPr/>
          <p:nvPr/>
        </p:nvSpPr>
        <p:spPr>
          <a:xfrm>
            <a:off x="548640" y="4297680"/>
            <a:ext cx="2377440" cy="1737360"/>
          </a:xfrm>
          <a:prstGeom prst="roundRect">
            <a:avLst>
              <a:gd name="adj" fmla="val 4211"/>
            </a:avLst>
          </a:prstGeom>
          <a:solidFill>
            <a:schemeClr val="bg1"/>
          </a:solidFill>
          <a:ln w="9525">
            <a:solidFill>
              <a:schemeClr val="accent2"/>
            </a:solidFill>
            <a:prstDash val="solid"/>
          </a:ln>
        </p:spPr>
      </p:sp>
      <p:sp>
        <p:nvSpPr>
          <p:cNvPr id="16" name="Text 14"/>
          <p:cNvSpPr txBox="1"/>
          <p:nvPr/>
        </p:nvSpPr>
        <p:spPr>
          <a:xfrm>
            <a:off x="777240" y="4434840"/>
            <a:ext cx="2011680" cy="274320"/>
          </a:xfrm>
          <a:prstGeom prst="rect">
            <a:avLst/>
          </a:prstGeom>
          <a:noFill/>
          <a:ln/>
        </p:spPr>
        <p:txBody>
          <a:bodyPr wrap="square" lIns="0" tIns="0" rIns="0" bIns="0" rtlCol="0" anchor="t"/>
          <a:lstStyle/>
          <a:p>
            <a:pPr indent="0" marL="0">
              <a:buNone/>
            </a:pPr>
            <a:r>
              <a:rPr lang="en-US" sz="1400" b="1" dirty="0">
                <a:solidFill>
                  <a:schemeClr val="accent2"/>
                </a:solidFill>
              </a:rPr>
              <a:t>Good fit</a:t>
            </a:r>
            <a:endParaRPr lang="en-US" sz="1400" dirty="0"/>
          </a:p>
        </p:txBody>
      </p:sp>
      <p:sp>
        <p:nvSpPr>
          <p:cNvPr id="17" name="Text 15"/>
          <p:cNvSpPr txBox="1"/>
          <p:nvPr/>
        </p:nvSpPr>
        <p:spPr>
          <a:xfrm>
            <a:off x="777240" y="4754880"/>
            <a:ext cx="2011680" cy="1188720"/>
          </a:xfrm>
          <a:prstGeom prst="rect">
            <a:avLst/>
          </a:prstGeom>
          <a:noFill/>
          <a:ln/>
        </p:spPr>
        <p:txBody>
          <a:bodyPr wrap="square" lIns="0" tIns="0" rIns="0" bIns="0" rtlCol="0" anchor="t"/>
          <a:lstStyle/>
          <a:p>
            <a:pPr indent="0" marL="0">
              <a:buNone/>
            </a:pPr>
            <a:r>
              <a:rPr lang="en-US" sz="1300" dirty="0">
                <a:solidFill>
                  <a:schemeClr val="tx2"/>
                </a:solidFill>
              </a:rPr>
              <a:t>Wide research, many independent parts, too much for one context</a:t>
            </a:r>
            <a:endParaRPr lang="en-US" sz="1300" dirty="0"/>
          </a:p>
        </p:txBody>
      </p:sp>
      <p:sp>
        <p:nvSpPr>
          <p:cNvPr id="18" name="card"/>
          <p:cNvSpPr/>
          <p:nvPr/>
        </p:nvSpPr>
        <p:spPr>
          <a:xfrm>
            <a:off x="3108960" y="4297680"/>
            <a:ext cx="2377440" cy="1737360"/>
          </a:xfrm>
          <a:prstGeom prst="roundRect">
            <a:avLst>
              <a:gd name="adj" fmla="val 4211"/>
            </a:avLst>
          </a:prstGeom>
          <a:solidFill>
            <a:schemeClr val="bg1"/>
          </a:solidFill>
          <a:ln w="9525">
            <a:solidFill>
              <a:schemeClr val="accent1"/>
            </a:solidFill>
            <a:prstDash val="solid"/>
          </a:ln>
        </p:spPr>
      </p:sp>
      <p:sp>
        <p:nvSpPr>
          <p:cNvPr id="19" name="Text 17"/>
          <p:cNvSpPr txBox="1"/>
          <p:nvPr/>
        </p:nvSpPr>
        <p:spPr>
          <a:xfrm>
            <a:off x="3337560" y="4434840"/>
            <a:ext cx="2011680" cy="274320"/>
          </a:xfrm>
          <a:prstGeom prst="rect">
            <a:avLst/>
          </a:prstGeom>
          <a:noFill/>
          <a:ln/>
        </p:spPr>
        <p:txBody>
          <a:bodyPr wrap="square" lIns="0" tIns="0" rIns="0" bIns="0" rtlCol="0" anchor="t"/>
          <a:lstStyle/>
          <a:p>
            <a:pPr indent="0" marL="0">
              <a:buNone/>
            </a:pPr>
            <a:r>
              <a:rPr lang="en-US" sz="1400" b="1" dirty="0">
                <a:solidFill>
                  <a:schemeClr val="accent1"/>
                </a:solidFill>
              </a:rPr>
              <a:t>Poor fit</a:t>
            </a:r>
            <a:endParaRPr lang="en-US" sz="1400" dirty="0"/>
          </a:p>
        </p:txBody>
      </p:sp>
      <p:sp>
        <p:nvSpPr>
          <p:cNvPr id="20" name="Text 18"/>
          <p:cNvSpPr txBox="1"/>
          <p:nvPr/>
        </p:nvSpPr>
        <p:spPr>
          <a:xfrm>
            <a:off x="3337560" y="4754880"/>
            <a:ext cx="2011680" cy="1188720"/>
          </a:xfrm>
          <a:prstGeom prst="rect">
            <a:avLst/>
          </a:prstGeom>
          <a:noFill/>
          <a:ln/>
        </p:spPr>
        <p:txBody>
          <a:bodyPr wrap="square" lIns="0" tIns="0" rIns="0" bIns="0" rtlCol="0" anchor="t"/>
          <a:lstStyle/>
          <a:p>
            <a:pPr indent="0" marL="0">
              <a:buNone/>
            </a:pPr>
            <a:r>
              <a:rPr lang="en-US" sz="1300" dirty="0">
                <a:solidFill>
                  <a:schemeClr val="tx2"/>
                </a:solidFill>
              </a:rPr>
              <a:t>Tightly linked steps, most coding, low-value tasks</a:t>
            </a:r>
            <a:endParaRPr lang="en-US" sz="1300" dirty="0"/>
          </a:p>
        </p:txBody>
      </p:sp>
      <p:sp>
        <p:nvSpPr>
          <p:cNvPr id="21" name="card"/>
          <p:cNvSpPr/>
          <p:nvPr/>
        </p:nvSpPr>
        <p:spPr>
          <a:xfrm>
            <a:off x="6035040" y="1371600"/>
            <a:ext cx="5577840" cy="1389888"/>
          </a:xfrm>
          <a:prstGeom prst="roundRect">
            <a:avLst>
              <a:gd name="adj" fmla="val 526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22" name="Text 20"/>
          <p:cNvSpPr txBox="1"/>
          <p:nvPr/>
        </p:nvSpPr>
        <p:spPr>
          <a:xfrm>
            <a:off x="6309360" y="1554480"/>
            <a:ext cx="2286000" cy="1005840"/>
          </a:xfrm>
          <a:prstGeom prst="rect">
            <a:avLst/>
          </a:prstGeom>
          <a:noFill/>
          <a:ln/>
        </p:spPr>
        <p:txBody>
          <a:bodyPr wrap="square" lIns="0" tIns="0" rIns="0" bIns="0" rtlCol="0" anchor="ctr"/>
          <a:lstStyle/>
          <a:p>
            <a:pPr indent="0" marL="0">
              <a:buNone/>
            </a:pPr>
            <a:r>
              <a:rPr lang="en-US" sz="4400" b="1" dirty="0">
                <a:solidFill>
                  <a:schemeClr val="accent2"/>
                </a:solidFill>
                <a:latin typeface="Cambria" pitchFamily="34" charset="0"/>
                <a:ea typeface="Cambria" pitchFamily="34" charset="-122"/>
                <a:cs typeface="Cambria" pitchFamily="34" charset="-120"/>
              </a:rPr>
              <a:t>+90%</a:t>
            </a:r>
            <a:endParaRPr lang="en-US" sz="4400" dirty="0"/>
          </a:p>
        </p:txBody>
      </p:sp>
      <p:sp>
        <p:nvSpPr>
          <p:cNvPr id="23" name="Text 21"/>
          <p:cNvSpPr txBox="1"/>
          <p:nvPr/>
        </p:nvSpPr>
        <p:spPr>
          <a:xfrm>
            <a:off x="8686800" y="1554480"/>
            <a:ext cx="2743200" cy="1005840"/>
          </a:xfrm>
          <a:prstGeom prst="rect">
            <a:avLst/>
          </a:prstGeom>
          <a:noFill/>
          <a:ln/>
        </p:spPr>
        <p:txBody>
          <a:bodyPr wrap="square" lIns="0" tIns="0" rIns="0" bIns="0" rtlCol="0" anchor="ctr"/>
          <a:lstStyle/>
          <a:p>
            <a:pPr indent="0" marL="0">
              <a:buNone/>
            </a:pPr>
            <a:r>
              <a:rPr lang="en-US" sz="1400" dirty="0">
                <a:solidFill>
                  <a:schemeClr val="tx2"/>
                </a:solidFill>
              </a:rPr>
              <a:t>better than a single agent on Anthropic’s internal research eval</a:t>
            </a:r>
            <a:endParaRPr lang="en-US" sz="1400" dirty="0"/>
          </a:p>
        </p:txBody>
      </p:sp>
      <p:sp>
        <p:nvSpPr>
          <p:cNvPr id="24" name="card"/>
          <p:cNvSpPr/>
          <p:nvPr/>
        </p:nvSpPr>
        <p:spPr>
          <a:xfrm>
            <a:off x="6035040" y="2944368"/>
            <a:ext cx="5577840" cy="1389888"/>
          </a:xfrm>
          <a:prstGeom prst="roundRect">
            <a:avLst>
              <a:gd name="adj" fmla="val 526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25" name="Text 23"/>
          <p:cNvSpPr txBox="1"/>
          <p:nvPr/>
        </p:nvSpPr>
        <p:spPr>
          <a:xfrm>
            <a:off x="6309360" y="3127248"/>
            <a:ext cx="2286000" cy="10058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15×</a:t>
            </a:r>
            <a:endParaRPr lang="en-US" sz="4400" dirty="0"/>
          </a:p>
        </p:txBody>
      </p:sp>
      <p:sp>
        <p:nvSpPr>
          <p:cNvPr id="26" name="Text 24"/>
          <p:cNvSpPr txBox="1"/>
          <p:nvPr/>
        </p:nvSpPr>
        <p:spPr>
          <a:xfrm>
            <a:off x="8686800" y="3127248"/>
            <a:ext cx="2743200" cy="1005840"/>
          </a:xfrm>
          <a:prstGeom prst="rect">
            <a:avLst/>
          </a:prstGeom>
          <a:noFill/>
          <a:ln/>
        </p:spPr>
        <p:txBody>
          <a:bodyPr wrap="square" lIns="0" tIns="0" rIns="0" bIns="0" rtlCol="0" anchor="ctr"/>
          <a:lstStyle/>
          <a:p>
            <a:pPr indent="0" marL="0">
              <a:buNone/>
            </a:pPr>
            <a:r>
              <a:rPr lang="en-US" sz="1400" dirty="0">
                <a:solidFill>
                  <a:schemeClr val="tx2"/>
                </a:solidFill>
              </a:rPr>
              <a:t>the tokens of a normal chat (single agents use about 4×)</a:t>
            </a:r>
            <a:endParaRPr lang="en-US" sz="1400" dirty="0"/>
          </a:p>
        </p:txBody>
      </p:sp>
      <p:sp>
        <p:nvSpPr>
          <p:cNvPr id="27" name="card"/>
          <p:cNvSpPr/>
          <p:nvPr/>
        </p:nvSpPr>
        <p:spPr>
          <a:xfrm>
            <a:off x="6035040" y="4517136"/>
            <a:ext cx="5577840" cy="1389888"/>
          </a:xfrm>
          <a:prstGeom prst="roundRect">
            <a:avLst>
              <a:gd name="adj" fmla="val 526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28" name="Text 26"/>
          <p:cNvSpPr txBox="1"/>
          <p:nvPr/>
        </p:nvSpPr>
        <p:spPr>
          <a:xfrm>
            <a:off x="6309360" y="4700016"/>
            <a:ext cx="2286000" cy="1005840"/>
          </a:xfrm>
          <a:prstGeom prst="rect">
            <a:avLst/>
          </a:prstGeom>
          <a:noFill/>
          <a:ln/>
        </p:spPr>
        <p:txBody>
          <a:bodyPr wrap="square" lIns="0" tIns="0" rIns="0" bIns="0" rtlCol="0" anchor="ctr"/>
          <a:lstStyle/>
          <a:p>
            <a:pPr indent="0" marL="0">
              <a:buNone/>
            </a:pPr>
            <a:r>
              <a:rPr lang="en-US" sz="4400" b="1" dirty="0">
                <a:solidFill>
                  <a:schemeClr val="accent3"/>
                </a:solidFill>
                <a:latin typeface="Cambria" pitchFamily="34" charset="0"/>
                <a:ea typeface="Cambria" pitchFamily="34" charset="-122"/>
                <a:cs typeface="Cambria" pitchFamily="34" charset="-120"/>
              </a:rPr>
              <a:t>−90%</a:t>
            </a:r>
            <a:endParaRPr lang="en-US" sz="4400" dirty="0"/>
          </a:p>
        </p:txBody>
      </p:sp>
      <p:sp>
        <p:nvSpPr>
          <p:cNvPr id="29" name="Text 27"/>
          <p:cNvSpPr txBox="1"/>
          <p:nvPr/>
        </p:nvSpPr>
        <p:spPr>
          <a:xfrm>
            <a:off x="8686800" y="4700016"/>
            <a:ext cx="2743200" cy="1005840"/>
          </a:xfrm>
          <a:prstGeom prst="rect">
            <a:avLst/>
          </a:prstGeom>
          <a:noFill/>
          <a:ln/>
        </p:spPr>
        <p:txBody>
          <a:bodyPr wrap="square" lIns="0" tIns="0" rIns="0" bIns="0" rtlCol="0" anchor="ctr"/>
          <a:lstStyle/>
          <a:p>
            <a:pPr indent="0" marL="0">
              <a:buNone/>
            </a:pPr>
            <a:r>
              <a:rPr lang="en-US" sz="1400" dirty="0">
                <a:solidFill>
                  <a:schemeClr val="tx2"/>
                </a:solidFill>
              </a:rPr>
              <a:t>up to 90% less time on complex research, by searching in parallel</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Subagents in Claude Code: a markdown file is all it takes</a:t>
            </a:r>
            <a:endParaRPr lang="en-US" sz="3200" dirty="0"/>
          </a:p>
        </p:txBody>
      </p:sp>
      <p:sp>
        <p:nvSpPr>
          <p:cNvPr id="3" name="code panel"/>
          <p:cNvSpPr/>
          <p:nvPr/>
        </p:nvSpPr>
        <p:spPr>
          <a:xfrm>
            <a:off x="548640" y="1371600"/>
            <a:ext cx="5852160" cy="4663440"/>
          </a:xfrm>
          <a:prstGeom prst="roundRect">
            <a:avLst>
              <a:gd name="adj" fmla="val 1569"/>
            </a:avLst>
          </a:prstGeom>
          <a:solidFill>
            <a:schemeClr val="tx1"/>
          </a:solidFill>
          <a:ln w="12700">
            <a:solidFill>
              <a:schemeClr val="tx1"/>
            </a:solidFill>
            <a:prstDash val="solid"/>
          </a:ln>
        </p:spPr>
      </p:sp>
      <p:sp>
        <p:nvSpPr>
          <p:cNvPr id="4" name="Text 2"/>
          <p:cNvSpPr txBox="1"/>
          <p:nvPr/>
        </p:nvSpPr>
        <p:spPr>
          <a:xfrm>
            <a:off x="777240" y="1554480"/>
            <a:ext cx="5394960" cy="4297680"/>
          </a:xfrm>
          <a:prstGeom prst="rect">
            <a:avLst/>
          </a:prstGeom>
          <a:noFill/>
          <a:ln/>
        </p:spPr>
        <p:txBody>
          <a:bodyPr wrap="square" lIns="0" tIns="0" rIns="0" bIns="0" rtlCol="0" anchor="t"/>
          <a:lstStyle/>
          <a:p>
            <a:pPr indent="0" marL="0">
              <a:buNone/>
            </a:pPr>
            <a:r>
              <a:rPr lang="en-US" sz="1300" dirty="0">
                <a:solidFill>
                  <a:srgbClr val="E3E5EC"/>
                </a:solidFill>
                <a:latin typeface="Courier New" pitchFamily="34" charset="0"/>
                <a:ea typeface="Courier New" pitchFamily="34" charset="-122"/>
                <a:cs typeface="Courier New" pitchFamily="34" charset="-120"/>
              </a:rPr>
              <a:t># .claude/agents/code-reviewer.md</a:t>
            </a:r>
            <a:endParaRPr lang="en-US" sz="1300" dirty="0"/>
          </a:p>
          <a:p>
            <a:pPr indent="0" marL="0">
              <a:buNone/>
            </a:pPr>
            <a:r>
              <a:rPr lang="en-US" sz="1300" dirty="0">
                <a:solidFill>
                  <a:srgbClr val="E3E5EC"/>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3E5EC"/>
                </a:solidFill>
                <a:latin typeface="Courier New" pitchFamily="34" charset="0"/>
                <a:ea typeface="Courier New" pitchFamily="34" charset="-122"/>
                <a:cs typeface="Courier New" pitchFamily="34" charset="-120"/>
              </a:rPr>
              <a:t>name: code-reviewer</a:t>
            </a:r>
            <a:endParaRPr lang="en-US" sz="1300" dirty="0"/>
          </a:p>
          <a:p>
            <a:pPr indent="0" marL="0">
              <a:buNone/>
            </a:pPr>
            <a:r>
              <a:rPr lang="en-US" sz="1300" dirty="0">
                <a:solidFill>
                  <a:srgbClr val="E3E5EC"/>
                </a:solidFill>
                <a:latin typeface="Courier New" pitchFamily="34" charset="0"/>
                <a:ea typeface="Courier New" pitchFamily="34" charset="-122"/>
                <a:cs typeface="Courier New" pitchFamily="34" charset="-120"/>
              </a:rPr>
              <a:t>description: Reviews code changes for bugs,</a:t>
            </a:r>
            <a:endParaRPr lang="en-US" sz="1300" dirty="0"/>
          </a:p>
          <a:p>
            <a:pPr indent="0" marL="0">
              <a:buNone/>
            </a:pPr>
            <a:r>
              <a:rPr lang="en-US" sz="1300" dirty="0">
                <a:solidFill>
                  <a:srgbClr val="E3E5EC"/>
                </a:solidFill>
                <a:latin typeface="Courier New" pitchFamily="34" charset="0"/>
                <a:ea typeface="Courier New" pitchFamily="34" charset="-122"/>
                <a:cs typeface="Courier New" pitchFamily="34" charset="-120"/>
              </a:rPr>
              <a:t>  security and readability. Use after edits.</a:t>
            </a:r>
            <a:endParaRPr lang="en-US" sz="1300" dirty="0"/>
          </a:p>
          <a:p>
            <a:pPr indent="0" marL="0">
              <a:buNone/>
            </a:pPr>
            <a:r>
              <a:rPr lang="en-US" sz="1300" dirty="0">
                <a:solidFill>
                  <a:srgbClr val="E3E5EC"/>
                </a:solidFill>
                <a:latin typeface="Courier New" pitchFamily="34" charset="0"/>
                <a:ea typeface="Courier New" pitchFamily="34" charset="-122"/>
                <a:cs typeface="Courier New" pitchFamily="34" charset="-120"/>
              </a:rPr>
              <a:t>tools: Read, Glob, Grep</a:t>
            </a:r>
            <a:endParaRPr lang="en-US" sz="1300" dirty="0"/>
          </a:p>
          <a:p>
            <a:pPr indent="0" marL="0">
              <a:buNone/>
            </a:pPr>
            <a:r>
              <a:rPr lang="en-US" sz="1300" dirty="0">
                <a:solidFill>
                  <a:srgbClr val="E3E5EC"/>
                </a:solidFill>
                <a:latin typeface="Courier New" pitchFamily="34" charset="0"/>
                <a:ea typeface="Courier New" pitchFamily="34" charset="-122"/>
                <a:cs typeface="Courier New" pitchFamily="34" charset="-120"/>
              </a:rPr>
              <a:t>model: sonnet</a:t>
            </a:r>
            <a:endParaRPr lang="en-US" sz="1300" dirty="0"/>
          </a:p>
          <a:p>
            <a:pPr indent="0" marL="0">
              <a:buNone/>
            </a:pPr>
            <a:r>
              <a:rPr lang="en-US" sz="1300" dirty="0">
                <a:solidFill>
                  <a:srgbClr val="E3E5EC"/>
                </a:solidFill>
                <a:latin typeface="Courier New" pitchFamily="34" charset="0"/>
                <a:ea typeface="Courier New" pitchFamily="34" charset="-122"/>
                <a:cs typeface="Courier New" pitchFamily="34" charset="-120"/>
              </a:rPr>
              <a:t>effort: high</a:t>
            </a:r>
            <a:endParaRPr lang="en-US" sz="1300" dirty="0"/>
          </a:p>
          <a:p>
            <a:pPr indent="0" marL="0">
              <a:buNone/>
            </a:pPr>
            <a:r>
              <a:rPr lang="en-US" sz="1300" dirty="0">
                <a:solidFill>
                  <a:srgbClr val="E3E5EC"/>
                </a:solidFill>
                <a:latin typeface="Courier New" pitchFamily="34" charset="0"/>
                <a:ea typeface="Courier New" pitchFamily="34" charset="-122"/>
                <a:cs typeface="Courier New" pitchFamily="34" charset="-120"/>
              </a:rPr>
              <a:t>---</a:t>
            </a:r>
            <a:endParaRPr lang="en-US" sz="1300" dirty="0"/>
          </a:p>
          <a:p>
            <a:pPr indent="0" marL="0">
              <a:buNone/>
            </a:pPr>
            <a:endParaRPr lang="en-US" sz="1300" dirty="0"/>
          </a:p>
          <a:p>
            <a:pPr indent="0" marL="0">
              <a:buNone/>
            </a:pPr>
            <a:r>
              <a:rPr lang="en-US" sz="1300" dirty="0">
                <a:solidFill>
                  <a:srgbClr val="E3E5EC"/>
                </a:solidFill>
                <a:latin typeface="Courier New" pitchFamily="34" charset="0"/>
                <a:ea typeface="Courier New" pitchFamily="34" charset="-122"/>
                <a:cs typeface="Courier New" pitchFamily="34" charset="-120"/>
              </a:rPr>
              <a:t>You are a senior code reviewer. Look at the</a:t>
            </a:r>
            <a:endParaRPr lang="en-US" sz="1300" dirty="0"/>
          </a:p>
          <a:p>
            <a:pPr indent="0" marL="0">
              <a:buNone/>
            </a:pPr>
            <a:r>
              <a:rPr lang="en-US" sz="1300" dirty="0">
                <a:solidFill>
                  <a:srgbClr val="E3E5EC"/>
                </a:solidFill>
                <a:latin typeface="Courier New" pitchFamily="34" charset="0"/>
                <a:ea typeface="Courier New" pitchFamily="34" charset="-122"/>
                <a:cs typeface="Courier New" pitchFamily="34" charset="-120"/>
              </a:rPr>
              <a:t>changed files only. Report concrete problems</a:t>
            </a:r>
            <a:endParaRPr lang="en-US" sz="1300" dirty="0"/>
          </a:p>
          <a:p>
            <a:pPr indent="0" marL="0">
              <a:buNone/>
            </a:pPr>
            <a:r>
              <a:rPr lang="en-US" sz="1300" dirty="0">
                <a:solidFill>
                  <a:srgbClr val="E3E5EC"/>
                </a:solidFill>
                <a:latin typeface="Courier New" pitchFamily="34" charset="0"/>
                <a:ea typeface="Courier New" pitchFamily="34" charset="-122"/>
                <a:cs typeface="Courier New" pitchFamily="34" charset="-120"/>
              </a:rPr>
              <a:t>with file:line and a suggested fix. Rank by</a:t>
            </a:r>
            <a:endParaRPr lang="en-US" sz="1300" dirty="0"/>
          </a:p>
          <a:p>
            <a:pPr indent="0" marL="0">
              <a:buNone/>
            </a:pPr>
            <a:r>
              <a:rPr lang="en-US" sz="1300" dirty="0">
                <a:solidFill>
                  <a:srgbClr val="E3E5EC"/>
                </a:solidFill>
                <a:latin typeface="Courier New" pitchFamily="34" charset="0"/>
                <a:ea typeface="Courier New" pitchFamily="34" charset="-122"/>
                <a:cs typeface="Courier New" pitchFamily="34" charset="-120"/>
              </a:rPr>
              <a:t>severity. Do not edit files.</a:t>
            </a:r>
            <a:endParaRPr lang="en-US" sz="1300" dirty="0"/>
          </a:p>
        </p:txBody>
      </p:sp>
      <p:sp>
        <p:nvSpPr>
          <p:cNvPr id="5" name="card"/>
          <p:cNvSpPr/>
          <p:nvPr/>
        </p:nvSpPr>
        <p:spPr>
          <a:xfrm>
            <a:off x="6675120" y="1371600"/>
            <a:ext cx="4937760" cy="1024128"/>
          </a:xfrm>
          <a:prstGeom prst="roundRect">
            <a:avLst>
              <a:gd name="adj" fmla="val 714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6903720" y="1490472"/>
            <a:ext cx="4572000" cy="292608"/>
          </a:xfrm>
          <a:prstGeom prst="rect">
            <a:avLst/>
          </a:prstGeom>
          <a:noFill/>
          <a:ln/>
        </p:spPr>
        <p:txBody>
          <a:bodyPr wrap="square" lIns="0" tIns="0" rIns="0" bIns="0" rtlCol="0" anchor="t"/>
          <a:lstStyle/>
          <a:p>
            <a:pPr indent="0" marL="0">
              <a:buNone/>
            </a:pPr>
            <a:r>
              <a:rPr lang="en-US" sz="1500" b="1" dirty="0">
                <a:solidFill>
                  <a:schemeClr val="tx1"/>
                </a:solidFill>
              </a:rPr>
              <a:t>Built in</a:t>
            </a:r>
            <a:endParaRPr lang="en-US" sz="1500" dirty="0"/>
          </a:p>
        </p:txBody>
      </p:sp>
      <p:sp>
        <p:nvSpPr>
          <p:cNvPr id="7" name="Text 5"/>
          <p:cNvSpPr txBox="1"/>
          <p:nvPr/>
        </p:nvSpPr>
        <p:spPr>
          <a:xfrm>
            <a:off x="6903720" y="1801368"/>
            <a:ext cx="4572000" cy="548640"/>
          </a:xfrm>
          <a:prstGeom prst="rect">
            <a:avLst/>
          </a:prstGeom>
          <a:noFill/>
          <a:ln/>
        </p:spPr>
        <p:txBody>
          <a:bodyPr wrap="square" lIns="0" tIns="0" rIns="0" bIns="0" rtlCol="0" anchor="t"/>
          <a:lstStyle/>
          <a:p>
            <a:pPr indent="0" marL="0">
              <a:buNone/>
            </a:pPr>
            <a:r>
              <a:rPr lang="en-US" sz="1300" dirty="0">
                <a:solidFill>
                  <a:schemeClr val="tx2"/>
                </a:solidFill>
              </a:rPr>
              <a:t>Explore (read-only search), Plan (research for plan mode), general-purpose</a:t>
            </a:r>
            <a:endParaRPr lang="en-US" sz="1300" dirty="0"/>
          </a:p>
        </p:txBody>
      </p:sp>
      <p:sp>
        <p:nvSpPr>
          <p:cNvPr id="8" name="card"/>
          <p:cNvSpPr/>
          <p:nvPr/>
        </p:nvSpPr>
        <p:spPr>
          <a:xfrm>
            <a:off x="6675120" y="2560320"/>
            <a:ext cx="4937760" cy="1024128"/>
          </a:xfrm>
          <a:prstGeom prst="roundRect">
            <a:avLst>
              <a:gd name="adj" fmla="val 714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6903720" y="2679192"/>
            <a:ext cx="4572000" cy="292608"/>
          </a:xfrm>
          <a:prstGeom prst="rect">
            <a:avLst/>
          </a:prstGeom>
          <a:noFill/>
          <a:ln/>
        </p:spPr>
        <p:txBody>
          <a:bodyPr wrap="square" lIns="0" tIns="0" rIns="0" bIns="0" rtlCol="0" anchor="t"/>
          <a:lstStyle/>
          <a:p>
            <a:pPr indent="0" marL="0">
              <a:buNone/>
            </a:pPr>
            <a:r>
              <a:rPr lang="en-US" sz="1500" b="1" dirty="0">
                <a:solidFill>
                  <a:schemeClr val="tx1"/>
                </a:solidFill>
              </a:rPr>
              <a:t>Where</a:t>
            </a:r>
            <a:endParaRPr lang="en-US" sz="1500" dirty="0"/>
          </a:p>
        </p:txBody>
      </p:sp>
      <p:sp>
        <p:nvSpPr>
          <p:cNvPr id="10" name="Text 8"/>
          <p:cNvSpPr txBox="1"/>
          <p:nvPr/>
        </p:nvSpPr>
        <p:spPr>
          <a:xfrm>
            <a:off x="6903720" y="2990088"/>
            <a:ext cx="4572000" cy="548640"/>
          </a:xfrm>
          <a:prstGeom prst="rect">
            <a:avLst/>
          </a:prstGeom>
          <a:noFill/>
          <a:ln/>
        </p:spPr>
        <p:txBody>
          <a:bodyPr wrap="square" lIns="0" tIns="0" rIns="0" bIns="0" rtlCol="0" anchor="t"/>
          <a:lstStyle/>
          <a:p>
            <a:pPr indent="0" marL="0">
              <a:buNone/>
            </a:pPr>
            <a:r>
              <a:rPr lang="en-US" sz="1300" dirty="0">
                <a:solidFill>
                  <a:schemeClr val="tx2"/>
                </a:solidFill>
              </a:rPr>
              <a:t>.claude/agents/ for the project (share via git), ~/.claude/agents/ for all your projects</a:t>
            </a:r>
            <a:endParaRPr lang="en-US" sz="1300" dirty="0"/>
          </a:p>
        </p:txBody>
      </p:sp>
      <p:sp>
        <p:nvSpPr>
          <p:cNvPr id="11" name="card"/>
          <p:cNvSpPr/>
          <p:nvPr/>
        </p:nvSpPr>
        <p:spPr>
          <a:xfrm>
            <a:off x="6675120" y="3749040"/>
            <a:ext cx="4937760" cy="1024128"/>
          </a:xfrm>
          <a:prstGeom prst="roundRect">
            <a:avLst>
              <a:gd name="adj" fmla="val 714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12" name="Text 10"/>
          <p:cNvSpPr txBox="1"/>
          <p:nvPr/>
        </p:nvSpPr>
        <p:spPr>
          <a:xfrm>
            <a:off x="6903720" y="3867912"/>
            <a:ext cx="4572000" cy="292608"/>
          </a:xfrm>
          <a:prstGeom prst="rect">
            <a:avLst/>
          </a:prstGeom>
          <a:noFill/>
          <a:ln/>
        </p:spPr>
        <p:txBody>
          <a:bodyPr wrap="square" lIns="0" tIns="0" rIns="0" bIns="0" rtlCol="0" anchor="t"/>
          <a:lstStyle/>
          <a:p>
            <a:pPr indent="0" marL="0">
              <a:buNone/>
            </a:pPr>
            <a:r>
              <a:rPr lang="en-US" sz="1500" b="1" dirty="0">
                <a:solidFill>
                  <a:schemeClr val="tx1"/>
                </a:solidFill>
              </a:rPr>
              <a:t>How to call</a:t>
            </a:r>
            <a:endParaRPr lang="en-US" sz="1500" dirty="0"/>
          </a:p>
        </p:txBody>
      </p:sp>
      <p:sp>
        <p:nvSpPr>
          <p:cNvPr id="13" name="Text 11"/>
          <p:cNvSpPr txBox="1"/>
          <p:nvPr/>
        </p:nvSpPr>
        <p:spPr>
          <a:xfrm>
            <a:off x="6903720" y="4178808"/>
            <a:ext cx="4572000" cy="548640"/>
          </a:xfrm>
          <a:prstGeom prst="rect">
            <a:avLst/>
          </a:prstGeom>
          <a:noFill/>
          <a:ln/>
        </p:spPr>
        <p:txBody>
          <a:bodyPr wrap="square" lIns="0" tIns="0" rIns="0" bIns="0" rtlCol="0" anchor="t"/>
          <a:lstStyle/>
          <a:p>
            <a:pPr indent="0" marL="0">
              <a:buNone/>
            </a:pPr>
            <a:r>
              <a:rPr lang="en-US" sz="1300" dirty="0">
                <a:solidFill>
                  <a:schemeClr val="tx2"/>
                </a:solidFill>
              </a:rPr>
              <a:t>Claude picks one from its description, or ask: “Use the code-reviewer subagent on my changes”</a:t>
            </a:r>
            <a:endParaRPr lang="en-US" sz="1300" dirty="0"/>
          </a:p>
        </p:txBody>
      </p:sp>
      <p:sp>
        <p:nvSpPr>
          <p:cNvPr id="14" name="card"/>
          <p:cNvSpPr/>
          <p:nvPr/>
        </p:nvSpPr>
        <p:spPr>
          <a:xfrm>
            <a:off x="6675120" y="4937760"/>
            <a:ext cx="4937760" cy="1024128"/>
          </a:xfrm>
          <a:prstGeom prst="roundRect">
            <a:avLst>
              <a:gd name="adj" fmla="val 714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6903720" y="5056632"/>
            <a:ext cx="4572000" cy="292608"/>
          </a:xfrm>
          <a:prstGeom prst="rect">
            <a:avLst/>
          </a:prstGeom>
          <a:noFill/>
          <a:ln/>
        </p:spPr>
        <p:txBody>
          <a:bodyPr wrap="square" lIns="0" tIns="0" rIns="0" bIns="0" rtlCol="0" anchor="t"/>
          <a:lstStyle/>
          <a:p>
            <a:pPr indent="0" marL="0">
              <a:buNone/>
            </a:pPr>
            <a:r>
              <a:rPr lang="en-US" sz="1500" b="1" dirty="0">
                <a:solidFill>
                  <a:schemeClr val="tx1"/>
                </a:solidFill>
              </a:rPr>
              <a:t>Why</a:t>
            </a:r>
            <a:endParaRPr lang="en-US" sz="1500" dirty="0"/>
          </a:p>
        </p:txBody>
      </p:sp>
      <p:sp>
        <p:nvSpPr>
          <p:cNvPr id="16" name="Text 14"/>
          <p:cNvSpPr txBox="1"/>
          <p:nvPr/>
        </p:nvSpPr>
        <p:spPr>
          <a:xfrm>
            <a:off x="6903720" y="5367528"/>
            <a:ext cx="4572000" cy="548640"/>
          </a:xfrm>
          <a:prstGeom prst="rect">
            <a:avLst/>
          </a:prstGeom>
          <a:noFill/>
          <a:ln/>
        </p:spPr>
        <p:txBody>
          <a:bodyPr wrap="square" lIns="0" tIns="0" rIns="0" bIns="0" rtlCol="0" anchor="t"/>
          <a:lstStyle/>
          <a:p>
            <a:pPr indent="0" marL="0">
              <a:buNone/>
            </a:pPr>
            <a:r>
              <a:rPr lang="en-US" sz="1300" dirty="0">
                <a:solidFill>
                  <a:schemeClr val="tx2"/>
                </a:solidFill>
              </a:rPr>
              <a:t>Own context window, limited tools, cheaper model, reusable. They still count toward usage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How to brief a subagent (or any delegated agent)</a:t>
            </a:r>
            <a:endParaRPr lang="en-US" sz="3200" dirty="0"/>
          </a:p>
        </p:txBody>
      </p:sp>
      <p:sp>
        <p:nvSpPr>
          <p:cNvPr id="3" name="card"/>
          <p:cNvSpPr/>
          <p:nvPr/>
        </p:nvSpPr>
        <p:spPr>
          <a:xfrm>
            <a:off x="548640" y="1371600"/>
            <a:ext cx="2066544" cy="2286000"/>
          </a:xfrm>
          <a:prstGeom prst="roundRect">
            <a:avLst>
              <a:gd name="adj" fmla="val 3540"/>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4" name="icon circle"/>
          <p:cNvSpPr/>
          <p:nvPr/>
        </p:nvSpPr>
        <p:spPr>
          <a:xfrm>
            <a:off x="822960" y="1600200"/>
            <a:ext cx="640080" cy="640080"/>
          </a:xfrm>
          <a:prstGeom prst="ellipse">
            <a:avLst/>
          </a:prstGeom>
          <a:solidFill>
            <a:schemeClr val="accent1"/>
          </a:solidFill>
          <a:ln w="12700">
            <a:solidFill>
              <a:schemeClr val="accent1"/>
            </a:solidFill>
            <a:prstDash val="solid"/>
          </a:ln>
        </p:spPr>
      </p:sp>
      <p:pic>
        <p:nvPicPr>
          <p:cNvPr id="5" name="Image 0" descr="FlagCheckered icon">    </p:cNvPr>
          <p:cNvPicPr>
            <a:picLocks noChangeAspect="1"/>
          </p:cNvPicPr>
          <p:nvPr/>
        </p:nvPicPr>
        <p:blipFill>
          <a:blip r:embed="rId1"/>
          <a:stretch>
            <a:fillRect/>
          </a:stretch>
        </p:blipFill>
        <p:spPr>
          <a:xfrm>
            <a:off x="982980" y="1760220"/>
            <a:ext cx="320040" cy="320040"/>
          </a:xfrm>
          <a:prstGeom prst="rect">
            <a:avLst/>
          </a:prstGeom>
        </p:spPr>
      </p:pic>
      <p:sp>
        <p:nvSpPr>
          <p:cNvPr id="6" name="Text 3"/>
          <p:cNvSpPr txBox="1"/>
          <p:nvPr/>
        </p:nvSpPr>
        <p:spPr>
          <a:xfrm>
            <a:off x="822960" y="2377440"/>
            <a:ext cx="1645920" cy="365760"/>
          </a:xfrm>
          <a:prstGeom prst="rect">
            <a:avLst/>
          </a:prstGeom>
          <a:noFill/>
          <a:ln/>
        </p:spPr>
        <p:txBody>
          <a:bodyPr wrap="square" lIns="0" tIns="0" rIns="0" bIns="0" rtlCol="0" anchor="t"/>
          <a:lstStyle/>
          <a:p>
            <a:pPr indent="0" marL="0">
              <a:buNone/>
            </a:pPr>
            <a:r>
              <a:rPr lang="en-US" sz="1600" b="1" dirty="0">
                <a:solidFill>
                  <a:schemeClr val="tx1"/>
                </a:solidFill>
              </a:rPr>
              <a:t>Objective</a:t>
            </a:r>
            <a:endParaRPr lang="en-US" sz="1600" dirty="0"/>
          </a:p>
        </p:txBody>
      </p:sp>
      <p:sp>
        <p:nvSpPr>
          <p:cNvPr id="7" name="Text 4"/>
          <p:cNvSpPr txBox="1"/>
          <p:nvPr/>
        </p:nvSpPr>
        <p:spPr>
          <a:xfrm>
            <a:off x="822960" y="2788920"/>
            <a:ext cx="1645920" cy="777240"/>
          </a:xfrm>
          <a:prstGeom prst="rect">
            <a:avLst/>
          </a:prstGeom>
          <a:noFill/>
          <a:ln/>
        </p:spPr>
        <p:txBody>
          <a:bodyPr wrap="square" lIns="0" tIns="0" rIns="0" bIns="0" rtlCol="0" anchor="t"/>
          <a:lstStyle/>
          <a:p>
            <a:pPr indent="0" marL="0">
              <a:buNone/>
            </a:pPr>
            <a:r>
              <a:rPr lang="en-US" sz="1300" dirty="0">
                <a:solidFill>
                  <a:schemeClr val="tx2"/>
                </a:solidFill>
              </a:rPr>
              <a:t>One clear goal and why it matters</a:t>
            </a:r>
            <a:endParaRPr lang="en-US" sz="1300" dirty="0"/>
          </a:p>
        </p:txBody>
      </p:sp>
      <p:sp>
        <p:nvSpPr>
          <p:cNvPr id="8" name="card"/>
          <p:cNvSpPr/>
          <p:nvPr/>
        </p:nvSpPr>
        <p:spPr>
          <a:xfrm>
            <a:off x="2798064" y="1371600"/>
            <a:ext cx="2066544" cy="2286000"/>
          </a:xfrm>
          <a:prstGeom prst="roundRect">
            <a:avLst>
              <a:gd name="adj" fmla="val 3540"/>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9" name="icon circle"/>
          <p:cNvSpPr/>
          <p:nvPr/>
        </p:nvSpPr>
        <p:spPr>
          <a:xfrm>
            <a:off x="3072384" y="1600200"/>
            <a:ext cx="640080" cy="640080"/>
          </a:xfrm>
          <a:prstGeom prst="ellipse">
            <a:avLst/>
          </a:prstGeom>
          <a:solidFill>
            <a:schemeClr val="accent2"/>
          </a:solidFill>
          <a:ln w="12700">
            <a:solidFill>
              <a:schemeClr val="accent2"/>
            </a:solidFill>
            <a:prstDash val="solid"/>
          </a:ln>
        </p:spPr>
      </p:sp>
      <p:pic>
        <p:nvPicPr>
          <p:cNvPr id="10" name="Image 1" descr="FileLines icon">    </p:cNvPr>
          <p:cNvPicPr>
            <a:picLocks noChangeAspect="1"/>
          </p:cNvPicPr>
          <p:nvPr/>
        </p:nvPicPr>
        <p:blipFill>
          <a:blip r:embed="rId2"/>
          <a:stretch>
            <a:fillRect/>
          </a:stretch>
        </p:blipFill>
        <p:spPr>
          <a:xfrm>
            <a:off x="3232404" y="1760220"/>
            <a:ext cx="320040" cy="320040"/>
          </a:xfrm>
          <a:prstGeom prst="rect">
            <a:avLst/>
          </a:prstGeom>
        </p:spPr>
      </p:pic>
      <p:sp>
        <p:nvSpPr>
          <p:cNvPr id="11" name="Text 7"/>
          <p:cNvSpPr txBox="1"/>
          <p:nvPr/>
        </p:nvSpPr>
        <p:spPr>
          <a:xfrm>
            <a:off x="3072384" y="2377440"/>
            <a:ext cx="1645920" cy="365760"/>
          </a:xfrm>
          <a:prstGeom prst="rect">
            <a:avLst/>
          </a:prstGeom>
          <a:noFill/>
          <a:ln/>
        </p:spPr>
        <p:txBody>
          <a:bodyPr wrap="square" lIns="0" tIns="0" rIns="0" bIns="0" rtlCol="0" anchor="t"/>
          <a:lstStyle/>
          <a:p>
            <a:pPr indent="0" marL="0">
              <a:buNone/>
            </a:pPr>
            <a:r>
              <a:rPr lang="en-US" sz="1600" b="1" dirty="0">
                <a:solidFill>
                  <a:schemeClr val="tx1"/>
                </a:solidFill>
              </a:rPr>
              <a:t>Output format</a:t>
            </a:r>
            <a:endParaRPr lang="en-US" sz="1600" dirty="0"/>
          </a:p>
        </p:txBody>
      </p:sp>
      <p:sp>
        <p:nvSpPr>
          <p:cNvPr id="12" name="Text 8"/>
          <p:cNvSpPr txBox="1"/>
          <p:nvPr/>
        </p:nvSpPr>
        <p:spPr>
          <a:xfrm>
            <a:off x="3072384" y="2788920"/>
            <a:ext cx="1645920" cy="777240"/>
          </a:xfrm>
          <a:prstGeom prst="rect">
            <a:avLst/>
          </a:prstGeom>
          <a:noFill/>
          <a:ln/>
        </p:spPr>
        <p:txBody>
          <a:bodyPr wrap="square" lIns="0" tIns="0" rIns="0" bIns="0" rtlCol="0" anchor="t"/>
          <a:lstStyle/>
          <a:p>
            <a:pPr indent="0" marL="0">
              <a:buNone/>
            </a:pPr>
            <a:r>
              <a:rPr lang="en-US" sz="1300" dirty="0">
                <a:solidFill>
                  <a:schemeClr val="tx2"/>
                </a:solidFill>
              </a:rPr>
              <a:t>Exactly what to return, and how short</a:t>
            </a:r>
            <a:endParaRPr lang="en-US" sz="1300" dirty="0"/>
          </a:p>
        </p:txBody>
      </p:sp>
      <p:sp>
        <p:nvSpPr>
          <p:cNvPr id="13" name="card"/>
          <p:cNvSpPr/>
          <p:nvPr/>
        </p:nvSpPr>
        <p:spPr>
          <a:xfrm>
            <a:off x="5047488" y="1371600"/>
            <a:ext cx="2066544" cy="2286000"/>
          </a:xfrm>
          <a:prstGeom prst="roundRect">
            <a:avLst>
              <a:gd name="adj" fmla="val 3540"/>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14" name="icon circle"/>
          <p:cNvSpPr/>
          <p:nvPr/>
        </p:nvSpPr>
        <p:spPr>
          <a:xfrm>
            <a:off x="5321808" y="1600200"/>
            <a:ext cx="640080" cy="640080"/>
          </a:xfrm>
          <a:prstGeom prst="ellipse">
            <a:avLst/>
          </a:prstGeom>
          <a:solidFill>
            <a:schemeClr val="accent3"/>
          </a:solidFill>
          <a:ln w="12700">
            <a:solidFill>
              <a:schemeClr val="accent3"/>
            </a:solidFill>
            <a:prstDash val="solid"/>
          </a:ln>
        </p:spPr>
      </p:sp>
      <p:pic>
        <p:nvPicPr>
          <p:cNvPr id="15" name="Image 2" descr="Toolbox icon">    </p:cNvPr>
          <p:cNvPicPr>
            <a:picLocks noChangeAspect="1"/>
          </p:cNvPicPr>
          <p:nvPr/>
        </p:nvPicPr>
        <p:blipFill>
          <a:blip r:embed="rId3"/>
          <a:stretch>
            <a:fillRect/>
          </a:stretch>
        </p:blipFill>
        <p:spPr>
          <a:xfrm>
            <a:off x="5481828" y="1760220"/>
            <a:ext cx="320040" cy="320040"/>
          </a:xfrm>
          <a:prstGeom prst="rect">
            <a:avLst/>
          </a:prstGeom>
        </p:spPr>
      </p:pic>
      <p:sp>
        <p:nvSpPr>
          <p:cNvPr id="16" name="Text 11"/>
          <p:cNvSpPr txBox="1"/>
          <p:nvPr/>
        </p:nvSpPr>
        <p:spPr>
          <a:xfrm>
            <a:off x="5321808" y="2377440"/>
            <a:ext cx="1645920" cy="365760"/>
          </a:xfrm>
          <a:prstGeom prst="rect">
            <a:avLst/>
          </a:prstGeom>
          <a:noFill/>
          <a:ln/>
        </p:spPr>
        <p:txBody>
          <a:bodyPr wrap="square" lIns="0" tIns="0" rIns="0" bIns="0" rtlCol="0" anchor="t"/>
          <a:lstStyle/>
          <a:p>
            <a:pPr indent="0" marL="0">
              <a:buNone/>
            </a:pPr>
            <a:r>
              <a:rPr lang="en-US" sz="1600" b="1" dirty="0">
                <a:solidFill>
                  <a:schemeClr val="tx1"/>
                </a:solidFill>
              </a:rPr>
              <a:t>Tools &amp; sources</a:t>
            </a:r>
            <a:endParaRPr lang="en-US" sz="1600" dirty="0"/>
          </a:p>
        </p:txBody>
      </p:sp>
      <p:sp>
        <p:nvSpPr>
          <p:cNvPr id="17" name="Text 12"/>
          <p:cNvSpPr txBox="1"/>
          <p:nvPr/>
        </p:nvSpPr>
        <p:spPr>
          <a:xfrm>
            <a:off x="5321808" y="2788920"/>
            <a:ext cx="1645920" cy="777240"/>
          </a:xfrm>
          <a:prstGeom prst="rect">
            <a:avLst/>
          </a:prstGeom>
          <a:noFill/>
          <a:ln/>
        </p:spPr>
        <p:txBody>
          <a:bodyPr wrap="square" lIns="0" tIns="0" rIns="0" bIns="0" rtlCol="0" anchor="t"/>
          <a:lstStyle/>
          <a:p>
            <a:pPr indent="0" marL="0">
              <a:buNone/>
            </a:pPr>
            <a:r>
              <a:rPr lang="en-US" sz="1300" dirty="0">
                <a:solidFill>
                  <a:schemeClr val="tx2"/>
                </a:solidFill>
              </a:rPr>
              <a:t>What to use, what to avoid</a:t>
            </a:r>
            <a:endParaRPr lang="en-US" sz="1300" dirty="0"/>
          </a:p>
        </p:txBody>
      </p:sp>
      <p:sp>
        <p:nvSpPr>
          <p:cNvPr id="18" name="card"/>
          <p:cNvSpPr/>
          <p:nvPr/>
        </p:nvSpPr>
        <p:spPr>
          <a:xfrm>
            <a:off x="7296912" y="1371600"/>
            <a:ext cx="2066544" cy="2286000"/>
          </a:xfrm>
          <a:prstGeom prst="roundRect">
            <a:avLst>
              <a:gd name="adj" fmla="val 3540"/>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19" name="icon circle"/>
          <p:cNvSpPr/>
          <p:nvPr/>
        </p:nvSpPr>
        <p:spPr>
          <a:xfrm>
            <a:off x="7571232" y="1600200"/>
            <a:ext cx="640080" cy="640080"/>
          </a:xfrm>
          <a:prstGeom prst="ellipse">
            <a:avLst/>
          </a:prstGeom>
          <a:solidFill>
            <a:schemeClr val="accent4"/>
          </a:solidFill>
          <a:ln w="12700">
            <a:solidFill>
              <a:schemeClr val="accent4"/>
            </a:solidFill>
            <a:prstDash val="solid"/>
          </a:ln>
        </p:spPr>
      </p:sp>
      <p:pic>
        <p:nvPicPr>
          <p:cNvPr id="20" name="Image 3" descr="BorderAll icon">    </p:cNvPr>
          <p:cNvPicPr>
            <a:picLocks noChangeAspect="1"/>
          </p:cNvPicPr>
          <p:nvPr/>
        </p:nvPicPr>
        <p:blipFill>
          <a:blip r:embed="rId4"/>
          <a:stretch>
            <a:fillRect/>
          </a:stretch>
        </p:blipFill>
        <p:spPr>
          <a:xfrm>
            <a:off x="7731252" y="1760220"/>
            <a:ext cx="320040" cy="320040"/>
          </a:xfrm>
          <a:prstGeom prst="rect">
            <a:avLst/>
          </a:prstGeom>
        </p:spPr>
      </p:pic>
      <p:sp>
        <p:nvSpPr>
          <p:cNvPr id="21" name="Text 15"/>
          <p:cNvSpPr txBox="1"/>
          <p:nvPr/>
        </p:nvSpPr>
        <p:spPr>
          <a:xfrm>
            <a:off x="7571232" y="2377440"/>
            <a:ext cx="1645920" cy="365760"/>
          </a:xfrm>
          <a:prstGeom prst="rect">
            <a:avLst/>
          </a:prstGeom>
          <a:noFill/>
          <a:ln/>
        </p:spPr>
        <p:txBody>
          <a:bodyPr wrap="square" lIns="0" tIns="0" rIns="0" bIns="0" rtlCol="0" anchor="t"/>
          <a:lstStyle/>
          <a:p>
            <a:pPr indent="0" marL="0">
              <a:buNone/>
            </a:pPr>
            <a:r>
              <a:rPr lang="en-US" sz="1600" b="1" dirty="0">
                <a:solidFill>
                  <a:schemeClr val="tx1"/>
                </a:solidFill>
              </a:rPr>
              <a:t>Boundaries</a:t>
            </a:r>
            <a:endParaRPr lang="en-US" sz="1600" dirty="0"/>
          </a:p>
        </p:txBody>
      </p:sp>
      <p:sp>
        <p:nvSpPr>
          <p:cNvPr id="22" name="Text 16"/>
          <p:cNvSpPr txBox="1"/>
          <p:nvPr/>
        </p:nvSpPr>
        <p:spPr>
          <a:xfrm>
            <a:off x="7571232" y="2788920"/>
            <a:ext cx="1645920" cy="777240"/>
          </a:xfrm>
          <a:prstGeom prst="rect">
            <a:avLst/>
          </a:prstGeom>
          <a:noFill/>
          <a:ln/>
        </p:spPr>
        <p:txBody>
          <a:bodyPr wrap="square" lIns="0" tIns="0" rIns="0" bIns="0" rtlCol="0" anchor="t"/>
          <a:lstStyle/>
          <a:p>
            <a:pPr indent="0" marL="0">
              <a:buNone/>
            </a:pPr>
            <a:r>
              <a:rPr lang="en-US" sz="1300" dirty="0">
                <a:solidFill>
                  <a:schemeClr val="tx2"/>
                </a:solidFill>
              </a:rPr>
              <a:t>What is out of scope; what others cover</a:t>
            </a:r>
            <a:endParaRPr lang="en-US" sz="1300" dirty="0"/>
          </a:p>
        </p:txBody>
      </p:sp>
      <p:sp>
        <p:nvSpPr>
          <p:cNvPr id="23" name="card"/>
          <p:cNvSpPr/>
          <p:nvPr/>
        </p:nvSpPr>
        <p:spPr>
          <a:xfrm>
            <a:off x="9546336" y="1371600"/>
            <a:ext cx="2066544" cy="2286000"/>
          </a:xfrm>
          <a:prstGeom prst="roundRect">
            <a:avLst>
              <a:gd name="adj" fmla="val 3540"/>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24" name="icon circle"/>
          <p:cNvSpPr/>
          <p:nvPr/>
        </p:nvSpPr>
        <p:spPr>
          <a:xfrm>
            <a:off x="9820656" y="1600200"/>
            <a:ext cx="640080" cy="640080"/>
          </a:xfrm>
          <a:prstGeom prst="ellipse">
            <a:avLst/>
          </a:prstGeom>
          <a:solidFill>
            <a:schemeClr val="tx1"/>
          </a:solidFill>
          <a:ln w="12700">
            <a:solidFill>
              <a:schemeClr val="tx1"/>
            </a:solidFill>
            <a:prstDash val="solid"/>
          </a:ln>
        </p:spPr>
      </p:sp>
      <p:pic>
        <p:nvPicPr>
          <p:cNvPr id="25" name="Image 4" descr="GaugeHigh icon">    </p:cNvPr>
          <p:cNvPicPr>
            <a:picLocks noChangeAspect="1"/>
          </p:cNvPicPr>
          <p:nvPr/>
        </p:nvPicPr>
        <p:blipFill>
          <a:blip r:embed="rId5"/>
          <a:stretch>
            <a:fillRect/>
          </a:stretch>
        </p:blipFill>
        <p:spPr>
          <a:xfrm>
            <a:off x="9980676" y="1760220"/>
            <a:ext cx="320040" cy="320040"/>
          </a:xfrm>
          <a:prstGeom prst="rect">
            <a:avLst/>
          </a:prstGeom>
        </p:spPr>
      </p:pic>
      <p:sp>
        <p:nvSpPr>
          <p:cNvPr id="26" name="Text 19"/>
          <p:cNvSpPr txBox="1"/>
          <p:nvPr/>
        </p:nvSpPr>
        <p:spPr>
          <a:xfrm>
            <a:off x="9820656" y="2377440"/>
            <a:ext cx="1645920" cy="365760"/>
          </a:xfrm>
          <a:prstGeom prst="rect">
            <a:avLst/>
          </a:prstGeom>
          <a:noFill/>
          <a:ln/>
        </p:spPr>
        <p:txBody>
          <a:bodyPr wrap="square" lIns="0" tIns="0" rIns="0" bIns="0" rtlCol="0" anchor="t"/>
          <a:lstStyle/>
          <a:p>
            <a:pPr indent="0" marL="0">
              <a:buNone/>
            </a:pPr>
            <a:r>
              <a:rPr lang="en-US" sz="1600" b="1" dirty="0">
                <a:solidFill>
                  <a:schemeClr val="tx1"/>
                </a:solidFill>
              </a:rPr>
              <a:t>Effort budget</a:t>
            </a:r>
            <a:endParaRPr lang="en-US" sz="1600" dirty="0"/>
          </a:p>
        </p:txBody>
      </p:sp>
      <p:sp>
        <p:nvSpPr>
          <p:cNvPr id="27" name="Text 20"/>
          <p:cNvSpPr txBox="1"/>
          <p:nvPr/>
        </p:nvSpPr>
        <p:spPr>
          <a:xfrm>
            <a:off x="9820656" y="2788920"/>
            <a:ext cx="1645920" cy="777240"/>
          </a:xfrm>
          <a:prstGeom prst="rect">
            <a:avLst/>
          </a:prstGeom>
          <a:noFill/>
          <a:ln/>
        </p:spPr>
        <p:txBody>
          <a:bodyPr wrap="square" lIns="0" tIns="0" rIns="0" bIns="0" rtlCol="0" anchor="t"/>
          <a:lstStyle/>
          <a:p>
            <a:pPr indent="0" marL="0">
              <a:buNone/>
            </a:pPr>
            <a:r>
              <a:rPr lang="en-US" sz="1300" dirty="0">
                <a:solidFill>
                  <a:schemeClr val="tx2"/>
                </a:solidFill>
              </a:rPr>
              <a:t>Simple: 3–10 tool calls. Complex: more</a:t>
            </a:r>
            <a:endParaRPr lang="en-US" sz="1300" dirty="0"/>
          </a:p>
        </p:txBody>
      </p:sp>
      <p:sp>
        <p:nvSpPr>
          <p:cNvPr id="28" name="Text 21"/>
          <p:cNvSpPr txBox="1"/>
          <p:nvPr/>
        </p:nvSpPr>
        <p:spPr>
          <a:xfrm>
            <a:off x="548640" y="3931920"/>
            <a:ext cx="182880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WEAK</a:t>
            </a:r>
            <a:endParaRPr lang="en-US" sz="1100" dirty="0"/>
          </a:p>
        </p:txBody>
      </p:sp>
      <p:sp>
        <p:nvSpPr>
          <p:cNvPr id="29" name="card"/>
          <p:cNvSpPr/>
          <p:nvPr/>
        </p:nvSpPr>
        <p:spPr>
          <a:xfrm>
            <a:off x="548640" y="4251960"/>
            <a:ext cx="3657600" cy="1783080"/>
          </a:xfrm>
          <a:prstGeom prst="roundRect">
            <a:avLst>
              <a:gd name="adj" fmla="val 4103"/>
            </a:avLst>
          </a:prstGeom>
          <a:solidFill>
            <a:schemeClr val="bg1"/>
          </a:solidFill>
          <a:ln w="9525">
            <a:solidFill>
              <a:schemeClr val="accent6"/>
            </a:solidFill>
            <a:prstDash val="solid"/>
          </a:ln>
        </p:spPr>
      </p:sp>
      <p:sp>
        <p:nvSpPr>
          <p:cNvPr id="30" name="Text 23"/>
          <p:cNvSpPr txBox="1"/>
          <p:nvPr/>
        </p:nvSpPr>
        <p:spPr>
          <a:xfrm>
            <a:off x="777240" y="4434840"/>
            <a:ext cx="3200400" cy="1371600"/>
          </a:xfrm>
          <a:prstGeom prst="rect">
            <a:avLst/>
          </a:prstGeom>
          <a:noFill/>
          <a:ln/>
        </p:spPr>
        <p:txBody>
          <a:bodyPr wrap="square" lIns="0" tIns="0" rIns="0" bIns="0" rtlCol="0" anchor="t"/>
          <a:lstStyle/>
          <a:p>
            <a:pPr indent="0" marL="0">
              <a:buNone/>
            </a:pPr>
            <a:r>
              <a:rPr lang="en-US" sz="1500" i="1" dirty="0">
                <a:solidFill>
                  <a:schemeClr val="tx1"/>
                </a:solidFill>
              </a:rPr>
              <a:t>“Research the semiconductor shortage.”</a:t>
            </a:r>
            <a:endParaRPr lang="en-US" sz="1500" dirty="0"/>
          </a:p>
        </p:txBody>
      </p:sp>
      <p:sp>
        <p:nvSpPr>
          <p:cNvPr id="31" name="Text 24"/>
          <p:cNvSpPr txBox="1"/>
          <p:nvPr/>
        </p:nvSpPr>
        <p:spPr>
          <a:xfrm>
            <a:off x="4480560" y="3931920"/>
            <a:ext cx="1828800" cy="274320"/>
          </a:xfrm>
          <a:prstGeom prst="rect">
            <a:avLst/>
          </a:prstGeom>
          <a:noFill/>
          <a:ln/>
        </p:spPr>
        <p:txBody>
          <a:bodyPr wrap="square" lIns="0" tIns="0" rIns="0" bIns="0" rtlCol="0" anchor="t"/>
          <a:lstStyle/>
          <a:p>
            <a:pPr indent="0" marL="0">
              <a:buNone/>
            </a:pPr>
            <a:r>
              <a:rPr lang="en-US" sz="1100" b="1" spc="300" kern="0" dirty="0">
                <a:solidFill>
                  <a:schemeClr val="accent2"/>
                </a:solidFill>
              </a:rPr>
              <a:t>STRONG</a:t>
            </a:r>
            <a:endParaRPr lang="en-US" sz="1100" dirty="0"/>
          </a:p>
        </p:txBody>
      </p:sp>
      <p:sp>
        <p:nvSpPr>
          <p:cNvPr id="32" name="card"/>
          <p:cNvSpPr/>
          <p:nvPr/>
        </p:nvSpPr>
        <p:spPr>
          <a:xfrm>
            <a:off x="4480560" y="4251960"/>
            <a:ext cx="7132320" cy="1783080"/>
          </a:xfrm>
          <a:prstGeom prst="roundRect">
            <a:avLst>
              <a:gd name="adj" fmla="val 4103"/>
            </a:avLst>
          </a:prstGeom>
          <a:solidFill>
            <a:schemeClr val="bg1"/>
          </a:solidFill>
          <a:ln w="9525">
            <a:solidFill>
              <a:schemeClr val="accent2"/>
            </a:solidFill>
            <a:prstDash val="solid"/>
          </a:ln>
        </p:spPr>
      </p:sp>
      <p:sp>
        <p:nvSpPr>
          <p:cNvPr id="33" name="Text 26"/>
          <p:cNvSpPr txBox="1"/>
          <p:nvPr/>
        </p:nvSpPr>
        <p:spPr>
          <a:xfrm>
            <a:off x="4709160" y="4434840"/>
            <a:ext cx="6675120" cy="1463040"/>
          </a:xfrm>
          <a:prstGeom prst="rect">
            <a:avLst/>
          </a:prstGeom>
          <a:noFill/>
          <a:ln/>
        </p:spPr>
        <p:txBody>
          <a:bodyPr wrap="square" lIns="0" tIns="0" rIns="0" bIns="0" rtlCol="0" anchor="t"/>
          <a:lstStyle/>
          <a:p>
            <a:pPr indent="0" marL="0">
              <a:buNone/>
            </a:pPr>
            <a:r>
              <a:rPr lang="en-US" sz="1400" i="1" dirty="0">
                <a:solidFill>
                  <a:schemeClr val="tx1"/>
                </a:solidFill>
              </a:rPr>
              <a:t>“Find how the 2021–23 chip shortage affected EU car makers’ output. Use industry reports and company filings, not news opinion. Another agent covers US and Asia, so skip those. Return 5 bullets with a figure and source URL each, max 150 words.”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2011680"/>
            <a:ext cx="5486400" cy="365760"/>
          </a:xfrm>
          <a:prstGeom prst="rect">
            <a:avLst/>
          </a:prstGeom>
          <a:noFill/>
          <a:ln/>
        </p:spPr>
        <p:txBody>
          <a:bodyPr wrap="square" lIns="0" tIns="0" rIns="0" bIns="0" rtlCol="0"/>
          <a:lstStyle/>
          <a:p>
            <a:pPr indent="0" marL="0">
              <a:buNone/>
            </a:pPr>
            <a:r>
              <a:rPr lang="en-US" sz="1400" b="1" spc="400" kern="0" dirty="0">
                <a:solidFill>
                  <a:schemeClr val="accent1"/>
                </a:solidFill>
              </a:rPr>
              <a:t>PART 5</a:t>
            </a:r>
            <a:endParaRPr lang="en-US" sz="1400" dirty="0"/>
          </a:p>
        </p:txBody>
      </p:sp>
      <p:sp>
        <p:nvSpPr>
          <p:cNvPr id="3" name="Text 0"/>
          <p:cNvSpPr/>
          <p:nvPr>
            <p:ph idx="101" type="title" hasCustomPrompt="1"/>
          </p:nvPr>
        </p:nvSpPr>
        <p:spPr>
          <a:xfrm>
            <a:off x="548640" y="2423160"/>
            <a:ext cx="6583680" cy="9144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Workflows &amp; plans</a:t>
            </a:r>
            <a:endParaRPr lang="en-US" sz="4000" dirty="0"/>
          </a:p>
        </p:txBody>
      </p:sp>
      <p:sp>
        <p:nvSpPr>
          <p:cNvPr id="4" name="Text 0"/>
          <p:cNvSpPr/>
          <p:nvPr>
            <p:ph idx="102" type="body" hasCustomPrompt="1"/>
          </p:nvPr>
        </p:nvSpPr>
        <p:spPr>
          <a:xfrm>
            <a:off x="548640" y="3474720"/>
            <a:ext cx="6217920" cy="1097280"/>
          </a:xfrm>
          <a:prstGeom prst="rect">
            <a:avLst/>
          </a:prstGeom>
          <a:noFill/>
          <a:ln/>
        </p:spPr>
        <p:txBody>
          <a:bodyPr wrap="square" lIns="0" tIns="0" rIns="0" bIns="0" rtlCol="0" anchor="t"/>
          <a:lstStyle/>
          <a:p>
            <a:pPr indent="0" marL="0">
              <a:buNone/>
            </a:pPr>
            <a:r>
              <a:rPr lang="en-US" sz="1800" dirty="0">
                <a:solidFill>
                  <a:schemeClr val="accent6"/>
                </a:solidFill>
              </a:rPr>
              <a:t>Plan before acting, write things down, and turn what works into something repeatable.</a:t>
            </a:r>
            <a:endParaRPr lang="en-US" sz="1800" dirty="0"/>
          </a:p>
        </p:txBody>
      </p:sp>
      <p:sp>
        <p:nvSpPr>
          <p:cNvPr id="5" name="token chip"/>
          <p:cNvSpPr/>
          <p:nvPr/>
        </p:nvSpPr>
        <p:spPr>
          <a:xfrm>
            <a:off x="7863840" y="1645920"/>
            <a:ext cx="1106424" cy="502920"/>
          </a:xfrm>
          <a:prstGeom prst="roundRect">
            <a:avLst>
              <a:gd name="adj" fmla="val 10909"/>
            </a:avLst>
          </a:prstGeom>
          <a:solidFill>
            <a:schemeClr val="accent1"/>
          </a:solidFill>
          <a:ln w="12700">
            <a:solidFill>
              <a:schemeClr val="accent1"/>
            </a:solidFill>
            <a:prstDash val="solid"/>
          </a:ln>
        </p:spPr>
      </p:sp>
      <p:sp>
        <p:nvSpPr>
          <p:cNvPr id="6" name="Text 4"/>
          <p:cNvSpPr txBox="1"/>
          <p:nvPr/>
        </p:nvSpPr>
        <p:spPr>
          <a:xfrm>
            <a:off x="7863840" y="1645920"/>
            <a:ext cx="1106424" cy="502920"/>
          </a:xfrm>
          <a:prstGeom prst="rect">
            <a:avLst/>
          </a:prstGeom>
          <a:noFill/>
          <a:ln/>
        </p:spPr>
        <p:txBody>
          <a:bodyPr wrap="square" lIns="0" tIns="0" rIns="0" bIns="0" rtlCol="0" anchor="ctr"/>
          <a:lstStyle/>
          <a:p>
            <a:pPr algn="ctr" indent="0" marL="0">
              <a:buNone/>
            </a:pPr>
            <a:r>
              <a:rPr lang="en-US" sz="1600" dirty="0">
                <a:solidFill>
                  <a:schemeClr val="bg1"/>
                </a:solidFill>
              </a:rPr>
              <a:t>explore</a:t>
            </a:r>
            <a:endParaRPr lang="en-US" sz="1600" dirty="0"/>
          </a:p>
        </p:txBody>
      </p:sp>
      <p:sp>
        <p:nvSpPr>
          <p:cNvPr id="7" name="token chip"/>
          <p:cNvSpPr/>
          <p:nvPr/>
        </p:nvSpPr>
        <p:spPr>
          <a:xfrm>
            <a:off x="9107424" y="1645920"/>
            <a:ext cx="749808" cy="502920"/>
          </a:xfrm>
          <a:prstGeom prst="roundRect">
            <a:avLst>
              <a:gd name="adj" fmla="val 10909"/>
            </a:avLst>
          </a:prstGeom>
          <a:solidFill>
            <a:schemeClr val="accent2"/>
          </a:solidFill>
          <a:ln w="12700">
            <a:solidFill>
              <a:schemeClr val="accent2"/>
            </a:solidFill>
            <a:prstDash val="solid"/>
          </a:ln>
        </p:spPr>
      </p:sp>
      <p:sp>
        <p:nvSpPr>
          <p:cNvPr id="8" name="Text 6"/>
          <p:cNvSpPr txBox="1"/>
          <p:nvPr/>
        </p:nvSpPr>
        <p:spPr>
          <a:xfrm>
            <a:off x="9107424" y="1645920"/>
            <a:ext cx="749808" cy="502920"/>
          </a:xfrm>
          <a:prstGeom prst="rect">
            <a:avLst/>
          </a:prstGeom>
          <a:noFill/>
          <a:ln/>
        </p:spPr>
        <p:txBody>
          <a:bodyPr wrap="square" lIns="0" tIns="0" rIns="0" bIns="0" rtlCol="0" anchor="ctr"/>
          <a:lstStyle/>
          <a:p>
            <a:pPr algn="ctr" indent="0" marL="0">
              <a:buNone/>
            </a:pPr>
            <a:r>
              <a:rPr lang="en-US" sz="1600" dirty="0">
                <a:solidFill>
                  <a:schemeClr val="bg1"/>
                </a:solidFill>
              </a:rPr>
              <a:t>plan</a:t>
            </a:r>
            <a:endParaRPr lang="en-US" sz="1600" dirty="0"/>
          </a:p>
        </p:txBody>
      </p:sp>
      <p:sp>
        <p:nvSpPr>
          <p:cNvPr id="9" name="token chip"/>
          <p:cNvSpPr/>
          <p:nvPr/>
        </p:nvSpPr>
        <p:spPr>
          <a:xfrm>
            <a:off x="9994392" y="1645920"/>
            <a:ext cx="868680" cy="502920"/>
          </a:xfrm>
          <a:prstGeom prst="roundRect">
            <a:avLst>
              <a:gd name="adj" fmla="val 10909"/>
            </a:avLst>
          </a:prstGeom>
          <a:solidFill>
            <a:schemeClr val="accent3"/>
          </a:solidFill>
          <a:ln w="12700">
            <a:solidFill>
              <a:schemeClr val="accent3"/>
            </a:solidFill>
            <a:prstDash val="solid"/>
          </a:ln>
        </p:spPr>
      </p:sp>
      <p:sp>
        <p:nvSpPr>
          <p:cNvPr id="10" name="Text 8"/>
          <p:cNvSpPr txBox="1"/>
          <p:nvPr/>
        </p:nvSpPr>
        <p:spPr>
          <a:xfrm>
            <a:off x="9994392" y="1645920"/>
            <a:ext cx="868680" cy="502920"/>
          </a:xfrm>
          <a:prstGeom prst="rect">
            <a:avLst/>
          </a:prstGeom>
          <a:noFill/>
          <a:ln/>
        </p:spPr>
        <p:txBody>
          <a:bodyPr wrap="square" lIns="0" tIns="0" rIns="0" bIns="0" rtlCol="0" anchor="ctr"/>
          <a:lstStyle/>
          <a:p>
            <a:pPr algn="ctr" indent="0" marL="0">
              <a:buNone/>
            </a:pPr>
            <a:r>
              <a:rPr lang="en-US" sz="1600" dirty="0">
                <a:solidFill>
                  <a:schemeClr val="bg1"/>
                </a:solidFill>
              </a:rPr>
              <a:t>build</a:t>
            </a:r>
            <a:endParaRPr lang="en-US" sz="1600" dirty="0"/>
          </a:p>
        </p:txBody>
      </p:sp>
      <p:sp>
        <p:nvSpPr>
          <p:cNvPr id="11" name="token chip"/>
          <p:cNvSpPr/>
          <p:nvPr/>
        </p:nvSpPr>
        <p:spPr>
          <a:xfrm>
            <a:off x="8321040" y="2423160"/>
            <a:ext cx="868680" cy="502920"/>
          </a:xfrm>
          <a:prstGeom prst="roundRect">
            <a:avLst>
              <a:gd name="adj" fmla="val 10909"/>
            </a:avLst>
          </a:prstGeom>
          <a:solidFill>
            <a:schemeClr val="accent4"/>
          </a:solidFill>
          <a:ln w="12700">
            <a:solidFill>
              <a:schemeClr val="accent4"/>
            </a:solidFill>
            <a:prstDash val="solid"/>
          </a:ln>
        </p:spPr>
      </p:sp>
      <p:sp>
        <p:nvSpPr>
          <p:cNvPr id="12" name="Text 10"/>
          <p:cNvSpPr txBox="1"/>
          <p:nvPr/>
        </p:nvSpPr>
        <p:spPr>
          <a:xfrm>
            <a:off x="8321040" y="2423160"/>
            <a:ext cx="868680" cy="502920"/>
          </a:xfrm>
          <a:prstGeom prst="rect">
            <a:avLst/>
          </a:prstGeom>
          <a:noFill/>
          <a:ln/>
        </p:spPr>
        <p:txBody>
          <a:bodyPr wrap="square" lIns="0" tIns="0" rIns="0" bIns="0" rtlCol="0" anchor="ctr"/>
          <a:lstStyle/>
          <a:p>
            <a:pPr algn="ctr" indent="0" marL="0">
              <a:buNone/>
            </a:pPr>
            <a:r>
              <a:rPr lang="en-US" sz="1600" dirty="0">
                <a:solidFill>
                  <a:schemeClr val="tx1"/>
                </a:solidFill>
              </a:rPr>
              <a:t>check</a:t>
            </a:r>
            <a:endParaRPr lang="en-US" sz="1600" dirty="0"/>
          </a:p>
        </p:txBody>
      </p:sp>
      <p:sp>
        <p:nvSpPr>
          <p:cNvPr id="13" name="token chip"/>
          <p:cNvSpPr/>
          <p:nvPr/>
        </p:nvSpPr>
        <p:spPr>
          <a:xfrm>
            <a:off x="9326880" y="2423160"/>
            <a:ext cx="987552" cy="502920"/>
          </a:xfrm>
          <a:prstGeom prst="roundRect">
            <a:avLst>
              <a:gd name="adj" fmla="val 10909"/>
            </a:avLst>
          </a:prstGeom>
          <a:solidFill>
            <a:schemeClr val="accent1"/>
          </a:solidFill>
          <a:ln w="12700">
            <a:solidFill>
              <a:schemeClr val="accent1"/>
            </a:solidFill>
            <a:prstDash val="solid"/>
          </a:ln>
        </p:spPr>
      </p:sp>
      <p:sp>
        <p:nvSpPr>
          <p:cNvPr id="14" name="Text 12"/>
          <p:cNvSpPr txBox="1"/>
          <p:nvPr/>
        </p:nvSpPr>
        <p:spPr>
          <a:xfrm>
            <a:off x="9326880" y="2423160"/>
            <a:ext cx="987552" cy="502920"/>
          </a:xfrm>
          <a:prstGeom prst="rect">
            <a:avLst/>
          </a:prstGeom>
          <a:noFill/>
          <a:ln/>
        </p:spPr>
        <p:txBody>
          <a:bodyPr wrap="square" lIns="0" tIns="0" rIns="0" bIns="0" rtlCol="0" anchor="ctr"/>
          <a:lstStyle/>
          <a:p>
            <a:pPr algn="ctr" indent="0" marL="0">
              <a:buNone/>
            </a:pPr>
            <a:r>
              <a:rPr lang="en-US" sz="1600" dirty="0">
                <a:solidFill>
                  <a:schemeClr val="bg1"/>
                </a:solidFill>
              </a:rPr>
              <a:t>repeat</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Explore → Plan → Build → Check: the core loop for real work</a:t>
            </a:r>
            <a:endParaRPr lang="en-US" sz="3200" dirty="0"/>
          </a:p>
        </p:txBody>
      </p:sp>
      <p:sp>
        <p:nvSpPr>
          <p:cNvPr id="3" name="card"/>
          <p:cNvSpPr/>
          <p:nvPr/>
        </p:nvSpPr>
        <p:spPr>
          <a:xfrm>
            <a:off x="548640" y="1371600"/>
            <a:ext cx="2514600" cy="2743200"/>
          </a:xfrm>
          <a:prstGeom prst="roundRect">
            <a:avLst>
              <a:gd name="adj" fmla="val 2909"/>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4" name="icon circle"/>
          <p:cNvSpPr/>
          <p:nvPr/>
        </p:nvSpPr>
        <p:spPr>
          <a:xfrm>
            <a:off x="822960" y="1645920"/>
            <a:ext cx="685800" cy="685800"/>
          </a:xfrm>
          <a:prstGeom prst="ellipse">
            <a:avLst/>
          </a:prstGeom>
          <a:solidFill>
            <a:schemeClr val="accent2"/>
          </a:solidFill>
          <a:ln w="12700">
            <a:solidFill>
              <a:schemeClr val="accent2"/>
            </a:solidFill>
            <a:prstDash val="solid"/>
          </a:ln>
        </p:spPr>
      </p:sp>
      <p:pic>
        <p:nvPicPr>
          <p:cNvPr id="5" name="Image 0" descr="MagnifyingGlass icon">    </p:cNvPr>
          <p:cNvPicPr>
            <a:picLocks noChangeAspect="1"/>
          </p:cNvPicPr>
          <p:nvPr/>
        </p:nvPicPr>
        <p:blipFill>
          <a:blip r:embed="rId1"/>
          <a:stretch>
            <a:fillRect/>
          </a:stretch>
        </p:blipFill>
        <p:spPr>
          <a:xfrm>
            <a:off x="994410" y="1817370"/>
            <a:ext cx="342900" cy="342900"/>
          </a:xfrm>
          <a:prstGeom prst="rect">
            <a:avLst/>
          </a:prstGeom>
        </p:spPr>
      </p:pic>
      <p:sp>
        <p:nvSpPr>
          <p:cNvPr id="6" name="Text 3"/>
          <p:cNvSpPr txBox="1"/>
          <p:nvPr/>
        </p:nvSpPr>
        <p:spPr>
          <a:xfrm>
            <a:off x="822960" y="2514600"/>
            <a:ext cx="2103120" cy="365760"/>
          </a:xfrm>
          <a:prstGeom prst="rect">
            <a:avLst/>
          </a:prstGeom>
          <a:noFill/>
          <a:ln/>
        </p:spPr>
        <p:txBody>
          <a:bodyPr wrap="square" lIns="0" tIns="0" rIns="0" bIns="0" rtlCol="0" anchor="t"/>
          <a:lstStyle/>
          <a:p>
            <a:pPr indent="0" marL="0">
              <a:buNone/>
            </a:pPr>
            <a:r>
              <a:rPr lang="en-US" sz="1800" b="1" dirty="0">
                <a:solidFill>
                  <a:schemeClr val="tx1"/>
                </a:solidFill>
              </a:rPr>
              <a:t>1  Explore</a:t>
            </a:r>
            <a:endParaRPr lang="en-US" sz="1800" dirty="0"/>
          </a:p>
        </p:txBody>
      </p:sp>
      <p:sp>
        <p:nvSpPr>
          <p:cNvPr id="7" name="Text 4"/>
          <p:cNvSpPr txBox="1"/>
          <p:nvPr/>
        </p:nvSpPr>
        <p:spPr>
          <a:xfrm>
            <a:off x="822960" y="2926080"/>
            <a:ext cx="2011680" cy="1097280"/>
          </a:xfrm>
          <a:prstGeom prst="rect">
            <a:avLst/>
          </a:prstGeom>
          <a:noFill/>
          <a:ln/>
        </p:spPr>
        <p:txBody>
          <a:bodyPr wrap="square" lIns="0" tIns="0" rIns="0" bIns="0" rtlCol="0" anchor="t"/>
          <a:lstStyle/>
          <a:p>
            <a:pPr indent="0" marL="0">
              <a:buNone/>
            </a:pPr>
            <a:r>
              <a:rPr lang="en-US" sz="1300" dirty="0">
                <a:solidFill>
                  <a:schemeClr val="tx2"/>
                </a:solidFill>
              </a:rPr>
              <a:t>Have Claude read the relevant files or sources first. No changes yet.</a:t>
            </a:r>
            <a:endParaRPr lang="en-US" sz="1300" dirty="0"/>
          </a:p>
        </p:txBody>
      </p:sp>
      <p:sp>
        <p:nvSpPr>
          <p:cNvPr id="8" name="arrow"/>
          <p:cNvSpPr/>
          <p:nvPr/>
        </p:nvSpPr>
        <p:spPr>
          <a:xfrm>
            <a:off x="3108960" y="2743200"/>
            <a:ext cx="228600" cy="0"/>
          </a:xfrm>
          <a:prstGeom prst="line">
            <a:avLst/>
          </a:prstGeom>
          <a:noFill/>
          <a:ln w="19050">
            <a:solidFill>
              <a:schemeClr val="accent5"/>
            </a:solidFill>
            <a:prstDash val="solid"/>
            <a:tailEnd type="triangle"/>
          </a:ln>
        </p:spPr>
      </p:sp>
      <p:sp>
        <p:nvSpPr>
          <p:cNvPr id="9" name="card"/>
          <p:cNvSpPr/>
          <p:nvPr/>
        </p:nvSpPr>
        <p:spPr>
          <a:xfrm>
            <a:off x="3383280" y="1371600"/>
            <a:ext cx="2514600" cy="2743200"/>
          </a:xfrm>
          <a:prstGeom prst="roundRect">
            <a:avLst>
              <a:gd name="adj" fmla="val 2909"/>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10" name="icon circle"/>
          <p:cNvSpPr/>
          <p:nvPr/>
        </p:nvSpPr>
        <p:spPr>
          <a:xfrm>
            <a:off x="3657600" y="1645920"/>
            <a:ext cx="685800" cy="685800"/>
          </a:xfrm>
          <a:prstGeom prst="ellipse">
            <a:avLst/>
          </a:prstGeom>
          <a:solidFill>
            <a:schemeClr val="accent3"/>
          </a:solidFill>
          <a:ln w="12700">
            <a:solidFill>
              <a:schemeClr val="accent3"/>
            </a:solidFill>
            <a:prstDash val="solid"/>
          </a:ln>
        </p:spPr>
      </p:sp>
      <p:pic>
        <p:nvPicPr>
          <p:cNvPr id="11" name="Image 1" descr="Map icon">    </p:cNvPr>
          <p:cNvPicPr>
            <a:picLocks noChangeAspect="1"/>
          </p:cNvPicPr>
          <p:nvPr/>
        </p:nvPicPr>
        <p:blipFill>
          <a:blip r:embed="rId2"/>
          <a:stretch>
            <a:fillRect/>
          </a:stretch>
        </p:blipFill>
        <p:spPr>
          <a:xfrm>
            <a:off x="3829050" y="1817370"/>
            <a:ext cx="342900" cy="342900"/>
          </a:xfrm>
          <a:prstGeom prst="rect">
            <a:avLst/>
          </a:prstGeom>
        </p:spPr>
      </p:pic>
      <p:sp>
        <p:nvSpPr>
          <p:cNvPr id="12" name="Text 8"/>
          <p:cNvSpPr txBox="1"/>
          <p:nvPr/>
        </p:nvSpPr>
        <p:spPr>
          <a:xfrm>
            <a:off x="3657600" y="2514600"/>
            <a:ext cx="2103120" cy="365760"/>
          </a:xfrm>
          <a:prstGeom prst="rect">
            <a:avLst/>
          </a:prstGeom>
          <a:noFill/>
          <a:ln/>
        </p:spPr>
        <p:txBody>
          <a:bodyPr wrap="square" lIns="0" tIns="0" rIns="0" bIns="0" rtlCol="0" anchor="t"/>
          <a:lstStyle/>
          <a:p>
            <a:pPr indent="0" marL="0">
              <a:buNone/>
            </a:pPr>
            <a:r>
              <a:rPr lang="en-US" sz="1800" b="1" dirty="0">
                <a:solidFill>
                  <a:schemeClr val="tx1"/>
                </a:solidFill>
              </a:rPr>
              <a:t>2  Plan</a:t>
            </a:r>
            <a:endParaRPr lang="en-US" sz="1800" dirty="0"/>
          </a:p>
        </p:txBody>
      </p:sp>
      <p:sp>
        <p:nvSpPr>
          <p:cNvPr id="13" name="Text 9"/>
          <p:cNvSpPr txBox="1"/>
          <p:nvPr/>
        </p:nvSpPr>
        <p:spPr>
          <a:xfrm>
            <a:off x="3657600" y="2926080"/>
            <a:ext cx="2011680" cy="1097280"/>
          </a:xfrm>
          <a:prstGeom prst="rect">
            <a:avLst/>
          </a:prstGeom>
          <a:noFill/>
          <a:ln/>
        </p:spPr>
        <p:txBody>
          <a:bodyPr wrap="square" lIns="0" tIns="0" rIns="0" bIns="0" rtlCol="0" anchor="t"/>
          <a:lstStyle/>
          <a:p>
            <a:pPr indent="0" marL="0">
              <a:buNone/>
            </a:pPr>
            <a:r>
              <a:rPr lang="en-US" sz="1300" dirty="0">
                <a:solidFill>
                  <a:schemeClr val="tx2"/>
                </a:solidFill>
              </a:rPr>
              <a:t>Plan mode (Shift+Tab): Claude researches read-only and proposes steps. You edit and approve.</a:t>
            </a:r>
            <a:endParaRPr lang="en-US" sz="1300" dirty="0"/>
          </a:p>
        </p:txBody>
      </p:sp>
      <p:sp>
        <p:nvSpPr>
          <p:cNvPr id="14" name="arrow"/>
          <p:cNvSpPr/>
          <p:nvPr/>
        </p:nvSpPr>
        <p:spPr>
          <a:xfrm>
            <a:off x="5943600" y="2743200"/>
            <a:ext cx="228600" cy="0"/>
          </a:xfrm>
          <a:prstGeom prst="line">
            <a:avLst/>
          </a:prstGeom>
          <a:noFill/>
          <a:ln w="19050">
            <a:solidFill>
              <a:schemeClr val="accent5"/>
            </a:solidFill>
            <a:prstDash val="solid"/>
            <a:tailEnd type="triangle"/>
          </a:ln>
        </p:spPr>
      </p:sp>
      <p:sp>
        <p:nvSpPr>
          <p:cNvPr id="15" name="card"/>
          <p:cNvSpPr/>
          <p:nvPr/>
        </p:nvSpPr>
        <p:spPr>
          <a:xfrm>
            <a:off x="6217920" y="1371600"/>
            <a:ext cx="2514600" cy="2743200"/>
          </a:xfrm>
          <a:prstGeom prst="roundRect">
            <a:avLst>
              <a:gd name="adj" fmla="val 2909"/>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16" name="icon circle"/>
          <p:cNvSpPr/>
          <p:nvPr/>
        </p:nvSpPr>
        <p:spPr>
          <a:xfrm>
            <a:off x="6492240" y="1645920"/>
            <a:ext cx="685800" cy="685800"/>
          </a:xfrm>
          <a:prstGeom prst="ellipse">
            <a:avLst/>
          </a:prstGeom>
          <a:solidFill>
            <a:schemeClr val="accent1"/>
          </a:solidFill>
          <a:ln w="12700">
            <a:solidFill>
              <a:schemeClr val="accent1"/>
            </a:solidFill>
            <a:prstDash val="solid"/>
          </a:ln>
        </p:spPr>
      </p:sp>
      <p:pic>
        <p:nvPicPr>
          <p:cNvPr id="17" name="Image 2" descr="Hammer icon">    </p:cNvPr>
          <p:cNvPicPr>
            <a:picLocks noChangeAspect="1"/>
          </p:cNvPicPr>
          <p:nvPr/>
        </p:nvPicPr>
        <p:blipFill>
          <a:blip r:embed="rId3"/>
          <a:stretch>
            <a:fillRect/>
          </a:stretch>
        </p:blipFill>
        <p:spPr>
          <a:xfrm>
            <a:off x="6663690" y="1817370"/>
            <a:ext cx="342900" cy="342900"/>
          </a:xfrm>
          <a:prstGeom prst="rect">
            <a:avLst/>
          </a:prstGeom>
        </p:spPr>
      </p:pic>
      <p:sp>
        <p:nvSpPr>
          <p:cNvPr id="18" name="Text 13"/>
          <p:cNvSpPr txBox="1"/>
          <p:nvPr/>
        </p:nvSpPr>
        <p:spPr>
          <a:xfrm>
            <a:off x="6492240" y="2514600"/>
            <a:ext cx="2103120" cy="365760"/>
          </a:xfrm>
          <a:prstGeom prst="rect">
            <a:avLst/>
          </a:prstGeom>
          <a:noFill/>
          <a:ln/>
        </p:spPr>
        <p:txBody>
          <a:bodyPr wrap="square" lIns="0" tIns="0" rIns="0" bIns="0" rtlCol="0" anchor="t"/>
          <a:lstStyle/>
          <a:p>
            <a:pPr indent="0" marL="0">
              <a:buNone/>
            </a:pPr>
            <a:r>
              <a:rPr lang="en-US" sz="1800" b="1" dirty="0">
                <a:solidFill>
                  <a:schemeClr val="tx1"/>
                </a:solidFill>
              </a:rPr>
              <a:t>3  Build</a:t>
            </a:r>
            <a:endParaRPr lang="en-US" sz="1800" dirty="0"/>
          </a:p>
        </p:txBody>
      </p:sp>
      <p:sp>
        <p:nvSpPr>
          <p:cNvPr id="19" name="Text 14"/>
          <p:cNvSpPr txBox="1"/>
          <p:nvPr/>
        </p:nvSpPr>
        <p:spPr>
          <a:xfrm>
            <a:off x="6492240" y="2926080"/>
            <a:ext cx="2011680" cy="1097280"/>
          </a:xfrm>
          <a:prstGeom prst="rect">
            <a:avLst/>
          </a:prstGeom>
          <a:noFill/>
          <a:ln/>
        </p:spPr>
        <p:txBody>
          <a:bodyPr wrap="square" lIns="0" tIns="0" rIns="0" bIns="0" rtlCol="0" anchor="t"/>
          <a:lstStyle/>
          <a:p>
            <a:pPr indent="0" marL="0">
              <a:buNone/>
            </a:pPr>
            <a:r>
              <a:rPr lang="en-US" sz="1300" dirty="0">
                <a:solidFill>
                  <a:schemeClr val="tx2"/>
                </a:solidFill>
              </a:rPr>
              <a:t>Carry out the plan step by step. Small, reversible changes.</a:t>
            </a:r>
            <a:endParaRPr lang="en-US" sz="1300" dirty="0"/>
          </a:p>
        </p:txBody>
      </p:sp>
      <p:sp>
        <p:nvSpPr>
          <p:cNvPr id="20" name="arrow"/>
          <p:cNvSpPr/>
          <p:nvPr/>
        </p:nvSpPr>
        <p:spPr>
          <a:xfrm>
            <a:off x="8778240" y="2743200"/>
            <a:ext cx="228600" cy="0"/>
          </a:xfrm>
          <a:prstGeom prst="line">
            <a:avLst/>
          </a:prstGeom>
          <a:noFill/>
          <a:ln w="19050">
            <a:solidFill>
              <a:schemeClr val="accent5"/>
            </a:solidFill>
            <a:prstDash val="solid"/>
            <a:tailEnd type="triangle"/>
          </a:ln>
        </p:spPr>
      </p:sp>
      <p:sp>
        <p:nvSpPr>
          <p:cNvPr id="21" name="card"/>
          <p:cNvSpPr/>
          <p:nvPr/>
        </p:nvSpPr>
        <p:spPr>
          <a:xfrm>
            <a:off x="9052560" y="1371600"/>
            <a:ext cx="2514600" cy="2743200"/>
          </a:xfrm>
          <a:prstGeom prst="roundRect">
            <a:avLst>
              <a:gd name="adj" fmla="val 2909"/>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22" name="icon circle"/>
          <p:cNvSpPr/>
          <p:nvPr/>
        </p:nvSpPr>
        <p:spPr>
          <a:xfrm>
            <a:off x="9326880" y="1645920"/>
            <a:ext cx="685800" cy="685800"/>
          </a:xfrm>
          <a:prstGeom prst="ellipse">
            <a:avLst/>
          </a:prstGeom>
          <a:solidFill>
            <a:schemeClr val="accent4"/>
          </a:solidFill>
          <a:ln w="12700">
            <a:solidFill>
              <a:schemeClr val="accent4"/>
            </a:solidFill>
            <a:prstDash val="solid"/>
          </a:ln>
        </p:spPr>
      </p:sp>
      <p:pic>
        <p:nvPicPr>
          <p:cNvPr id="23" name="Image 3" descr="CircleCheck icon">    </p:cNvPr>
          <p:cNvPicPr>
            <a:picLocks noChangeAspect="1"/>
          </p:cNvPicPr>
          <p:nvPr/>
        </p:nvPicPr>
        <p:blipFill>
          <a:blip r:embed="rId4"/>
          <a:stretch>
            <a:fillRect/>
          </a:stretch>
        </p:blipFill>
        <p:spPr>
          <a:xfrm>
            <a:off x="9498330" y="1817370"/>
            <a:ext cx="342900" cy="342900"/>
          </a:xfrm>
          <a:prstGeom prst="rect">
            <a:avLst/>
          </a:prstGeom>
        </p:spPr>
      </p:pic>
      <p:sp>
        <p:nvSpPr>
          <p:cNvPr id="24" name="Text 18"/>
          <p:cNvSpPr txBox="1"/>
          <p:nvPr/>
        </p:nvSpPr>
        <p:spPr>
          <a:xfrm>
            <a:off x="9326880" y="2514600"/>
            <a:ext cx="2103120" cy="365760"/>
          </a:xfrm>
          <a:prstGeom prst="rect">
            <a:avLst/>
          </a:prstGeom>
          <a:noFill/>
          <a:ln/>
        </p:spPr>
        <p:txBody>
          <a:bodyPr wrap="square" lIns="0" tIns="0" rIns="0" bIns="0" rtlCol="0" anchor="t"/>
          <a:lstStyle/>
          <a:p>
            <a:pPr indent="0" marL="0">
              <a:buNone/>
            </a:pPr>
            <a:r>
              <a:rPr lang="en-US" sz="1800" b="1" dirty="0">
                <a:solidFill>
                  <a:schemeClr val="tx1"/>
                </a:solidFill>
              </a:rPr>
              <a:t>4  Check</a:t>
            </a:r>
            <a:endParaRPr lang="en-US" sz="1800" dirty="0"/>
          </a:p>
        </p:txBody>
      </p:sp>
      <p:sp>
        <p:nvSpPr>
          <p:cNvPr id="25" name="Text 19"/>
          <p:cNvSpPr txBox="1"/>
          <p:nvPr/>
        </p:nvSpPr>
        <p:spPr>
          <a:xfrm>
            <a:off x="9326880" y="2926080"/>
            <a:ext cx="2011680" cy="1097280"/>
          </a:xfrm>
          <a:prstGeom prst="rect">
            <a:avLst/>
          </a:prstGeom>
          <a:noFill/>
          <a:ln/>
        </p:spPr>
        <p:txBody>
          <a:bodyPr wrap="square" lIns="0" tIns="0" rIns="0" bIns="0" rtlCol="0" anchor="t"/>
          <a:lstStyle/>
          <a:p>
            <a:pPr indent="0" marL="0">
              <a:buNone/>
            </a:pPr>
            <a:r>
              <a:rPr lang="en-US" sz="1300" dirty="0">
                <a:solidFill>
                  <a:schemeClr val="tx2"/>
                </a:solidFill>
              </a:rPr>
              <a:t>Run tests, open the file, compare to the plan. Then commit.</a:t>
            </a:r>
            <a:endParaRPr lang="en-US" sz="1300" dirty="0"/>
          </a:p>
        </p:txBody>
      </p:sp>
      <p:sp>
        <p:nvSpPr>
          <p:cNvPr id="26" name="card"/>
          <p:cNvSpPr/>
          <p:nvPr/>
        </p:nvSpPr>
        <p:spPr>
          <a:xfrm>
            <a:off x="548640" y="4389120"/>
            <a:ext cx="11064240" cy="1645920"/>
          </a:xfrm>
          <a:prstGeom prst="roundRect">
            <a:avLst>
              <a:gd name="adj" fmla="val 4444"/>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27" name="icon circle"/>
          <p:cNvSpPr/>
          <p:nvPr/>
        </p:nvSpPr>
        <p:spPr>
          <a:xfrm>
            <a:off x="822960" y="4709160"/>
            <a:ext cx="731520" cy="731520"/>
          </a:xfrm>
          <a:prstGeom prst="ellipse">
            <a:avLst/>
          </a:prstGeom>
          <a:solidFill>
            <a:schemeClr val="tx1"/>
          </a:solidFill>
          <a:ln w="12700">
            <a:solidFill>
              <a:schemeClr val="tx1"/>
            </a:solidFill>
            <a:prstDash val="solid"/>
          </a:ln>
        </p:spPr>
      </p:sp>
      <p:pic>
        <p:nvPicPr>
          <p:cNvPr id="28" name="Image 4" descr="QuoteLeft icon">    </p:cNvPr>
          <p:cNvPicPr>
            <a:picLocks noChangeAspect="1"/>
          </p:cNvPicPr>
          <p:nvPr/>
        </p:nvPicPr>
        <p:blipFill>
          <a:blip r:embed="rId5"/>
          <a:stretch>
            <a:fillRect/>
          </a:stretch>
        </p:blipFill>
        <p:spPr>
          <a:xfrm>
            <a:off x="1005840" y="4892040"/>
            <a:ext cx="365760" cy="365760"/>
          </a:xfrm>
          <a:prstGeom prst="rect">
            <a:avLst/>
          </a:prstGeom>
        </p:spPr>
      </p:pic>
      <p:sp>
        <p:nvSpPr>
          <p:cNvPr id="29" name="Text 22"/>
          <p:cNvSpPr txBox="1"/>
          <p:nvPr/>
        </p:nvSpPr>
        <p:spPr>
          <a:xfrm>
            <a:off x="1828800" y="4572000"/>
            <a:ext cx="9144000" cy="365760"/>
          </a:xfrm>
          <a:prstGeom prst="rect">
            <a:avLst/>
          </a:prstGeom>
          <a:noFill/>
          <a:ln/>
        </p:spPr>
        <p:txBody>
          <a:bodyPr wrap="square" lIns="0" tIns="0" rIns="0" bIns="0" rtlCol="0" anchor="t"/>
          <a:lstStyle/>
          <a:p>
            <a:pPr indent="0" marL="0">
              <a:buNone/>
            </a:pPr>
            <a:r>
              <a:rPr lang="en-US" sz="1600" b="1" dirty="0">
                <a:solidFill>
                  <a:schemeClr val="tx1"/>
                </a:solidFill>
              </a:rPr>
              <a:t>Why planning pays off</a:t>
            </a:r>
            <a:endParaRPr lang="en-US" sz="1600" dirty="0"/>
          </a:p>
        </p:txBody>
      </p:sp>
      <p:sp>
        <p:nvSpPr>
          <p:cNvPr id="30" name="Text 23"/>
          <p:cNvSpPr txBox="1"/>
          <p:nvPr/>
        </p:nvSpPr>
        <p:spPr>
          <a:xfrm>
            <a:off x="1828800" y="4937760"/>
            <a:ext cx="9509760" cy="1005840"/>
          </a:xfrm>
          <a:prstGeom prst="rect">
            <a:avLst/>
          </a:prstGeom>
          <a:noFill/>
          <a:ln/>
        </p:spPr>
        <p:txBody>
          <a:bodyPr wrap="square" lIns="0" tIns="0" rIns="0" bIns="0" rtlCol="0" anchor="t"/>
          <a:lstStyle/>
          <a:p>
            <a:pPr indent="0" marL="0">
              <a:buNone/>
            </a:pPr>
            <a:r>
              <a:rPr lang="en-US" sz="1400" dirty="0">
                <a:solidFill>
                  <a:schemeClr val="tx2"/>
                </a:solidFill>
              </a:rPr>
              <a:t>Fixing a wrong plan costs one message. Fixing wrong code or a wrong 20-page report costs an afternoon. For anything bigger than a quick edit, ask for the plan first: “Don’t write code yet. Propose a plan, list the files you’ll change and the risks.”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Turn what works into building blocks you can reuse</a:t>
            </a:r>
            <a:endParaRPr lang="en-US" sz="3200" dirty="0"/>
          </a:p>
        </p:txBody>
      </p:sp>
      <p:sp>
        <p:nvSpPr>
          <p:cNvPr id="3" name="card"/>
          <p:cNvSpPr/>
          <p:nvPr/>
        </p:nvSpPr>
        <p:spPr>
          <a:xfrm>
            <a:off x="548640" y="1371600"/>
            <a:ext cx="3529584" cy="2194560"/>
          </a:xfrm>
          <a:prstGeom prst="roundRect">
            <a:avLst>
              <a:gd name="adj" fmla="val 333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4" name="icon circle"/>
          <p:cNvSpPr/>
          <p:nvPr/>
        </p:nvSpPr>
        <p:spPr>
          <a:xfrm>
            <a:off x="822960" y="1645920"/>
            <a:ext cx="640080" cy="640080"/>
          </a:xfrm>
          <a:prstGeom prst="ellipse">
            <a:avLst/>
          </a:prstGeom>
          <a:solidFill>
            <a:schemeClr val="accent1"/>
          </a:solidFill>
          <a:ln w="12700">
            <a:solidFill>
              <a:schemeClr val="accent1"/>
            </a:solidFill>
            <a:prstDash val="solid"/>
          </a:ln>
        </p:spPr>
      </p:sp>
      <p:pic>
        <p:nvPicPr>
          <p:cNvPr id="5" name="Image 0" descr="FileLines icon">    </p:cNvPr>
          <p:cNvPicPr>
            <a:picLocks noChangeAspect="1"/>
          </p:cNvPicPr>
          <p:nvPr/>
        </p:nvPicPr>
        <p:blipFill>
          <a:blip r:embed="rId1"/>
          <a:stretch>
            <a:fillRect/>
          </a:stretch>
        </p:blipFill>
        <p:spPr>
          <a:xfrm>
            <a:off x="982980" y="1805940"/>
            <a:ext cx="320040" cy="320040"/>
          </a:xfrm>
          <a:prstGeom prst="rect">
            <a:avLst/>
          </a:prstGeom>
        </p:spPr>
      </p:pic>
      <p:sp>
        <p:nvSpPr>
          <p:cNvPr id="6" name="Text 3"/>
          <p:cNvSpPr txBox="1"/>
          <p:nvPr/>
        </p:nvSpPr>
        <p:spPr>
          <a:xfrm>
            <a:off x="1645920" y="1719072"/>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CLAUDE.md</a:t>
            </a:r>
            <a:endParaRPr lang="en-US" sz="1800" dirty="0"/>
          </a:p>
        </p:txBody>
      </p:sp>
      <p:sp>
        <p:nvSpPr>
          <p:cNvPr id="7" name="Text 4"/>
          <p:cNvSpPr txBox="1"/>
          <p:nvPr/>
        </p:nvSpPr>
        <p:spPr>
          <a:xfrm>
            <a:off x="822960" y="2423160"/>
            <a:ext cx="3017520" cy="1051560"/>
          </a:xfrm>
          <a:prstGeom prst="rect">
            <a:avLst/>
          </a:prstGeom>
          <a:noFill/>
          <a:ln/>
        </p:spPr>
        <p:txBody>
          <a:bodyPr wrap="square" lIns="0" tIns="0" rIns="0" bIns="0" rtlCol="0" anchor="t"/>
          <a:lstStyle/>
          <a:p>
            <a:pPr indent="0" marL="0">
              <a:buNone/>
            </a:pPr>
            <a:r>
              <a:rPr lang="en-US" sz="1400" dirty="0">
                <a:solidFill>
                  <a:schemeClr val="tx2"/>
                </a:solidFill>
              </a:rPr>
              <a:t>Project memory: commands, style, gotchas. Loaded every session.</a:t>
            </a:r>
            <a:endParaRPr lang="en-US" sz="1400" dirty="0"/>
          </a:p>
        </p:txBody>
      </p:sp>
      <p:sp>
        <p:nvSpPr>
          <p:cNvPr id="8" name="card"/>
          <p:cNvSpPr/>
          <p:nvPr/>
        </p:nvSpPr>
        <p:spPr>
          <a:xfrm>
            <a:off x="4279392" y="1371600"/>
            <a:ext cx="3529584" cy="2194560"/>
          </a:xfrm>
          <a:prstGeom prst="roundRect">
            <a:avLst>
              <a:gd name="adj" fmla="val 333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9" name="icon circle"/>
          <p:cNvSpPr/>
          <p:nvPr/>
        </p:nvSpPr>
        <p:spPr>
          <a:xfrm>
            <a:off x="4553712" y="1645920"/>
            <a:ext cx="640080" cy="640080"/>
          </a:xfrm>
          <a:prstGeom prst="ellipse">
            <a:avLst/>
          </a:prstGeom>
          <a:solidFill>
            <a:schemeClr val="accent2"/>
          </a:solidFill>
          <a:ln w="12700">
            <a:solidFill>
              <a:schemeClr val="accent2"/>
            </a:solidFill>
            <a:prstDash val="solid"/>
          </a:ln>
        </p:spPr>
      </p:sp>
      <p:pic>
        <p:nvPicPr>
          <p:cNvPr id="10" name="Image 1" descr="Book icon">    </p:cNvPr>
          <p:cNvPicPr>
            <a:picLocks noChangeAspect="1"/>
          </p:cNvPicPr>
          <p:nvPr/>
        </p:nvPicPr>
        <p:blipFill>
          <a:blip r:embed="rId2"/>
          <a:stretch>
            <a:fillRect/>
          </a:stretch>
        </p:blipFill>
        <p:spPr>
          <a:xfrm>
            <a:off x="4713732" y="1805940"/>
            <a:ext cx="320040" cy="320040"/>
          </a:xfrm>
          <a:prstGeom prst="rect">
            <a:avLst/>
          </a:prstGeom>
        </p:spPr>
      </p:pic>
      <p:sp>
        <p:nvSpPr>
          <p:cNvPr id="11" name="Text 7"/>
          <p:cNvSpPr txBox="1"/>
          <p:nvPr/>
        </p:nvSpPr>
        <p:spPr>
          <a:xfrm>
            <a:off x="5376672" y="1719072"/>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Skills</a:t>
            </a:r>
            <a:endParaRPr lang="en-US" sz="1800" dirty="0"/>
          </a:p>
        </p:txBody>
      </p:sp>
      <p:sp>
        <p:nvSpPr>
          <p:cNvPr id="12" name="Text 8"/>
          <p:cNvSpPr txBox="1"/>
          <p:nvPr/>
        </p:nvSpPr>
        <p:spPr>
          <a:xfrm>
            <a:off x="4553712" y="2423160"/>
            <a:ext cx="3017520" cy="1051560"/>
          </a:xfrm>
          <a:prstGeom prst="rect">
            <a:avLst/>
          </a:prstGeom>
          <a:noFill/>
          <a:ln/>
        </p:spPr>
        <p:txBody>
          <a:bodyPr wrap="square" lIns="0" tIns="0" rIns="0" bIns="0" rtlCol="0" anchor="t"/>
          <a:lstStyle/>
          <a:p>
            <a:pPr indent="0" marL="0">
              <a:buNone/>
            </a:pPr>
            <a:r>
              <a:rPr lang="en-US" sz="1400" dirty="0">
                <a:solidFill>
                  <a:schemeClr val="tx2"/>
                </a:solidFill>
              </a:rPr>
              <a:t>SKILL.md + scripts for a task you repeat (reports, decks, reviews). Loaded on demand.</a:t>
            </a:r>
            <a:endParaRPr lang="en-US" sz="1400" dirty="0"/>
          </a:p>
        </p:txBody>
      </p:sp>
      <p:sp>
        <p:nvSpPr>
          <p:cNvPr id="13" name="card"/>
          <p:cNvSpPr/>
          <p:nvPr/>
        </p:nvSpPr>
        <p:spPr>
          <a:xfrm>
            <a:off x="8010144" y="1371600"/>
            <a:ext cx="3529584" cy="2194560"/>
          </a:xfrm>
          <a:prstGeom prst="roundRect">
            <a:avLst>
              <a:gd name="adj" fmla="val 333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14" name="icon circle"/>
          <p:cNvSpPr/>
          <p:nvPr/>
        </p:nvSpPr>
        <p:spPr>
          <a:xfrm>
            <a:off x="8284464" y="1645920"/>
            <a:ext cx="640080" cy="640080"/>
          </a:xfrm>
          <a:prstGeom prst="ellipse">
            <a:avLst/>
          </a:prstGeom>
          <a:solidFill>
            <a:schemeClr val="accent3"/>
          </a:solidFill>
          <a:ln w="12700">
            <a:solidFill>
              <a:schemeClr val="accent3"/>
            </a:solidFill>
            <a:prstDash val="solid"/>
          </a:ln>
        </p:spPr>
      </p:sp>
      <p:pic>
        <p:nvPicPr>
          <p:cNvPr id="15" name="Image 2" descr="UserGear icon">    </p:cNvPr>
          <p:cNvPicPr>
            <a:picLocks noChangeAspect="1"/>
          </p:cNvPicPr>
          <p:nvPr/>
        </p:nvPicPr>
        <p:blipFill>
          <a:blip r:embed="rId3"/>
          <a:stretch>
            <a:fillRect/>
          </a:stretch>
        </p:blipFill>
        <p:spPr>
          <a:xfrm>
            <a:off x="8444484" y="1805940"/>
            <a:ext cx="320040" cy="320040"/>
          </a:xfrm>
          <a:prstGeom prst="rect">
            <a:avLst/>
          </a:prstGeom>
        </p:spPr>
      </p:pic>
      <p:sp>
        <p:nvSpPr>
          <p:cNvPr id="16" name="Text 11"/>
          <p:cNvSpPr txBox="1"/>
          <p:nvPr/>
        </p:nvSpPr>
        <p:spPr>
          <a:xfrm>
            <a:off x="9107424" y="1719072"/>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Subagents</a:t>
            </a:r>
            <a:endParaRPr lang="en-US" sz="1800" dirty="0"/>
          </a:p>
        </p:txBody>
      </p:sp>
      <p:sp>
        <p:nvSpPr>
          <p:cNvPr id="17" name="Text 12"/>
          <p:cNvSpPr txBox="1"/>
          <p:nvPr/>
        </p:nvSpPr>
        <p:spPr>
          <a:xfrm>
            <a:off x="8284464" y="2423160"/>
            <a:ext cx="3017520" cy="1051560"/>
          </a:xfrm>
          <a:prstGeom prst="rect">
            <a:avLst/>
          </a:prstGeom>
          <a:noFill/>
          <a:ln/>
        </p:spPr>
        <p:txBody>
          <a:bodyPr wrap="square" lIns="0" tIns="0" rIns="0" bIns="0" rtlCol="0" anchor="t"/>
          <a:lstStyle/>
          <a:p>
            <a:pPr indent="0" marL="0">
              <a:buNone/>
            </a:pPr>
            <a:r>
              <a:rPr lang="en-US" sz="1400" dirty="0">
                <a:solidFill>
                  <a:schemeClr val="tx2"/>
                </a:solidFill>
              </a:rPr>
              <a:t>Specialists with their own prompt, tools and model.</a:t>
            </a:r>
            <a:endParaRPr lang="en-US" sz="1400" dirty="0"/>
          </a:p>
        </p:txBody>
      </p:sp>
      <p:sp>
        <p:nvSpPr>
          <p:cNvPr id="18" name="card"/>
          <p:cNvSpPr/>
          <p:nvPr/>
        </p:nvSpPr>
        <p:spPr>
          <a:xfrm>
            <a:off x="548640" y="3794760"/>
            <a:ext cx="3529584" cy="2194560"/>
          </a:xfrm>
          <a:prstGeom prst="roundRect">
            <a:avLst>
              <a:gd name="adj" fmla="val 333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19" name="icon circle"/>
          <p:cNvSpPr/>
          <p:nvPr/>
        </p:nvSpPr>
        <p:spPr>
          <a:xfrm>
            <a:off x="822960" y="4069080"/>
            <a:ext cx="640080" cy="640080"/>
          </a:xfrm>
          <a:prstGeom prst="ellipse">
            <a:avLst/>
          </a:prstGeom>
          <a:solidFill>
            <a:schemeClr val="accent4"/>
          </a:solidFill>
          <a:ln w="12700">
            <a:solidFill>
              <a:schemeClr val="accent4"/>
            </a:solidFill>
            <a:prstDash val="solid"/>
          </a:ln>
        </p:spPr>
      </p:sp>
      <p:pic>
        <p:nvPicPr>
          <p:cNvPr id="20" name="Image 3" descr="Bolt icon">    </p:cNvPr>
          <p:cNvPicPr>
            <a:picLocks noChangeAspect="1"/>
          </p:cNvPicPr>
          <p:nvPr/>
        </p:nvPicPr>
        <p:blipFill>
          <a:blip r:embed="rId4"/>
          <a:stretch>
            <a:fillRect/>
          </a:stretch>
        </p:blipFill>
        <p:spPr>
          <a:xfrm>
            <a:off x="982980" y="4229100"/>
            <a:ext cx="320040" cy="320040"/>
          </a:xfrm>
          <a:prstGeom prst="rect">
            <a:avLst/>
          </a:prstGeom>
        </p:spPr>
      </p:pic>
      <p:sp>
        <p:nvSpPr>
          <p:cNvPr id="21" name="Text 15"/>
          <p:cNvSpPr txBox="1"/>
          <p:nvPr/>
        </p:nvSpPr>
        <p:spPr>
          <a:xfrm>
            <a:off x="1645920" y="4142232"/>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Hooks</a:t>
            </a:r>
            <a:endParaRPr lang="en-US" sz="1800" dirty="0"/>
          </a:p>
        </p:txBody>
      </p:sp>
      <p:sp>
        <p:nvSpPr>
          <p:cNvPr id="22" name="Text 16"/>
          <p:cNvSpPr txBox="1"/>
          <p:nvPr/>
        </p:nvSpPr>
        <p:spPr>
          <a:xfrm>
            <a:off x="822960" y="4846320"/>
            <a:ext cx="3017520" cy="1051560"/>
          </a:xfrm>
          <a:prstGeom prst="rect">
            <a:avLst/>
          </a:prstGeom>
          <a:noFill/>
          <a:ln/>
        </p:spPr>
        <p:txBody>
          <a:bodyPr wrap="square" lIns="0" tIns="0" rIns="0" bIns="0" rtlCol="0" anchor="t"/>
          <a:lstStyle/>
          <a:p>
            <a:pPr indent="0" marL="0">
              <a:buNone/>
            </a:pPr>
            <a:r>
              <a:rPr lang="en-US" sz="1400" dirty="0">
                <a:solidFill>
                  <a:schemeClr val="tx2"/>
                </a:solidFill>
              </a:rPr>
              <a:t>Shell commands that always run on events, like format after edit or block rm -rf. Rules, not suggestions.</a:t>
            </a:r>
            <a:endParaRPr lang="en-US" sz="1400" dirty="0"/>
          </a:p>
        </p:txBody>
      </p:sp>
      <p:sp>
        <p:nvSpPr>
          <p:cNvPr id="23" name="card"/>
          <p:cNvSpPr/>
          <p:nvPr/>
        </p:nvSpPr>
        <p:spPr>
          <a:xfrm>
            <a:off x="4279392" y="3794760"/>
            <a:ext cx="3529584" cy="2194560"/>
          </a:xfrm>
          <a:prstGeom prst="roundRect">
            <a:avLst>
              <a:gd name="adj" fmla="val 333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24" name="icon circle"/>
          <p:cNvSpPr/>
          <p:nvPr/>
        </p:nvSpPr>
        <p:spPr>
          <a:xfrm>
            <a:off x="4553712" y="4069080"/>
            <a:ext cx="640080" cy="640080"/>
          </a:xfrm>
          <a:prstGeom prst="ellipse">
            <a:avLst/>
          </a:prstGeom>
          <a:solidFill>
            <a:schemeClr val="tx1"/>
          </a:solidFill>
          <a:ln w="12700">
            <a:solidFill>
              <a:schemeClr val="tx1"/>
            </a:solidFill>
            <a:prstDash val="solid"/>
          </a:ln>
        </p:spPr>
      </p:sp>
      <p:pic>
        <p:nvPicPr>
          <p:cNvPr id="25" name="Image 4" descr="Plug icon">    </p:cNvPr>
          <p:cNvPicPr>
            <a:picLocks noChangeAspect="1"/>
          </p:cNvPicPr>
          <p:nvPr/>
        </p:nvPicPr>
        <p:blipFill>
          <a:blip r:embed="rId5"/>
          <a:stretch>
            <a:fillRect/>
          </a:stretch>
        </p:blipFill>
        <p:spPr>
          <a:xfrm>
            <a:off x="4713732" y="4229100"/>
            <a:ext cx="320040" cy="320040"/>
          </a:xfrm>
          <a:prstGeom prst="rect">
            <a:avLst/>
          </a:prstGeom>
        </p:spPr>
      </p:pic>
      <p:sp>
        <p:nvSpPr>
          <p:cNvPr id="26" name="Text 19"/>
          <p:cNvSpPr txBox="1"/>
          <p:nvPr/>
        </p:nvSpPr>
        <p:spPr>
          <a:xfrm>
            <a:off x="5376672" y="4142232"/>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MCP</a:t>
            </a:r>
            <a:endParaRPr lang="en-US" sz="1800" dirty="0"/>
          </a:p>
        </p:txBody>
      </p:sp>
      <p:sp>
        <p:nvSpPr>
          <p:cNvPr id="27" name="Text 20"/>
          <p:cNvSpPr txBox="1"/>
          <p:nvPr/>
        </p:nvSpPr>
        <p:spPr>
          <a:xfrm>
            <a:off x="4553712" y="4846320"/>
            <a:ext cx="3017520" cy="1051560"/>
          </a:xfrm>
          <a:prstGeom prst="rect">
            <a:avLst/>
          </a:prstGeom>
          <a:noFill/>
          <a:ln/>
        </p:spPr>
        <p:txBody>
          <a:bodyPr wrap="square" lIns="0" tIns="0" rIns="0" bIns="0" rtlCol="0" anchor="t"/>
          <a:lstStyle/>
          <a:p>
            <a:pPr indent="0" marL="0">
              <a:buNone/>
            </a:pPr>
            <a:r>
              <a:rPr lang="en-US" sz="1400" dirty="0">
                <a:solidFill>
                  <a:schemeClr val="tx2"/>
                </a:solidFill>
              </a:rPr>
              <a:t>Connect GitHub, Slack, Drive, databases once; every session can use them.</a:t>
            </a:r>
            <a:endParaRPr lang="en-US" sz="1400" dirty="0"/>
          </a:p>
        </p:txBody>
      </p:sp>
      <p:sp>
        <p:nvSpPr>
          <p:cNvPr id="28" name="card"/>
          <p:cNvSpPr/>
          <p:nvPr/>
        </p:nvSpPr>
        <p:spPr>
          <a:xfrm>
            <a:off x="8010144" y="3794760"/>
            <a:ext cx="3529584" cy="2194560"/>
          </a:xfrm>
          <a:prstGeom prst="roundRect">
            <a:avLst>
              <a:gd name="adj" fmla="val 333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29" name="icon circle"/>
          <p:cNvSpPr/>
          <p:nvPr/>
        </p:nvSpPr>
        <p:spPr>
          <a:xfrm>
            <a:off x="8284464" y="4069080"/>
            <a:ext cx="640080" cy="640080"/>
          </a:xfrm>
          <a:prstGeom prst="ellipse">
            <a:avLst/>
          </a:prstGeom>
          <a:solidFill>
            <a:schemeClr val="tx2"/>
          </a:solidFill>
          <a:ln w="12700">
            <a:solidFill>
              <a:schemeClr val="tx2"/>
            </a:solidFill>
            <a:prstDash val="solid"/>
          </a:ln>
        </p:spPr>
      </p:sp>
      <p:pic>
        <p:nvPicPr>
          <p:cNvPr id="30" name="Image 5" descr="Clock icon">    </p:cNvPr>
          <p:cNvPicPr>
            <a:picLocks noChangeAspect="1"/>
          </p:cNvPicPr>
          <p:nvPr/>
        </p:nvPicPr>
        <p:blipFill>
          <a:blip r:embed="rId6"/>
          <a:stretch>
            <a:fillRect/>
          </a:stretch>
        </p:blipFill>
        <p:spPr>
          <a:xfrm>
            <a:off x="8444484" y="4229100"/>
            <a:ext cx="320040" cy="320040"/>
          </a:xfrm>
          <a:prstGeom prst="rect">
            <a:avLst/>
          </a:prstGeom>
        </p:spPr>
      </p:pic>
      <p:sp>
        <p:nvSpPr>
          <p:cNvPr id="31" name="Text 23"/>
          <p:cNvSpPr txBox="1"/>
          <p:nvPr/>
        </p:nvSpPr>
        <p:spPr>
          <a:xfrm>
            <a:off x="9107424" y="4142232"/>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Headless &amp; scheduled</a:t>
            </a:r>
            <a:endParaRPr lang="en-US" sz="1800" dirty="0"/>
          </a:p>
        </p:txBody>
      </p:sp>
      <p:sp>
        <p:nvSpPr>
          <p:cNvPr id="32" name="Text 24"/>
          <p:cNvSpPr txBox="1"/>
          <p:nvPr/>
        </p:nvSpPr>
        <p:spPr>
          <a:xfrm>
            <a:off x="8284464" y="4846320"/>
            <a:ext cx="3017520" cy="1051560"/>
          </a:xfrm>
          <a:prstGeom prst="rect">
            <a:avLst/>
          </a:prstGeom>
          <a:noFill/>
          <a:ln/>
        </p:spPr>
        <p:txBody>
          <a:bodyPr wrap="square" lIns="0" tIns="0" rIns="0" bIns="0" rtlCol="0" anchor="t"/>
          <a:lstStyle/>
          <a:p>
            <a:pPr indent="0" marL="0">
              <a:buNone/>
            </a:pPr>
            <a:r>
              <a:rPr lang="en-US" sz="1400" dirty="0">
                <a:solidFill>
                  <a:schemeClr val="tx2"/>
                </a:solidFill>
              </a:rPr>
              <a:t>claude -p in scripts and CI, the Agent SDK in your app, scheduled tasks for routines.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Long-running work: keep state in files</a:t>
            </a:r>
            <a:endParaRPr lang="en-US" sz="3200" dirty="0"/>
          </a:p>
        </p:txBody>
      </p:sp>
      <p:sp>
        <p:nvSpPr>
          <p:cNvPr id="3" name="file chip"/>
          <p:cNvSpPr/>
          <p:nvPr/>
        </p:nvSpPr>
        <p:spPr>
          <a:xfrm>
            <a:off x="548640" y="1371600"/>
            <a:ext cx="2103120" cy="777240"/>
          </a:xfrm>
          <a:prstGeom prst="roundRect">
            <a:avLst>
              <a:gd name="adj" fmla="val 7059"/>
            </a:avLst>
          </a:prstGeom>
          <a:solidFill>
            <a:schemeClr val="tx1"/>
          </a:solidFill>
          <a:ln w="12700">
            <a:solidFill>
              <a:schemeClr val="tx1"/>
            </a:solidFill>
            <a:prstDash val="solid"/>
          </a:ln>
        </p:spPr>
      </p:sp>
      <p:sp>
        <p:nvSpPr>
          <p:cNvPr id="4" name="Text 2"/>
          <p:cNvSpPr txBox="1"/>
          <p:nvPr/>
        </p:nvSpPr>
        <p:spPr>
          <a:xfrm>
            <a:off x="548640" y="1371600"/>
            <a:ext cx="2103120" cy="777240"/>
          </a:xfrm>
          <a:prstGeom prst="rect">
            <a:avLst/>
          </a:prstGeom>
          <a:noFill/>
          <a:ln/>
        </p:spPr>
        <p:txBody>
          <a:bodyPr wrap="square" lIns="0" tIns="0" rIns="0" bIns="0" rtlCol="0" anchor="ctr"/>
          <a:lstStyle/>
          <a:p>
            <a:pPr algn="ctr" indent="0" marL="0">
              <a:buNone/>
            </a:pPr>
            <a:r>
              <a:rPr lang="en-US" sz="1500" b="1" dirty="0">
                <a:solidFill>
                  <a:schemeClr val="bg1"/>
                </a:solidFill>
                <a:latin typeface="Courier New" pitchFamily="34" charset="0"/>
                <a:ea typeface="Courier New" pitchFamily="34" charset="-122"/>
                <a:cs typeface="Courier New" pitchFamily="34" charset="-120"/>
              </a:rPr>
              <a:t>plan.md</a:t>
            </a:r>
            <a:endParaRPr lang="en-US" sz="1500" dirty="0"/>
          </a:p>
        </p:txBody>
      </p:sp>
      <p:sp>
        <p:nvSpPr>
          <p:cNvPr id="5" name="Text 3"/>
          <p:cNvSpPr txBox="1"/>
          <p:nvPr/>
        </p:nvSpPr>
        <p:spPr>
          <a:xfrm>
            <a:off x="2834640" y="1371600"/>
            <a:ext cx="3017520" cy="777240"/>
          </a:xfrm>
          <a:prstGeom prst="rect">
            <a:avLst/>
          </a:prstGeom>
          <a:noFill/>
          <a:ln/>
        </p:spPr>
        <p:txBody>
          <a:bodyPr wrap="square" lIns="0" tIns="0" rIns="0" bIns="0" rtlCol="0" anchor="ctr"/>
          <a:lstStyle/>
          <a:p>
            <a:pPr indent="0" marL="0">
              <a:buNone/>
            </a:pPr>
            <a:r>
              <a:rPr lang="en-US" sz="1400" dirty="0">
                <a:solidFill>
                  <a:schemeClr val="tx2"/>
                </a:solidFill>
              </a:rPr>
              <a:t>The agreed plan and current step</a:t>
            </a:r>
            <a:endParaRPr lang="en-US" sz="1400" dirty="0"/>
          </a:p>
        </p:txBody>
      </p:sp>
      <p:sp>
        <p:nvSpPr>
          <p:cNvPr id="6" name="file chip"/>
          <p:cNvSpPr/>
          <p:nvPr/>
        </p:nvSpPr>
        <p:spPr>
          <a:xfrm>
            <a:off x="548640" y="2331720"/>
            <a:ext cx="2103120" cy="777240"/>
          </a:xfrm>
          <a:prstGeom prst="roundRect">
            <a:avLst>
              <a:gd name="adj" fmla="val 7059"/>
            </a:avLst>
          </a:prstGeom>
          <a:solidFill>
            <a:schemeClr val="tx1"/>
          </a:solidFill>
          <a:ln w="12700">
            <a:solidFill>
              <a:schemeClr val="tx1"/>
            </a:solidFill>
            <a:prstDash val="solid"/>
          </a:ln>
        </p:spPr>
      </p:sp>
      <p:sp>
        <p:nvSpPr>
          <p:cNvPr id="7" name="Text 5"/>
          <p:cNvSpPr txBox="1"/>
          <p:nvPr/>
        </p:nvSpPr>
        <p:spPr>
          <a:xfrm>
            <a:off x="548640" y="2331720"/>
            <a:ext cx="2103120" cy="777240"/>
          </a:xfrm>
          <a:prstGeom prst="rect">
            <a:avLst/>
          </a:prstGeom>
          <a:noFill/>
          <a:ln/>
        </p:spPr>
        <p:txBody>
          <a:bodyPr wrap="square" lIns="0" tIns="0" rIns="0" bIns="0" rtlCol="0" anchor="ctr"/>
          <a:lstStyle/>
          <a:p>
            <a:pPr algn="ctr" indent="0" marL="0">
              <a:buNone/>
            </a:pPr>
            <a:r>
              <a:rPr lang="en-US" sz="1500" b="1" dirty="0">
                <a:solidFill>
                  <a:schemeClr val="bg1"/>
                </a:solidFill>
                <a:latin typeface="Courier New" pitchFamily="34" charset="0"/>
                <a:ea typeface="Courier New" pitchFamily="34" charset="-122"/>
                <a:cs typeface="Courier New" pitchFamily="34" charset="-120"/>
              </a:rPr>
              <a:t>progress.txt</a:t>
            </a:r>
            <a:endParaRPr lang="en-US" sz="1500" dirty="0"/>
          </a:p>
        </p:txBody>
      </p:sp>
      <p:sp>
        <p:nvSpPr>
          <p:cNvPr id="8" name="Text 6"/>
          <p:cNvSpPr txBox="1"/>
          <p:nvPr/>
        </p:nvSpPr>
        <p:spPr>
          <a:xfrm>
            <a:off x="2834640" y="2331720"/>
            <a:ext cx="3017520" cy="777240"/>
          </a:xfrm>
          <a:prstGeom prst="rect">
            <a:avLst/>
          </a:prstGeom>
          <a:noFill/>
          <a:ln/>
        </p:spPr>
        <p:txBody>
          <a:bodyPr wrap="square" lIns="0" tIns="0" rIns="0" bIns="0" rtlCol="0" anchor="ctr"/>
          <a:lstStyle/>
          <a:p>
            <a:pPr indent="0" marL="0">
              <a:buNone/>
            </a:pPr>
            <a:r>
              <a:rPr lang="en-US" sz="1400" dirty="0">
                <a:solidFill>
                  <a:schemeClr val="tx2"/>
                </a:solidFill>
              </a:rPr>
              <a:t>What’s done, what’s next, open questions</a:t>
            </a:r>
            <a:endParaRPr lang="en-US" sz="1400" dirty="0"/>
          </a:p>
        </p:txBody>
      </p:sp>
      <p:sp>
        <p:nvSpPr>
          <p:cNvPr id="9" name="file chip"/>
          <p:cNvSpPr/>
          <p:nvPr/>
        </p:nvSpPr>
        <p:spPr>
          <a:xfrm>
            <a:off x="548640" y="3291840"/>
            <a:ext cx="2103120" cy="777240"/>
          </a:xfrm>
          <a:prstGeom prst="roundRect">
            <a:avLst>
              <a:gd name="adj" fmla="val 7059"/>
            </a:avLst>
          </a:prstGeom>
          <a:solidFill>
            <a:schemeClr val="tx1"/>
          </a:solidFill>
          <a:ln w="12700">
            <a:solidFill>
              <a:schemeClr val="tx1"/>
            </a:solidFill>
            <a:prstDash val="solid"/>
          </a:ln>
        </p:spPr>
      </p:sp>
      <p:sp>
        <p:nvSpPr>
          <p:cNvPr id="10" name="Text 8"/>
          <p:cNvSpPr txBox="1"/>
          <p:nvPr/>
        </p:nvSpPr>
        <p:spPr>
          <a:xfrm>
            <a:off x="548640" y="3291840"/>
            <a:ext cx="2103120" cy="777240"/>
          </a:xfrm>
          <a:prstGeom prst="rect">
            <a:avLst/>
          </a:prstGeom>
          <a:noFill/>
          <a:ln/>
        </p:spPr>
        <p:txBody>
          <a:bodyPr wrap="square" lIns="0" tIns="0" rIns="0" bIns="0" rtlCol="0" anchor="ctr"/>
          <a:lstStyle/>
          <a:p>
            <a:pPr algn="ctr" indent="0" marL="0">
              <a:buNone/>
            </a:pPr>
            <a:r>
              <a:rPr lang="en-US" sz="1500" b="1" dirty="0">
                <a:solidFill>
                  <a:schemeClr val="bg1"/>
                </a:solidFill>
                <a:latin typeface="Courier New" pitchFamily="34" charset="0"/>
                <a:ea typeface="Courier New" pitchFamily="34" charset="-122"/>
                <a:cs typeface="Courier New" pitchFamily="34" charset="-120"/>
              </a:rPr>
              <a:t>tests.json</a:t>
            </a:r>
            <a:endParaRPr lang="en-US" sz="1500" dirty="0"/>
          </a:p>
        </p:txBody>
      </p:sp>
      <p:sp>
        <p:nvSpPr>
          <p:cNvPr id="11" name="Text 9"/>
          <p:cNvSpPr txBox="1"/>
          <p:nvPr/>
        </p:nvSpPr>
        <p:spPr>
          <a:xfrm>
            <a:off x="2834640" y="3291840"/>
            <a:ext cx="3017520" cy="777240"/>
          </a:xfrm>
          <a:prstGeom prst="rect">
            <a:avLst/>
          </a:prstGeom>
          <a:noFill/>
          <a:ln/>
        </p:spPr>
        <p:txBody>
          <a:bodyPr wrap="square" lIns="0" tIns="0" rIns="0" bIns="0" rtlCol="0" anchor="ctr"/>
          <a:lstStyle/>
          <a:p>
            <a:pPr indent="0" marL="0">
              <a:buNone/>
            </a:pPr>
            <a:r>
              <a:rPr lang="en-US" sz="1400" dirty="0">
                <a:solidFill>
                  <a:schemeClr val="tx2"/>
                </a:solidFill>
              </a:rPr>
              <a:t>What “done” means, checked by running it</a:t>
            </a:r>
            <a:endParaRPr lang="en-US" sz="1400" dirty="0"/>
          </a:p>
        </p:txBody>
      </p:sp>
      <p:sp>
        <p:nvSpPr>
          <p:cNvPr id="12" name="file chip"/>
          <p:cNvSpPr/>
          <p:nvPr/>
        </p:nvSpPr>
        <p:spPr>
          <a:xfrm>
            <a:off x="548640" y="4251960"/>
            <a:ext cx="2103120" cy="777240"/>
          </a:xfrm>
          <a:prstGeom prst="roundRect">
            <a:avLst>
              <a:gd name="adj" fmla="val 7059"/>
            </a:avLst>
          </a:prstGeom>
          <a:solidFill>
            <a:schemeClr val="tx1"/>
          </a:solidFill>
          <a:ln w="12700">
            <a:solidFill>
              <a:schemeClr val="tx1"/>
            </a:solidFill>
            <a:prstDash val="solid"/>
          </a:ln>
        </p:spPr>
      </p:sp>
      <p:sp>
        <p:nvSpPr>
          <p:cNvPr id="13" name="Text 11"/>
          <p:cNvSpPr txBox="1"/>
          <p:nvPr/>
        </p:nvSpPr>
        <p:spPr>
          <a:xfrm>
            <a:off x="548640" y="4251960"/>
            <a:ext cx="2103120" cy="777240"/>
          </a:xfrm>
          <a:prstGeom prst="rect">
            <a:avLst/>
          </a:prstGeom>
          <a:noFill/>
          <a:ln/>
        </p:spPr>
        <p:txBody>
          <a:bodyPr wrap="square" lIns="0" tIns="0" rIns="0" bIns="0" rtlCol="0" anchor="ctr"/>
          <a:lstStyle/>
          <a:p>
            <a:pPr algn="ctr" indent="0" marL="0">
              <a:buNone/>
            </a:pPr>
            <a:r>
              <a:rPr lang="en-US" sz="1500" b="1" dirty="0">
                <a:solidFill>
                  <a:schemeClr val="bg1"/>
                </a:solidFill>
                <a:latin typeface="Courier New" pitchFamily="34" charset="0"/>
                <a:ea typeface="Courier New" pitchFamily="34" charset="-122"/>
                <a:cs typeface="Courier New" pitchFamily="34" charset="-120"/>
              </a:rPr>
              <a:t>git commits</a:t>
            </a:r>
            <a:endParaRPr lang="en-US" sz="1500" dirty="0"/>
          </a:p>
        </p:txBody>
      </p:sp>
      <p:sp>
        <p:nvSpPr>
          <p:cNvPr id="14" name="Text 12"/>
          <p:cNvSpPr txBox="1"/>
          <p:nvPr/>
        </p:nvSpPr>
        <p:spPr>
          <a:xfrm>
            <a:off x="2834640" y="4251960"/>
            <a:ext cx="3017520" cy="777240"/>
          </a:xfrm>
          <a:prstGeom prst="rect">
            <a:avLst/>
          </a:prstGeom>
          <a:noFill/>
          <a:ln/>
        </p:spPr>
        <p:txBody>
          <a:bodyPr wrap="square" lIns="0" tIns="0" rIns="0" bIns="0" rtlCol="0" anchor="ctr"/>
          <a:lstStyle/>
          <a:p>
            <a:pPr indent="0" marL="0">
              <a:buNone/>
            </a:pPr>
            <a:r>
              <a:rPr lang="en-US" sz="1400" dirty="0">
                <a:solidFill>
                  <a:schemeClr val="tx2"/>
                </a:solidFill>
              </a:rPr>
              <a:t>Checkpoints you can roll back to</a:t>
            </a:r>
            <a:endParaRPr lang="en-US" sz="1400" dirty="0"/>
          </a:p>
        </p:txBody>
      </p:sp>
      <p:sp>
        <p:nvSpPr>
          <p:cNvPr id="15" name="Text 13"/>
          <p:cNvSpPr txBox="1"/>
          <p:nvPr/>
        </p:nvSpPr>
        <p:spPr>
          <a:xfrm>
            <a:off x="548640" y="5303520"/>
            <a:ext cx="5303520" cy="731520"/>
          </a:xfrm>
          <a:prstGeom prst="rect">
            <a:avLst/>
          </a:prstGeom>
          <a:noFill/>
          <a:ln/>
        </p:spPr>
        <p:txBody>
          <a:bodyPr wrap="square" lIns="0" tIns="0" rIns="0" bIns="0" rtlCol="0" anchor="t"/>
          <a:lstStyle/>
          <a:p>
            <a:pPr indent="0" marL="0">
              <a:buNone/>
            </a:pPr>
            <a:r>
              <a:rPr lang="en-US" sz="1300" i="1" dirty="0">
                <a:solidFill>
                  <a:schemeClr val="accent5"/>
                </a:solidFill>
              </a:rPr>
              <a:t>A fresh session can read these and carry on, even after the context window has been cleared or compacted.</a:t>
            </a:r>
            <a:endParaRPr lang="en-US" sz="1300" dirty="0"/>
          </a:p>
        </p:txBody>
      </p:sp>
      <p:sp>
        <p:nvSpPr>
          <p:cNvPr id="16" name="card"/>
          <p:cNvSpPr/>
          <p:nvPr/>
        </p:nvSpPr>
        <p:spPr>
          <a:xfrm>
            <a:off x="6309360" y="1371600"/>
            <a:ext cx="5303520" cy="2194560"/>
          </a:xfrm>
          <a:prstGeom prst="roundRect">
            <a:avLst>
              <a:gd name="adj" fmla="val 3333"/>
            </a:avLst>
          </a:prstGeom>
          <a:solidFill>
            <a:schemeClr val="bg1"/>
          </a:solidFill>
          <a:ln w="9525">
            <a:solidFill>
              <a:schemeClr val="accent2"/>
            </a:solidFill>
            <a:prstDash val="solid"/>
          </a:ln>
        </p:spPr>
      </p:sp>
      <p:sp>
        <p:nvSpPr>
          <p:cNvPr id="17" name="icon circle"/>
          <p:cNvSpPr/>
          <p:nvPr/>
        </p:nvSpPr>
        <p:spPr>
          <a:xfrm>
            <a:off x="6537960" y="1600200"/>
            <a:ext cx="548640" cy="548640"/>
          </a:xfrm>
          <a:prstGeom prst="ellipse">
            <a:avLst/>
          </a:prstGeom>
          <a:solidFill>
            <a:schemeClr val="accent2"/>
          </a:solidFill>
          <a:ln w="12700">
            <a:solidFill>
              <a:schemeClr val="accent2"/>
            </a:solidFill>
            <a:prstDash val="solid"/>
          </a:ln>
        </p:spPr>
      </p:sp>
      <p:pic>
        <p:nvPicPr>
          <p:cNvPr id="18" name="Image 0" descr="Check icon">    </p:cNvPr>
          <p:cNvPicPr>
            <a:picLocks noChangeAspect="1"/>
          </p:cNvPicPr>
          <p:nvPr/>
        </p:nvPicPr>
        <p:blipFill>
          <a:blip r:embed="rId1"/>
          <a:stretch>
            <a:fillRect/>
          </a:stretch>
        </p:blipFill>
        <p:spPr>
          <a:xfrm>
            <a:off x="6675120" y="1737360"/>
            <a:ext cx="274320" cy="274320"/>
          </a:xfrm>
          <a:prstGeom prst="rect">
            <a:avLst/>
          </a:prstGeom>
        </p:spPr>
      </p:pic>
      <p:sp>
        <p:nvSpPr>
          <p:cNvPr id="19" name="Text 16"/>
          <p:cNvSpPr txBox="1"/>
          <p:nvPr/>
        </p:nvSpPr>
        <p:spPr>
          <a:xfrm>
            <a:off x="7269480" y="1645920"/>
            <a:ext cx="4114800" cy="411480"/>
          </a:xfrm>
          <a:prstGeom prst="rect">
            <a:avLst/>
          </a:prstGeom>
          <a:noFill/>
          <a:ln/>
        </p:spPr>
        <p:txBody>
          <a:bodyPr wrap="square" lIns="0" tIns="0" rIns="0" bIns="0" rtlCol="0" anchor="ctr"/>
          <a:lstStyle/>
          <a:p>
            <a:pPr indent="0" marL="0">
              <a:buNone/>
            </a:pPr>
            <a:r>
              <a:rPr lang="en-US" sz="1600" b="1" dirty="0">
                <a:solidFill>
                  <a:schemeClr val="tx1"/>
                </a:solidFill>
              </a:rPr>
              <a:t>Let Claude do freely</a:t>
            </a:r>
            <a:endParaRPr lang="en-US" sz="1600" dirty="0"/>
          </a:p>
        </p:txBody>
      </p:sp>
      <p:sp>
        <p:nvSpPr>
          <p:cNvPr id="20" name="Text 17"/>
          <p:cNvSpPr txBox="1"/>
          <p:nvPr/>
        </p:nvSpPr>
        <p:spPr>
          <a:xfrm>
            <a:off x="6583680" y="2286000"/>
            <a:ext cx="484632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Read files, search, run tests</a:t>
            </a:r>
            <a:endParaRPr lang="en-US" sz="1400" dirty="0"/>
          </a:p>
          <a:p>
            <a:pPr marL="342900" indent="-342900">
              <a:spcAft>
                <a:spcPts val="600"/>
              </a:spcAft>
              <a:buSzPct val="100000"/>
              <a:buChar char="•"/>
            </a:pPr>
            <a:r>
              <a:rPr lang="en-US" sz="1400" dirty="0">
                <a:solidFill>
                  <a:schemeClr val="tx2"/>
                </a:solidFill>
              </a:rPr>
              <a:t>Edit local files under git</a:t>
            </a:r>
            <a:endParaRPr lang="en-US" sz="1400" dirty="0"/>
          </a:p>
          <a:p>
            <a:pPr marL="342900" indent="-342900">
              <a:spcAft>
                <a:spcPts val="600"/>
              </a:spcAft>
              <a:buSzPct val="100000"/>
              <a:buChar char="•"/>
            </a:pPr>
            <a:r>
              <a:rPr lang="en-US" sz="1400" dirty="0">
                <a:solidFill>
                  <a:schemeClr val="tx2"/>
                </a:solidFill>
              </a:rPr>
              <a:t>Draft documents and messages</a:t>
            </a:r>
            <a:endParaRPr lang="en-US" sz="1400" dirty="0"/>
          </a:p>
        </p:txBody>
      </p:sp>
      <p:sp>
        <p:nvSpPr>
          <p:cNvPr id="21" name="card"/>
          <p:cNvSpPr/>
          <p:nvPr/>
        </p:nvSpPr>
        <p:spPr>
          <a:xfrm>
            <a:off x="6309360" y="3840480"/>
            <a:ext cx="5303520" cy="2194560"/>
          </a:xfrm>
          <a:prstGeom prst="roundRect">
            <a:avLst>
              <a:gd name="adj" fmla="val 3333"/>
            </a:avLst>
          </a:prstGeom>
          <a:solidFill>
            <a:schemeClr val="bg1"/>
          </a:solidFill>
          <a:ln w="9525">
            <a:solidFill>
              <a:schemeClr val="accent1"/>
            </a:solidFill>
            <a:prstDash val="solid"/>
          </a:ln>
        </p:spPr>
      </p:sp>
      <p:sp>
        <p:nvSpPr>
          <p:cNvPr id="22" name="icon circle"/>
          <p:cNvSpPr/>
          <p:nvPr/>
        </p:nvSpPr>
        <p:spPr>
          <a:xfrm>
            <a:off x="6537960" y="4069080"/>
            <a:ext cx="548640" cy="548640"/>
          </a:xfrm>
          <a:prstGeom prst="ellipse">
            <a:avLst/>
          </a:prstGeom>
          <a:solidFill>
            <a:schemeClr val="accent1"/>
          </a:solidFill>
          <a:ln w="12700">
            <a:solidFill>
              <a:schemeClr val="accent1"/>
            </a:solidFill>
            <a:prstDash val="solid"/>
          </a:ln>
        </p:spPr>
      </p:sp>
      <p:pic>
        <p:nvPicPr>
          <p:cNvPr id="23" name="Image 1" descr="Hand icon">    </p:cNvPr>
          <p:cNvPicPr>
            <a:picLocks noChangeAspect="1"/>
          </p:cNvPicPr>
          <p:nvPr/>
        </p:nvPicPr>
        <p:blipFill>
          <a:blip r:embed="rId2"/>
          <a:stretch>
            <a:fillRect/>
          </a:stretch>
        </p:blipFill>
        <p:spPr>
          <a:xfrm>
            <a:off x="6675120" y="4206240"/>
            <a:ext cx="274320" cy="274320"/>
          </a:xfrm>
          <a:prstGeom prst="rect">
            <a:avLst/>
          </a:prstGeom>
        </p:spPr>
      </p:pic>
      <p:sp>
        <p:nvSpPr>
          <p:cNvPr id="24" name="Text 20"/>
          <p:cNvSpPr txBox="1"/>
          <p:nvPr/>
        </p:nvSpPr>
        <p:spPr>
          <a:xfrm>
            <a:off x="7269480" y="4114800"/>
            <a:ext cx="4114800" cy="411480"/>
          </a:xfrm>
          <a:prstGeom prst="rect">
            <a:avLst/>
          </a:prstGeom>
          <a:noFill/>
          <a:ln/>
        </p:spPr>
        <p:txBody>
          <a:bodyPr wrap="square" lIns="0" tIns="0" rIns="0" bIns="0" rtlCol="0" anchor="ctr"/>
          <a:lstStyle/>
          <a:p>
            <a:pPr indent="0" marL="0">
              <a:buNone/>
            </a:pPr>
            <a:r>
              <a:rPr lang="en-US" sz="1600" b="1" dirty="0">
                <a:solidFill>
                  <a:schemeClr val="tx1"/>
                </a:solidFill>
              </a:rPr>
              <a:t>Ask before</a:t>
            </a:r>
            <a:endParaRPr lang="en-US" sz="1600" dirty="0"/>
          </a:p>
        </p:txBody>
      </p:sp>
      <p:sp>
        <p:nvSpPr>
          <p:cNvPr id="25" name="Text 21"/>
          <p:cNvSpPr txBox="1"/>
          <p:nvPr/>
        </p:nvSpPr>
        <p:spPr>
          <a:xfrm>
            <a:off x="6583680" y="4754880"/>
            <a:ext cx="484632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Deleting, force-pushing, rm -rf</a:t>
            </a:r>
            <a:endParaRPr lang="en-US" sz="1400" dirty="0"/>
          </a:p>
          <a:p>
            <a:pPr marL="342900" indent="-342900">
              <a:spcAft>
                <a:spcPts val="600"/>
              </a:spcAft>
              <a:buSzPct val="100000"/>
              <a:buChar char="•"/>
            </a:pPr>
            <a:r>
              <a:rPr lang="en-US" sz="1400" dirty="0">
                <a:solidFill>
                  <a:schemeClr val="tx2"/>
                </a:solidFill>
              </a:rPr>
              <a:t>Sending, posting, paying, emailing</a:t>
            </a:r>
            <a:endParaRPr lang="en-US" sz="1400" dirty="0"/>
          </a:p>
          <a:p>
            <a:pPr marL="342900" indent="-342900">
              <a:spcAft>
                <a:spcPts val="600"/>
              </a:spcAft>
              <a:buSzPct val="100000"/>
              <a:buChar char="•"/>
            </a:pPr>
            <a:r>
              <a:rPr lang="en-US" sz="1400" dirty="0">
                <a:solidFill>
                  <a:schemeClr val="tx2"/>
                </a:solidFill>
              </a:rPr>
              <a:t>Anything that touches shared systems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Worked example: a weekly competitor brief that runs itself</a:t>
            </a:r>
            <a:endParaRPr lang="en-US" sz="3200" dirty="0"/>
          </a:p>
        </p:txBody>
      </p:sp>
      <p:sp>
        <p:nvSpPr>
          <p:cNvPr id="3" name="step"/>
          <p:cNvSpPr/>
          <p:nvPr/>
        </p:nvSpPr>
        <p:spPr>
          <a:xfrm>
            <a:off x="1234440" y="1463040"/>
            <a:ext cx="640080" cy="640080"/>
          </a:xfrm>
          <a:prstGeom prst="ellipse">
            <a:avLst/>
          </a:prstGeom>
          <a:solidFill>
            <a:schemeClr val="accent1"/>
          </a:solidFill>
          <a:ln w="12700">
            <a:solidFill>
              <a:schemeClr val="accent1"/>
            </a:solidFill>
            <a:prstDash val="solid"/>
          </a:ln>
        </p:spPr>
      </p:sp>
      <p:sp>
        <p:nvSpPr>
          <p:cNvPr id="4" name="Text 2"/>
          <p:cNvSpPr txBox="1"/>
          <p:nvPr/>
        </p:nvSpPr>
        <p:spPr>
          <a:xfrm>
            <a:off x="1234440" y="146304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arrow"/>
          <p:cNvSpPr/>
          <p:nvPr/>
        </p:nvSpPr>
        <p:spPr>
          <a:xfrm>
            <a:off x="1920240" y="1783080"/>
            <a:ext cx="1508760" cy="0"/>
          </a:xfrm>
          <a:prstGeom prst="line">
            <a:avLst/>
          </a:prstGeom>
          <a:noFill/>
          <a:ln w="19050">
            <a:solidFill>
              <a:schemeClr val="accent5"/>
            </a:solidFill>
            <a:prstDash val="solid"/>
            <a:tailEnd type="triangle"/>
          </a:ln>
        </p:spPr>
      </p:sp>
      <p:sp>
        <p:nvSpPr>
          <p:cNvPr id="6" name="Text 4"/>
          <p:cNvSpPr txBox="1"/>
          <p:nvPr/>
        </p:nvSpPr>
        <p:spPr>
          <a:xfrm>
            <a:off x="594360" y="2286000"/>
            <a:ext cx="1920240" cy="365760"/>
          </a:xfrm>
          <a:prstGeom prst="rect">
            <a:avLst/>
          </a:prstGeom>
          <a:noFill/>
          <a:ln/>
        </p:spPr>
        <p:txBody>
          <a:bodyPr wrap="square" lIns="0" tIns="0" rIns="0" bIns="0" rtlCol="0" anchor="t"/>
          <a:lstStyle/>
          <a:p>
            <a:pPr algn="ctr" indent="0" marL="0">
              <a:buNone/>
            </a:pPr>
            <a:r>
              <a:rPr lang="en-US" sz="1600" b="1" dirty="0">
                <a:solidFill>
                  <a:schemeClr val="tx1"/>
                </a:solidFill>
              </a:rPr>
              <a:t>Skill</a:t>
            </a:r>
            <a:endParaRPr lang="en-US" sz="1600" dirty="0"/>
          </a:p>
        </p:txBody>
      </p:sp>
      <p:sp>
        <p:nvSpPr>
          <p:cNvPr id="7" name="Text 5"/>
          <p:cNvSpPr txBox="1"/>
          <p:nvPr/>
        </p:nvSpPr>
        <p:spPr>
          <a:xfrm>
            <a:off x="640080" y="2697480"/>
            <a:ext cx="1828800" cy="914400"/>
          </a:xfrm>
          <a:prstGeom prst="rect">
            <a:avLst/>
          </a:prstGeom>
          <a:noFill/>
          <a:ln/>
        </p:spPr>
        <p:txBody>
          <a:bodyPr wrap="square" lIns="0" tIns="0" rIns="0" bIns="0" rtlCol="0" anchor="t"/>
          <a:lstStyle/>
          <a:p>
            <a:pPr algn="ctr" indent="0" marL="0">
              <a:buNone/>
            </a:pPr>
            <a:r>
              <a:rPr lang="en-US" sz="1300" dirty="0">
                <a:solidFill>
                  <a:schemeClr val="tx2"/>
                </a:solidFill>
              </a:rPr>
              <a:t>competitor-brief/SKILL.md: sources, format, tone</a:t>
            </a:r>
            <a:endParaRPr lang="en-US" sz="1300" dirty="0"/>
          </a:p>
        </p:txBody>
      </p:sp>
      <p:sp>
        <p:nvSpPr>
          <p:cNvPr id="8" name="step"/>
          <p:cNvSpPr/>
          <p:nvPr/>
        </p:nvSpPr>
        <p:spPr>
          <a:xfrm>
            <a:off x="3483864" y="1463040"/>
            <a:ext cx="640080" cy="640080"/>
          </a:xfrm>
          <a:prstGeom prst="ellipse">
            <a:avLst/>
          </a:prstGeom>
          <a:solidFill>
            <a:schemeClr val="accent3"/>
          </a:solidFill>
          <a:ln w="12700">
            <a:solidFill>
              <a:schemeClr val="accent3"/>
            </a:solidFill>
            <a:prstDash val="solid"/>
          </a:ln>
        </p:spPr>
      </p:sp>
      <p:sp>
        <p:nvSpPr>
          <p:cNvPr id="9" name="Text 7"/>
          <p:cNvSpPr txBox="1"/>
          <p:nvPr/>
        </p:nvSpPr>
        <p:spPr>
          <a:xfrm>
            <a:off x="3483864" y="146304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arrow"/>
          <p:cNvSpPr/>
          <p:nvPr/>
        </p:nvSpPr>
        <p:spPr>
          <a:xfrm>
            <a:off x="4169664" y="1783080"/>
            <a:ext cx="1508760" cy="0"/>
          </a:xfrm>
          <a:prstGeom prst="line">
            <a:avLst/>
          </a:prstGeom>
          <a:noFill/>
          <a:ln w="19050">
            <a:solidFill>
              <a:schemeClr val="accent5"/>
            </a:solidFill>
            <a:prstDash val="solid"/>
            <a:tailEnd type="triangle"/>
          </a:ln>
        </p:spPr>
      </p:sp>
      <p:sp>
        <p:nvSpPr>
          <p:cNvPr id="11" name="Text 9"/>
          <p:cNvSpPr txBox="1"/>
          <p:nvPr/>
        </p:nvSpPr>
        <p:spPr>
          <a:xfrm>
            <a:off x="2843784" y="2286000"/>
            <a:ext cx="1920240" cy="365760"/>
          </a:xfrm>
          <a:prstGeom prst="rect">
            <a:avLst/>
          </a:prstGeom>
          <a:noFill/>
          <a:ln/>
        </p:spPr>
        <p:txBody>
          <a:bodyPr wrap="square" lIns="0" tIns="0" rIns="0" bIns="0" rtlCol="0" anchor="t"/>
          <a:lstStyle/>
          <a:p>
            <a:pPr algn="ctr" indent="0" marL="0">
              <a:buNone/>
            </a:pPr>
            <a:r>
              <a:rPr lang="en-US" sz="1600" b="1" dirty="0">
                <a:solidFill>
                  <a:schemeClr val="tx1"/>
                </a:solidFill>
              </a:rPr>
              <a:t>Plan</a:t>
            </a:r>
            <a:endParaRPr lang="en-US" sz="1600" dirty="0"/>
          </a:p>
        </p:txBody>
      </p:sp>
      <p:sp>
        <p:nvSpPr>
          <p:cNvPr id="12" name="Text 10"/>
          <p:cNvSpPr txBox="1"/>
          <p:nvPr/>
        </p:nvSpPr>
        <p:spPr>
          <a:xfrm>
            <a:off x="2889504" y="2697480"/>
            <a:ext cx="1828800" cy="914400"/>
          </a:xfrm>
          <a:prstGeom prst="rect">
            <a:avLst/>
          </a:prstGeom>
          <a:noFill/>
          <a:ln/>
        </p:spPr>
        <p:txBody>
          <a:bodyPr wrap="square" lIns="0" tIns="0" rIns="0" bIns="0" rtlCol="0" anchor="t"/>
          <a:lstStyle/>
          <a:p>
            <a:pPr algn="ctr" indent="0" marL="0">
              <a:buNone/>
            </a:pPr>
            <a:r>
              <a:rPr lang="en-US" sz="1300" dirty="0">
                <a:solidFill>
                  <a:schemeClr val="tx2"/>
                </a:solidFill>
              </a:rPr>
              <a:t>Lead agent picks 5 competitors to cover this week</a:t>
            </a:r>
            <a:endParaRPr lang="en-US" sz="1300" dirty="0"/>
          </a:p>
        </p:txBody>
      </p:sp>
      <p:sp>
        <p:nvSpPr>
          <p:cNvPr id="13" name="step"/>
          <p:cNvSpPr/>
          <p:nvPr/>
        </p:nvSpPr>
        <p:spPr>
          <a:xfrm>
            <a:off x="5733288" y="1463040"/>
            <a:ext cx="640080" cy="640080"/>
          </a:xfrm>
          <a:prstGeom prst="ellipse">
            <a:avLst/>
          </a:prstGeom>
          <a:solidFill>
            <a:schemeClr val="accent2"/>
          </a:solidFill>
          <a:ln w="12700">
            <a:solidFill>
              <a:schemeClr val="accent2"/>
            </a:solidFill>
            <a:prstDash val="solid"/>
          </a:ln>
        </p:spPr>
      </p:sp>
      <p:sp>
        <p:nvSpPr>
          <p:cNvPr id="14" name="Text 12"/>
          <p:cNvSpPr txBox="1"/>
          <p:nvPr/>
        </p:nvSpPr>
        <p:spPr>
          <a:xfrm>
            <a:off x="5733288" y="146304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arrow"/>
          <p:cNvSpPr/>
          <p:nvPr/>
        </p:nvSpPr>
        <p:spPr>
          <a:xfrm>
            <a:off x="6419088" y="1783080"/>
            <a:ext cx="1508760" cy="0"/>
          </a:xfrm>
          <a:prstGeom prst="line">
            <a:avLst/>
          </a:prstGeom>
          <a:noFill/>
          <a:ln w="19050">
            <a:solidFill>
              <a:schemeClr val="accent5"/>
            </a:solidFill>
            <a:prstDash val="solid"/>
            <a:tailEnd type="triangle"/>
          </a:ln>
        </p:spPr>
      </p:sp>
      <p:sp>
        <p:nvSpPr>
          <p:cNvPr id="16" name="Text 14"/>
          <p:cNvSpPr txBox="1"/>
          <p:nvPr/>
        </p:nvSpPr>
        <p:spPr>
          <a:xfrm>
            <a:off x="5093208" y="2286000"/>
            <a:ext cx="1920240" cy="365760"/>
          </a:xfrm>
          <a:prstGeom prst="rect">
            <a:avLst/>
          </a:prstGeom>
          <a:noFill/>
          <a:ln/>
        </p:spPr>
        <p:txBody>
          <a:bodyPr wrap="square" lIns="0" tIns="0" rIns="0" bIns="0" rtlCol="0" anchor="t"/>
          <a:lstStyle/>
          <a:p>
            <a:pPr algn="ctr" indent="0" marL="0">
              <a:buNone/>
            </a:pPr>
            <a:r>
              <a:rPr lang="en-US" sz="1600" b="1" dirty="0">
                <a:solidFill>
                  <a:schemeClr val="tx1"/>
                </a:solidFill>
              </a:rPr>
              <a:t>Parallel subagents</a:t>
            </a:r>
            <a:endParaRPr lang="en-US" sz="1600" dirty="0"/>
          </a:p>
        </p:txBody>
      </p:sp>
      <p:sp>
        <p:nvSpPr>
          <p:cNvPr id="17" name="Text 15"/>
          <p:cNvSpPr txBox="1"/>
          <p:nvPr/>
        </p:nvSpPr>
        <p:spPr>
          <a:xfrm>
            <a:off x="5138928" y="2697480"/>
            <a:ext cx="1828800" cy="914400"/>
          </a:xfrm>
          <a:prstGeom prst="rect">
            <a:avLst/>
          </a:prstGeom>
          <a:noFill/>
          <a:ln/>
        </p:spPr>
        <p:txBody>
          <a:bodyPr wrap="square" lIns="0" tIns="0" rIns="0" bIns="0" rtlCol="0" anchor="t"/>
          <a:lstStyle/>
          <a:p>
            <a:pPr algn="ctr" indent="0" marL="0">
              <a:buNone/>
            </a:pPr>
            <a:r>
              <a:rPr lang="en-US" sz="1300" dirty="0">
                <a:solidFill>
                  <a:schemeClr val="tx2"/>
                </a:solidFill>
              </a:rPr>
              <a:t>One per competitor: news, pricing, releases</a:t>
            </a:r>
            <a:endParaRPr lang="en-US" sz="1300" dirty="0"/>
          </a:p>
        </p:txBody>
      </p:sp>
      <p:sp>
        <p:nvSpPr>
          <p:cNvPr id="18" name="step"/>
          <p:cNvSpPr/>
          <p:nvPr/>
        </p:nvSpPr>
        <p:spPr>
          <a:xfrm>
            <a:off x="7982712" y="1463040"/>
            <a:ext cx="640080" cy="640080"/>
          </a:xfrm>
          <a:prstGeom prst="ellipse">
            <a:avLst/>
          </a:prstGeom>
          <a:solidFill>
            <a:schemeClr val="accent4"/>
          </a:solidFill>
          <a:ln w="12700">
            <a:solidFill>
              <a:schemeClr val="accent4"/>
            </a:solidFill>
            <a:prstDash val="solid"/>
          </a:ln>
        </p:spPr>
      </p:sp>
      <p:sp>
        <p:nvSpPr>
          <p:cNvPr id="19" name="Text 17"/>
          <p:cNvSpPr txBox="1"/>
          <p:nvPr/>
        </p:nvSpPr>
        <p:spPr>
          <a:xfrm>
            <a:off x="7982712" y="146304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20" name="arrow"/>
          <p:cNvSpPr/>
          <p:nvPr/>
        </p:nvSpPr>
        <p:spPr>
          <a:xfrm>
            <a:off x="8668512" y="1783080"/>
            <a:ext cx="1508760" cy="0"/>
          </a:xfrm>
          <a:prstGeom prst="line">
            <a:avLst/>
          </a:prstGeom>
          <a:noFill/>
          <a:ln w="19050">
            <a:solidFill>
              <a:schemeClr val="accent5"/>
            </a:solidFill>
            <a:prstDash val="solid"/>
            <a:tailEnd type="triangle"/>
          </a:ln>
        </p:spPr>
      </p:sp>
      <p:sp>
        <p:nvSpPr>
          <p:cNvPr id="21" name="Text 19"/>
          <p:cNvSpPr txBox="1"/>
          <p:nvPr/>
        </p:nvSpPr>
        <p:spPr>
          <a:xfrm>
            <a:off x="7342632" y="2286000"/>
            <a:ext cx="1920240" cy="365760"/>
          </a:xfrm>
          <a:prstGeom prst="rect">
            <a:avLst/>
          </a:prstGeom>
          <a:noFill/>
          <a:ln/>
        </p:spPr>
        <p:txBody>
          <a:bodyPr wrap="square" lIns="0" tIns="0" rIns="0" bIns="0" rtlCol="0" anchor="t"/>
          <a:lstStyle/>
          <a:p>
            <a:pPr algn="ctr" indent="0" marL="0">
              <a:buNone/>
            </a:pPr>
            <a:r>
              <a:rPr lang="en-US" sz="1600" b="1" dirty="0">
                <a:solidFill>
                  <a:schemeClr val="tx1"/>
                </a:solidFill>
              </a:rPr>
              <a:t>Evaluator</a:t>
            </a:r>
            <a:endParaRPr lang="en-US" sz="1600" dirty="0"/>
          </a:p>
        </p:txBody>
      </p:sp>
      <p:sp>
        <p:nvSpPr>
          <p:cNvPr id="22" name="Text 20"/>
          <p:cNvSpPr txBox="1"/>
          <p:nvPr/>
        </p:nvSpPr>
        <p:spPr>
          <a:xfrm>
            <a:off x="7388352" y="2697480"/>
            <a:ext cx="1828800" cy="914400"/>
          </a:xfrm>
          <a:prstGeom prst="rect">
            <a:avLst/>
          </a:prstGeom>
          <a:noFill/>
          <a:ln/>
        </p:spPr>
        <p:txBody>
          <a:bodyPr wrap="square" lIns="0" tIns="0" rIns="0" bIns="0" rtlCol="0" anchor="t"/>
          <a:lstStyle/>
          <a:p>
            <a:pPr algn="ctr" indent="0" marL="0">
              <a:buNone/>
            </a:pPr>
            <a:r>
              <a:rPr lang="en-US" sz="1300" dirty="0">
                <a:solidFill>
                  <a:schemeClr val="tx2"/>
                </a:solidFill>
              </a:rPr>
              <a:t>Checks every claim has a source; sends gaps back</a:t>
            </a:r>
            <a:endParaRPr lang="en-US" sz="1300" dirty="0"/>
          </a:p>
        </p:txBody>
      </p:sp>
      <p:sp>
        <p:nvSpPr>
          <p:cNvPr id="23" name="step"/>
          <p:cNvSpPr/>
          <p:nvPr/>
        </p:nvSpPr>
        <p:spPr>
          <a:xfrm>
            <a:off x="10232136" y="1463040"/>
            <a:ext cx="640080" cy="640080"/>
          </a:xfrm>
          <a:prstGeom prst="ellipse">
            <a:avLst/>
          </a:prstGeom>
          <a:solidFill>
            <a:schemeClr val="tx1"/>
          </a:solidFill>
          <a:ln w="12700">
            <a:solidFill>
              <a:schemeClr val="tx1"/>
            </a:solidFill>
            <a:prstDash val="solid"/>
          </a:ln>
        </p:spPr>
      </p:sp>
      <p:sp>
        <p:nvSpPr>
          <p:cNvPr id="24" name="Text 22"/>
          <p:cNvSpPr txBox="1"/>
          <p:nvPr/>
        </p:nvSpPr>
        <p:spPr>
          <a:xfrm>
            <a:off x="10232136" y="146304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5" name="Text 23"/>
          <p:cNvSpPr txBox="1"/>
          <p:nvPr/>
        </p:nvSpPr>
        <p:spPr>
          <a:xfrm>
            <a:off x="9592056" y="2286000"/>
            <a:ext cx="1920240" cy="365760"/>
          </a:xfrm>
          <a:prstGeom prst="rect">
            <a:avLst/>
          </a:prstGeom>
          <a:noFill/>
          <a:ln/>
        </p:spPr>
        <p:txBody>
          <a:bodyPr wrap="square" lIns="0" tIns="0" rIns="0" bIns="0" rtlCol="0" anchor="t"/>
          <a:lstStyle/>
          <a:p>
            <a:pPr algn="ctr" indent="0" marL="0">
              <a:buNone/>
            </a:pPr>
            <a:r>
              <a:rPr lang="en-US" sz="1600" b="1" dirty="0">
                <a:solidFill>
                  <a:schemeClr val="tx1"/>
                </a:solidFill>
              </a:rPr>
              <a:t>Deliver</a:t>
            </a:r>
            <a:endParaRPr lang="en-US" sz="1600" dirty="0"/>
          </a:p>
        </p:txBody>
      </p:sp>
      <p:sp>
        <p:nvSpPr>
          <p:cNvPr id="26" name="Text 24"/>
          <p:cNvSpPr txBox="1"/>
          <p:nvPr/>
        </p:nvSpPr>
        <p:spPr>
          <a:xfrm>
            <a:off x="9637776" y="2697480"/>
            <a:ext cx="1828800" cy="914400"/>
          </a:xfrm>
          <a:prstGeom prst="rect">
            <a:avLst/>
          </a:prstGeom>
          <a:noFill/>
          <a:ln/>
        </p:spPr>
        <p:txBody>
          <a:bodyPr wrap="square" lIns="0" tIns="0" rIns="0" bIns="0" rtlCol="0" anchor="t"/>
          <a:lstStyle/>
          <a:p>
            <a:pPr algn="ctr" indent="0" marL="0">
              <a:buNone/>
            </a:pPr>
            <a:r>
              <a:rPr lang="en-US" sz="1300" dirty="0">
                <a:solidFill>
                  <a:schemeClr val="tx2"/>
                </a:solidFill>
              </a:rPr>
              <a:t>Doc saved, summary posted to Slack via MCP</a:t>
            </a:r>
            <a:endParaRPr lang="en-US" sz="1300" dirty="0"/>
          </a:p>
        </p:txBody>
      </p:sp>
      <p:sp>
        <p:nvSpPr>
          <p:cNvPr id="27" name="Text 25"/>
          <p:cNvSpPr txBox="1"/>
          <p:nvPr/>
        </p:nvSpPr>
        <p:spPr>
          <a:xfrm>
            <a:off x="548640" y="3931920"/>
            <a:ext cx="3657600" cy="320040"/>
          </a:xfrm>
          <a:prstGeom prst="rect">
            <a:avLst/>
          </a:prstGeom>
          <a:noFill/>
          <a:ln/>
        </p:spPr>
        <p:txBody>
          <a:bodyPr wrap="square" lIns="0" tIns="0" rIns="0" bIns="0" rtlCol="0" anchor="t"/>
          <a:lstStyle/>
          <a:p>
            <a:pPr indent="0" marL="0">
              <a:buNone/>
            </a:pPr>
            <a:r>
              <a:rPr lang="en-US" sz="1600" b="1" dirty="0">
                <a:solidFill>
                  <a:schemeClr val="tx1"/>
                </a:solidFill>
              </a:rPr>
              <a:t>Patterns used</a:t>
            </a:r>
            <a:endParaRPr lang="en-US" sz="1600" dirty="0"/>
          </a:p>
        </p:txBody>
      </p:sp>
      <p:sp>
        <p:nvSpPr>
          <p:cNvPr id="28" name="token chip"/>
          <p:cNvSpPr/>
          <p:nvPr/>
        </p:nvSpPr>
        <p:spPr>
          <a:xfrm>
            <a:off x="548640" y="4389120"/>
            <a:ext cx="681228" cy="411480"/>
          </a:xfrm>
          <a:prstGeom prst="roundRect">
            <a:avLst>
              <a:gd name="adj" fmla="val 13333"/>
            </a:avLst>
          </a:prstGeom>
          <a:solidFill>
            <a:schemeClr val="accent1"/>
          </a:solidFill>
          <a:ln w="12700">
            <a:solidFill>
              <a:schemeClr val="accent1"/>
            </a:solidFill>
            <a:prstDash val="solid"/>
          </a:ln>
        </p:spPr>
      </p:sp>
      <p:sp>
        <p:nvSpPr>
          <p:cNvPr id="29" name="Text 27"/>
          <p:cNvSpPr txBox="1"/>
          <p:nvPr/>
        </p:nvSpPr>
        <p:spPr>
          <a:xfrm>
            <a:off x="548640" y="4389120"/>
            <a:ext cx="681228" cy="411480"/>
          </a:xfrm>
          <a:prstGeom prst="rect">
            <a:avLst/>
          </a:prstGeom>
          <a:noFill/>
          <a:ln/>
        </p:spPr>
        <p:txBody>
          <a:bodyPr wrap="square" lIns="0" tIns="0" rIns="0" bIns="0" rtlCol="0" anchor="ctr"/>
          <a:lstStyle/>
          <a:p>
            <a:pPr algn="ctr" indent="0" marL="0">
              <a:buNone/>
            </a:pPr>
            <a:r>
              <a:rPr lang="en-US" sz="1400" dirty="0">
                <a:solidFill>
                  <a:schemeClr val="bg1"/>
                </a:solidFill>
              </a:rPr>
              <a:t>skill</a:t>
            </a:r>
            <a:endParaRPr lang="en-US" sz="1400" dirty="0"/>
          </a:p>
        </p:txBody>
      </p:sp>
      <p:sp>
        <p:nvSpPr>
          <p:cNvPr id="30" name="token chip"/>
          <p:cNvSpPr/>
          <p:nvPr/>
        </p:nvSpPr>
        <p:spPr>
          <a:xfrm>
            <a:off x="1303020" y="4389120"/>
            <a:ext cx="2121408" cy="411480"/>
          </a:xfrm>
          <a:prstGeom prst="roundRect">
            <a:avLst>
              <a:gd name="adj" fmla="val 13333"/>
            </a:avLst>
          </a:prstGeom>
          <a:solidFill>
            <a:schemeClr val="accent2"/>
          </a:solidFill>
          <a:ln w="12700">
            <a:solidFill>
              <a:schemeClr val="accent2"/>
            </a:solidFill>
            <a:prstDash val="solid"/>
          </a:ln>
        </p:spPr>
      </p:sp>
      <p:sp>
        <p:nvSpPr>
          <p:cNvPr id="31" name="Text 29"/>
          <p:cNvSpPr txBox="1"/>
          <p:nvPr/>
        </p:nvSpPr>
        <p:spPr>
          <a:xfrm>
            <a:off x="1303020" y="4389120"/>
            <a:ext cx="2121408" cy="411480"/>
          </a:xfrm>
          <a:prstGeom prst="rect">
            <a:avLst/>
          </a:prstGeom>
          <a:noFill/>
          <a:ln/>
        </p:spPr>
        <p:txBody>
          <a:bodyPr wrap="square" lIns="0" tIns="0" rIns="0" bIns="0" rtlCol="0" anchor="ctr"/>
          <a:lstStyle/>
          <a:p>
            <a:pPr algn="ctr" indent="0" marL="0">
              <a:buNone/>
            </a:pPr>
            <a:r>
              <a:rPr lang="en-US" sz="1400" dirty="0">
                <a:solidFill>
                  <a:schemeClr val="bg1"/>
                </a:solidFill>
              </a:rPr>
              <a:t>orchestrator–workers</a:t>
            </a:r>
            <a:endParaRPr lang="en-US" sz="1400" dirty="0"/>
          </a:p>
        </p:txBody>
      </p:sp>
      <p:sp>
        <p:nvSpPr>
          <p:cNvPr id="32" name="token chip"/>
          <p:cNvSpPr/>
          <p:nvPr/>
        </p:nvSpPr>
        <p:spPr>
          <a:xfrm>
            <a:off x="3497580" y="4389120"/>
            <a:ext cx="1641348" cy="411480"/>
          </a:xfrm>
          <a:prstGeom prst="roundRect">
            <a:avLst>
              <a:gd name="adj" fmla="val 13333"/>
            </a:avLst>
          </a:prstGeom>
          <a:solidFill>
            <a:schemeClr val="accent3"/>
          </a:solidFill>
          <a:ln w="12700">
            <a:solidFill>
              <a:schemeClr val="accent3"/>
            </a:solidFill>
            <a:prstDash val="solid"/>
          </a:ln>
        </p:spPr>
      </p:sp>
      <p:sp>
        <p:nvSpPr>
          <p:cNvPr id="33" name="Text 31"/>
          <p:cNvSpPr txBox="1"/>
          <p:nvPr/>
        </p:nvSpPr>
        <p:spPr>
          <a:xfrm>
            <a:off x="3497580" y="4389120"/>
            <a:ext cx="1641348" cy="411480"/>
          </a:xfrm>
          <a:prstGeom prst="rect">
            <a:avLst/>
          </a:prstGeom>
          <a:noFill/>
          <a:ln/>
        </p:spPr>
        <p:txBody>
          <a:bodyPr wrap="square" lIns="0" tIns="0" rIns="0" bIns="0" rtlCol="0" anchor="ctr"/>
          <a:lstStyle/>
          <a:p>
            <a:pPr algn="ctr" indent="0" marL="0">
              <a:buNone/>
            </a:pPr>
            <a:r>
              <a:rPr lang="en-US" sz="1400" dirty="0">
                <a:solidFill>
                  <a:schemeClr val="bg1"/>
                </a:solidFill>
              </a:rPr>
              <a:t>parallelization</a:t>
            </a:r>
            <a:endParaRPr lang="en-US" sz="1400" dirty="0"/>
          </a:p>
        </p:txBody>
      </p:sp>
      <p:sp>
        <p:nvSpPr>
          <p:cNvPr id="34" name="token chip"/>
          <p:cNvSpPr/>
          <p:nvPr/>
        </p:nvSpPr>
        <p:spPr>
          <a:xfrm>
            <a:off x="5212080" y="4389120"/>
            <a:ext cx="2025396" cy="411480"/>
          </a:xfrm>
          <a:prstGeom prst="roundRect">
            <a:avLst>
              <a:gd name="adj" fmla="val 13333"/>
            </a:avLst>
          </a:prstGeom>
          <a:solidFill>
            <a:schemeClr val="accent4"/>
          </a:solidFill>
          <a:ln w="12700">
            <a:solidFill>
              <a:schemeClr val="accent4"/>
            </a:solidFill>
            <a:prstDash val="solid"/>
          </a:ln>
        </p:spPr>
      </p:sp>
      <p:sp>
        <p:nvSpPr>
          <p:cNvPr id="35" name="Text 33"/>
          <p:cNvSpPr txBox="1"/>
          <p:nvPr/>
        </p:nvSpPr>
        <p:spPr>
          <a:xfrm>
            <a:off x="5212080" y="4389120"/>
            <a:ext cx="2025396" cy="411480"/>
          </a:xfrm>
          <a:prstGeom prst="rect">
            <a:avLst/>
          </a:prstGeom>
          <a:noFill/>
          <a:ln/>
        </p:spPr>
        <p:txBody>
          <a:bodyPr wrap="square" lIns="0" tIns="0" rIns="0" bIns="0" rtlCol="0" anchor="ctr"/>
          <a:lstStyle/>
          <a:p>
            <a:pPr algn="ctr" indent="0" marL="0">
              <a:buNone/>
            </a:pPr>
            <a:r>
              <a:rPr lang="en-US" sz="1400" dirty="0">
                <a:solidFill>
                  <a:schemeClr val="tx1"/>
                </a:solidFill>
              </a:rPr>
              <a:t>evaluator–optimizer</a:t>
            </a:r>
            <a:endParaRPr lang="en-US" sz="1400" dirty="0"/>
          </a:p>
        </p:txBody>
      </p:sp>
      <p:sp>
        <p:nvSpPr>
          <p:cNvPr id="36" name="token chip"/>
          <p:cNvSpPr/>
          <p:nvPr/>
        </p:nvSpPr>
        <p:spPr>
          <a:xfrm>
            <a:off x="7310628" y="4389120"/>
            <a:ext cx="489204" cy="411480"/>
          </a:xfrm>
          <a:prstGeom prst="roundRect">
            <a:avLst>
              <a:gd name="adj" fmla="val 13333"/>
            </a:avLst>
          </a:prstGeom>
          <a:solidFill>
            <a:schemeClr val="accent1"/>
          </a:solidFill>
          <a:ln w="12700">
            <a:solidFill>
              <a:schemeClr val="accent1"/>
            </a:solidFill>
            <a:prstDash val="solid"/>
          </a:ln>
        </p:spPr>
      </p:sp>
      <p:sp>
        <p:nvSpPr>
          <p:cNvPr id="37" name="Text 35"/>
          <p:cNvSpPr txBox="1"/>
          <p:nvPr/>
        </p:nvSpPr>
        <p:spPr>
          <a:xfrm>
            <a:off x="7310628" y="4389120"/>
            <a:ext cx="489204" cy="411480"/>
          </a:xfrm>
          <a:prstGeom prst="rect">
            <a:avLst/>
          </a:prstGeom>
          <a:noFill/>
          <a:ln/>
        </p:spPr>
        <p:txBody>
          <a:bodyPr wrap="square" lIns="0" tIns="0" rIns="0" bIns="0" rtlCol="0" anchor="ctr"/>
          <a:lstStyle/>
          <a:p>
            <a:pPr algn="ctr" indent="0" marL="0">
              <a:buNone/>
            </a:pPr>
            <a:r>
              <a:rPr lang="en-US" sz="1400" dirty="0">
                <a:solidFill>
                  <a:schemeClr val="bg1"/>
                </a:solidFill>
              </a:rPr>
              <a:t>MCP</a:t>
            </a:r>
            <a:endParaRPr lang="en-US" sz="1400" dirty="0"/>
          </a:p>
        </p:txBody>
      </p:sp>
      <p:sp>
        <p:nvSpPr>
          <p:cNvPr id="38" name="token chip"/>
          <p:cNvSpPr/>
          <p:nvPr/>
        </p:nvSpPr>
        <p:spPr>
          <a:xfrm>
            <a:off x="7872984" y="4389120"/>
            <a:ext cx="1545336" cy="411480"/>
          </a:xfrm>
          <a:prstGeom prst="roundRect">
            <a:avLst>
              <a:gd name="adj" fmla="val 13333"/>
            </a:avLst>
          </a:prstGeom>
          <a:solidFill>
            <a:schemeClr val="accent2"/>
          </a:solidFill>
          <a:ln w="12700">
            <a:solidFill>
              <a:schemeClr val="accent2"/>
            </a:solidFill>
            <a:prstDash val="solid"/>
          </a:ln>
        </p:spPr>
      </p:sp>
      <p:sp>
        <p:nvSpPr>
          <p:cNvPr id="39" name="Text 37"/>
          <p:cNvSpPr txBox="1"/>
          <p:nvPr/>
        </p:nvSpPr>
        <p:spPr>
          <a:xfrm>
            <a:off x="7872984" y="4389120"/>
            <a:ext cx="1545336" cy="411480"/>
          </a:xfrm>
          <a:prstGeom prst="rect">
            <a:avLst/>
          </a:prstGeom>
          <a:noFill/>
          <a:ln/>
        </p:spPr>
        <p:txBody>
          <a:bodyPr wrap="square" lIns="0" tIns="0" rIns="0" bIns="0" rtlCol="0" anchor="ctr"/>
          <a:lstStyle/>
          <a:p>
            <a:pPr algn="ctr" indent="0" marL="0">
              <a:buNone/>
            </a:pPr>
            <a:r>
              <a:rPr lang="en-US" sz="1400" dirty="0">
                <a:solidFill>
                  <a:schemeClr val="bg1"/>
                </a:solidFill>
              </a:rPr>
              <a:t>scheduled task</a:t>
            </a:r>
            <a:endParaRPr lang="en-US" sz="1400" dirty="0"/>
          </a:p>
        </p:txBody>
      </p:sp>
      <p:sp>
        <p:nvSpPr>
          <p:cNvPr id="40" name="card"/>
          <p:cNvSpPr/>
          <p:nvPr/>
        </p:nvSpPr>
        <p:spPr>
          <a:xfrm>
            <a:off x="548640" y="5029200"/>
            <a:ext cx="11064240" cy="1005840"/>
          </a:xfrm>
          <a:prstGeom prst="roundRect">
            <a:avLst>
              <a:gd name="adj" fmla="val 7273"/>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41" name="Text 39"/>
          <p:cNvSpPr txBox="1"/>
          <p:nvPr/>
        </p:nvSpPr>
        <p:spPr>
          <a:xfrm>
            <a:off x="822960" y="5120640"/>
            <a:ext cx="10515600" cy="822960"/>
          </a:xfrm>
          <a:prstGeom prst="rect">
            <a:avLst/>
          </a:prstGeom>
          <a:noFill/>
          <a:ln/>
        </p:spPr>
        <p:txBody>
          <a:bodyPr wrap="square" lIns="0" tIns="0" rIns="0" bIns="0" rtlCol="0" anchor="ctr"/>
          <a:lstStyle/>
          <a:p>
            <a:pPr indent="0" marL="0">
              <a:buNone/>
            </a:pPr>
            <a:r>
              <a:rPr lang="en-US" sz="1400" dirty="0">
                <a:solidFill>
                  <a:schemeClr val="tx2"/>
                </a:solidFill>
              </a:rPr>
              <a:t>Start manual: run it once in chat, fix the prompt, then save it as a skill, then add subagents, then schedule it for Monday 8:00. Each step only after the previous one works.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Cheat sheet</a:t>
            </a:r>
            <a:endParaRPr lang="en-US" sz="3200" dirty="0"/>
          </a:p>
        </p:txBody>
      </p:sp>
      <p:sp>
        <p:nvSpPr>
          <p:cNvPr id="3" name="card"/>
          <p:cNvSpPr/>
          <p:nvPr/>
        </p:nvSpPr>
        <p:spPr>
          <a:xfrm>
            <a:off x="548640" y="1371600"/>
            <a:ext cx="5440680" cy="2240280"/>
          </a:xfrm>
          <a:prstGeom prst="roundRect">
            <a:avLst>
              <a:gd name="adj" fmla="val 3265"/>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4" name="label chip"/>
          <p:cNvSpPr/>
          <p:nvPr/>
        </p:nvSpPr>
        <p:spPr>
          <a:xfrm>
            <a:off x="822960" y="1645920"/>
            <a:ext cx="1371600" cy="457200"/>
          </a:xfrm>
          <a:prstGeom prst="roundRect">
            <a:avLst>
              <a:gd name="adj" fmla="val 12000"/>
            </a:avLst>
          </a:prstGeom>
          <a:solidFill>
            <a:schemeClr val="accent1"/>
          </a:solidFill>
          <a:ln w="12700">
            <a:solidFill>
              <a:schemeClr val="accent1"/>
            </a:solidFill>
            <a:prstDash val="solid"/>
          </a:ln>
        </p:spPr>
      </p:sp>
      <p:sp>
        <p:nvSpPr>
          <p:cNvPr id="5" name="Text 3"/>
          <p:cNvSpPr txBox="1"/>
          <p:nvPr/>
        </p:nvSpPr>
        <p:spPr>
          <a:xfrm>
            <a:off x="822960" y="1645920"/>
            <a:ext cx="1371600" cy="457200"/>
          </a:xfrm>
          <a:prstGeom prst="rect">
            <a:avLst/>
          </a:prstGeom>
          <a:noFill/>
          <a:ln/>
        </p:spPr>
        <p:txBody>
          <a:bodyPr wrap="square" lIns="0" tIns="0" rIns="0" bIns="0" rtlCol="0" anchor="ctr"/>
          <a:lstStyle/>
          <a:p>
            <a:pPr algn="ctr" indent="0" marL="0">
              <a:buNone/>
            </a:pPr>
            <a:r>
              <a:rPr lang="en-US" sz="1500" b="1" dirty="0">
                <a:solidFill>
                  <a:schemeClr val="bg1"/>
                </a:solidFill>
              </a:rPr>
              <a:t>Prompt</a:t>
            </a:r>
            <a:endParaRPr lang="en-US" sz="1500" dirty="0"/>
          </a:p>
        </p:txBody>
      </p:sp>
      <p:sp>
        <p:nvSpPr>
          <p:cNvPr id="6" name="Text 4"/>
          <p:cNvSpPr txBox="1"/>
          <p:nvPr/>
        </p:nvSpPr>
        <p:spPr>
          <a:xfrm>
            <a:off x="822960" y="2286000"/>
            <a:ext cx="4937760" cy="1234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Brief it like a new colleague</a:t>
            </a:r>
            <a:endParaRPr lang="en-US" sz="1400" dirty="0"/>
          </a:p>
          <a:p>
            <a:pPr marL="342900" indent="-342900">
              <a:spcAft>
                <a:spcPts val="600"/>
              </a:spcAft>
              <a:buSzPct val="100000"/>
              <a:buChar char="•"/>
            </a:pPr>
            <a:r>
              <a:rPr lang="en-US" sz="1400" dirty="0">
                <a:solidFill>
                  <a:schemeClr val="tx1"/>
                </a:solidFill>
              </a:rPr>
              <a:t>Say why, show examples, use XML tags</a:t>
            </a:r>
            <a:endParaRPr lang="en-US" sz="1400" dirty="0"/>
          </a:p>
          <a:p>
            <a:pPr marL="342900" indent="-342900">
              <a:spcAft>
                <a:spcPts val="600"/>
              </a:spcAft>
              <a:buSzPct val="100000"/>
              <a:buChar char="•"/>
            </a:pPr>
            <a:r>
              <a:rPr lang="en-US" sz="1400" dirty="0">
                <a:solidFill>
                  <a:schemeClr val="tx1"/>
                </a:solidFill>
              </a:rPr>
              <a:t>Long docs first, question last</a:t>
            </a:r>
            <a:endParaRPr lang="en-US" sz="1400" dirty="0"/>
          </a:p>
        </p:txBody>
      </p:sp>
      <p:sp>
        <p:nvSpPr>
          <p:cNvPr id="7" name="card"/>
          <p:cNvSpPr/>
          <p:nvPr/>
        </p:nvSpPr>
        <p:spPr>
          <a:xfrm>
            <a:off x="6172200" y="1371600"/>
            <a:ext cx="5440680" cy="2240280"/>
          </a:xfrm>
          <a:prstGeom prst="roundRect">
            <a:avLst>
              <a:gd name="adj" fmla="val 3265"/>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8" name="label chip"/>
          <p:cNvSpPr/>
          <p:nvPr/>
        </p:nvSpPr>
        <p:spPr>
          <a:xfrm>
            <a:off x="6446520" y="1645920"/>
            <a:ext cx="1371600" cy="457200"/>
          </a:xfrm>
          <a:prstGeom prst="roundRect">
            <a:avLst>
              <a:gd name="adj" fmla="val 12000"/>
            </a:avLst>
          </a:prstGeom>
          <a:solidFill>
            <a:schemeClr val="accent2"/>
          </a:solidFill>
          <a:ln w="12700">
            <a:solidFill>
              <a:schemeClr val="accent2"/>
            </a:solidFill>
            <a:prstDash val="solid"/>
          </a:ln>
        </p:spPr>
      </p:sp>
      <p:sp>
        <p:nvSpPr>
          <p:cNvPr id="9" name="Text 7"/>
          <p:cNvSpPr txBox="1"/>
          <p:nvPr/>
        </p:nvSpPr>
        <p:spPr>
          <a:xfrm>
            <a:off x="6446520" y="1645920"/>
            <a:ext cx="1371600" cy="457200"/>
          </a:xfrm>
          <a:prstGeom prst="rect">
            <a:avLst/>
          </a:prstGeom>
          <a:noFill/>
          <a:ln/>
        </p:spPr>
        <p:txBody>
          <a:bodyPr wrap="square" lIns="0" tIns="0" rIns="0" bIns="0" rtlCol="0" anchor="ctr"/>
          <a:lstStyle/>
          <a:p>
            <a:pPr algn="ctr" indent="0" marL="0">
              <a:buNone/>
            </a:pPr>
            <a:r>
              <a:rPr lang="en-US" sz="1500" b="1" dirty="0">
                <a:solidFill>
                  <a:schemeClr val="bg1"/>
                </a:solidFill>
              </a:rPr>
              <a:t>Settings</a:t>
            </a:r>
            <a:endParaRPr lang="en-US" sz="1500" dirty="0"/>
          </a:p>
        </p:txBody>
      </p:sp>
      <p:sp>
        <p:nvSpPr>
          <p:cNvPr id="10" name="Text 8"/>
          <p:cNvSpPr txBox="1"/>
          <p:nvPr/>
        </p:nvSpPr>
        <p:spPr>
          <a:xfrm>
            <a:off x="6446520" y="2286000"/>
            <a:ext cx="4937760" cy="1234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No temperature / top-k / top-p on newest models</a:t>
            </a:r>
            <a:endParaRPr lang="en-US" sz="1400" dirty="0"/>
          </a:p>
          <a:p>
            <a:pPr marL="342900" indent="-342900">
              <a:spcAft>
                <a:spcPts val="600"/>
              </a:spcAft>
              <a:buSzPct val="100000"/>
              <a:buChar char="•"/>
            </a:pPr>
            <a:r>
              <a:rPr lang="en-US" sz="1400" dirty="0">
                <a:solidFill>
                  <a:schemeClr val="tx1"/>
                </a:solidFill>
              </a:rPr>
              <a:t>Effort is the dial; max_tokens covers thinking</a:t>
            </a:r>
            <a:endParaRPr lang="en-US" sz="1400" dirty="0"/>
          </a:p>
          <a:p>
            <a:pPr marL="342900" indent="-342900">
              <a:spcAft>
                <a:spcPts val="600"/>
              </a:spcAft>
              <a:buSzPct val="100000"/>
              <a:buChar char="•"/>
            </a:pPr>
            <a:r>
              <a:rPr lang="en-US" sz="1400" dirty="0">
                <a:solidFill>
                  <a:schemeClr val="tx1"/>
                </a:solidFill>
              </a:rPr>
              <a:t>Cache stable prefixes, put changes last</a:t>
            </a:r>
            <a:endParaRPr lang="en-US" sz="1400" dirty="0"/>
          </a:p>
        </p:txBody>
      </p:sp>
      <p:sp>
        <p:nvSpPr>
          <p:cNvPr id="11" name="card"/>
          <p:cNvSpPr/>
          <p:nvPr/>
        </p:nvSpPr>
        <p:spPr>
          <a:xfrm>
            <a:off x="548640" y="3794760"/>
            <a:ext cx="5440680" cy="2240280"/>
          </a:xfrm>
          <a:prstGeom prst="roundRect">
            <a:avLst>
              <a:gd name="adj" fmla="val 3265"/>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12" name="label chip"/>
          <p:cNvSpPr/>
          <p:nvPr/>
        </p:nvSpPr>
        <p:spPr>
          <a:xfrm>
            <a:off x="822960" y="4069080"/>
            <a:ext cx="1371600" cy="457200"/>
          </a:xfrm>
          <a:prstGeom prst="roundRect">
            <a:avLst>
              <a:gd name="adj" fmla="val 12000"/>
            </a:avLst>
          </a:prstGeom>
          <a:solidFill>
            <a:schemeClr val="accent3"/>
          </a:solidFill>
          <a:ln w="12700">
            <a:solidFill>
              <a:schemeClr val="accent3"/>
            </a:solidFill>
            <a:prstDash val="solid"/>
          </a:ln>
        </p:spPr>
      </p:sp>
      <p:sp>
        <p:nvSpPr>
          <p:cNvPr id="13" name="Text 11"/>
          <p:cNvSpPr txBox="1"/>
          <p:nvPr/>
        </p:nvSpPr>
        <p:spPr>
          <a:xfrm>
            <a:off x="822960" y="4069080"/>
            <a:ext cx="1371600" cy="457200"/>
          </a:xfrm>
          <a:prstGeom prst="rect">
            <a:avLst/>
          </a:prstGeom>
          <a:noFill/>
          <a:ln/>
        </p:spPr>
        <p:txBody>
          <a:bodyPr wrap="square" lIns="0" tIns="0" rIns="0" bIns="0" rtlCol="0" anchor="ctr"/>
          <a:lstStyle/>
          <a:p>
            <a:pPr algn="ctr" indent="0" marL="0">
              <a:buNone/>
            </a:pPr>
            <a:r>
              <a:rPr lang="en-US" sz="1500" b="1" dirty="0">
                <a:solidFill>
                  <a:schemeClr val="bg1"/>
                </a:solidFill>
              </a:rPr>
              <a:t>Agents</a:t>
            </a:r>
            <a:endParaRPr lang="en-US" sz="1500" dirty="0"/>
          </a:p>
        </p:txBody>
      </p:sp>
      <p:sp>
        <p:nvSpPr>
          <p:cNvPr id="14" name="Text 12"/>
          <p:cNvSpPr txBox="1"/>
          <p:nvPr/>
        </p:nvSpPr>
        <p:spPr>
          <a:xfrm>
            <a:off x="822960" y="4709160"/>
            <a:ext cx="4937760" cy="1234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Simplest workflow that works</a:t>
            </a:r>
            <a:endParaRPr lang="en-US" sz="1400" dirty="0"/>
          </a:p>
          <a:p>
            <a:pPr marL="342900" indent="-342900">
              <a:spcAft>
                <a:spcPts val="600"/>
              </a:spcAft>
              <a:buSzPct val="100000"/>
              <a:buChar char="•"/>
            </a:pPr>
            <a:r>
              <a:rPr lang="en-US" sz="1400" dirty="0">
                <a:solidFill>
                  <a:schemeClr val="tx1"/>
                </a:solidFill>
              </a:rPr>
              <a:t>Multi-agent only for wide, parallel, valuable work</a:t>
            </a:r>
            <a:endParaRPr lang="en-US" sz="1400" dirty="0"/>
          </a:p>
          <a:p>
            <a:pPr marL="342900" indent="-342900">
              <a:spcAft>
                <a:spcPts val="600"/>
              </a:spcAft>
              <a:buSzPct val="100000"/>
              <a:buChar char="•"/>
            </a:pPr>
            <a:r>
              <a:rPr lang="en-US" sz="1400" dirty="0">
                <a:solidFill>
                  <a:schemeClr val="tx1"/>
                </a:solidFill>
              </a:rPr>
              <a:t>Brief subagents fully</a:t>
            </a:r>
            <a:endParaRPr lang="en-US" sz="1400" dirty="0"/>
          </a:p>
        </p:txBody>
      </p:sp>
      <p:sp>
        <p:nvSpPr>
          <p:cNvPr id="15" name="card"/>
          <p:cNvSpPr/>
          <p:nvPr/>
        </p:nvSpPr>
        <p:spPr>
          <a:xfrm>
            <a:off x="6172200" y="3794760"/>
            <a:ext cx="5440680" cy="2240280"/>
          </a:xfrm>
          <a:prstGeom prst="roundRect">
            <a:avLst>
              <a:gd name="adj" fmla="val 3265"/>
            </a:avLst>
          </a:prstGeom>
          <a:solidFill>
            <a:schemeClr val="bg2"/>
          </a:solidFill>
          <a:ln w="9525">
            <a:solidFill>
              <a:schemeClr val="bg2"/>
            </a:solidFill>
            <a:prstDash val="solid"/>
          </a:ln>
          <a:effectLst>
            <a:outerShdw sx="100000" sy="100000" kx="0" ky="0" algn="bl" rotWithShape="0" blurRad="76200" dist="25400" dir="5400000">
              <a:srgbClr val="000000">
                <a:alpha val="12000"/>
              </a:srgbClr>
            </a:outerShdw>
          </a:effectLst>
        </p:spPr>
      </p:sp>
      <p:sp>
        <p:nvSpPr>
          <p:cNvPr id="16" name="label chip"/>
          <p:cNvSpPr/>
          <p:nvPr/>
        </p:nvSpPr>
        <p:spPr>
          <a:xfrm>
            <a:off x="6446520" y="4069080"/>
            <a:ext cx="1371600" cy="457200"/>
          </a:xfrm>
          <a:prstGeom prst="roundRect">
            <a:avLst>
              <a:gd name="adj" fmla="val 12000"/>
            </a:avLst>
          </a:prstGeom>
          <a:solidFill>
            <a:schemeClr val="tx1"/>
          </a:solidFill>
          <a:ln w="12700">
            <a:solidFill>
              <a:schemeClr val="tx1"/>
            </a:solidFill>
            <a:prstDash val="solid"/>
          </a:ln>
        </p:spPr>
      </p:sp>
      <p:sp>
        <p:nvSpPr>
          <p:cNvPr id="17" name="Text 15"/>
          <p:cNvSpPr txBox="1"/>
          <p:nvPr/>
        </p:nvSpPr>
        <p:spPr>
          <a:xfrm>
            <a:off x="6446520" y="4069080"/>
            <a:ext cx="1371600" cy="457200"/>
          </a:xfrm>
          <a:prstGeom prst="rect">
            <a:avLst/>
          </a:prstGeom>
          <a:noFill/>
          <a:ln/>
        </p:spPr>
        <p:txBody>
          <a:bodyPr wrap="square" lIns="0" tIns="0" rIns="0" bIns="0" rtlCol="0" anchor="ctr"/>
          <a:lstStyle/>
          <a:p>
            <a:pPr algn="ctr" indent="0" marL="0">
              <a:buNone/>
            </a:pPr>
            <a:r>
              <a:rPr lang="en-US" sz="1500" b="1" dirty="0">
                <a:solidFill>
                  <a:schemeClr val="bg1"/>
                </a:solidFill>
              </a:rPr>
              <a:t>Workflow</a:t>
            </a:r>
            <a:endParaRPr lang="en-US" sz="1500" dirty="0"/>
          </a:p>
        </p:txBody>
      </p:sp>
      <p:sp>
        <p:nvSpPr>
          <p:cNvPr id="18" name="Text 16"/>
          <p:cNvSpPr txBox="1"/>
          <p:nvPr/>
        </p:nvSpPr>
        <p:spPr>
          <a:xfrm>
            <a:off x="6446520" y="4709160"/>
            <a:ext cx="4937760" cy="1234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Explore → plan → build → check</a:t>
            </a:r>
            <a:endParaRPr lang="en-US" sz="1400" dirty="0"/>
          </a:p>
          <a:p>
            <a:pPr marL="342900" indent="-342900">
              <a:spcAft>
                <a:spcPts val="600"/>
              </a:spcAft>
              <a:buSzPct val="100000"/>
              <a:buChar char="•"/>
            </a:pPr>
            <a:r>
              <a:rPr lang="en-US" sz="1400" dirty="0">
                <a:solidFill>
                  <a:schemeClr val="tx1"/>
                </a:solidFill>
              </a:rPr>
              <a:t>State in files, checkpoints in git</a:t>
            </a:r>
            <a:endParaRPr lang="en-US" sz="1400" dirty="0"/>
          </a:p>
          <a:p>
            <a:pPr marL="342900" indent="-342900">
              <a:spcAft>
                <a:spcPts val="600"/>
              </a:spcAft>
              <a:buSzPct val="100000"/>
              <a:buChar char="•"/>
            </a:pPr>
            <a:r>
              <a:rPr lang="en-US" sz="1400" dirty="0">
                <a:solidFill>
                  <a:schemeClr val="tx1"/>
                </a:solidFill>
              </a:rPr>
              <a:t>Repeat 3× → make it a skill, hook or subagent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8686800" cy="118872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Keep learning</a:t>
            </a:r>
            <a:endParaRPr lang="en-US" sz="4400" dirty="0"/>
          </a:p>
        </p:txBody>
      </p:sp>
      <p:sp>
        <p:nvSpPr>
          <p:cNvPr id="3" name="Text 0"/>
          <p:cNvSpPr/>
          <p:nvPr>
            <p:ph idx="101" type="body" hasCustomPrompt="1"/>
          </p:nvPr>
        </p:nvSpPr>
        <p:spPr>
          <a:xfrm>
            <a:off x="548640" y="3383280"/>
            <a:ext cx="8686800" cy="731520"/>
          </a:xfrm>
          <a:prstGeom prst="rect">
            <a:avLst/>
          </a:prstGeom>
          <a:noFill/>
          <a:ln/>
        </p:spPr>
        <p:txBody>
          <a:bodyPr wrap="square" lIns="0" tIns="0" rIns="0" bIns="0" rtlCol="0" anchor="t"/>
          <a:lstStyle/>
          <a:p>
            <a:pPr indent="0" marL="0">
              <a:buNone/>
            </a:pPr>
            <a:r>
              <a:rPr lang="en-US" sz="2000" dirty="0">
                <a:solidFill>
                  <a:schemeClr val="accent6"/>
                </a:solidFill>
              </a:rPr>
              <a:t>Settings change fast. These pages are the source of truth (as of Oct 2026).</a:t>
            </a:r>
            <a:endParaRPr lang="en-US" sz="2000" dirty="0"/>
          </a:p>
        </p:txBody>
      </p:sp>
      <p:sp>
        <p:nvSpPr>
          <p:cNvPr id="4" name="Text 2"/>
          <p:cNvSpPr txBox="1"/>
          <p:nvPr/>
        </p:nvSpPr>
        <p:spPr>
          <a:xfrm>
            <a:off x="548640" y="4206240"/>
            <a:ext cx="11064240" cy="219456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accent6"/>
                </a:solidFill>
              </a:rPr>
              <a:t>Prompting best practices: platform.claude.com/docs/en/build-with-claude/prompt-engineering/claude-prompting-best-practices</a:t>
            </a:r>
            <a:endParaRPr lang="en-US" sz="1200" dirty="0"/>
          </a:p>
          <a:p>
            <a:pPr marL="342900" indent="-342900">
              <a:spcAft>
                <a:spcPts val="400"/>
              </a:spcAft>
              <a:buSzPct val="100000"/>
              <a:buChar char="•"/>
            </a:pPr>
            <a:r>
              <a:rPr lang="en-US" sz="1200" dirty="0">
                <a:solidFill>
                  <a:schemeClr val="accent6"/>
                </a:solidFill>
              </a:rPr>
              <a:t>Opus 5.5 migration guide (sampling, effort, thinking): platform.claude.com/docs/en/models/opus-5-5/migration-guide</a:t>
            </a:r>
            <a:endParaRPr lang="en-US" sz="1200" dirty="0"/>
          </a:p>
          <a:p>
            <a:pPr marL="342900" indent="-342900">
              <a:spcAft>
                <a:spcPts val="400"/>
              </a:spcAft>
              <a:buSzPct val="100000"/>
              <a:buChar char="•"/>
            </a:pPr>
            <a:r>
              <a:rPr lang="en-US" sz="1200" dirty="0">
                <a:solidFill>
                  <a:schemeClr val="accent6"/>
                </a:solidFill>
              </a:rPr>
              <a:t>Context windows: platform.claude.com/docs/en/build-with-claude/context-windows</a:t>
            </a:r>
            <a:endParaRPr lang="en-US" sz="1200" dirty="0"/>
          </a:p>
          <a:p>
            <a:pPr marL="342900" indent="-342900">
              <a:spcAft>
                <a:spcPts val="400"/>
              </a:spcAft>
              <a:buSzPct val="100000"/>
              <a:buChar char="•"/>
            </a:pPr>
            <a:r>
              <a:rPr lang="en-US" sz="1200" dirty="0">
                <a:solidFill>
                  <a:schemeClr val="accent6"/>
                </a:solidFill>
              </a:rPr>
              <a:t>Prompt caching: platform.claude.com/docs/en/build-with-claude/prompt-caching</a:t>
            </a:r>
            <a:endParaRPr lang="en-US" sz="1200" dirty="0"/>
          </a:p>
          <a:p>
            <a:pPr marL="342900" indent="-342900">
              <a:spcAft>
                <a:spcPts val="400"/>
              </a:spcAft>
              <a:buSzPct val="100000"/>
              <a:buChar char="•"/>
            </a:pPr>
            <a:r>
              <a:rPr lang="en-US" sz="1200" dirty="0">
                <a:solidFill>
                  <a:schemeClr val="accent6"/>
                </a:solidFill>
              </a:rPr>
              <a:t>Claude Code subagents: code.claude.com/docs/en/sub-agents</a:t>
            </a:r>
            <a:endParaRPr lang="en-US" sz="1200" dirty="0"/>
          </a:p>
          <a:p>
            <a:pPr marL="342900" indent="-342900">
              <a:spcAft>
                <a:spcPts val="400"/>
              </a:spcAft>
              <a:buSzPct val="100000"/>
              <a:buChar char="•"/>
            </a:pPr>
            <a:r>
              <a:rPr lang="en-US" sz="1200" dirty="0">
                <a:solidFill>
                  <a:schemeClr val="accent6"/>
                </a:solidFill>
              </a:rPr>
              <a:t>Multi-agent research system: anthropic.com/engineering/multi-agent-research-system</a:t>
            </a:r>
            <a:endParaRPr lang="en-US" sz="1200" dirty="0"/>
          </a:p>
          <a:p>
            <a:pPr marL="342900" indent="-342900">
              <a:spcAft>
                <a:spcPts val="400"/>
              </a:spcAft>
              <a:buSzPct val="100000"/>
              <a:buChar char="•"/>
            </a:pPr>
            <a:r>
              <a:rPr lang="en-US" sz="1200" dirty="0">
                <a:solidFill>
                  <a:schemeClr val="accent6"/>
                </a:solidFill>
              </a:rPr>
              <a:t>Building effective agents: anthropic.com/engineering/building-effective-agents</a:t>
            </a:r>
            <a:endParaRPr lang="en-US" sz="1200" dirty="0"/>
          </a:p>
        </p:txBody>
      </p:sp>
    </p:spTree>
  </p:cSld>
  <p:clrMapOvr>
    <a:masterClrMapping/>
  </p:clrMapOvr>
</p:sld>
</file>

<file path=ppt/theme/theme1.xml><?xml version="1.0" encoding="utf-8"?>
<a:theme xmlns:a="http://schemas.openxmlformats.org/drawingml/2006/main" name="Using Claude Well">
  <a:themeElements>
    <a:clrScheme name="Using Claude Well">
      <a:dk1>
        <a:srgbClr val="1B1F3B"/>
      </a:dk1>
      <a:lt1>
        <a:srgbClr val="FFFFFF"/>
      </a:lt1>
      <a:dk2>
        <a:srgbClr val="5A6075"/>
      </a:dk2>
      <a:lt2>
        <a:srgbClr val="F4F5F8"/>
      </a:lt2>
      <a:accent1>
        <a:srgbClr val="D97757"/>
      </a:accent1>
      <a:accent2>
        <a:srgbClr val="2A9D8F"/>
      </a:accent2>
      <a:accent3>
        <a:srgbClr val="6C63FF"/>
      </a:accent3>
      <a:accent4>
        <a:srgbClr val="E9B949"/>
      </a:accent4>
      <a:accent5>
        <a:srgbClr val="8A90A6"/>
      </a:accent5>
      <a:accent6>
        <a:srgbClr val="E3E5EC"/>
      </a:accent6>
      <a:hlink>
        <a:srgbClr val="6C63FF"/>
      </a:hlink>
      <a:folHlink>
        <a:srgbClr val="5A6075"/>
      </a:folHlink>
    </a:clrScheme>
    <a:fontScheme name="Using Claude Wel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Claude Well</dc:title>
  <dc:subject>PptxGenJS Presentation</dc:subject>
  <dc:creator>Claude</dc:creator>
  <cp:lastModifiedBy>Claude</cp:lastModifiedBy>
  <cp:revision>1</cp:revision>
  <dcterms:created xsi:type="dcterms:W3CDTF">2026-10-25T07:39:32Z</dcterms:created>
  <dcterms:modified xsi:type="dcterms:W3CDTF">2026-10-25T07:39:32Z</dcterms:modified>
</cp:coreProperties>
</file>