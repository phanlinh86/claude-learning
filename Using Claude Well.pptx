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32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96" r:id="rId24"/>
    <p:sldId id="278" r:id="rId25"/>
    <p:sldId id="279" r:id="rId26"/>
    <p:sldId id="280" r:id="rId27"/>
    <p:sldId id="281" r:id="rId28"/>
    <p:sldId id="282" r:id="rId29"/>
    <p:sldId id="283" r:id="rId30"/>
    <p:sldId id="325" r:id="rId31"/>
    <p:sldId id="310" r:id="rId32"/>
    <p:sldId id="311" r:id="rId33"/>
    <p:sldId id="312" r:id="rId34"/>
    <p:sldId id="326" r:id="rId35"/>
    <p:sldId id="284" r:id="rId36"/>
    <p:sldId id="313" r:id="rId37"/>
    <p:sldId id="285" r:id="rId38"/>
    <p:sldId id="286" r:id="rId39"/>
    <p:sldId id="287" r:id="rId40"/>
    <p:sldId id="327" r:id="rId41"/>
    <p:sldId id="323" r:id="rId42"/>
    <p:sldId id="288"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7991195-BB88-1A7E-536D-6DC0B520CAB4}">
          <p14:sldIdLst>
            <p14:sldId id="256"/>
            <p14:sldId id="257"/>
          </p14:sldIdLst>
        </p14:section>
        <p14:section name="Part 1 · Prompting" id="{FC866D7D-A808-1EB5-2B4B-0CE45E1A62F9}">
          <p14:sldIdLst>
            <p14:sldId id="258"/>
            <p14:sldId id="259"/>
            <p14:sldId id="260"/>
            <p14:sldId id="261"/>
            <p14:sldId id="262"/>
            <p14:sldId id="263"/>
          </p14:sldIdLst>
        </p14:section>
        <p14:section name="Part 2 · The knobs" id="{AE7A9841-D200-0E3D-F420-4FF215F698E0}">
          <p14:sldIdLst>
            <p14:sldId id="264"/>
            <p14:sldId id="324"/>
            <p14:sldId id="266"/>
            <p14:sldId id="267"/>
            <p14:sldId id="268"/>
            <p14:sldId id="269"/>
            <p14:sldId id="270"/>
            <p14:sldId id="271"/>
          </p14:sldIdLst>
        </p14:section>
        <p14:section name="Part 3 · Where to set them" id="{B6421864-2B8F-9C4D-4F1C-4F3D1252C1E7}">
          <p14:sldIdLst>
            <p14:sldId id="272"/>
            <p14:sldId id="273"/>
            <p14:sldId id="274"/>
            <p14:sldId id="275"/>
          </p14:sldIdLst>
        </p14:section>
        <p14:section name="Part 4 · Agents &amp; multi-agent" id="{DA8C1472-D57A-F36E-F68B-AC9E1E12A341}">
          <p14:sldIdLst>
            <p14:sldId id="276"/>
            <p14:sldId id="277"/>
            <p14:sldId id="296"/>
            <p14:sldId id="278"/>
            <p14:sldId id="279"/>
            <p14:sldId id="280"/>
            <p14:sldId id="281"/>
          </p14:sldIdLst>
        </p14:section>
        <p14:section name="Part 5 · Workflows &amp; plans" id="{632FA629-16C8-7FB4-D687-E8525C8C05C4}">
          <p14:sldIdLst>
            <p14:sldId id="282"/>
            <p14:sldId id="283"/>
            <p14:sldId id="325"/>
            <p14:sldId id="310"/>
            <p14:sldId id="311"/>
            <p14:sldId id="312"/>
            <p14:sldId id="326"/>
            <p14:sldId id="284"/>
            <p14:sldId id="313"/>
            <p14:sldId id="285"/>
            <p14:sldId id="286"/>
            <p14:sldId id="287"/>
            <p14:sldId id="327"/>
            <p14:sldId id="323"/>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900" autoAdjust="0"/>
  </p:normalViewPr>
  <p:slideViewPr>
    <p:cSldViewPr snapToGrid="0" snapToObjects="1">
      <p:cViewPr varScale="1">
        <p:scale>
          <a:sx n="90" d="100"/>
          <a:sy n="90" d="100"/>
        </p:scale>
        <p:origin x="4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F3B"/>
                </a:solidFill>
                <a:latin typeface="+mn-lt"/>
              </a:defRPr>
            </a:pPr>
            <a:r>
              <a:rPr lang="en-US" sz="1300" b="0" i="0" u="none" strike="noStrike">
                <a:solidFill>
                  <a:srgbClr val="1B1F3B"/>
                </a:solidFill>
                <a:latin typeface="+mn-lt"/>
              </a:rPr>
              <a:t>“The cat sat on the …”  next-token probability (%)</a:t>
            </a:r>
          </a:p>
        </c:rich>
      </c:tx>
      <c:overlay val="0"/>
    </c:title>
    <c:autoTitleDeleted val="0"/>
    <c:plotArea>
      <c:layout/>
      <c:barChart>
        <c:barDir val="col"/>
        <c:grouping val="stacked"/>
        <c:varyColors val="0"/>
        <c:ser>
          <c:idx val="0"/>
          <c:order val="0"/>
          <c:tx>
            <c:strRef>
              <c:f>Sheet1!$B$1</c:f>
              <c:strCache>
                <c:ptCount val="1"/>
                <c:pt idx="0">
                  <c:v>Kept by top-p 0.9</c:v>
                </c:pt>
              </c:strCache>
            </c:strRef>
          </c:tx>
          <c:spPr>
            <a:solidFill>
              <a:srgbClr val="2A9D8F"/>
            </a:solidFill>
            <a:effectLst/>
          </c:spPr>
          <c:invertIfNegative val="0"/>
          <c:cat>
            <c:strRef>
              <c:f>Sheet1!$A$2:$A$11</c:f>
              <c:strCache>
                <c:ptCount val="10"/>
                <c:pt idx="0">
                  <c:v>mat</c:v>
                </c:pt>
                <c:pt idx="1">
                  <c:v>floor</c:v>
                </c:pt>
                <c:pt idx="2">
                  <c:v>sofa</c:v>
                </c:pt>
                <c:pt idx="3">
                  <c:v>bed</c:v>
                </c:pt>
                <c:pt idx="4">
                  <c:v>roof</c:v>
                </c:pt>
                <c:pt idx="5">
                  <c:v>chair</c:v>
                </c:pt>
                <c:pt idx="6">
                  <c:v>rug</c:v>
                </c:pt>
                <c:pt idx="7">
                  <c:v>table</c:v>
                </c:pt>
                <c:pt idx="8">
                  <c:v>grass</c:v>
                </c:pt>
                <c:pt idx="9">
                  <c:v>moon</c:v>
                </c:pt>
              </c:strCache>
            </c:strRef>
          </c:cat>
          <c:val>
            <c:numRef>
              <c:f>Sheet1!$B$2:$B$11</c:f>
              <c:numCache>
                <c:formatCode>General</c:formatCode>
                <c:ptCount val="10"/>
                <c:pt idx="0">
                  <c:v>42</c:v>
                </c:pt>
                <c:pt idx="1">
                  <c:v>18</c:v>
                </c:pt>
                <c:pt idx="2">
                  <c:v>12</c:v>
                </c:pt>
                <c:pt idx="3">
                  <c:v>8</c:v>
                </c:pt>
                <c:pt idx="4">
                  <c:v>5</c:v>
                </c:pt>
                <c:pt idx="5">
                  <c:v>4</c:v>
                </c:pt>
                <c:pt idx="6">
                  <c:v>3</c:v>
                </c:pt>
                <c:pt idx="7">
                  <c:v>0</c:v>
                </c:pt>
                <c:pt idx="8">
                  <c:v>0</c:v>
                </c:pt>
                <c:pt idx="9">
                  <c:v>0</c:v>
                </c:pt>
              </c:numCache>
            </c:numRef>
          </c:val>
          <c:extLst>
            <c:ext xmlns:c16="http://schemas.microsoft.com/office/drawing/2014/chart" uri="{C3380CC4-5D6E-409C-BE32-E72D297353CC}">
              <c16:uniqueId val="{00000000-D343-48F3-8AA5-D15C60099FE9}"/>
            </c:ext>
          </c:extLst>
        </c:ser>
        <c:ser>
          <c:idx val="1"/>
          <c:order val="1"/>
          <c:tx>
            <c:strRef>
              <c:f>Sheet1!$C$1</c:f>
              <c:strCache>
                <c:ptCount val="1"/>
                <c:pt idx="0">
                  <c:v>Cut off</c:v>
                </c:pt>
              </c:strCache>
            </c:strRef>
          </c:tx>
          <c:spPr>
            <a:solidFill>
              <a:srgbClr val="D5D8E3"/>
            </a:solidFill>
            <a:effectLst/>
          </c:spPr>
          <c:invertIfNegative val="0"/>
          <c:cat>
            <c:strRef>
              <c:f>Sheet1!$A$2:$A$11</c:f>
              <c:strCache>
                <c:ptCount val="10"/>
                <c:pt idx="0">
                  <c:v>mat</c:v>
                </c:pt>
                <c:pt idx="1">
                  <c:v>floor</c:v>
                </c:pt>
                <c:pt idx="2">
                  <c:v>sofa</c:v>
                </c:pt>
                <c:pt idx="3">
                  <c:v>bed</c:v>
                </c:pt>
                <c:pt idx="4">
                  <c:v>roof</c:v>
                </c:pt>
                <c:pt idx="5">
                  <c:v>chair</c:v>
                </c:pt>
                <c:pt idx="6">
                  <c:v>rug</c:v>
                </c:pt>
                <c:pt idx="7">
                  <c:v>table</c:v>
                </c:pt>
                <c:pt idx="8">
                  <c:v>grass</c:v>
                </c:pt>
                <c:pt idx="9">
                  <c:v>moon</c:v>
                </c:pt>
              </c:strCache>
            </c:strRef>
          </c:cat>
          <c:val>
            <c:numRef>
              <c:f>Sheet1!$C$2:$C$11</c:f>
              <c:numCache>
                <c:formatCode>General</c:formatCode>
                <c:ptCount val="10"/>
                <c:pt idx="0">
                  <c:v>0</c:v>
                </c:pt>
                <c:pt idx="1">
                  <c:v>0</c:v>
                </c:pt>
                <c:pt idx="2">
                  <c:v>0</c:v>
                </c:pt>
                <c:pt idx="3">
                  <c:v>0</c:v>
                </c:pt>
                <c:pt idx="4">
                  <c:v>0</c:v>
                </c:pt>
                <c:pt idx="5">
                  <c:v>0</c:v>
                </c:pt>
                <c:pt idx="6">
                  <c:v>0</c:v>
                </c:pt>
                <c:pt idx="7">
                  <c:v>3</c:v>
                </c:pt>
                <c:pt idx="8">
                  <c:v>2</c:v>
                </c:pt>
                <c:pt idx="9">
                  <c:v>1</c:v>
                </c:pt>
              </c:numCache>
            </c:numRef>
          </c:val>
          <c:extLst>
            <c:ext xmlns:c16="http://schemas.microsoft.com/office/drawing/2014/chart" uri="{C3380CC4-5D6E-409C-BE32-E72D297353CC}">
              <c16:uniqueId val="{00000001-D343-48F3-8AA5-D15C60099FE9}"/>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075"/>
                </a:solidFill>
                <a:latin typeface="+mn-lt"/>
              </a:defRPr>
            </a:pPr>
            <a:endParaRPr lang="en-US"/>
          </a:p>
        </c:txPr>
        <c:crossAx val="2094734552"/>
        <c:crosses val="autoZero"/>
        <c:auto val="1"/>
        <c:lblAlgn val="ctr"/>
        <c:lblOffset val="100"/>
        <c:noMultiLvlLbl val="1"/>
      </c:catAx>
      <c:valAx>
        <c:axId val="2094734552"/>
        <c:scaling>
          <c:orientation val="minMax"/>
          <c:max val="50"/>
        </c:scaling>
        <c:delete val="0"/>
        <c:axPos val="l"/>
        <c:majorGridlines>
          <c:spPr>
            <a:ln w="9525" cap="flat">
              <a:solidFill>
                <a:srgbClr val="E3E5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0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07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F3B"/>
                </a:solidFill>
                <a:latin typeface="+mn-lt"/>
              </a:defRPr>
            </a:pPr>
            <a:r>
              <a:rPr lang="en-US" sz="1300" b="0" i="0" u="none" strike="noStrike">
                <a:solidFill>
                  <a:srgbClr val="1B1F3B"/>
                </a:solidFill>
                <a:latin typeface="+mn-lt"/>
              </a:rPr>
              <a:t>Input cost for 10 calls, Opus 5.5 ($4 per million input tokens)</a:t>
            </a:r>
          </a:p>
        </c:rich>
      </c:tx>
      <c:overlay val="0"/>
    </c:title>
    <c:autoTitleDeleted val="0"/>
    <c:plotArea>
      <c:layout/>
      <c:barChart>
        <c:barDir val="bar"/>
        <c:grouping val="clustered"/>
        <c:varyColors val="0"/>
        <c:ser>
          <c:idx val="0"/>
          <c:order val="0"/>
          <c:tx>
            <c:strRef>
              <c:f>Sheet1!$B$1</c:f>
              <c:strCache>
                <c:ptCount val="1"/>
                <c:pt idx="0">
                  <c:v>Input cost (USD)</c:v>
                </c:pt>
              </c:strCache>
            </c:strRef>
          </c:tx>
          <c:spPr>
            <a:solidFill>
              <a:srgbClr val="2A9D8F"/>
            </a:solidFill>
            <a:effectLst/>
          </c:spPr>
          <c:invertIfNegative val="0"/>
          <c:dPt>
            <c:idx val="0"/>
            <c:invertIfNegative val="0"/>
            <c:bubble3D val="0"/>
            <c:extLst>
              <c:ext xmlns:c16="http://schemas.microsoft.com/office/drawing/2014/chart" uri="{C3380CC4-5D6E-409C-BE32-E72D297353CC}">
                <c16:uniqueId val="{00000001-4BEF-4466-A29C-7AE6AA631316}"/>
              </c:ext>
            </c:extLst>
          </c:dPt>
          <c:dPt>
            <c:idx val="1"/>
            <c:invertIfNegative val="0"/>
            <c:bubble3D val="0"/>
            <c:spPr>
              <a:solidFill>
                <a:srgbClr val="6C63FF"/>
              </a:solidFill>
              <a:effectLst/>
            </c:spPr>
            <c:extLst>
              <c:ext xmlns:c16="http://schemas.microsoft.com/office/drawing/2014/chart" uri="{C3380CC4-5D6E-409C-BE32-E72D297353CC}">
                <c16:uniqueId val="{00000003-4BEF-4466-A29C-7AE6AA631316}"/>
              </c:ext>
            </c:extLst>
          </c:dPt>
          <c:dPt>
            <c:idx val="2"/>
            <c:invertIfNegative val="0"/>
            <c:bubble3D val="0"/>
            <c:spPr>
              <a:solidFill>
                <a:srgbClr val="8A90A6"/>
              </a:solidFill>
              <a:effectLst/>
            </c:spPr>
            <c:extLst>
              <c:ext xmlns:c16="http://schemas.microsoft.com/office/drawing/2014/chart" uri="{C3380CC4-5D6E-409C-BE32-E72D297353CC}">
                <c16:uniqueId val="{00000005-4BEF-4466-A29C-7AE6AA631316}"/>
              </c:ext>
            </c:extLst>
          </c:dPt>
          <c:dLbls>
            <c:numFmt formatCode="\$0.00" sourceLinked="0"/>
            <c:spPr>
              <a:noFill/>
              <a:ln>
                <a:noFill/>
              </a:ln>
              <a:effectLst/>
            </c:spPr>
            <c:txPr>
              <a:bodyPr/>
              <a:lstStyle/>
              <a:p>
                <a:pPr>
                  <a:defRPr sz="1100" b="0" i="0" u="none" strike="noStrike">
                    <a:solidFill>
                      <a:srgbClr val="1B1F3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5-min cache</c:v>
                </c:pt>
                <c:pt idx="1">
                  <c:v>1-hour cache</c:v>
                </c:pt>
                <c:pt idx="2">
                  <c:v>No caching</c:v>
                </c:pt>
              </c:strCache>
            </c:strRef>
          </c:cat>
          <c:val>
            <c:numRef>
              <c:f>Sheet1!$B$2:$B$4</c:f>
              <c:numCache>
                <c:formatCode>General</c:formatCode>
                <c:ptCount val="3"/>
                <c:pt idx="0">
                  <c:v>0.34</c:v>
                </c:pt>
                <c:pt idx="1">
                  <c:v>0.49</c:v>
                </c:pt>
                <c:pt idx="2">
                  <c:v>2</c:v>
                </c:pt>
              </c:numCache>
            </c:numRef>
          </c:val>
          <c:extLst>
            <c:ext xmlns:c16="http://schemas.microsoft.com/office/drawing/2014/chart" uri="{C3380CC4-5D6E-409C-BE32-E72D297353CC}">
              <c16:uniqueId val="{00000006-4BEF-4466-A29C-7AE6AA63131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A6075"/>
                </a:solidFill>
                <a:latin typeface="+mn-lt"/>
              </a:defRPr>
            </a:pPr>
            <a:endParaRPr lang="en-US"/>
          </a:p>
        </c:txPr>
        <c:crossAx val="2094734552"/>
        <c:crosses val="autoZero"/>
        <c:auto val="1"/>
        <c:lblAlgn val="ctr"/>
        <c:lblOffset val="100"/>
        <c:noMultiLvlLbl val="1"/>
      </c:catAx>
      <c:valAx>
        <c:axId val="2094734552"/>
        <c:scaling>
          <c:orientation val="minMax"/>
          <c:max val="2.5"/>
          <c:min val="0"/>
        </c:scaling>
        <c:delete val="0"/>
        <c:axPos val="b"/>
        <c:majorGridlines>
          <c:spPr>
            <a:ln w="9525" cap="flat">
              <a:solidFill>
                <a:srgbClr val="E3E5EC"/>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075"/>
                </a:solidFill>
                <a:latin typeface="+mn-lt"/>
              </a:defRPr>
            </a:pPr>
            <a:endParaRPr lang="en-US"/>
          </a:p>
        </c:txPr>
        <c:crossAx val="2094734554"/>
        <c:crosses val="autoZero"/>
        <c:crossBetween val="between"/>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F3B"/>
                </a:solidFill>
                <a:latin typeface="+mn-lt"/>
              </a:defRPr>
            </a:pPr>
            <a:r>
              <a:rPr lang="en-US" sz="1300" b="0" i="0" u="none" strike="noStrike">
                <a:solidFill>
                  <a:srgbClr val="1B1F3B"/>
                </a:solidFill>
                <a:latin typeface="+mn-lt"/>
              </a:rPr>
              <a:t>KV cache memory (GB) vs context length, 8B model</a:t>
            </a:r>
          </a:p>
        </c:rich>
      </c:tx>
      <c:overlay val="0"/>
    </c:title>
    <c:autoTitleDeleted val="0"/>
    <c:plotArea>
      <c:layout/>
      <c:barChart>
        <c:barDir val="col"/>
        <c:grouping val="clustered"/>
        <c:varyColors val="0"/>
        <c:ser>
          <c:idx val="0"/>
          <c:order val="0"/>
          <c:tx>
            <c:strRef>
              <c:f>Sheet1!$B$1</c:f>
              <c:strCache>
                <c:ptCount val="1"/>
                <c:pt idx="0">
                  <c:v>FP16 cache</c:v>
                </c:pt>
              </c:strCache>
            </c:strRef>
          </c:tx>
          <c:spPr>
            <a:solidFill>
              <a:srgbClr val="6C63FF"/>
            </a:solidFill>
            <a:effectLst/>
          </c:spPr>
          <c:invertIfNegative val="0"/>
          <c:dLbls>
            <c:numFmt formatCode="#,##0" sourceLinked="0"/>
            <c:spPr>
              <a:noFill/>
              <a:ln>
                <a:noFill/>
              </a:ln>
              <a:effectLst/>
            </c:spPr>
            <c:txPr>
              <a:bodyPr/>
              <a:lstStyle/>
              <a:p>
                <a:pPr>
                  <a:defRPr sz="1100" b="0" i="0" u="none" strike="noStrike">
                    <a:solidFill>
                      <a:srgbClr val="1B1F3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8k</c:v>
                </c:pt>
                <c:pt idx="1">
                  <c:v>32k</c:v>
                </c:pt>
                <c:pt idx="2">
                  <c:v>128k</c:v>
                </c:pt>
              </c:strCache>
            </c:strRef>
          </c:cat>
          <c:val>
            <c:numRef>
              <c:f>Sheet1!$B$2:$B$4</c:f>
              <c:numCache>
                <c:formatCode>General</c:formatCode>
                <c:ptCount val="3"/>
                <c:pt idx="0">
                  <c:v>1</c:v>
                </c:pt>
                <c:pt idx="1">
                  <c:v>4</c:v>
                </c:pt>
                <c:pt idx="2">
                  <c:v>16</c:v>
                </c:pt>
              </c:numCache>
            </c:numRef>
          </c:val>
          <c:extLst>
            <c:ext xmlns:c16="http://schemas.microsoft.com/office/drawing/2014/chart" uri="{C3380CC4-5D6E-409C-BE32-E72D297353CC}">
              <c16:uniqueId val="{00000000-55B8-4A2A-8D16-4CBBFA448347}"/>
            </c:ext>
          </c:extLst>
        </c:ser>
        <c:ser>
          <c:idx val="1"/>
          <c:order val="1"/>
          <c:tx>
            <c:strRef>
              <c:f>Sheet1!$C$1</c:f>
              <c:strCache>
                <c:ptCount val="1"/>
                <c:pt idx="0">
                  <c:v>q8_0 cache</c:v>
                </c:pt>
              </c:strCache>
            </c:strRef>
          </c:tx>
          <c:spPr>
            <a:solidFill>
              <a:srgbClr val="2A9D8F"/>
            </a:solidFill>
            <a:effectLst/>
          </c:spPr>
          <c:invertIfNegative val="0"/>
          <c:dLbls>
            <c:numFmt formatCode="#,##0" sourceLinked="0"/>
            <c:spPr>
              <a:noFill/>
              <a:ln>
                <a:noFill/>
              </a:ln>
              <a:effectLst/>
            </c:spPr>
            <c:txPr>
              <a:bodyPr/>
              <a:lstStyle/>
              <a:p>
                <a:pPr>
                  <a:defRPr sz="1100" b="0" i="0" u="none" strike="noStrike">
                    <a:solidFill>
                      <a:srgbClr val="1B1F3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8k</c:v>
                </c:pt>
                <c:pt idx="1">
                  <c:v>32k</c:v>
                </c:pt>
                <c:pt idx="2">
                  <c:v>128k</c:v>
                </c:pt>
              </c:strCache>
            </c:strRef>
          </c:cat>
          <c:val>
            <c:numRef>
              <c:f>Sheet1!$C$2:$C$4</c:f>
              <c:numCache>
                <c:formatCode>General</c:formatCode>
                <c:ptCount val="3"/>
                <c:pt idx="0">
                  <c:v>0.5</c:v>
                </c:pt>
                <c:pt idx="1">
                  <c:v>2</c:v>
                </c:pt>
                <c:pt idx="2">
                  <c:v>8</c:v>
                </c:pt>
              </c:numCache>
            </c:numRef>
          </c:val>
          <c:extLst>
            <c:ext xmlns:c16="http://schemas.microsoft.com/office/drawing/2014/chart" uri="{C3380CC4-5D6E-409C-BE32-E72D297353CC}">
              <c16:uniqueId val="{00000001-55B8-4A2A-8D16-4CBBFA44834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075"/>
                </a:solidFill>
                <a:latin typeface="+mn-lt"/>
              </a:defRPr>
            </a:pPr>
            <a:endParaRPr lang="en-US"/>
          </a:p>
        </c:txPr>
        <c:crossAx val="2094734552"/>
        <c:crosses val="autoZero"/>
        <c:auto val="1"/>
        <c:lblAlgn val="ctr"/>
        <c:lblOffset val="100"/>
        <c:noMultiLvlLbl val="1"/>
      </c:catAx>
      <c:valAx>
        <c:axId val="2094734552"/>
        <c:scaling>
          <c:orientation val="minMax"/>
          <c:max val="18"/>
        </c:scaling>
        <c:delete val="0"/>
        <c:axPos val="l"/>
        <c:majorGridlines>
          <c:spPr>
            <a:ln w="9525" cap="flat">
              <a:solidFill>
                <a:srgbClr val="E3E5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0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075"/>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584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on from 'From Tokens to Teams of Agents'. That deck explained how LLMs and agents work. This one is practical: how to prompt Claude well, which settings actually exist (and where you set them), and how to go from a single chat to agents, multi-agent setups, repeatable workflows and plans. Facts about API parameters are current as of October 2026 and change often, so check the linked docs.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Part 1 is the skill that matters most: writing prompts. Part 2 covers the 'knobs' people ask about (temperature, top-k, top-p, context length, KV cache) and what has changed on recent Claude models. Part 3 is where each setting lives. Parts 4 and 5 scale up from one conversation to agents, teams of agents and repeatable workflows.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Anthropic's own guidance: treat Claude like a very capable new team member with no context. The second prompt says who it is for, why, the tone, the key facts, the length, the format and the closing. Nothing in it is clever. It is just complete.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every part every time, but checking this list catches most weak prompts. XML tags are not magic syntax; they just make it obvious to Claude where each part starts and ends, and they let you refer to parts by name ('using the rules above').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straight from Anthropic's prompting best-practices page. A note on tone: recent Claude models follow the system prompt very closely, so shouting ('CRITICAL! You MUST...') tends to cause over-triggering. Calm, specific instructions with the reason attached work better.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large inputs, order matters. Put long material near the top and the question at the end. Asking for supporting quotes first makes Claude locate the evidence before reasoning about it, which reduces made-up details.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 prompt engineering is mostly testing. Keep a small set of real inputs and rerun them after each change. If you only judge on one example, you will overfit to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Part 2. People coming from open-source models expect temperature, top-k, top-p and context size sliders. On the newest Claude models, temperature/top_p/top_k return a 400 error, thinking is always adaptive, and the context window is fixed by the model. Your real levers are the prompt, effort, max_tokens and prompt caching. Source: Claude Opus 5.5 migration guide and context windows docs.</a:t>
            </a:r>
          </a:p>
          <a:p>
            <a:endParaRPr lang="en-US"/>
          </a:p>
          <a:p>
            <a:r>
              <a:rPr lang="en-US" b="1" dirty="0"/>
              <a:t>Q&amp;A from building this deck</a:t>
            </a:r>
          </a:p>
          <a:p>
            <a:r>
              <a:rPr lang="en-US" b="1" dirty="0"/>
              <a:t>Q: When should effort be max, and when low?</a:t>
            </a:r>
          </a:p>
          <a:p>
            <a:r>
              <a:rPr lang="en-US" dirty="0"/>
              <a:t>A: Max: hard multi-step reasoning, long agentic tasks where an early mistake compounds, high-stakes analysis, or when high/xhigh gave a shallow or wrong answer. Raise max_tokens too. Low: classification, extraction, reformatting, short summaries, simple Q&amp;A, and high-volume or latency-sensitive work. Start at high and move down or up based on results.</a:t>
            </a:r>
          </a:p>
          <a:p>
            <a:r>
              <a:rPr lang="en-US" b="1" dirty="0"/>
              <a:t>Q: What does the KV cache include?</a:t>
            </a:r>
          </a:p>
          <a:p>
            <a:r>
              <a:rPr lang="en-US" dirty="0"/>
              <a:t>A: Within one request: every token processed, in order tools, system prompt, old messages, new message, plus output as it is generated. Across requests, prompt caching reuses only an exact-match prefix up to a cache_control breakpoint; any change breaks the cache from that point. Default lifetime about 5 minutes (1-hour option).</a:t>
            </a:r>
          </a:p>
          <a:p>
            <a:r>
              <a:rPr lang="en-US" b="1" dirty="0"/>
              <a:t>Q: Are short prompts and outputs cached?</a:t>
            </a:r>
          </a:p>
          <a:p>
            <a:r>
              <a:rPr lang="en-US" dirty="0"/>
              <a:t>A: The minimum size applies to the whole cached prefix, not the new message, so a short question at the end of a long chat is fine. An output is not cached when written; it becomes cacheable on the next turn, when the app sends it back as an old message before the breakpoint.</a:t>
            </a:r>
          </a:p>
          <a:p>
            <a:r>
              <a:rPr lang="en-US" b="1" dirty="0"/>
              <a:t>Q: Why doesn't the server just keep the conversation?</a:t>
            </a:r>
          </a:p>
          <a:p>
            <a:r>
              <a:rPr lang="en-US" dirty="0"/>
              <a:t>A: The API is stateless: the app owns the history and may trim, edit, branch or add tool results. The cache is a lookup on an exact prefix, so the app must resend it. Storing every reply for every user would cost memory, so caching is opt-in and expires. Cached tokens bill at about a tenth of the normal input rate.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from the previous deck. After the model scores every possible next token, sampling picks one. Temperature reshapes the probabilities; top-k and top-p cut off the long tail of unlikely tokens. These knobs are still everywhere in open models (llama.cpp, Ollama, vLLM) and in older Claude models, so the concept is worth knowing even though the newest Claude models no longer expose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model where each change happened is worth checking in the docs for the model you use. The direction is clear: Anthropic recommends omitting sampling parameters and steering with the prompt. If you use an older model through the API, temperature (0 to 1) still works. Low for extraction and classification, default for writing.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is soft guidance about how much to think and how thorough to be. It's set in output_config, not in the thinking object. In the Claude app this shows up as thinking/effort options; in Claude Code use /effort or the --effort flag. Defaults differ by model, so check.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length is not a dial on the Claude API: it's a property of the model. What you control is what you put in it and max_tokens. Bigger isn't always better: more irrelevant text means more cost, more latency, and a higher chance the important detail gets lost. In Claude Code, /compact and /clear are the manual versions of this.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 cache is an inference detail: on your own GPU you size it (see the local models slide), on the Claude API Anthropic manages it. Prompt caching is how the API lets you benefit: identical prefixes (tools → system → messages) are reused. Put stable things first (instructions, documents, tool definitions) and changing things (timestamps, the new question) last. Never put a timestamp at the top of a system prompt: it breaks the cache on every call.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 calls, each sending the same 50,000-token document plus a short question. No caching: 500k input tokens at $4/M = $2.00. 5-minute cache: one write at 1.25x ($0.25) plus nine reads at 0.05x ($0.09) = $0.34, about 83% less. 1-hour cache: write at 2x ($0.40) + reads = $0.49. Output costs are the same in all three cases. Prices from the Opus 5.5 migration guide and prompt caching docs.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came looking for a temperature slider in the Claude app: there isn't one. The app exposes model choice, thinking, projects, styles and memory. The API exposes request parameters. Claude Code adds agent controls. The classic sampling and KV-cache knobs are mainly a local open-model thing, which the next-but-one slide covers.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complete, realistic request on a current model. Notice what is missing: no temperature, top_p or top_k, and no context-size setting. Try it in the Claude Console Workbench first: it shows the same parameters as form fields and can export the code.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back to the quantization slide in the first deck. When you run open-weight models locally, you choose sampling (temperature, top-k, top-p), the context length, and the KV cache precision. The KV cache grows with context length, so a 128k context on an 8B model needs about 16 GB just for the cache at FP16. Flag names change between versions, so check llama-server --help and the Ollama docs.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from the first deck: an agent is the same model, called repeatedly, where each response can include a tool call; your code (or Claude Code, or the Agent SDK) runs the tool and feeds back the result. The four building blocks on the right are what make an agent useful in your environment.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from the first deck: an agent is the same model, called repeatedly, where each response can include a tool call; your code (or Claude Code, or the Agent SDK) runs the tool and feeds back the result. The four building blocks on the right are what make an agent useful in your environment.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patterns come from Anthropic's 'Building effective agents'. They are workflows: you, the developer, decide the structure. Use the simplest one that works. A single well-prompted call beats a complicated pipeline more often than people expect. Only reach for a fully autonomous agent when the steps can't be predicted in advance.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Anthropic's engineering post 'How we built our multi-agent research system' (June 2025): Opus lead with Sonnet subagents beat single-agent Opus by 90.2% on their research eval, but used about 15x the tokens of chat. Token usage alone explained about 80% of performance variance. So multi-agent is a way to spend more compute in parallel. Worth it for valuable, parallelisable work; wasteful for simple or tightly coupled tasks.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 is a Markdown file with YAML frontmatter. Only name and description are required; the description is what Claude reads to decide when to delegate, so make it specific. Restricting tools (read-only reviewer) and choosing a cheaper model are the main levers. The easiest way to create one: ask Claude Code to write it for you.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lesson Anthropic learned building their research system: vague delegation causes duplicated work and gaps. A subagent only knows what you put in its brief. The same five elements apply when you hand work to Claude Code subagents, the Agent tool, or a human colleague.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mode in Claude Code is read-only: Claude can explore but not edit until you approve the plan. Cycle modes with Shift+Tab, or use /plan. The same habit works in the Claude app: ask for a plan or outline before the full deliverable. For one-line fixes, skip planning.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 is a Markdown file with YAML frontmatter. Only name and description are required; the description is what Claude reads to decide when to delegate, so make it specific. Restricting tools (read-only reviewer) and choosing a cheaper model are the main levers. The easiest way to create one: ask Claude Code to write it for you.</a:t>
            </a:r>
          </a:p>
          <a:p>
            <a:endParaRPr lang="en-US"/>
          </a:p>
          <a:p>
            <a:r>
              <a:rPr lang="en-US" b="1" dirty="0"/>
              <a:t>Q&amp;A from building this deck</a:t>
            </a:r>
          </a:p>
          <a:p>
            <a:r>
              <a:rPr lang="en-US" b="1" dirty="0"/>
              <a:t>Q: Is Explore a file?</a:t>
            </a:r>
          </a:p>
          <a:p>
            <a:r>
              <a:rPr lang="en-US" dirty="0"/>
              <a:t>A: No. Explore is a workflow step: a prompt you type in the chat. Claude Code also has a built-in read-only Explore subagent, which needs no file. Files in this workflow: CLAUDE.md (project rules), SKILL.md (inside a skill folder), .claude/agents/*.md (custom subagents).</a:t>
            </a:r>
          </a:p>
          <a:p>
            <a:r>
              <a:rPr lang="en-US" b="1" dirty="0"/>
              <a:t>Q: Does this prompt go in CLAUDE.md?</a:t>
            </a:r>
          </a:p>
          <a:p>
            <a:r>
              <a:rPr lang="en-US" dirty="0"/>
              <a:t>A: No. It is a one-off prompt for this task. CLAUDE.md holds standing rules Claude reads every session. If you type the same instruction every time, move it to CLAUDE.md. Lines starting with # on the slide are labels; leave them out when pasting.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 is a Markdown file with YAML frontmatter. Only name and description are required; the description is what Claude reads to decide when to delegate, so make it specific. Restricting tools (read-only reviewer) and choosing a cheaper model are the main levers. The easiest way to create one: ask Claude Code to write it for you.</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 is a Markdown file with YAML frontmatter. Only name and description are required; the description is what Claude reads to decide when to delegate, so make it specific. Restricting tools (read-only reviewer) and choosing a cheaper model are the main levers. The easiest way to create one: ask Claude Code to write it for you.</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 is a Markdown file with YAML frontmatter. Only name and description are required; the description is what Claude reads to decide when to delegate, so make it specific. Restricting tools (read-only reviewer) and choosing a cheaper model are the main levers. The easiest way to create one: ask Claude Code to write it for you.</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 is a Markdown file with YAML frontmatter. Only name and description are required; the description is what Claude reads to decide when to delegate, so make it specific. Restricting tools (read-only reviewer) and choosing a cheaper model are the main levers. The easiest way to create one: ask Claude Code to write it for you.</a:t>
            </a:r>
          </a:p>
          <a:p>
            <a:endParaRPr lang="en-US"/>
          </a:p>
          <a:p>
            <a:r>
              <a:rPr lang="en-US" b="1" dirty="0"/>
              <a:t>Q&amp;A from building this deck</a:t>
            </a:r>
          </a:p>
          <a:p>
            <a:r>
              <a:rPr lang="en-US" b="1" dirty="0"/>
              <a:t>Q: Can Explore, Plan, Build and Check be one prompt?</a:t>
            </a:r>
          </a:p>
          <a:p>
            <a:r>
              <a:rPr lang="en-US" dirty="0"/>
              <a:t>A: Yes. One prompt works for small, clear tasks with good tests, on a branch. Keep a human in the loop for unclear requirements, no tests, or code that touches money, security or shared services. The usual middle path is one prompt with two STOPs: after the plan and before commit. Fully hands-off: tests and a subagent review are the gate, and a person approves the pull request.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rule: if you've typed the same instructions three times, make them a building block. CLAUDE.md for things that always apply, a skill for a procedure, a subagent for a specialist role, a hook for something that must happen every time without relying on the model remembering. The /init command in Claude Code drafts a CLAUDE.md for you.</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 is a Markdown file with YAML frontmatter. Only name and description are required; the description is what Claude reads to decide when to delegate, so make it specific. Restricting tools (read-only reviewer) and choosing a cheaper model are the main levers. The easiest way to create one: ask Claude Code to write it for you.</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work that spans hours or several sessions, the conversation is not a reliable memory: it gets compacted or cleared. Anthropic's guidance for long agentic tasks is to keep structured state in files and use git as a checkpoint log. Pair that with a clear autonomy policy: reversible, local actions freely; irreversible or external actions only after asking. Permission modes and hooks in Claude Code enforce this.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combines most of the deck. Notice the order: don't build the full automated pipeline on day one. Do it by hand in a conversation, see what goes wrong, capture the working instructions in a skill, then add parallel subagents for speed, an evaluator for quality, and finally a schedule. Every layer of automation should be earned by the previous one working.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to keep. If you remember only one thing per part, make it these.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Part 2. People coming from open-source models expect temperature, top-k, top-p and context size sliders. On the newest Claude models, temperature/top_p/top_k return a 400 error, thinking is always adaptive, and the context window is fixed by the model. Your real levers are the prompt, effort, max_tokens and prompt caching. Source: Claude Opus 5.5 migration guide and context windows docs.</a:t>
            </a:r>
          </a:p>
          <a:p>
            <a:endParaRPr lang="en-US"/>
          </a:p>
          <a:p>
            <a:r>
              <a:rPr lang="en-US" b="1" dirty="0"/>
              <a:t>Q&amp;A from building this deck</a:t>
            </a:r>
          </a:p>
          <a:p>
            <a:r>
              <a:rPr lang="en-US" b="1" dirty="0"/>
              <a:t>Q: Can a video be embedded in the slide?</a:t>
            </a:r>
          </a:p>
          <a:p>
            <a:r>
              <a:rPr lang="en-US" dirty="0"/>
              <a:t>A: Not as a playable video from here, so the titles are clickable links that open in a browser during the slideshow. The link text boxes sit over the table; move them with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Part 2. People coming from open-source models expect temperature, top-k, top-p and context size sliders. On the newest Claude models, temperature/top_p/top_k return a 400 error, thinking is always adaptive, and the context window is fixed by the model. Your real levers are the prompt, effort, max_tokens and prompt caching. Source: Claude Opus 5.5 migration guide and context windows docs.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pick one task you do every week, write a strong prompt for it using Part 1, run it a few times, then make it a skill. Then try plan mode in Claude Code on a small project.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8686800" cy="118872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548640" y="3383280"/>
            <a:ext cx="8686800" cy="731520"/>
          </a:xfrm>
          <a:prstGeom prst="rect">
            <a:avLst/>
          </a:prstGeom>
          <a:noFill/>
          <a:ln/>
        </p:spPr>
        <p:txBody>
          <a:bodyPr wrap="square" rtlCol="0"/>
          <a:lstStyle>
            <a:lvl1pPr marL="0" indent="0">
              <a:buNone/>
              <a:defRPr lang="en-US" sz="2000" dirty="0">
                <a:solidFill>
                  <a:schemeClr val="accent6"/>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365760"/>
          </a:xfrm>
          <a:prstGeom prst="rect">
            <a:avLst/>
          </a:prstGeom>
          <a:noFill/>
          <a:ln/>
        </p:spPr>
        <p:txBody>
          <a:bodyPr wrap="square" rtlCol="0"/>
          <a:lstStyle>
            <a:lvl1pPr marL="0" indent="0">
              <a:buNone/>
              <a:defRPr lang="en-US" sz="1400" b="1" kern="0" spc="400" dirty="0">
                <a:solidFill>
                  <a:schemeClr val="accent1"/>
                </a:solidFill>
              </a:defRPr>
            </a:lvl1pPr>
          </a:lstStyle>
          <a:p>
            <a:pPr marL="0" indent="0">
              <a:buNone/>
            </a:pPr>
            <a:endParaRPr lang="en-US" sz="1400" dirty="0"/>
          </a:p>
        </p:txBody>
      </p:sp>
      <p:sp>
        <p:nvSpPr>
          <p:cNvPr id="3" name="Text 0"/>
          <p:cNvSpPr>
            <a:spLocks noGrp="1"/>
          </p:cNvSpPr>
          <p:nvPr>
            <p:ph type="title" idx="101" hasCustomPrompt="1"/>
          </p:nvPr>
        </p:nvSpPr>
        <p:spPr>
          <a:xfrm>
            <a:off x="548640" y="2423160"/>
            <a:ext cx="6583680" cy="91440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4" name="Text 0"/>
          <p:cNvSpPr>
            <a:spLocks noGrp="1"/>
          </p:cNvSpPr>
          <p:nvPr>
            <p:ph type="body" idx="102" hasCustomPrompt="1"/>
          </p:nvPr>
        </p:nvSpPr>
        <p:spPr>
          <a:xfrm>
            <a:off x="548640" y="3474720"/>
            <a:ext cx="6217920" cy="1097280"/>
          </a:xfrm>
          <a:prstGeom prst="rect">
            <a:avLst/>
          </a:prstGeom>
          <a:noFill/>
          <a:ln/>
        </p:spPr>
        <p:txBody>
          <a:bodyPr wrap="square" rtlCol="0"/>
          <a:lstStyle>
            <a:lvl1pPr marL="0" indent="0">
              <a:buNone/>
              <a:defRPr lang="en-US" sz="1800" dirty="0">
                <a:solidFill>
                  <a:schemeClr val="accent6"/>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2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chemeClr val="accent5"/>
                </a:solidFill>
              </a:rPr>
              <a:t>Using Claude Well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31.svg"/><Relationship Id="rId4" Type="http://schemas.openxmlformats.org/officeDocument/2006/relationships/image" Target="../media/image30.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8" Type="http://schemas.openxmlformats.org/officeDocument/2006/relationships/hyperlink" Target="https://www.youtube.com/watch?v=Phr7vBx9yFQ" TargetMode="External"/><Relationship Id="rId3" Type="http://schemas.openxmlformats.org/officeDocument/2006/relationships/hyperlink" Target="https://www.anthropic.com/webinars/claude-code-in-an-hour-a-developers-intro" TargetMode="External"/><Relationship Id="rId7" Type="http://schemas.openxmlformats.org/officeDocument/2006/relationships/hyperlink" Target="https://claude.com/resources/webinar-series/claude-code" TargetMode="External"/><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hyperlink" Target="https://www.youtube.com/watch?v=qD_5iCe1s1E" TargetMode="External"/><Relationship Id="rId5" Type="http://schemas.openxmlformats.org/officeDocument/2006/relationships/hyperlink" Target="https://www.youtube.com/watch?v=fOxC44g8vig" TargetMode="External"/><Relationship Id="rId4" Type="http://schemas.openxmlformats.org/officeDocument/2006/relationships/hyperlink" Target="https://www.youtube.com/watch?v=FoRIj5qcslg"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github.com/hesreallyhim/awesome-claude-code" TargetMode="External"/><Relationship Id="rId3" Type="http://schemas.openxmlformats.org/officeDocument/2006/relationships/hyperlink" Target="https://github.com/anthropics/skills" TargetMode="External"/><Relationship Id="rId7" Type="http://schemas.openxmlformats.org/officeDocument/2006/relationships/hyperlink" Target="https://github.com/VoltAgent/awesome-claude-code-subagents" TargetMode="External"/><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hyperlink" Target="https://github.com/modelcontextprotocol/servers" TargetMode="External"/><Relationship Id="rId5" Type="http://schemas.openxmlformats.org/officeDocument/2006/relationships/hyperlink" Target="https://github.com/anthropics/claude-cookbooks" TargetMode="External"/><Relationship Id="rId4" Type="http://schemas.openxmlformats.org/officeDocument/2006/relationships/hyperlink" Target="https://github.com/anthropics/claude-code"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8686800" cy="118872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Using Claude Well</a:t>
            </a:r>
            <a:endParaRPr lang="en-US" sz="4400" dirty="0"/>
          </a:p>
        </p:txBody>
      </p:sp>
      <p:sp>
        <p:nvSpPr>
          <p:cNvPr id="3" name="Text 0"/>
          <p:cNvSpPr>
            <a:spLocks noGrp="1"/>
          </p:cNvSpPr>
          <p:nvPr>
            <p:ph type="body" idx="101" hasCustomPrompt="1"/>
          </p:nvPr>
        </p:nvSpPr>
        <p:spPr>
          <a:xfrm>
            <a:off x="548640" y="3383280"/>
            <a:ext cx="8686800" cy="731520"/>
          </a:xfrm>
          <a:prstGeom prst="rect">
            <a:avLst/>
          </a:prstGeom>
          <a:noFill/>
          <a:ln/>
        </p:spPr>
        <p:txBody>
          <a:bodyPr wrap="square" lIns="0" tIns="0" rIns="0" bIns="0" rtlCol="0" anchor="t"/>
          <a:lstStyle/>
          <a:p>
            <a:pPr marL="0" indent="0">
              <a:buNone/>
            </a:pPr>
            <a:r>
              <a:rPr lang="en-US" sz="2000" dirty="0">
                <a:solidFill>
                  <a:schemeClr val="accent6"/>
                </a:solidFill>
              </a:rPr>
              <a:t>From writing a good prompt to settings, agents, workflows and plans</a:t>
            </a:r>
            <a:endParaRPr lang="en-US" sz="2000" dirty="0"/>
          </a:p>
        </p:txBody>
      </p:sp>
      <p:sp>
        <p:nvSpPr>
          <p:cNvPr id="4" name="token chip"/>
          <p:cNvSpPr/>
          <p:nvPr/>
        </p:nvSpPr>
        <p:spPr>
          <a:xfrm>
            <a:off x="548640" y="4480560"/>
            <a:ext cx="777240" cy="457200"/>
          </a:xfrm>
          <a:prstGeom prst="roundRect">
            <a:avLst>
              <a:gd name="adj" fmla="val 12000"/>
            </a:avLst>
          </a:prstGeom>
          <a:solidFill>
            <a:schemeClr val="accent1"/>
          </a:solidFill>
          <a:ln w="12700">
            <a:solidFill>
              <a:schemeClr val="accent1"/>
            </a:solidFill>
            <a:prstDash val="solid"/>
          </a:ln>
        </p:spPr>
        <p:txBody>
          <a:bodyPr/>
          <a:lstStyle/>
          <a:p>
            <a:endParaRPr lang="en-US"/>
          </a:p>
        </p:txBody>
      </p:sp>
      <p:sp>
        <p:nvSpPr>
          <p:cNvPr id="5" name="Text 3"/>
          <p:cNvSpPr txBox="1"/>
          <p:nvPr/>
        </p:nvSpPr>
        <p:spPr>
          <a:xfrm>
            <a:off x="548640" y="4480560"/>
            <a:ext cx="777240" cy="457200"/>
          </a:xfrm>
          <a:prstGeom prst="rect">
            <a:avLst/>
          </a:prstGeom>
          <a:noFill/>
          <a:ln/>
        </p:spPr>
        <p:txBody>
          <a:bodyPr wrap="square" lIns="0" tIns="0" rIns="0" bIns="0" rtlCol="0" anchor="ctr"/>
          <a:lstStyle/>
          <a:p>
            <a:pPr marL="0" indent="0" algn="ctr">
              <a:buNone/>
            </a:pPr>
            <a:r>
              <a:rPr lang="en-US" sz="1600" dirty="0">
                <a:solidFill>
                  <a:schemeClr val="bg1"/>
                </a:solidFill>
              </a:rPr>
              <a:t>prompt</a:t>
            </a:r>
            <a:endParaRPr lang="en-US" sz="1600" dirty="0"/>
          </a:p>
        </p:txBody>
      </p:sp>
      <p:sp>
        <p:nvSpPr>
          <p:cNvPr id="6" name="token chip"/>
          <p:cNvSpPr/>
          <p:nvPr/>
        </p:nvSpPr>
        <p:spPr>
          <a:xfrm>
            <a:off x="1399032" y="4480560"/>
            <a:ext cx="297180" cy="457200"/>
          </a:xfrm>
          <a:prstGeom prst="roundRect">
            <a:avLst>
              <a:gd name="adj" fmla="val 18462"/>
            </a:avLst>
          </a:prstGeom>
          <a:solidFill>
            <a:schemeClr val="accent2"/>
          </a:solidFill>
          <a:ln w="12700">
            <a:solidFill>
              <a:schemeClr val="accent2"/>
            </a:solidFill>
            <a:prstDash val="solid"/>
          </a:ln>
        </p:spPr>
        <p:txBody>
          <a:bodyPr/>
          <a:lstStyle/>
          <a:p>
            <a:endParaRPr lang="en-US"/>
          </a:p>
        </p:txBody>
      </p:sp>
      <p:sp>
        <p:nvSpPr>
          <p:cNvPr id="7" name="Text 5"/>
          <p:cNvSpPr txBox="1"/>
          <p:nvPr/>
        </p:nvSpPr>
        <p:spPr>
          <a:xfrm>
            <a:off x="1399032" y="4480560"/>
            <a:ext cx="297180" cy="457200"/>
          </a:xfrm>
          <a:prstGeom prst="rect">
            <a:avLst/>
          </a:prstGeom>
          <a:noFill/>
          <a:ln/>
        </p:spPr>
        <p:txBody>
          <a:bodyPr wrap="square" lIns="0" tIns="0" rIns="0" bIns="0" rtlCol="0" anchor="ctr"/>
          <a:lstStyle/>
          <a:p>
            <a:pPr marL="0" indent="0" algn="ctr">
              <a:buNone/>
            </a:pPr>
            <a:r>
              <a:rPr lang="en-US" sz="1600" dirty="0">
                <a:solidFill>
                  <a:schemeClr val="bg1"/>
                </a:solidFill>
              </a:rPr>
              <a:t>→</a:t>
            </a:r>
            <a:endParaRPr lang="en-US" sz="1600" dirty="0"/>
          </a:p>
        </p:txBody>
      </p:sp>
      <p:sp>
        <p:nvSpPr>
          <p:cNvPr id="8" name="token chip"/>
          <p:cNvSpPr/>
          <p:nvPr/>
        </p:nvSpPr>
        <p:spPr>
          <a:xfrm>
            <a:off x="1769364" y="4480560"/>
            <a:ext cx="969264" cy="457200"/>
          </a:xfrm>
          <a:prstGeom prst="roundRect">
            <a:avLst>
              <a:gd name="adj" fmla="val 12000"/>
            </a:avLst>
          </a:prstGeom>
          <a:solidFill>
            <a:schemeClr val="accent3"/>
          </a:solidFill>
          <a:ln w="12700">
            <a:solidFill>
              <a:schemeClr val="accent3"/>
            </a:solidFill>
            <a:prstDash val="solid"/>
          </a:ln>
        </p:spPr>
        <p:txBody>
          <a:bodyPr/>
          <a:lstStyle/>
          <a:p>
            <a:endParaRPr lang="en-US"/>
          </a:p>
        </p:txBody>
      </p:sp>
      <p:sp>
        <p:nvSpPr>
          <p:cNvPr id="9" name="Text 7"/>
          <p:cNvSpPr txBox="1"/>
          <p:nvPr/>
        </p:nvSpPr>
        <p:spPr>
          <a:xfrm>
            <a:off x="1769364" y="4480560"/>
            <a:ext cx="969264" cy="457200"/>
          </a:xfrm>
          <a:prstGeom prst="rect">
            <a:avLst/>
          </a:prstGeom>
          <a:noFill/>
          <a:ln/>
        </p:spPr>
        <p:txBody>
          <a:bodyPr wrap="square" lIns="0" tIns="0" rIns="0" bIns="0" rtlCol="0" anchor="ctr"/>
          <a:lstStyle/>
          <a:p>
            <a:pPr marL="0" indent="0" algn="ctr">
              <a:buNone/>
            </a:pPr>
            <a:r>
              <a:rPr lang="en-US" sz="1600" dirty="0">
                <a:solidFill>
                  <a:schemeClr val="bg1"/>
                </a:solidFill>
              </a:rPr>
              <a:t>settings</a:t>
            </a:r>
            <a:endParaRPr lang="en-US" sz="1600" dirty="0"/>
          </a:p>
        </p:txBody>
      </p:sp>
      <p:sp>
        <p:nvSpPr>
          <p:cNvPr id="10" name="token chip"/>
          <p:cNvSpPr/>
          <p:nvPr/>
        </p:nvSpPr>
        <p:spPr>
          <a:xfrm>
            <a:off x="2811780" y="4480560"/>
            <a:ext cx="297180" cy="457200"/>
          </a:xfrm>
          <a:prstGeom prst="roundRect">
            <a:avLst>
              <a:gd name="adj" fmla="val 18462"/>
            </a:avLst>
          </a:prstGeom>
          <a:solidFill>
            <a:schemeClr val="accent4"/>
          </a:solidFill>
          <a:ln w="12700">
            <a:solidFill>
              <a:schemeClr val="accent4"/>
            </a:solidFill>
            <a:prstDash val="solid"/>
          </a:ln>
        </p:spPr>
        <p:txBody>
          <a:bodyPr/>
          <a:lstStyle/>
          <a:p>
            <a:endParaRPr lang="en-US"/>
          </a:p>
        </p:txBody>
      </p:sp>
      <p:sp>
        <p:nvSpPr>
          <p:cNvPr id="11" name="Text 9"/>
          <p:cNvSpPr txBox="1"/>
          <p:nvPr/>
        </p:nvSpPr>
        <p:spPr>
          <a:xfrm>
            <a:off x="2811780" y="4480560"/>
            <a:ext cx="297180" cy="457200"/>
          </a:xfrm>
          <a:prstGeom prst="rect">
            <a:avLst/>
          </a:prstGeom>
          <a:noFill/>
          <a:ln/>
        </p:spPr>
        <p:txBody>
          <a:bodyPr wrap="square" lIns="0" tIns="0" rIns="0" bIns="0" rtlCol="0" anchor="ctr"/>
          <a:lstStyle/>
          <a:p>
            <a:pPr marL="0" indent="0" algn="ctr">
              <a:buNone/>
            </a:pPr>
            <a:r>
              <a:rPr lang="en-US" sz="1600" dirty="0">
                <a:solidFill>
                  <a:schemeClr val="tx1"/>
                </a:solidFill>
              </a:rPr>
              <a:t>→</a:t>
            </a:r>
            <a:endParaRPr lang="en-US" sz="1600" dirty="0"/>
          </a:p>
        </p:txBody>
      </p:sp>
      <p:sp>
        <p:nvSpPr>
          <p:cNvPr id="12" name="token chip"/>
          <p:cNvSpPr/>
          <p:nvPr/>
        </p:nvSpPr>
        <p:spPr>
          <a:xfrm>
            <a:off x="3182112" y="4480560"/>
            <a:ext cx="777240" cy="457200"/>
          </a:xfrm>
          <a:prstGeom prst="roundRect">
            <a:avLst>
              <a:gd name="adj" fmla="val 12000"/>
            </a:avLst>
          </a:prstGeom>
          <a:solidFill>
            <a:schemeClr val="accent1"/>
          </a:solidFill>
          <a:ln w="12700">
            <a:solidFill>
              <a:schemeClr val="accent1"/>
            </a:solidFill>
            <a:prstDash val="solid"/>
          </a:ln>
        </p:spPr>
        <p:txBody>
          <a:bodyPr/>
          <a:lstStyle/>
          <a:p>
            <a:endParaRPr lang="en-US"/>
          </a:p>
        </p:txBody>
      </p:sp>
      <p:sp>
        <p:nvSpPr>
          <p:cNvPr id="13" name="Text 11"/>
          <p:cNvSpPr txBox="1"/>
          <p:nvPr/>
        </p:nvSpPr>
        <p:spPr>
          <a:xfrm>
            <a:off x="3182112" y="4480560"/>
            <a:ext cx="777240" cy="457200"/>
          </a:xfrm>
          <a:prstGeom prst="rect">
            <a:avLst/>
          </a:prstGeom>
          <a:noFill/>
          <a:ln/>
        </p:spPr>
        <p:txBody>
          <a:bodyPr wrap="square" lIns="0" tIns="0" rIns="0" bIns="0" rtlCol="0" anchor="ctr"/>
          <a:lstStyle/>
          <a:p>
            <a:pPr marL="0" indent="0" algn="ctr">
              <a:buNone/>
            </a:pPr>
            <a:r>
              <a:rPr lang="en-US" sz="1600" dirty="0">
                <a:solidFill>
                  <a:schemeClr val="bg1"/>
                </a:solidFill>
              </a:rPr>
              <a:t>agents</a:t>
            </a:r>
            <a:endParaRPr lang="en-US" sz="1600" dirty="0"/>
          </a:p>
        </p:txBody>
      </p:sp>
      <p:sp>
        <p:nvSpPr>
          <p:cNvPr id="14" name="token chip"/>
          <p:cNvSpPr/>
          <p:nvPr/>
        </p:nvSpPr>
        <p:spPr>
          <a:xfrm>
            <a:off x="4032504" y="4480560"/>
            <a:ext cx="297180" cy="457200"/>
          </a:xfrm>
          <a:prstGeom prst="roundRect">
            <a:avLst>
              <a:gd name="adj" fmla="val 18462"/>
            </a:avLst>
          </a:prstGeom>
          <a:solidFill>
            <a:schemeClr val="accent2"/>
          </a:solidFill>
          <a:ln w="12700">
            <a:solidFill>
              <a:schemeClr val="accent2"/>
            </a:solidFill>
            <a:prstDash val="solid"/>
          </a:ln>
        </p:spPr>
        <p:txBody>
          <a:bodyPr/>
          <a:lstStyle/>
          <a:p>
            <a:endParaRPr lang="en-US"/>
          </a:p>
        </p:txBody>
      </p:sp>
      <p:sp>
        <p:nvSpPr>
          <p:cNvPr id="15" name="Text 13"/>
          <p:cNvSpPr txBox="1"/>
          <p:nvPr/>
        </p:nvSpPr>
        <p:spPr>
          <a:xfrm>
            <a:off x="4032504" y="4480560"/>
            <a:ext cx="297180" cy="457200"/>
          </a:xfrm>
          <a:prstGeom prst="rect">
            <a:avLst/>
          </a:prstGeom>
          <a:noFill/>
          <a:ln/>
        </p:spPr>
        <p:txBody>
          <a:bodyPr wrap="square" lIns="0" tIns="0" rIns="0" bIns="0" rtlCol="0" anchor="ctr"/>
          <a:lstStyle/>
          <a:p>
            <a:pPr marL="0" indent="0" algn="ctr">
              <a:buNone/>
            </a:pPr>
            <a:r>
              <a:rPr lang="en-US" sz="1600" dirty="0">
                <a:solidFill>
                  <a:schemeClr val="bg1"/>
                </a:solidFill>
              </a:rPr>
              <a:t>→</a:t>
            </a:r>
            <a:endParaRPr lang="en-US" sz="1600" dirty="0"/>
          </a:p>
        </p:txBody>
      </p:sp>
      <p:sp>
        <p:nvSpPr>
          <p:cNvPr id="16" name="token chip"/>
          <p:cNvSpPr/>
          <p:nvPr/>
        </p:nvSpPr>
        <p:spPr>
          <a:xfrm>
            <a:off x="4402836" y="4480560"/>
            <a:ext cx="1065276" cy="457200"/>
          </a:xfrm>
          <a:prstGeom prst="roundRect">
            <a:avLst>
              <a:gd name="adj" fmla="val 12000"/>
            </a:avLst>
          </a:prstGeom>
          <a:solidFill>
            <a:schemeClr val="accent3"/>
          </a:solidFill>
          <a:ln w="12700">
            <a:solidFill>
              <a:schemeClr val="accent3"/>
            </a:solidFill>
            <a:prstDash val="solid"/>
          </a:ln>
        </p:spPr>
        <p:txBody>
          <a:bodyPr/>
          <a:lstStyle/>
          <a:p>
            <a:endParaRPr lang="en-US"/>
          </a:p>
        </p:txBody>
      </p:sp>
      <p:sp>
        <p:nvSpPr>
          <p:cNvPr id="17" name="Text 15"/>
          <p:cNvSpPr txBox="1"/>
          <p:nvPr/>
        </p:nvSpPr>
        <p:spPr>
          <a:xfrm>
            <a:off x="4402836" y="4480560"/>
            <a:ext cx="1065276" cy="457200"/>
          </a:xfrm>
          <a:prstGeom prst="rect">
            <a:avLst/>
          </a:prstGeom>
          <a:noFill/>
          <a:ln/>
        </p:spPr>
        <p:txBody>
          <a:bodyPr wrap="square" lIns="0" tIns="0" rIns="0" bIns="0" rtlCol="0" anchor="ctr"/>
          <a:lstStyle/>
          <a:p>
            <a:pPr marL="0" indent="0" algn="ctr">
              <a:buNone/>
            </a:pPr>
            <a:r>
              <a:rPr lang="en-US" sz="1600" dirty="0">
                <a:solidFill>
                  <a:schemeClr val="bg1"/>
                </a:solidFill>
              </a:rPr>
              <a:t>workflows</a:t>
            </a:r>
            <a:endParaRPr lang="en-US" sz="1600" dirty="0"/>
          </a:p>
        </p:txBody>
      </p:sp>
      <p:sp>
        <p:nvSpPr>
          <p:cNvPr id="18" name="Text 16"/>
          <p:cNvSpPr txBox="1"/>
          <p:nvPr/>
        </p:nvSpPr>
        <p:spPr>
          <a:xfrm>
            <a:off x="548640" y="5166360"/>
            <a:ext cx="8229600" cy="365760"/>
          </a:xfrm>
          <a:prstGeom prst="rect">
            <a:avLst/>
          </a:prstGeom>
          <a:noFill/>
          <a:ln/>
        </p:spPr>
        <p:txBody>
          <a:bodyPr wrap="square" lIns="0" tIns="0" rIns="0" bIns="0" rtlCol="0" anchor="t"/>
          <a:lstStyle/>
          <a:p>
            <a:pPr marL="0" indent="0">
              <a:buNone/>
            </a:pPr>
            <a:r>
              <a:rPr lang="en-US" sz="1200" i="1" dirty="0">
                <a:solidFill>
                  <a:schemeClr val="accent5"/>
                </a:solidFill>
              </a:rPr>
              <a:t>A companion to “From Tokens to Teams of Agents”: that deck explains how it works, this one explains how to use 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Five parts, from one prompt to a team of agents</a:t>
            </a:r>
            <a:endParaRPr lang="en-US" sz="3200" dirty="0"/>
          </a:p>
        </p:txBody>
      </p:sp>
      <p:sp>
        <p:nvSpPr>
          <p:cNvPr id="3" name="card"/>
          <p:cNvSpPr/>
          <p:nvPr/>
        </p:nvSpPr>
        <p:spPr>
          <a:xfrm>
            <a:off x="548640" y="1463040"/>
            <a:ext cx="2066544" cy="42062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icon circle"/>
          <p:cNvSpPr/>
          <p:nvPr/>
        </p:nvSpPr>
        <p:spPr>
          <a:xfrm>
            <a:off x="822960" y="178308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5" name="Image 0" descr="PenNib icon"/>
          <p:cNvPicPr>
            <a:picLocks noChangeAspect="1"/>
          </p:cNvPicPr>
          <p:nvPr/>
        </p:nvPicPr>
        <p:blipFill>
          <a:blip r:embed="rId3"/>
          <a:stretch>
            <a:fillRect/>
          </a:stretch>
        </p:blipFill>
        <p:spPr>
          <a:xfrm>
            <a:off x="1005840" y="1965960"/>
            <a:ext cx="365760" cy="365760"/>
          </a:xfrm>
          <a:prstGeom prst="rect">
            <a:avLst/>
          </a:prstGeom>
        </p:spPr>
      </p:pic>
      <p:sp>
        <p:nvSpPr>
          <p:cNvPr id="6" name="Text 3"/>
          <p:cNvSpPr txBox="1"/>
          <p:nvPr/>
        </p:nvSpPr>
        <p:spPr>
          <a:xfrm>
            <a:off x="822960" y="2743200"/>
            <a:ext cx="164592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PART 1</a:t>
            </a:r>
            <a:endParaRPr lang="en-US" sz="1100" dirty="0"/>
          </a:p>
        </p:txBody>
      </p:sp>
      <p:sp>
        <p:nvSpPr>
          <p:cNvPr id="7" name="Text 4"/>
          <p:cNvSpPr txBox="1"/>
          <p:nvPr/>
        </p:nvSpPr>
        <p:spPr>
          <a:xfrm>
            <a:off x="822960" y="3063240"/>
            <a:ext cx="1645920" cy="6858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Prompting</a:t>
            </a:r>
            <a:endParaRPr lang="en-US" sz="1800" dirty="0"/>
          </a:p>
        </p:txBody>
      </p:sp>
      <p:sp>
        <p:nvSpPr>
          <p:cNvPr id="8" name="Text 5"/>
          <p:cNvSpPr txBox="1"/>
          <p:nvPr/>
        </p:nvSpPr>
        <p:spPr>
          <a:xfrm>
            <a:off x="822960" y="3794760"/>
            <a:ext cx="1600200" cy="1645920"/>
          </a:xfrm>
          <a:prstGeom prst="rect">
            <a:avLst/>
          </a:prstGeom>
          <a:noFill/>
          <a:ln/>
        </p:spPr>
        <p:txBody>
          <a:bodyPr wrap="square" lIns="0" tIns="0" rIns="0" bIns="0" rtlCol="0" anchor="t"/>
          <a:lstStyle/>
          <a:p>
            <a:pPr marL="0" indent="0">
              <a:buNone/>
            </a:pPr>
            <a:r>
              <a:rPr lang="en-US" sz="1300" dirty="0">
                <a:solidFill>
                  <a:schemeClr val="tx2"/>
                </a:solidFill>
              </a:rPr>
              <a:t>The colleague test, prompt anatomy, techniques, long documents</a:t>
            </a:r>
            <a:endParaRPr lang="en-US" sz="1300" dirty="0"/>
          </a:p>
        </p:txBody>
      </p:sp>
      <p:sp>
        <p:nvSpPr>
          <p:cNvPr id="9" name="card"/>
          <p:cNvSpPr/>
          <p:nvPr/>
        </p:nvSpPr>
        <p:spPr>
          <a:xfrm>
            <a:off x="2798064" y="1463040"/>
            <a:ext cx="2066544" cy="42062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0" name="icon circle"/>
          <p:cNvSpPr/>
          <p:nvPr/>
        </p:nvSpPr>
        <p:spPr>
          <a:xfrm>
            <a:off x="3072384" y="1783080"/>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11" name="Image 1" descr="Sliders icon"/>
          <p:cNvPicPr>
            <a:picLocks noChangeAspect="1"/>
          </p:cNvPicPr>
          <p:nvPr/>
        </p:nvPicPr>
        <p:blipFill>
          <a:blip r:embed="rId4"/>
          <a:stretch>
            <a:fillRect/>
          </a:stretch>
        </p:blipFill>
        <p:spPr>
          <a:xfrm>
            <a:off x="3255264" y="1965960"/>
            <a:ext cx="365760" cy="365760"/>
          </a:xfrm>
          <a:prstGeom prst="rect">
            <a:avLst/>
          </a:prstGeom>
        </p:spPr>
      </p:pic>
      <p:sp>
        <p:nvSpPr>
          <p:cNvPr id="12" name="Text 8"/>
          <p:cNvSpPr txBox="1"/>
          <p:nvPr/>
        </p:nvSpPr>
        <p:spPr>
          <a:xfrm>
            <a:off x="3072384" y="2743200"/>
            <a:ext cx="1645920" cy="274320"/>
          </a:xfrm>
          <a:prstGeom prst="rect">
            <a:avLst/>
          </a:prstGeom>
          <a:noFill/>
          <a:ln/>
        </p:spPr>
        <p:txBody>
          <a:bodyPr wrap="square" lIns="0" tIns="0" rIns="0" bIns="0" rtlCol="0" anchor="t"/>
          <a:lstStyle/>
          <a:p>
            <a:pPr marL="0" indent="0">
              <a:buNone/>
            </a:pPr>
            <a:r>
              <a:rPr lang="en-US" sz="1100" b="1" kern="0" spc="300" dirty="0">
                <a:solidFill>
                  <a:schemeClr val="accent2"/>
                </a:solidFill>
              </a:rPr>
              <a:t>PART 2</a:t>
            </a:r>
            <a:endParaRPr lang="en-US" sz="1100" dirty="0"/>
          </a:p>
        </p:txBody>
      </p:sp>
      <p:sp>
        <p:nvSpPr>
          <p:cNvPr id="13" name="Text 9"/>
          <p:cNvSpPr txBox="1"/>
          <p:nvPr/>
        </p:nvSpPr>
        <p:spPr>
          <a:xfrm>
            <a:off x="3072384" y="3063240"/>
            <a:ext cx="1645920" cy="6858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The knobs</a:t>
            </a:r>
            <a:endParaRPr lang="en-US" sz="1800" dirty="0"/>
          </a:p>
        </p:txBody>
      </p:sp>
      <p:sp>
        <p:nvSpPr>
          <p:cNvPr id="14" name="Text 10"/>
          <p:cNvSpPr txBox="1"/>
          <p:nvPr/>
        </p:nvSpPr>
        <p:spPr>
          <a:xfrm>
            <a:off x="3072384" y="3794760"/>
            <a:ext cx="1600200" cy="1645920"/>
          </a:xfrm>
          <a:prstGeom prst="rect">
            <a:avLst/>
          </a:prstGeom>
          <a:noFill/>
          <a:ln/>
        </p:spPr>
        <p:txBody>
          <a:bodyPr wrap="square" lIns="0" tIns="0" rIns="0" bIns="0" rtlCol="0" anchor="t"/>
          <a:lstStyle/>
          <a:p>
            <a:pPr marL="0" indent="0">
              <a:buNone/>
            </a:pPr>
            <a:r>
              <a:rPr lang="en-US" sz="1300" dirty="0">
                <a:solidFill>
                  <a:schemeClr val="tx2"/>
                </a:solidFill>
              </a:rPr>
              <a:t>Sampling, effort, context window, max_tokens, KV cache and prompt caching</a:t>
            </a:r>
            <a:endParaRPr lang="en-US" sz="1300" dirty="0"/>
          </a:p>
        </p:txBody>
      </p:sp>
      <p:sp>
        <p:nvSpPr>
          <p:cNvPr id="15" name="card"/>
          <p:cNvSpPr/>
          <p:nvPr/>
        </p:nvSpPr>
        <p:spPr>
          <a:xfrm>
            <a:off x="5047488" y="1463040"/>
            <a:ext cx="2066544" cy="42062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6" name="icon circle"/>
          <p:cNvSpPr/>
          <p:nvPr/>
        </p:nvSpPr>
        <p:spPr>
          <a:xfrm>
            <a:off x="5321808" y="1783080"/>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17" name="Image 2" descr="LocationDot icon"/>
          <p:cNvPicPr>
            <a:picLocks noChangeAspect="1"/>
          </p:cNvPicPr>
          <p:nvPr/>
        </p:nvPicPr>
        <p:blipFill>
          <a:blip r:embed="rId5"/>
          <a:stretch>
            <a:fillRect/>
          </a:stretch>
        </p:blipFill>
        <p:spPr>
          <a:xfrm>
            <a:off x="5504688" y="1965960"/>
            <a:ext cx="365760" cy="365760"/>
          </a:xfrm>
          <a:prstGeom prst="rect">
            <a:avLst/>
          </a:prstGeom>
        </p:spPr>
      </p:pic>
      <p:sp>
        <p:nvSpPr>
          <p:cNvPr id="18" name="Text 13"/>
          <p:cNvSpPr txBox="1"/>
          <p:nvPr/>
        </p:nvSpPr>
        <p:spPr>
          <a:xfrm>
            <a:off x="5321808" y="2743200"/>
            <a:ext cx="1645920" cy="274320"/>
          </a:xfrm>
          <a:prstGeom prst="rect">
            <a:avLst/>
          </a:prstGeom>
          <a:noFill/>
          <a:ln/>
        </p:spPr>
        <p:txBody>
          <a:bodyPr wrap="square" lIns="0" tIns="0" rIns="0" bIns="0" rtlCol="0" anchor="t"/>
          <a:lstStyle/>
          <a:p>
            <a:pPr marL="0" indent="0">
              <a:buNone/>
            </a:pPr>
            <a:r>
              <a:rPr lang="en-US" sz="1100" b="1" kern="0" spc="300" dirty="0">
                <a:solidFill>
                  <a:schemeClr val="accent3"/>
                </a:solidFill>
              </a:rPr>
              <a:t>PART 3</a:t>
            </a:r>
            <a:endParaRPr lang="en-US" sz="1100" dirty="0"/>
          </a:p>
        </p:txBody>
      </p:sp>
      <p:sp>
        <p:nvSpPr>
          <p:cNvPr id="19" name="Text 14"/>
          <p:cNvSpPr txBox="1"/>
          <p:nvPr/>
        </p:nvSpPr>
        <p:spPr>
          <a:xfrm>
            <a:off x="5321808" y="3063240"/>
            <a:ext cx="1645920" cy="6858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Where to set them</a:t>
            </a:r>
            <a:endParaRPr lang="en-US" sz="1800" dirty="0"/>
          </a:p>
        </p:txBody>
      </p:sp>
      <p:sp>
        <p:nvSpPr>
          <p:cNvPr id="20" name="Text 15"/>
          <p:cNvSpPr txBox="1"/>
          <p:nvPr/>
        </p:nvSpPr>
        <p:spPr>
          <a:xfrm>
            <a:off x="5321808" y="3794760"/>
            <a:ext cx="1600200" cy="1645920"/>
          </a:xfrm>
          <a:prstGeom prst="rect">
            <a:avLst/>
          </a:prstGeom>
          <a:noFill/>
          <a:ln/>
        </p:spPr>
        <p:txBody>
          <a:bodyPr wrap="square" lIns="0" tIns="0" rIns="0" bIns="0" rtlCol="0" anchor="t"/>
          <a:lstStyle/>
          <a:p>
            <a:pPr marL="0" indent="0">
              <a:buNone/>
            </a:pPr>
            <a:r>
              <a:rPr lang="en-US" sz="1300" dirty="0">
                <a:solidFill>
                  <a:schemeClr val="tx2"/>
                </a:solidFill>
              </a:rPr>
              <a:t>Claude app, API, Claude Code, local open models</a:t>
            </a:r>
            <a:endParaRPr lang="en-US" sz="1300" dirty="0"/>
          </a:p>
        </p:txBody>
      </p:sp>
      <p:sp>
        <p:nvSpPr>
          <p:cNvPr id="21" name="card"/>
          <p:cNvSpPr/>
          <p:nvPr/>
        </p:nvSpPr>
        <p:spPr>
          <a:xfrm>
            <a:off x="7296912" y="1463040"/>
            <a:ext cx="2066544" cy="42062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2" name="icon circle"/>
          <p:cNvSpPr/>
          <p:nvPr/>
        </p:nvSpPr>
        <p:spPr>
          <a:xfrm>
            <a:off x="7571232" y="1783080"/>
            <a:ext cx="731520" cy="731520"/>
          </a:xfrm>
          <a:prstGeom prst="ellipse">
            <a:avLst/>
          </a:prstGeom>
          <a:solidFill>
            <a:schemeClr val="accent4"/>
          </a:solidFill>
          <a:ln w="12700">
            <a:solidFill>
              <a:schemeClr val="accent4"/>
            </a:solidFill>
            <a:prstDash val="solid"/>
          </a:ln>
        </p:spPr>
        <p:txBody>
          <a:bodyPr/>
          <a:lstStyle/>
          <a:p>
            <a:endParaRPr lang="en-US"/>
          </a:p>
        </p:txBody>
      </p:sp>
      <p:pic>
        <p:nvPicPr>
          <p:cNvPr id="23" name="Image 3" descr="Users icon"/>
          <p:cNvPicPr>
            <a:picLocks noChangeAspect="1"/>
          </p:cNvPicPr>
          <p:nvPr/>
        </p:nvPicPr>
        <p:blipFill>
          <a:blip r:embed="rId6"/>
          <a:stretch>
            <a:fillRect/>
          </a:stretch>
        </p:blipFill>
        <p:spPr>
          <a:xfrm>
            <a:off x="7754112" y="1965960"/>
            <a:ext cx="365760" cy="365760"/>
          </a:xfrm>
          <a:prstGeom prst="rect">
            <a:avLst/>
          </a:prstGeom>
        </p:spPr>
      </p:pic>
      <p:sp>
        <p:nvSpPr>
          <p:cNvPr id="24" name="Text 18"/>
          <p:cNvSpPr txBox="1"/>
          <p:nvPr/>
        </p:nvSpPr>
        <p:spPr>
          <a:xfrm>
            <a:off x="7571232" y="2743200"/>
            <a:ext cx="1645920" cy="274320"/>
          </a:xfrm>
          <a:prstGeom prst="rect">
            <a:avLst/>
          </a:prstGeom>
          <a:noFill/>
          <a:ln/>
        </p:spPr>
        <p:txBody>
          <a:bodyPr wrap="square" lIns="0" tIns="0" rIns="0" bIns="0" rtlCol="0" anchor="t"/>
          <a:lstStyle/>
          <a:p>
            <a:pPr marL="0" indent="0">
              <a:buNone/>
            </a:pPr>
            <a:r>
              <a:rPr lang="en-US" sz="1100" b="1" kern="0" spc="300" dirty="0">
                <a:solidFill>
                  <a:schemeClr val="accent4"/>
                </a:solidFill>
              </a:rPr>
              <a:t>PART 4</a:t>
            </a:r>
            <a:endParaRPr lang="en-US" sz="1100" dirty="0"/>
          </a:p>
        </p:txBody>
      </p:sp>
      <p:sp>
        <p:nvSpPr>
          <p:cNvPr id="25" name="Text 19"/>
          <p:cNvSpPr txBox="1"/>
          <p:nvPr/>
        </p:nvSpPr>
        <p:spPr>
          <a:xfrm>
            <a:off x="7571232" y="3063240"/>
            <a:ext cx="1645920" cy="6858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Agents &amp; multi-agent</a:t>
            </a:r>
            <a:endParaRPr lang="en-US" sz="1800" dirty="0"/>
          </a:p>
        </p:txBody>
      </p:sp>
      <p:sp>
        <p:nvSpPr>
          <p:cNvPr id="26" name="Text 20"/>
          <p:cNvSpPr txBox="1"/>
          <p:nvPr/>
        </p:nvSpPr>
        <p:spPr>
          <a:xfrm>
            <a:off x="7571232" y="3794760"/>
            <a:ext cx="1600200" cy="1645920"/>
          </a:xfrm>
          <a:prstGeom prst="rect">
            <a:avLst/>
          </a:prstGeom>
          <a:noFill/>
          <a:ln/>
        </p:spPr>
        <p:txBody>
          <a:bodyPr wrap="square" lIns="0" tIns="0" rIns="0" bIns="0" rtlCol="0" anchor="t"/>
          <a:lstStyle/>
          <a:p>
            <a:pPr marL="0" indent="0">
              <a:buNone/>
            </a:pPr>
            <a:r>
              <a:rPr lang="en-US" sz="1300" dirty="0">
                <a:solidFill>
                  <a:schemeClr val="tx2"/>
                </a:solidFill>
              </a:rPr>
              <a:t>The agent loop, five workflow patterns, orchestrators, subagents</a:t>
            </a:r>
            <a:endParaRPr lang="en-US" sz="1300" dirty="0"/>
          </a:p>
        </p:txBody>
      </p:sp>
      <p:sp>
        <p:nvSpPr>
          <p:cNvPr id="27" name="card"/>
          <p:cNvSpPr/>
          <p:nvPr/>
        </p:nvSpPr>
        <p:spPr>
          <a:xfrm>
            <a:off x="9546336" y="1463040"/>
            <a:ext cx="2066544" cy="42062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8" name="icon circle"/>
          <p:cNvSpPr/>
          <p:nvPr/>
        </p:nvSpPr>
        <p:spPr>
          <a:xfrm>
            <a:off x="9820656" y="1783080"/>
            <a:ext cx="731520" cy="731520"/>
          </a:xfrm>
          <a:prstGeom prst="ellipse">
            <a:avLst/>
          </a:prstGeom>
          <a:solidFill>
            <a:schemeClr val="tx1"/>
          </a:solidFill>
          <a:ln w="12700">
            <a:solidFill>
              <a:schemeClr val="tx1"/>
            </a:solidFill>
            <a:prstDash val="solid"/>
          </a:ln>
        </p:spPr>
        <p:txBody>
          <a:bodyPr/>
          <a:lstStyle/>
          <a:p>
            <a:endParaRPr lang="en-US"/>
          </a:p>
        </p:txBody>
      </p:sp>
      <p:pic>
        <p:nvPicPr>
          <p:cNvPr id="29" name="Image 4" descr="DiagramProject icon"/>
          <p:cNvPicPr>
            <a:picLocks noChangeAspect="1"/>
          </p:cNvPicPr>
          <p:nvPr/>
        </p:nvPicPr>
        <p:blipFill>
          <a:blip r:embed="rId7"/>
          <a:stretch>
            <a:fillRect/>
          </a:stretch>
        </p:blipFill>
        <p:spPr>
          <a:xfrm>
            <a:off x="10003536" y="1965960"/>
            <a:ext cx="365760" cy="365760"/>
          </a:xfrm>
          <a:prstGeom prst="rect">
            <a:avLst/>
          </a:prstGeom>
        </p:spPr>
      </p:pic>
      <p:sp>
        <p:nvSpPr>
          <p:cNvPr id="30" name="Text 23"/>
          <p:cNvSpPr txBox="1"/>
          <p:nvPr/>
        </p:nvSpPr>
        <p:spPr>
          <a:xfrm>
            <a:off x="9820656" y="2743200"/>
            <a:ext cx="1645920" cy="274320"/>
          </a:xfrm>
          <a:prstGeom prst="rect">
            <a:avLst/>
          </a:prstGeom>
          <a:noFill/>
          <a:ln/>
        </p:spPr>
        <p:txBody>
          <a:bodyPr wrap="square" lIns="0" tIns="0" rIns="0" bIns="0" rtlCol="0" anchor="t"/>
          <a:lstStyle/>
          <a:p>
            <a:pPr marL="0" indent="0">
              <a:buNone/>
            </a:pPr>
            <a:r>
              <a:rPr lang="en-US" sz="1100" b="1" kern="0" spc="300" dirty="0">
                <a:solidFill>
                  <a:schemeClr val="tx2"/>
                </a:solidFill>
              </a:rPr>
              <a:t>PART 5</a:t>
            </a:r>
            <a:endParaRPr lang="en-US" sz="1100" dirty="0"/>
          </a:p>
        </p:txBody>
      </p:sp>
      <p:sp>
        <p:nvSpPr>
          <p:cNvPr id="31" name="Text 24"/>
          <p:cNvSpPr txBox="1"/>
          <p:nvPr/>
        </p:nvSpPr>
        <p:spPr>
          <a:xfrm>
            <a:off x="9820656" y="3063240"/>
            <a:ext cx="1645920" cy="68580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Workflows &amp; plans</a:t>
            </a:r>
            <a:endParaRPr lang="en-US" sz="1800" dirty="0"/>
          </a:p>
        </p:txBody>
      </p:sp>
      <p:sp>
        <p:nvSpPr>
          <p:cNvPr id="32" name="Text 25"/>
          <p:cNvSpPr txBox="1"/>
          <p:nvPr/>
        </p:nvSpPr>
        <p:spPr>
          <a:xfrm>
            <a:off x="9820656" y="3794760"/>
            <a:ext cx="1600200" cy="1645920"/>
          </a:xfrm>
          <a:prstGeom prst="rect">
            <a:avLst/>
          </a:prstGeom>
          <a:noFill/>
          <a:ln/>
        </p:spPr>
        <p:txBody>
          <a:bodyPr wrap="square" lIns="0" tIns="0" rIns="0" bIns="0" rtlCol="0" anchor="t"/>
          <a:lstStyle/>
          <a:p>
            <a:pPr marL="0" indent="0">
              <a:buNone/>
            </a:pPr>
            <a:r>
              <a:rPr lang="en-US" sz="1300" dirty="0">
                <a:solidFill>
                  <a:schemeClr val="tx2"/>
                </a:solidFill>
              </a:rPr>
              <a:t>Plan mode, skills, hooks, long-running work, a worked example</a:t>
            </a:r>
            <a:endParaRPr lang="en-US" sz="13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365760"/>
          </a:xfrm>
          <a:prstGeom prst="rect">
            <a:avLst/>
          </a:prstGeom>
          <a:noFill/>
          <a:ln/>
        </p:spPr>
        <p:txBody>
          <a:bodyPr wrap="square" lIns="0" tIns="0" rIns="0" bIns="0" rtlCol="0"/>
          <a:lstStyle/>
          <a:p>
            <a:pPr marL="0" indent="0">
              <a:buNone/>
            </a:pPr>
            <a:r>
              <a:rPr lang="en-US" sz="1400" b="1" kern="0" spc="400" dirty="0">
                <a:solidFill>
                  <a:schemeClr val="accent1"/>
                </a:solidFill>
              </a:rPr>
              <a:t>PART 1</a:t>
            </a:r>
            <a:endParaRPr lang="en-US" sz="1400" dirty="0"/>
          </a:p>
        </p:txBody>
      </p:sp>
      <p:sp>
        <p:nvSpPr>
          <p:cNvPr id="3" name="Text 0"/>
          <p:cNvSpPr>
            <a:spLocks noGrp="1"/>
          </p:cNvSpPr>
          <p:nvPr>
            <p:ph type="title" idx="101" hasCustomPrompt="1"/>
          </p:nvPr>
        </p:nvSpPr>
        <p:spPr>
          <a:xfrm>
            <a:off x="548640" y="2423160"/>
            <a:ext cx="6583680" cy="914400"/>
          </a:xfrm>
          <a:prstGeom prst="rect">
            <a:avLst/>
          </a:prstGeom>
          <a:noFill/>
          <a:ln/>
        </p:spPr>
        <p:txBody>
          <a:bodyPr wrap="square" lIns="0" tIns="0" rIns="0" bIns="0"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Prompting</a:t>
            </a:r>
            <a:endParaRPr lang="en-US" sz="4000" dirty="0"/>
          </a:p>
        </p:txBody>
      </p:sp>
      <p:sp>
        <p:nvSpPr>
          <p:cNvPr id="4" name="Text 0"/>
          <p:cNvSpPr>
            <a:spLocks noGrp="1"/>
          </p:cNvSpPr>
          <p:nvPr>
            <p:ph type="body" idx="102" hasCustomPrompt="1"/>
          </p:nvPr>
        </p:nvSpPr>
        <p:spPr>
          <a:xfrm>
            <a:off x="548640" y="3474720"/>
            <a:ext cx="6217920" cy="1097280"/>
          </a:xfrm>
          <a:prstGeom prst="rect">
            <a:avLst/>
          </a:prstGeom>
          <a:noFill/>
          <a:ln/>
        </p:spPr>
        <p:txBody>
          <a:bodyPr wrap="square" lIns="0" tIns="0" rIns="0" bIns="0" rtlCol="0" anchor="t"/>
          <a:lstStyle/>
          <a:p>
            <a:pPr marL="0" indent="0">
              <a:buNone/>
            </a:pPr>
            <a:r>
              <a:rPr lang="en-US" sz="1800" dirty="0">
                <a:solidFill>
                  <a:schemeClr val="accent6"/>
                </a:solidFill>
              </a:rPr>
              <a:t>Most of the quality you get from Claude is decided by what you write before you press Enter.</a:t>
            </a:r>
            <a:endParaRPr lang="en-US" sz="1800" dirty="0"/>
          </a:p>
        </p:txBody>
      </p:sp>
      <p:sp>
        <p:nvSpPr>
          <p:cNvPr id="5" name="token chip"/>
          <p:cNvSpPr/>
          <p:nvPr/>
        </p:nvSpPr>
        <p:spPr>
          <a:xfrm>
            <a:off x="7863840" y="1645920"/>
            <a:ext cx="749808" cy="502920"/>
          </a:xfrm>
          <a:prstGeom prst="roundRect">
            <a:avLst>
              <a:gd name="adj" fmla="val 10909"/>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7863840" y="1645920"/>
            <a:ext cx="749808" cy="502920"/>
          </a:xfrm>
          <a:prstGeom prst="rect">
            <a:avLst/>
          </a:prstGeom>
          <a:noFill/>
          <a:ln/>
        </p:spPr>
        <p:txBody>
          <a:bodyPr wrap="square" lIns="0" tIns="0" rIns="0" bIns="0" rtlCol="0" anchor="ctr"/>
          <a:lstStyle/>
          <a:p>
            <a:pPr marL="0" indent="0" algn="ctr">
              <a:buNone/>
            </a:pPr>
            <a:r>
              <a:rPr lang="en-US" sz="1600" dirty="0">
                <a:solidFill>
                  <a:schemeClr val="bg1"/>
                </a:solidFill>
              </a:rPr>
              <a:t>Role</a:t>
            </a:r>
            <a:endParaRPr lang="en-US" sz="1600" dirty="0"/>
          </a:p>
        </p:txBody>
      </p:sp>
      <p:sp>
        <p:nvSpPr>
          <p:cNvPr id="7" name="token chip"/>
          <p:cNvSpPr/>
          <p:nvPr/>
        </p:nvSpPr>
        <p:spPr>
          <a:xfrm>
            <a:off x="8750808" y="1645920"/>
            <a:ext cx="1106424" cy="502920"/>
          </a:xfrm>
          <a:prstGeom prst="roundRect">
            <a:avLst>
              <a:gd name="adj" fmla="val 10909"/>
            </a:avLst>
          </a:prstGeom>
          <a:solidFill>
            <a:schemeClr val="accent2"/>
          </a:solidFill>
          <a:ln w="12700">
            <a:solidFill>
              <a:schemeClr val="accent2"/>
            </a:solidFill>
            <a:prstDash val="solid"/>
          </a:ln>
        </p:spPr>
        <p:txBody>
          <a:bodyPr/>
          <a:lstStyle/>
          <a:p>
            <a:endParaRPr lang="en-US"/>
          </a:p>
        </p:txBody>
      </p:sp>
      <p:sp>
        <p:nvSpPr>
          <p:cNvPr id="8" name="Text 6"/>
          <p:cNvSpPr txBox="1"/>
          <p:nvPr/>
        </p:nvSpPr>
        <p:spPr>
          <a:xfrm>
            <a:off x="8750808" y="1645920"/>
            <a:ext cx="1106424" cy="502920"/>
          </a:xfrm>
          <a:prstGeom prst="rect">
            <a:avLst/>
          </a:prstGeom>
          <a:noFill/>
          <a:ln/>
        </p:spPr>
        <p:txBody>
          <a:bodyPr wrap="square" lIns="0" tIns="0" rIns="0" bIns="0" rtlCol="0" anchor="ctr"/>
          <a:lstStyle/>
          <a:p>
            <a:pPr marL="0" indent="0" algn="ctr">
              <a:buNone/>
            </a:pPr>
            <a:r>
              <a:rPr lang="en-US" sz="1600" dirty="0">
                <a:solidFill>
                  <a:schemeClr val="bg1"/>
                </a:solidFill>
              </a:rPr>
              <a:t>Context</a:t>
            </a:r>
            <a:endParaRPr lang="en-US" sz="1600" dirty="0"/>
          </a:p>
        </p:txBody>
      </p:sp>
      <p:sp>
        <p:nvSpPr>
          <p:cNvPr id="9" name="token chip"/>
          <p:cNvSpPr/>
          <p:nvPr/>
        </p:nvSpPr>
        <p:spPr>
          <a:xfrm>
            <a:off x="9994392" y="1645920"/>
            <a:ext cx="749808" cy="502920"/>
          </a:xfrm>
          <a:prstGeom prst="roundRect">
            <a:avLst>
              <a:gd name="adj" fmla="val 10909"/>
            </a:avLst>
          </a:prstGeom>
          <a:solidFill>
            <a:schemeClr val="accent3"/>
          </a:solidFill>
          <a:ln w="12700">
            <a:solidFill>
              <a:schemeClr val="accent3"/>
            </a:solidFill>
            <a:prstDash val="solid"/>
          </a:ln>
        </p:spPr>
        <p:txBody>
          <a:bodyPr/>
          <a:lstStyle/>
          <a:p>
            <a:endParaRPr lang="en-US"/>
          </a:p>
        </p:txBody>
      </p:sp>
      <p:sp>
        <p:nvSpPr>
          <p:cNvPr id="10" name="Text 8"/>
          <p:cNvSpPr txBox="1"/>
          <p:nvPr/>
        </p:nvSpPr>
        <p:spPr>
          <a:xfrm>
            <a:off x="9994392" y="1645920"/>
            <a:ext cx="749808" cy="502920"/>
          </a:xfrm>
          <a:prstGeom prst="rect">
            <a:avLst/>
          </a:prstGeom>
          <a:noFill/>
          <a:ln/>
        </p:spPr>
        <p:txBody>
          <a:bodyPr wrap="square" lIns="0" tIns="0" rIns="0" bIns="0" rtlCol="0" anchor="ctr"/>
          <a:lstStyle/>
          <a:p>
            <a:pPr marL="0" indent="0" algn="ctr">
              <a:buNone/>
            </a:pPr>
            <a:r>
              <a:rPr lang="en-US" sz="1600" dirty="0">
                <a:solidFill>
                  <a:schemeClr val="bg1"/>
                </a:solidFill>
              </a:rPr>
              <a:t>Task</a:t>
            </a:r>
            <a:endParaRPr lang="en-US" sz="1600" dirty="0"/>
          </a:p>
        </p:txBody>
      </p:sp>
      <p:sp>
        <p:nvSpPr>
          <p:cNvPr id="11" name="token chip"/>
          <p:cNvSpPr/>
          <p:nvPr/>
        </p:nvSpPr>
        <p:spPr>
          <a:xfrm>
            <a:off x="8321040" y="2423160"/>
            <a:ext cx="868680" cy="502920"/>
          </a:xfrm>
          <a:prstGeom prst="roundRect">
            <a:avLst>
              <a:gd name="adj" fmla="val 10909"/>
            </a:avLst>
          </a:prstGeom>
          <a:solidFill>
            <a:schemeClr val="accent4"/>
          </a:solidFill>
          <a:ln w="12700">
            <a:solidFill>
              <a:schemeClr val="accent4"/>
            </a:solidFill>
            <a:prstDash val="solid"/>
          </a:ln>
        </p:spPr>
        <p:txBody>
          <a:bodyPr/>
          <a:lstStyle/>
          <a:p>
            <a:endParaRPr lang="en-US"/>
          </a:p>
        </p:txBody>
      </p:sp>
      <p:sp>
        <p:nvSpPr>
          <p:cNvPr id="12" name="Text 10"/>
          <p:cNvSpPr txBox="1"/>
          <p:nvPr/>
        </p:nvSpPr>
        <p:spPr>
          <a:xfrm>
            <a:off x="8321040" y="2423160"/>
            <a:ext cx="868680" cy="502920"/>
          </a:xfrm>
          <a:prstGeom prst="rect">
            <a:avLst/>
          </a:prstGeom>
          <a:noFill/>
          <a:ln/>
        </p:spPr>
        <p:txBody>
          <a:bodyPr wrap="square" lIns="0" tIns="0" rIns="0" bIns="0" rtlCol="0" anchor="ctr"/>
          <a:lstStyle/>
          <a:p>
            <a:pPr marL="0" indent="0" algn="ctr">
              <a:buNone/>
            </a:pPr>
            <a:r>
              <a:rPr lang="en-US" sz="1600" dirty="0">
                <a:solidFill>
                  <a:schemeClr val="tx1"/>
                </a:solidFill>
              </a:rPr>
              <a:t>Rules</a:t>
            </a:r>
            <a:endParaRPr lang="en-US" sz="1600" dirty="0"/>
          </a:p>
        </p:txBody>
      </p:sp>
      <p:sp>
        <p:nvSpPr>
          <p:cNvPr id="13" name="token chip"/>
          <p:cNvSpPr/>
          <p:nvPr/>
        </p:nvSpPr>
        <p:spPr>
          <a:xfrm>
            <a:off x="9326880" y="2423160"/>
            <a:ext cx="987552" cy="502920"/>
          </a:xfrm>
          <a:prstGeom prst="roundRect">
            <a:avLst>
              <a:gd name="adj" fmla="val 10909"/>
            </a:avLst>
          </a:prstGeom>
          <a:solidFill>
            <a:schemeClr val="accent1"/>
          </a:solidFill>
          <a:ln w="12700">
            <a:solidFill>
              <a:schemeClr val="accent1"/>
            </a:solidFill>
            <a:prstDash val="solid"/>
          </a:ln>
        </p:spPr>
        <p:txBody>
          <a:bodyPr/>
          <a:lstStyle/>
          <a:p>
            <a:endParaRPr lang="en-US"/>
          </a:p>
        </p:txBody>
      </p:sp>
      <p:sp>
        <p:nvSpPr>
          <p:cNvPr id="14" name="Text 12"/>
          <p:cNvSpPr txBox="1"/>
          <p:nvPr/>
        </p:nvSpPr>
        <p:spPr>
          <a:xfrm>
            <a:off x="9326880" y="2423160"/>
            <a:ext cx="987552" cy="502920"/>
          </a:xfrm>
          <a:prstGeom prst="rect">
            <a:avLst/>
          </a:prstGeom>
          <a:noFill/>
          <a:ln/>
        </p:spPr>
        <p:txBody>
          <a:bodyPr wrap="square" lIns="0" tIns="0" rIns="0" bIns="0" rtlCol="0" anchor="ctr"/>
          <a:lstStyle/>
          <a:p>
            <a:pPr marL="0" indent="0" algn="ctr">
              <a:buNone/>
            </a:pPr>
            <a:r>
              <a:rPr lang="en-US" sz="1600" dirty="0">
                <a:solidFill>
                  <a:schemeClr val="bg1"/>
                </a:solidFill>
              </a:rPr>
              <a:t>Format</a:t>
            </a:r>
            <a:endParaRPr lang="en-US" sz="1600" dirty="0"/>
          </a:p>
        </p:txBody>
      </p:sp>
      <p:sp>
        <p:nvSpPr>
          <p:cNvPr id="15" name="token chip"/>
          <p:cNvSpPr/>
          <p:nvPr/>
        </p:nvSpPr>
        <p:spPr>
          <a:xfrm>
            <a:off x="10451592" y="2423160"/>
            <a:ext cx="1225296" cy="502920"/>
          </a:xfrm>
          <a:prstGeom prst="roundRect">
            <a:avLst>
              <a:gd name="adj" fmla="val 10909"/>
            </a:avLst>
          </a:prstGeom>
          <a:solidFill>
            <a:schemeClr val="accent2"/>
          </a:solidFill>
          <a:ln w="12700">
            <a:solidFill>
              <a:schemeClr val="accent2"/>
            </a:solidFill>
            <a:prstDash val="solid"/>
          </a:ln>
        </p:spPr>
        <p:txBody>
          <a:bodyPr/>
          <a:lstStyle/>
          <a:p>
            <a:endParaRPr lang="en-US"/>
          </a:p>
        </p:txBody>
      </p:sp>
      <p:sp>
        <p:nvSpPr>
          <p:cNvPr id="16" name="Text 14"/>
          <p:cNvSpPr txBox="1"/>
          <p:nvPr/>
        </p:nvSpPr>
        <p:spPr>
          <a:xfrm>
            <a:off x="10451592" y="2423160"/>
            <a:ext cx="1225296" cy="502920"/>
          </a:xfrm>
          <a:prstGeom prst="rect">
            <a:avLst/>
          </a:prstGeom>
          <a:noFill/>
          <a:ln/>
        </p:spPr>
        <p:txBody>
          <a:bodyPr wrap="square" lIns="0" tIns="0" rIns="0" bIns="0" rtlCol="0" anchor="ctr"/>
          <a:lstStyle/>
          <a:p>
            <a:pPr marL="0" indent="0" algn="ctr">
              <a:buNone/>
            </a:pPr>
            <a:r>
              <a:rPr lang="en-US" sz="1600" dirty="0">
                <a:solidFill>
                  <a:schemeClr val="bg1"/>
                </a:solidFill>
              </a:rPr>
              <a:t>Examples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The golden rule: brief Claude like a brilliant new colleague</a:t>
            </a:r>
            <a:endParaRPr lang="en-US" sz="3200" dirty="0"/>
          </a:p>
        </p:txBody>
      </p:sp>
      <p:sp>
        <p:nvSpPr>
          <p:cNvPr id="3" name="card"/>
          <p:cNvSpPr/>
          <p:nvPr/>
        </p:nvSpPr>
        <p:spPr>
          <a:xfrm>
            <a:off x="548640" y="1371600"/>
            <a:ext cx="5120640" cy="2103120"/>
          </a:xfrm>
          <a:prstGeom prst="roundRect">
            <a:avLst>
              <a:gd name="adj" fmla="val 3478"/>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icon circle"/>
          <p:cNvSpPr/>
          <p:nvPr/>
        </p:nvSpPr>
        <p:spPr>
          <a:xfrm>
            <a:off x="822960" y="164592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5" name="Image 0" descr="UserTie icon"/>
          <p:cNvPicPr>
            <a:picLocks noChangeAspect="1"/>
          </p:cNvPicPr>
          <p:nvPr/>
        </p:nvPicPr>
        <p:blipFill>
          <a:blip r:embed="rId3"/>
          <a:stretch>
            <a:fillRect/>
          </a:stretch>
        </p:blipFill>
        <p:spPr>
          <a:xfrm>
            <a:off x="1005840" y="1828800"/>
            <a:ext cx="365760" cy="365760"/>
          </a:xfrm>
          <a:prstGeom prst="rect">
            <a:avLst/>
          </a:prstGeom>
        </p:spPr>
      </p:pic>
      <p:sp>
        <p:nvSpPr>
          <p:cNvPr id="6" name="Text 3"/>
          <p:cNvSpPr txBox="1"/>
          <p:nvPr/>
        </p:nvSpPr>
        <p:spPr>
          <a:xfrm>
            <a:off x="1783080" y="1645920"/>
            <a:ext cx="3657600" cy="365760"/>
          </a:xfrm>
          <a:prstGeom prst="rect">
            <a:avLst/>
          </a:prstGeom>
          <a:noFill/>
          <a:ln/>
        </p:spPr>
        <p:txBody>
          <a:bodyPr wrap="square" lIns="0" tIns="0" rIns="0" bIns="0" rtlCol="0" anchor="t"/>
          <a:lstStyle/>
          <a:p>
            <a:pPr marL="0" indent="0">
              <a:buNone/>
            </a:pPr>
            <a:r>
              <a:rPr lang="en-US" sz="1800" b="1" dirty="0">
                <a:solidFill>
                  <a:schemeClr val="tx1"/>
                </a:solidFill>
              </a:rPr>
              <a:t>The colleague test</a:t>
            </a:r>
            <a:endParaRPr lang="en-US" sz="1800" dirty="0"/>
          </a:p>
        </p:txBody>
      </p:sp>
      <p:sp>
        <p:nvSpPr>
          <p:cNvPr id="7" name="Text 4"/>
          <p:cNvSpPr txBox="1"/>
          <p:nvPr/>
        </p:nvSpPr>
        <p:spPr>
          <a:xfrm>
            <a:off x="1783080" y="2057400"/>
            <a:ext cx="3657600" cy="1280160"/>
          </a:xfrm>
          <a:prstGeom prst="rect">
            <a:avLst/>
          </a:prstGeom>
          <a:noFill/>
          <a:ln/>
        </p:spPr>
        <p:txBody>
          <a:bodyPr wrap="square" lIns="0" tIns="0" rIns="0" bIns="0" rtlCol="0" anchor="t"/>
          <a:lstStyle/>
          <a:p>
            <a:pPr marL="0" indent="0">
              <a:buNone/>
            </a:pPr>
            <a:r>
              <a:rPr lang="en-US" sz="1400" dirty="0">
                <a:solidFill>
                  <a:schemeClr val="tx2"/>
                </a:solidFill>
              </a:rPr>
              <a:t>Could a smart person who knows nothing about your project do the task with only your prompt? If they would need to ask questions, add those answers to the prompt.</a:t>
            </a:r>
            <a:endParaRPr lang="en-US" sz="1400" dirty="0"/>
          </a:p>
        </p:txBody>
      </p:sp>
      <p:sp>
        <p:nvSpPr>
          <p:cNvPr id="8" name="card"/>
          <p:cNvSpPr/>
          <p:nvPr/>
        </p:nvSpPr>
        <p:spPr>
          <a:xfrm>
            <a:off x="548640" y="3703320"/>
            <a:ext cx="5120640" cy="2331720"/>
          </a:xfrm>
          <a:prstGeom prst="roundRect">
            <a:avLst>
              <a:gd name="adj" fmla="val 313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3886200"/>
            <a:ext cx="4572000" cy="320040"/>
          </a:xfrm>
          <a:prstGeom prst="rect">
            <a:avLst/>
          </a:prstGeom>
          <a:noFill/>
          <a:ln/>
        </p:spPr>
        <p:txBody>
          <a:bodyPr wrap="square" lIns="0" tIns="0" rIns="0" bIns="0" rtlCol="0" anchor="t"/>
          <a:lstStyle/>
          <a:p>
            <a:pPr marL="0" indent="0">
              <a:buNone/>
            </a:pPr>
            <a:r>
              <a:rPr lang="en-US" sz="1600" b="1" dirty="0">
                <a:solidFill>
                  <a:schemeClr val="tx1"/>
                </a:solidFill>
              </a:rPr>
              <a:t>Claude doesn’t know</a:t>
            </a:r>
            <a:endParaRPr lang="en-US" sz="1600" dirty="0"/>
          </a:p>
        </p:txBody>
      </p:sp>
      <p:sp>
        <p:nvSpPr>
          <p:cNvPr id="10" name="Text 7"/>
          <p:cNvSpPr txBox="1"/>
          <p:nvPr/>
        </p:nvSpPr>
        <p:spPr>
          <a:xfrm>
            <a:off x="822960" y="4297680"/>
            <a:ext cx="46634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Who the output is for, and why you need it</a:t>
            </a:r>
            <a:endParaRPr lang="en-US" sz="1400" dirty="0"/>
          </a:p>
          <a:p>
            <a:pPr marL="342900" indent="-342900">
              <a:spcAft>
                <a:spcPts val="600"/>
              </a:spcAft>
              <a:buSzPct val="100000"/>
              <a:buChar char="•"/>
            </a:pPr>
            <a:r>
              <a:rPr lang="en-US" sz="1400" dirty="0">
                <a:solidFill>
                  <a:schemeClr val="tx2"/>
                </a:solidFill>
              </a:rPr>
              <a:t>What “good” looks like to you</a:t>
            </a:r>
            <a:endParaRPr lang="en-US" sz="1400" dirty="0"/>
          </a:p>
          <a:p>
            <a:pPr marL="342900" indent="-342900">
              <a:spcAft>
                <a:spcPts val="600"/>
              </a:spcAft>
              <a:buSzPct val="100000"/>
              <a:buChar char="•"/>
            </a:pPr>
            <a:r>
              <a:rPr lang="en-US" sz="1400" dirty="0">
                <a:solidFill>
                  <a:schemeClr val="tx2"/>
                </a:solidFill>
              </a:rPr>
              <a:t>Your files, data, past decisions and jargon</a:t>
            </a:r>
            <a:endParaRPr lang="en-US" sz="1400" dirty="0"/>
          </a:p>
          <a:p>
            <a:pPr marL="342900" indent="-342900">
              <a:spcAft>
                <a:spcPts val="600"/>
              </a:spcAft>
              <a:buSzPct val="100000"/>
              <a:buChar char="•"/>
            </a:pPr>
            <a:r>
              <a:rPr lang="en-US" sz="1400" dirty="0">
                <a:solidFill>
                  <a:schemeClr val="tx2"/>
                </a:solidFill>
              </a:rPr>
              <a:t>What you have already tried</a:t>
            </a:r>
            <a:endParaRPr lang="en-US" sz="1400" dirty="0"/>
          </a:p>
        </p:txBody>
      </p:sp>
      <p:sp>
        <p:nvSpPr>
          <p:cNvPr id="11" name="Text 8"/>
          <p:cNvSpPr txBox="1"/>
          <p:nvPr/>
        </p:nvSpPr>
        <p:spPr>
          <a:xfrm>
            <a:off x="6035040" y="1371600"/>
            <a:ext cx="54864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LESS EFFECTIVE</a:t>
            </a:r>
            <a:endParaRPr lang="en-US" sz="1100" dirty="0"/>
          </a:p>
        </p:txBody>
      </p:sp>
      <p:sp>
        <p:nvSpPr>
          <p:cNvPr id="12" name="card"/>
          <p:cNvSpPr/>
          <p:nvPr/>
        </p:nvSpPr>
        <p:spPr>
          <a:xfrm>
            <a:off x="6035040" y="1691640"/>
            <a:ext cx="5577840" cy="914400"/>
          </a:xfrm>
          <a:prstGeom prst="roundRect">
            <a:avLst>
              <a:gd name="adj" fmla="val 8000"/>
            </a:avLst>
          </a:prstGeom>
          <a:solidFill>
            <a:schemeClr val="bg1"/>
          </a:solidFill>
          <a:ln w="9525">
            <a:solidFill>
              <a:schemeClr val="accent6"/>
            </a:solidFill>
            <a:prstDash val="solid"/>
          </a:ln>
        </p:spPr>
        <p:txBody>
          <a:bodyPr/>
          <a:lstStyle/>
          <a:p>
            <a:endParaRPr lang="en-US"/>
          </a:p>
        </p:txBody>
      </p:sp>
      <p:sp>
        <p:nvSpPr>
          <p:cNvPr id="13" name="Text 10"/>
          <p:cNvSpPr txBox="1"/>
          <p:nvPr/>
        </p:nvSpPr>
        <p:spPr>
          <a:xfrm>
            <a:off x="6263640" y="1828800"/>
            <a:ext cx="5212080" cy="640080"/>
          </a:xfrm>
          <a:prstGeom prst="rect">
            <a:avLst/>
          </a:prstGeom>
          <a:noFill/>
          <a:ln/>
        </p:spPr>
        <p:txBody>
          <a:bodyPr wrap="square" lIns="0" tIns="0" rIns="0" bIns="0" rtlCol="0" anchor="ctr"/>
          <a:lstStyle/>
          <a:p>
            <a:pPr marL="0" indent="0">
              <a:buNone/>
            </a:pPr>
            <a:r>
              <a:rPr lang="en-US" sz="1500" i="1" dirty="0">
                <a:solidFill>
                  <a:schemeClr val="tx1"/>
                </a:solidFill>
              </a:rPr>
              <a:t>Write an email about the new policy.</a:t>
            </a:r>
            <a:endParaRPr lang="en-US" sz="1500" dirty="0"/>
          </a:p>
        </p:txBody>
      </p:sp>
      <p:sp>
        <p:nvSpPr>
          <p:cNvPr id="14" name="Text 11"/>
          <p:cNvSpPr txBox="1"/>
          <p:nvPr/>
        </p:nvSpPr>
        <p:spPr>
          <a:xfrm>
            <a:off x="6035040" y="2834640"/>
            <a:ext cx="5486400" cy="274320"/>
          </a:xfrm>
          <a:prstGeom prst="rect">
            <a:avLst/>
          </a:prstGeom>
          <a:noFill/>
          <a:ln/>
        </p:spPr>
        <p:txBody>
          <a:bodyPr wrap="square" lIns="0" tIns="0" rIns="0" bIns="0" rtlCol="0" anchor="t"/>
          <a:lstStyle/>
          <a:p>
            <a:pPr marL="0" indent="0">
              <a:buNone/>
            </a:pPr>
            <a:r>
              <a:rPr lang="en-US" sz="1100" b="1" kern="0" spc="300" dirty="0">
                <a:solidFill>
                  <a:schemeClr val="accent2"/>
                </a:solidFill>
              </a:rPr>
              <a:t>MORE EFFECTIVE</a:t>
            </a:r>
            <a:endParaRPr lang="en-US" sz="1100" dirty="0"/>
          </a:p>
        </p:txBody>
      </p:sp>
      <p:sp>
        <p:nvSpPr>
          <p:cNvPr id="15" name="card"/>
          <p:cNvSpPr/>
          <p:nvPr/>
        </p:nvSpPr>
        <p:spPr>
          <a:xfrm>
            <a:off x="6035040" y="3154680"/>
            <a:ext cx="5577840" cy="2880360"/>
          </a:xfrm>
          <a:prstGeom prst="roundRect">
            <a:avLst>
              <a:gd name="adj" fmla="val 2540"/>
            </a:avLst>
          </a:prstGeom>
          <a:solidFill>
            <a:schemeClr val="bg1"/>
          </a:solidFill>
          <a:ln w="9525">
            <a:solidFill>
              <a:schemeClr val="accent2"/>
            </a:solidFill>
            <a:prstDash val="solid"/>
          </a:ln>
        </p:spPr>
        <p:txBody>
          <a:bodyPr/>
          <a:lstStyle/>
          <a:p>
            <a:endParaRPr lang="en-US"/>
          </a:p>
        </p:txBody>
      </p:sp>
      <p:sp>
        <p:nvSpPr>
          <p:cNvPr id="16" name="Text 13"/>
          <p:cNvSpPr txBox="1"/>
          <p:nvPr/>
        </p:nvSpPr>
        <p:spPr>
          <a:xfrm>
            <a:off x="6263640" y="3337560"/>
            <a:ext cx="5212080" cy="2560320"/>
          </a:xfrm>
          <a:prstGeom prst="rect">
            <a:avLst/>
          </a:prstGeom>
          <a:noFill/>
          <a:ln/>
        </p:spPr>
        <p:txBody>
          <a:bodyPr wrap="square" lIns="0" tIns="0" rIns="0" bIns="0" rtlCol="0" anchor="t"/>
          <a:lstStyle/>
          <a:p>
            <a:pPr marL="0" indent="0">
              <a:buNone/>
            </a:pPr>
            <a:r>
              <a:rPr lang="en-US" sz="1600" i="1" dirty="0">
                <a:solidFill>
                  <a:schemeClr val="tx1"/>
                </a:solidFill>
              </a:rPr>
              <a:t>Write a short email to our 40 support agents announcing that, from 1 Nov, refunds under $50 no longer need manager approval. They have asked for this for months, so keep it upbeat. Explain the one new step (log the reason in the ticket). Under 150 words, plain text, no bullet points, end by saying who to ask with questions (Mai, team lead).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Anatomy of a strong prompt</a:t>
            </a:r>
            <a:endParaRPr lang="en-US" sz="3200" dirty="0"/>
          </a:p>
        </p:txBody>
      </p:sp>
      <p:sp>
        <p:nvSpPr>
          <p:cNvPr id="3" name="part chip"/>
          <p:cNvSpPr/>
          <p:nvPr/>
        </p:nvSpPr>
        <p:spPr>
          <a:xfrm>
            <a:off x="548640" y="1371600"/>
            <a:ext cx="1463040" cy="621792"/>
          </a:xfrm>
          <a:prstGeom prst="roundRect">
            <a:avLst>
              <a:gd name="adj" fmla="val 8824"/>
            </a:avLst>
          </a:prstGeom>
          <a:solidFill>
            <a:schemeClr val="accent1"/>
          </a:solidFill>
          <a:ln w="12700">
            <a:solidFill>
              <a:schemeClr val="accent1"/>
            </a:solidFill>
            <a:prstDash val="solid"/>
          </a:ln>
        </p:spPr>
        <p:txBody>
          <a:bodyPr/>
          <a:lstStyle/>
          <a:p>
            <a:endParaRPr lang="en-US"/>
          </a:p>
        </p:txBody>
      </p:sp>
      <p:sp>
        <p:nvSpPr>
          <p:cNvPr id="4" name="Text 2"/>
          <p:cNvSpPr txBox="1"/>
          <p:nvPr/>
        </p:nvSpPr>
        <p:spPr>
          <a:xfrm>
            <a:off x="548640" y="1371600"/>
            <a:ext cx="1463040" cy="621792"/>
          </a:xfrm>
          <a:prstGeom prst="rect">
            <a:avLst/>
          </a:prstGeom>
          <a:noFill/>
          <a:ln/>
        </p:spPr>
        <p:txBody>
          <a:bodyPr wrap="square" lIns="0" tIns="0" rIns="0" bIns="0" rtlCol="0" anchor="ctr"/>
          <a:lstStyle/>
          <a:p>
            <a:pPr marL="0" indent="0" algn="ctr">
              <a:buNone/>
            </a:pPr>
            <a:r>
              <a:rPr lang="en-US" sz="1600" b="1" dirty="0">
                <a:solidFill>
                  <a:schemeClr val="bg1"/>
                </a:solidFill>
              </a:rPr>
              <a:t>Role</a:t>
            </a:r>
            <a:endParaRPr lang="en-US" sz="1600" dirty="0"/>
          </a:p>
        </p:txBody>
      </p:sp>
      <p:sp>
        <p:nvSpPr>
          <p:cNvPr id="5" name="Text 3"/>
          <p:cNvSpPr txBox="1"/>
          <p:nvPr/>
        </p:nvSpPr>
        <p:spPr>
          <a:xfrm>
            <a:off x="2194560" y="1371600"/>
            <a:ext cx="2743200" cy="621792"/>
          </a:xfrm>
          <a:prstGeom prst="rect">
            <a:avLst/>
          </a:prstGeom>
          <a:noFill/>
          <a:ln/>
        </p:spPr>
        <p:txBody>
          <a:bodyPr wrap="square" lIns="0" tIns="0" rIns="0" bIns="0" rtlCol="0" anchor="ctr"/>
          <a:lstStyle/>
          <a:p>
            <a:pPr marL="0" indent="0">
              <a:buNone/>
            </a:pPr>
            <a:r>
              <a:rPr lang="en-US" sz="1400" dirty="0">
                <a:solidFill>
                  <a:schemeClr val="tx2"/>
                </a:solidFill>
              </a:rPr>
              <a:t>Who Claude should act as</a:t>
            </a:r>
            <a:endParaRPr lang="en-US" sz="1400" dirty="0"/>
          </a:p>
        </p:txBody>
      </p:sp>
      <p:sp>
        <p:nvSpPr>
          <p:cNvPr id="6" name="part chip"/>
          <p:cNvSpPr/>
          <p:nvPr/>
        </p:nvSpPr>
        <p:spPr>
          <a:xfrm>
            <a:off x="548640" y="2157984"/>
            <a:ext cx="1463040" cy="621792"/>
          </a:xfrm>
          <a:prstGeom prst="roundRect">
            <a:avLst>
              <a:gd name="adj" fmla="val 8824"/>
            </a:avLst>
          </a:prstGeom>
          <a:solidFill>
            <a:schemeClr val="accent2"/>
          </a:solidFill>
          <a:ln w="12700">
            <a:solidFill>
              <a:schemeClr val="accent2"/>
            </a:solidFill>
            <a:prstDash val="solid"/>
          </a:ln>
        </p:spPr>
        <p:txBody>
          <a:bodyPr/>
          <a:lstStyle/>
          <a:p>
            <a:endParaRPr lang="en-US"/>
          </a:p>
        </p:txBody>
      </p:sp>
      <p:sp>
        <p:nvSpPr>
          <p:cNvPr id="7" name="Text 5"/>
          <p:cNvSpPr txBox="1"/>
          <p:nvPr/>
        </p:nvSpPr>
        <p:spPr>
          <a:xfrm>
            <a:off x="548640" y="2157984"/>
            <a:ext cx="1463040" cy="621792"/>
          </a:xfrm>
          <a:prstGeom prst="rect">
            <a:avLst/>
          </a:prstGeom>
          <a:noFill/>
          <a:ln/>
        </p:spPr>
        <p:txBody>
          <a:bodyPr wrap="square" lIns="0" tIns="0" rIns="0" bIns="0" rtlCol="0" anchor="ctr"/>
          <a:lstStyle/>
          <a:p>
            <a:pPr marL="0" indent="0" algn="ctr">
              <a:buNone/>
            </a:pPr>
            <a:r>
              <a:rPr lang="en-US" sz="1600" b="1" dirty="0">
                <a:solidFill>
                  <a:schemeClr val="bg1"/>
                </a:solidFill>
              </a:rPr>
              <a:t>Context</a:t>
            </a:r>
            <a:endParaRPr lang="en-US" sz="1600" dirty="0"/>
          </a:p>
        </p:txBody>
      </p:sp>
      <p:sp>
        <p:nvSpPr>
          <p:cNvPr id="8" name="Text 6"/>
          <p:cNvSpPr txBox="1"/>
          <p:nvPr/>
        </p:nvSpPr>
        <p:spPr>
          <a:xfrm>
            <a:off x="2194560" y="2157984"/>
            <a:ext cx="2743200" cy="621792"/>
          </a:xfrm>
          <a:prstGeom prst="rect">
            <a:avLst/>
          </a:prstGeom>
          <a:noFill/>
          <a:ln/>
        </p:spPr>
        <p:txBody>
          <a:bodyPr wrap="square" lIns="0" tIns="0" rIns="0" bIns="0" rtlCol="0" anchor="ctr"/>
          <a:lstStyle/>
          <a:p>
            <a:pPr marL="0" indent="0">
              <a:buNone/>
            </a:pPr>
            <a:r>
              <a:rPr lang="en-US" sz="1400" dirty="0">
                <a:solidFill>
                  <a:schemeClr val="tx2"/>
                </a:solidFill>
              </a:rPr>
              <a:t>Background, audience, why it matters</a:t>
            </a:r>
            <a:endParaRPr lang="en-US" sz="1400" dirty="0"/>
          </a:p>
        </p:txBody>
      </p:sp>
      <p:sp>
        <p:nvSpPr>
          <p:cNvPr id="9" name="part chip"/>
          <p:cNvSpPr/>
          <p:nvPr/>
        </p:nvSpPr>
        <p:spPr>
          <a:xfrm>
            <a:off x="548640" y="2944368"/>
            <a:ext cx="1463040" cy="621792"/>
          </a:xfrm>
          <a:prstGeom prst="roundRect">
            <a:avLst>
              <a:gd name="adj" fmla="val 8824"/>
            </a:avLst>
          </a:prstGeom>
          <a:solidFill>
            <a:schemeClr val="accent3"/>
          </a:solidFill>
          <a:ln w="12700">
            <a:solidFill>
              <a:schemeClr val="accent3"/>
            </a:solidFill>
            <a:prstDash val="solid"/>
          </a:ln>
        </p:spPr>
        <p:txBody>
          <a:bodyPr/>
          <a:lstStyle/>
          <a:p>
            <a:endParaRPr lang="en-US"/>
          </a:p>
        </p:txBody>
      </p:sp>
      <p:sp>
        <p:nvSpPr>
          <p:cNvPr id="10" name="Text 8"/>
          <p:cNvSpPr txBox="1"/>
          <p:nvPr/>
        </p:nvSpPr>
        <p:spPr>
          <a:xfrm>
            <a:off x="548640" y="2944368"/>
            <a:ext cx="1463040" cy="621792"/>
          </a:xfrm>
          <a:prstGeom prst="rect">
            <a:avLst/>
          </a:prstGeom>
          <a:noFill/>
          <a:ln/>
        </p:spPr>
        <p:txBody>
          <a:bodyPr wrap="square" lIns="0" tIns="0" rIns="0" bIns="0" rtlCol="0" anchor="ctr"/>
          <a:lstStyle/>
          <a:p>
            <a:pPr marL="0" indent="0" algn="ctr">
              <a:buNone/>
            </a:pPr>
            <a:r>
              <a:rPr lang="en-US" sz="1600" b="1" dirty="0">
                <a:solidFill>
                  <a:schemeClr val="bg1"/>
                </a:solidFill>
              </a:rPr>
              <a:t>Task</a:t>
            </a:r>
            <a:endParaRPr lang="en-US" sz="1600" dirty="0"/>
          </a:p>
        </p:txBody>
      </p:sp>
      <p:sp>
        <p:nvSpPr>
          <p:cNvPr id="11" name="Text 9"/>
          <p:cNvSpPr txBox="1"/>
          <p:nvPr/>
        </p:nvSpPr>
        <p:spPr>
          <a:xfrm>
            <a:off x="2194560" y="2944368"/>
            <a:ext cx="2743200" cy="621792"/>
          </a:xfrm>
          <a:prstGeom prst="rect">
            <a:avLst/>
          </a:prstGeom>
          <a:noFill/>
          <a:ln/>
        </p:spPr>
        <p:txBody>
          <a:bodyPr wrap="square" lIns="0" tIns="0" rIns="0" bIns="0" rtlCol="0" anchor="ctr"/>
          <a:lstStyle/>
          <a:p>
            <a:pPr marL="0" indent="0">
              <a:buNone/>
            </a:pPr>
            <a:r>
              <a:rPr lang="en-US" sz="1400" dirty="0">
                <a:solidFill>
                  <a:schemeClr val="tx2"/>
                </a:solidFill>
              </a:rPr>
              <a:t>The exact thing to do, as a verb</a:t>
            </a:r>
            <a:endParaRPr lang="en-US" sz="1400" dirty="0"/>
          </a:p>
        </p:txBody>
      </p:sp>
      <p:sp>
        <p:nvSpPr>
          <p:cNvPr id="12" name="part chip"/>
          <p:cNvSpPr/>
          <p:nvPr/>
        </p:nvSpPr>
        <p:spPr>
          <a:xfrm>
            <a:off x="548640" y="3730752"/>
            <a:ext cx="1463040" cy="621792"/>
          </a:xfrm>
          <a:prstGeom prst="roundRect">
            <a:avLst>
              <a:gd name="adj" fmla="val 8824"/>
            </a:avLst>
          </a:prstGeom>
          <a:solidFill>
            <a:schemeClr val="accent4"/>
          </a:solidFill>
          <a:ln w="12700">
            <a:solidFill>
              <a:schemeClr val="accent4"/>
            </a:solidFill>
            <a:prstDash val="solid"/>
          </a:ln>
        </p:spPr>
        <p:txBody>
          <a:bodyPr/>
          <a:lstStyle/>
          <a:p>
            <a:endParaRPr lang="en-US"/>
          </a:p>
        </p:txBody>
      </p:sp>
      <p:sp>
        <p:nvSpPr>
          <p:cNvPr id="13" name="Text 11"/>
          <p:cNvSpPr txBox="1"/>
          <p:nvPr/>
        </p:nvSpPr>
        <p:spPr>
          <a:xfrm>
            <a:off x="548640" y="3730752"/>
            <a:ext cx="1463040" cy="621792"/>
          </a:xfrm>
          <a:prstGeom prst="rect">
            <a:avLst/>
          </a:prstGeom>
          <a:noFill/>
          <a:ln/>
        </p:spPr>
        <p:txBody>
          <a:bodyPr wrap="square" lIns="0" tIns="0" rIns="0" bIns="0" rtlCol="0" anchor="ctr"/>
          <a:lstStyle/>
          <a:p>
            <a:pPr marL="0" indent="0" algn="ctr">
              <a:buNone/>
            </a:pPr>
            <a:r>
              <a:rPr lang="en-US" sz="1600" b="1" dirty="0">
                <a:solidFill>
                  <a:schemeClr val="tx1"/>
                </a:solidFill>
              </a:rPr>
              <a:t>Rules</a:t>
            </a:r>
            <a:endParaRPr lang="en-US" sz="1600" dirty="0"/>
          </a:p>
        </p:txBody>
      </p:sp>
      <p:sp>
        <p:nvSpPr>
          <p:cNvPr id="14" name="Text 12"/>
          <p:cNvSpPr txBox="1"/>
          <p:nvPr/>
        </p:nvSpPr>
        <p:spPr>
          <a:xfrm>
            <a:off x="2194560" y="3730752"/>
            <a:ext cx="2743200" cy="621792"/>
          </a:xfrm>
          <a:prstGeom prst="rect">
            <a:avLst/>
          </a:prstGeom>
          <a:noFill/>
          <a:ln/>
        </p:spPr>
        <p:txBody>
          <a:bodyPr wrap="square" lIns="0" tIns="0" rIns="0" bIns="0" rtlCol="0" anchor="ctr"/>
          <a:lstStyle/>
          <a:p>
            <a:pPr marL="0" indent="0">
              <a:buNone/>
            </a:pPr>
            <a:r>
              <a:rPr lang="en-US" sz="1400" dirty="0">
                <a:solidFill>
                  <a:schemeClr val="tx2"/>
                </a:solidFill>
              </a:rPr>
              <a:t>Constraints, what to avoid, edge cases</a:t>
            </a:r>
            <a:endParaRPr lang="en-US" sz="1400" dirty="0"/>
          </a:p>
        </p:txBody>
      </p:sp>
      <p:sp>
        <p:nvSpPr>
          <p:cNvPr id="15" name="part chip"/>
          <p:cNvSpPr/>
          <p:nvPr/>
        </p:nvSpPr>
        <p:spPr>
          <a:xfrm>
            <a:off x="548640" y="4517136"/>
            <a:ext cx="1463040" cy="621792"/>
          </a:xfrm>
          <a:prstGeom prst="roundRect">
            <a:avLst>
              <a:gd name="adj" fmla="val 8824"/>
            </a:avLst>
          </a:prstGeom>
          <a:solidFill>
            <a:schemeClr val="tx1"/>
          </a:solidFill>
          <a:ln w="12700">
            <a:solidFill>
              <a:schemeClr val="tx1"/>
            </a:solidFill>
            <a:prstDash val="solid"/>
          </a:ln>
        </p:spPr>
        <p:txBody>
          <a:bodyPr/>
          <a:lstStyle/>
          <a:p>
            <a:endParaRPr lang="en-US"/>
          </a:p>
        </p:txBody>
      </p:sp>
      <p:sp>
        <p:nvSpPr>
          <p:cNvPr id="16" name="Text 14"/>
          <p:cNvSpPr txBox="1"/>
          <p:nvPr/>
        </p:nvSpPr>
        <p:spPr>
          <a:xfrm>
            <a:off x="548640" y="4517136"/>
            <a:ext cx="1463040" cy="621792"/>
          </a:xfrm>
          <a:prstGeom prst="rect">
            <a:avLst/>
          </a:prstGeom>
          <a:noFill/>
          <a:ln/>
        </p:spPr>
        <p:txBody>
          <a:bodyPr wrap="square" lIns="0" tIns="0" rIns="0" bIns="0" rtlCol="0" anchor="ctr"/>
          <a:lstStyle/>
          <a:p>
            <a:pPr marL="0" indent="0" algn="ctr">
              <a:buNone/>
            </a:pPr>
            <a:r>
              <a:rPr lang="en-US" sz="1600" b="1" dirty="0">
                <a:solidFill>
                  <a:schemeClr val="bg1"/>
                </a:solidFill>
              </a:rPr>
              <a:t>Format</a:t>
            </a:r>
            <a:endParaRPr lang="en-US" sz="1600" dirty="0"/>
          </a:p>
        </p:txBody>
      </p:sp>
      <p:sp>
        <p:nvSpPr>
          <p:cNvPr id="17" name="Text 15"/>
          <p:cNvSpPr txBox="1"/>
          <p:nvPr/>
        </p:nvSpPr>
        <p:spPr>
          <a:xfrm>
            <a:off x="2194560" y="4517136"/>
            <a:ext cx="2743200" cy="621792"/>
          </a:xfrm>
          <a:prstGeom prst="rect">
            <a:avLst/>
          </a:prstGeom>
          <a:noFill/>
          <a:ln/>
        </p:spPr>
        <p:txBody>
          <a:bodyPr wrap="square" lIns="0" tIns="0" rIns="0" bIns="0" rtlCol="0" anchor="ctr"/>
          <a:lstStyle/>
          <a:p>
            <a:pPr marL="0" indent="0">
              <a:buNone/>
            </a:pPr>
            <a:r>
              <a:rPr lang="en-US" sz="1400" dirty="0">
                <a:solidFill>
                  <a:schemeClr val="tx2"/>
                </a:solidFill>
              </a:rPr>
              <a:t>Length, structure, tone, file type</a:t>
            </a:r>
            <a:endParaRPr lang="en-US" sz="1400" dirty="0"/>
          </a:p>
        </p:txBody>
      </p:sp>
      <p:sp>
        <p:nvSpPr>
          <p:cNvPr id="18" name="part chip"/>
          <p:cNvSpPr/>
          <p:nvPr/>
        </p:nvSpPr>
        <p:spPr>
          <a:xfrm>
            <a:off x="548640" y="5303520"/>
            <a:ext cx="1463040" cy="621792"/>
          </a:xfrm>
          <a:prstGeom prst="roundRect">
            <a:avLst>
              <a:gd name="adj" fmla="val 8824"/>
            </a:avLst>
          </a:prstGeom>
          <a:solidFill>
            <a:schemeClr val="tx2"/>
          </a:solidFill>
          <a:ln w="12700">
            <a:solidFill>
              <a:schemeClr val="tx2"/>
            </a:solidFill>
            <a:prstDash val="solid"/>
          </a:ln>
        </p:spPr>
        <p:txBody>
          <a:bodyPr/>
          <a:lstStyle/>
          <a:p>
            <a:endParaRPr lang="en-US"/>
          </a:p>
        </p:txBody>
      </p:sp>
      <p:sp>
        <p:nvSpPr>
          <p:cNvPr id="19" name="Text 17"/>
          <p:cNvSpPr txBox="1"/>
          <p:nvPr/>
        </p:nvSpPr>
        <p:spPr>
          <a:xfrm>
            <a:off x="548640" y="5303520"/>
            <a:ext cx="1463040" cy="621792"/>
          </a:xfrm>
          <a:prstGeom prst="rect">
            <a:avLst/>
          </a:prstGeom>
          <a:noFill/>
          <a:ln/>
        </p:spPr>
        <p:txBody>
          <a:bodyPr wrap="square" lIns="0" tIns="0" rIns="0" bIns="0" rtlCol="0" anchor="ctr"/>
          <a:lstStyle/>
          <a:p>
            <a:pPr marL="0" indent="0" algn="ctr">
              <a:buNone/>
            </a:pPr>
            <a:r>
              <a:rPr lang="en-US" sz="1600" b="1" dirty="0">
                <a:solidFill>
                  <a:schemeClr val="bg1"/>
                </a:solidFill>
              </a:rPr>
              <a:t>Examples</a:t>
            </a:r>
            <a:endParaRPr lang="en-US" sz="1600" dirty="0"/>
          </a:p>
        </p:txBody>
      </p:sp>
      <p:sp>
        <p:nvSpPr>
          <p:cNvPr id="20" name="Text 18"/>
          <p:cNvSpPr txBox="1"/>
          <p:nvPr/>
        </p:nvSpPr>
        <p:spPr>
          <a:xfrm>
            <a:off x="2194560" y="5303520"/>
            <a:ext cx="2743200" cy="621792"/>
          </a:xfrm>
          <a:prstGeom prst="rect">
            <a:avLst/>
          </a:prstGeom>
          <a:noFill/>
          <a:ln/>
        </p:spPr>
        <p:txBody>
          <a:bodyPr wrap="square" lIns="0" tIns="0" rIns="0" bIns="0" rtlCol="0" anchor="ctr"/>
          <a:lstStyle/>
          <a:p>
            <a:pPr marL="0" indent="0">
              <a:buNone/>
            </a:pPr>
            <a:r>
              <a:rPr lang="en-US" sz="1400" dirty="0">
                <a:solidFill>
                  <a:schemeClr val="tx2"/>
                </a:solidFill>
              </a:rPr>
              <a:t>1–5 samples of what good looks like</a:t>
            </a:r>
            <a:endParaRPr lang="en-US" sz="1400" dirty="0"/>
          </a:p>
        </p:txBody>
      </p:sp>
      <p:sp>
        <p:nvSpPr>
          <p:cNvPr id="21" name="code panel"/>
          <p:cNvSpPr/>
          <p:nvPr/>
        </p:nvSpPr>
        <p:spPr>
          <a:xfrm>
            <a:off x="5257800" y="1371600"/>
            <a:ext cx="6355080" cy="4663440"/>
          </a:xfrm>
          <a:prstGeom prst="roundRect">
            <a:avLst>
              <a:gd name="adj" fmla="val 1569"/>
            </a:avLst>
          </a:prstGeom>
          <a:solidFill>
            <a:schemeClr val="tx1"/>
          </a:solidFill>
          <a:ln w="12700">
            <a:solidFill>
              <a:schemeClr val="tx1"/>
            </a:solidFill>
            <a:prstDash val="solid"/>
          </a:ln>
        </p:spPr>
        <p:txBody>
          <a:bodyPr/>
          <a:lstStyle/>
          <a:p>
            <a:endParaRPr lang="en-US"/>
          </a:p>
        </p:txBody>
      </p:sp>
      <p:sp>
        <p:nvSpPr>
          <p:cNvPr id="22" name="Text 20"/>
          <p:cNvSpPr txBox="1"/>
          <p:nvPr/>
        </p:nvSpPr>
        <p:spPr>
          <a:xfrm>
            <a:off x="5486400" y="1554480"/>
            <a:ext cx="5897880" cy="4297680"/>
          </a:xfrm>
          <a:prstGeom prst="rect">
            <a:avLst/>
          </a:prstGeom>
          <a:noFill/>
          <a:ln/>
        </p:spPr>
        <p:txBody>
          <a:bodyPr wrap="square" lIns="0" tIns="0" rIns="0" bIns="0" rtlCol="0" anchor="t"/>
          <a:lstStyle/>
          <a:p>
            <a:pPr marL="0" indent="0">
              <a:buNone/>
            </a:pPr>
            <a:r>
              <a:rPr lang="en-US" sz="1300" dirty="0">
                <a:solidFill>
                  <a:srgbClr val="E3E5EC"/>
                </a:solidFill>
                <a:latin typeface="Courier New" pitchFamily="34" charset="0"/>
                <a:ea typeface="Courier New" pitchFamily="34" charset="-122"/>
                <a:cs typeface="Courier New" pitchFamily="34" charset="-120"/>
              </a:rPr>
              <a:t>&lt;role&gt;You are a financial analyst who writes for busy executives.&lt;/role&gt;</a:t>
            </a:r>
            <a:endParaRPr lang="en-US" sz="1300" dirty="0"/>
          </a:p>
          <a:p>
            <a:pPr marL="0" indent="0">
              <a:buNone/>
            </a:pP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&lt;context&gt;The attached Q3 report goes to the board on Friday.</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They care most about cash runway and churn.&lt;/context&gt;</a:t>
            </a:r>
            <a:endParaRPr lang="en-US" sz="1300" dirty="0"/>
          </a:p>
          <a:p>
            <a:pPr marL="0" indent="0">
              <a:buNone/>
            </a:pP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&lt;task&gt;Summarise the report for the board.&lt;/task&gt;</a:t>
            </a:r>
            <a:endParaRPr lang="en-US" sz="1300" dirty="0"/>
          </a:p>
          <a:p>
            <a:pPr marL="0" indent="0">
              <a:buNone/>
            </a:pP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&lt;rules&gt;Use only figures from the report. If a number is</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missing, say so; do not estimate.&lt;/rules&gt;</a:t>
            </a:r>
            <a:endParaRPr lang="en-US" sz="1300" dirty="0"/>
          </a:p>
          <a:p>
            <a:pPr marL="0" indent="0">
              <a:buNone/>
            </a:pP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&lt;format&gt;5 bullets, max 20 words each, then one line:</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"Biggest risk: ..."&lt;/format&gt;</a:t>
            </a:r>
            <a:endParaRPr lang="en-US" sz="1300" dirty="0"/>
          </a:p>
          <a:p>
            <a:pPr marL="0" indent="0">
              <a:buNone/>
            </a:pP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&lt;example&gt;• Revenue up 12% QoQ to $4.1M, led by enterprise.&lt;/example&gt;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Six techniques that reliably improve results</a:t>
            </a:r>
            <a:endParaRPr lang="en-US" sz="3200" dirty="0"/>
          </a:p>
        </p:txBody>
      </p:sp>
      <p:sp>
        <p:nvSpPr>
          <p:cNvPr id="3" name="card"/>
          <p:cNvSpPr/>
          <p:nvPr/>
        </p:nvSpPr>
        <p:spPr>
          <a:xfrm>
            <a:off x="548640" y="137160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icon circle"/>
          <p:cNvSpPr/>
          <p:nvPr/>
        </p:nvSpPr>
        <p:spPr>
          <a:xfrm>
            <a:off x="822960" y="164592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5" name="Image 0" descr="Bullseye icon"/>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71907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Be explicit</a:t>
            </a:r>
            <a:endParaRPr lang="en-US" sz="1800" dirty="0"/>
          </a:p>
        </p:txBody>
      </p:sp>
      <p:sp>
        <p:nvSpPr>
          <p:cNvPr id="7" name="Text 4"/>
          <p:cNvSpPr txBox="1"/>
          <p:nvPr/>
        </p:nvSpPr>
        <p:spPr>
          <a:xfrm>
            <a:off x="822960" y="2423160"/>
            <a:ext cx="3017520" cy="1051560"/>
          </a:xfrm>
          <a:prstGeom prst="rect">
            <a:avLst/>
          </a:prstGeom>
          <a:noFill/>
          <a:ln/>
        </p:spPr>
        <p:txBody>
          <a:bodyPr wrap="square" lIns="0" tIns="0" rIns="0" bIns="0" rtlCol="0" anchor="t"/>
          <a:lstStyle/>
          <a:p>
            <a:pPr marL="0" indent="0">
              <a:buNone/>
            </a:pPr>
            <a:r>
              <a:rPr lang="en-US" sz="1400" dirty="0">
                <a:solidFill>
                  <a:schemeClr val="tx2"/>
                </a:solidFill>
              </a:rPr>
              <a:t>Want more than the bare minimum? Ask for it. “Go beyond the basics, include X and Y.”</a:t>
            </a:r>
            <a:endParaRPr lang="en-US" sz="1400" dirty="0"/>
          </a:p>
        </p:txBody>
      </p:sp>
      <p:sp>
        <p:nvSpPr>
          <p:cNvPr id="8" name="card"/>
          <p:cNvSpPr/>
          <p:nvPr/>
        </p:nvSpPr>
        <p:spPr>
          <a:xfrm>
            <a:off x="4279392" y="137160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icon circle"/>
          <p:cNvSpPr/>
          <p:nvPr/>
        </p:nvSpPr>
        <p:spPr>
          <a:xfrm>
            <a:off x="4553712" y="1645920"/>
            <a:ext cx="640080" cy="640080"/>
          </a:xfrm>
          <a:prstGeom prst="ellipse">
            <a:avLst/>
          </a:prstGeom>
          <a:solidFill>
            <a:schemeClr val="accent2"/>
          </a:solidFill>
          <a:ln w="12700">
            <a:solidFill>
              <a:schemeClr val="accent2"/>
            </a:solidFill>
            <a:prstDash val="solid"/>
          </a:ln>
        </p:spPr>
        <p:txBody>
          <a:bodyPr/>
          <a:lstStyle/>
          <a:p>
            <a:endParaRPr lang="en-US"/>
          </a:p>
        </p:txBody>
      </p:sp>
      <p:pic>
        <p:nvPicPr>
          <p:cNvPr id="10" name="Image 1" descr="CircleQuestion icon"/>
          <p:cNvPicPr>
            <a:picLocks noChangeAspect="1"/>
          </p:cNvPicPr>
          <p:nvPr/>
        </p:nvPicPr>
        <p:blipFill>
          <a:blip r:embed="rId4"/>
          <a:stretch>
            <a:fillRect/>
          </a:stretch>
        </p:blipFill>
        <p:spPr>
          <a:xfrm>
            <a:off x="4713732" y="1805940"/>
            <a:ext cx="320040" cy="320040"/>
          </a:xfrm>
          <a:prstGeom prst="rect">
            <a:avLst/>
          </a:prstGeom>
        </p:spPr>
      </p:pic>
      <p:sp>
        <p:nvSpPr>
          <p:cNvPr id="11" name="Text 7"/>
          <p:cNvSpPr txBox="1"/>
          <p:nvPr/>
        </p:nvSpPr>
        <p:spPr>
          <a:xfrm>
            <a:off x="5376672" y="171907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Explain why</a:t>
            </a:r>
            <a:endParaRPr lang="en-US" sz="1800" dirty="0"/>
          </a:p>
        </p:txBody>
      </p:sp>
      <p:sp>
        <p:nvSpPr>
          <p:cNvPr id="12" name="Text 8"/>
          <p:cNvSpPr txBox="1"/>
          <p:nvPr/>
        </p:nvSpPr>
        <p:spPr>
          <a:xfrm>
            <a:off x="4553712" y="2423160"/>
            <a:ext cx="3017520" cy="1051560"/>
          </a:xfrm>
          <a:prstGeom prst="rect">
            <a:avLst/>
          </a:prstGeom>
          <a:noFill/>
          <a:ln/>
        </p:spPr>
        <p:txBody>
          <a:bodyPr wrap="square" lIns="0" tIns="0" rIns="0" bIns="0" rtlCol="0" anchor="t"/>
          <a:lstStyle/>
          <a:p>
            <a:pPr marL="0" indent="0">
              <a:buNone/>
            </a:pPr>
            <a:r>
              <a:rPr lang="en-US" sz="1400" dirty="0">
                <a:solidFill>
                  <a:schemeClr val="tx2"/>
                </a:solidFill>
              </a:rPr>
              <a:t>“This is read aloud by text-to-speech, so never use ellipses” beats “NEVER use ellipses.”</a:t>
            </a:r>
            <a:endParaRPr lang="en-US" sz="1400" dirty="0"/>
          </a:p>
        </p:txBody>
      </p:sp>
      <p:sp>
        <p:nvSpPr>
          <p:cNvPr id="13" name="card"/>
          <p:cNvSpPr/>
          <p:nvPr/>
        </p:nvSpPr>
        <p:spPr>
          <a:xfrm>
            <a:off x="8010144" y="137160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4" name="icon circle"/>
          <p:cNvSpPr/>
          <p:nvPr/>
        </p:nvSpPr>
        <p:spPr>
          <a:xfrm>
            <a:off x="8284464" y="1645920"/>
            <a:ext cx="640080" cy="640080"/>
          </a:xfrm>
          <a:prstGeom prst="ellipse">
            <a:avLst/>
          </a:prstGeom>
          <a:solidFill>
            <a:schemeClr val="accent3"/>
          </a:solidFill>
          <a:ln w="12700">
            <a:solidFill>
              <a:schemeClr val="accent3"/>
            </a:solidFill>
            <a:prstDash val="solid"/>
          </a:ln>
        </p:spPr>
        <p:txBody>
          <a:bodyPr/>
          <a:lstStyle/>
          <a:p>
            <a:endParaRPr lang="en-US"/>
          </a:p>
        </p:txBody>
      </p:sp>
      <p:pic>
        <p:nvPicPr>
          <p:cNvPr id="15" name="Image 2" descr="ListCheck icon"/>
          <p:cNvPicPr>
            <a:picLocks noChangeAspect="1"/>
          </p:cNvPicPr>
          <p:nvPr/>
        </p:nvPicPr>
        <p:blipFill>
          <a:blip r:embed="rId5"/>
          <a:stretch>
            <a:fillRect/>
          </a:stretch>
        </p:blipFill>
        <p:spPr>
          <a:xfrm>
            <a:off x="8444484" y="1805940"/>
            <a:ext cx="320040" cy="320040"/>
          </a:xfrm>
          <a:prstGeom prst="rect">
            <a:avLst/>
          </a:prstGeom>
        </p:spPr>
      </p:pic>
      <p:sp>
        <p:nvSpPr>
          <p:cNvPr id="16" name="Text 11"/>
          <p:cNvSpPr txBox="1"/>
          <p:nvPr/>
        </p:nvSpPr>
        <p:spPr>
          <a:xfrm>
            <a:off x="9107424" y="171907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Show examples</a:t>
            </a:r>
            <a:endParaRPr lang="en-US" sz="1800" dirty="0"/>
          </a:p>
        </p:txBody>
      </p:sp>
      <p:sp>
        <p:nvSpPr>
          <p:cNvPr id="17" name="Text 12"/>
          <p:cNvSpPr txBox="1"/>
          <p:nvPr/>
        </p:nvSpPr>
        <p:spPr>
          <a:xfrm>
            <a:off x="8284464" y="2423160"/>
            <a:ext cx="3017520" cy="1051560"/>
          </a:xfrm>
          <a:prstGeom prst="rect">
            <a:avLst/>
          </a:prstGeom>
          <a:noFill/>
          <a:ln/>
        </p:spPr>
        <p:txBody>
          <a:bodyPr wrap="square" lIns="0" tIns="0" rIns="0" bIns="0" rtlCol="0" anchor="t"/>
          <a:lstStyle/>
          <a:p>
            <a:pPr marL="0" indent="0">
              <a:buNone/>
            </a:pPr>
            <a:r>
              <a:rPr lang="en-US" sz="1400" dirty="0">
                <a:solidFill>
                  <a:schemeClr val="tx2"/>
                </a:solidFill>
              </a:rPr>
              <a:t>3–5 varied examples in &lt;example&gt; tags are one of the strongest ways to steer format and tone.</a:t>
            </a:r>
            <a:endParaRPr lang="en-US" sz="1400" dirty="0"/>
          </a:p>
        </p:txBody>
      </p:sp>
      <p:sp>
        <p:nvSpPr>
          <p:cNvPr id="18" name="card"/>
          <p:cNvSpPr/>
          <p:nvPr/>
        </p:nvSpPr>
        <p:spPr>
          <a:xfrm>
            <a:off x="548640" y="379476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9" name="icon circle"/>
          <p:cNvSpPr/>
          <p:nvPr/>
        </p:nvSpPr>
        <p:spPr>
          <a:xfrm>
            <a:off x="822960" y="4069080"/>
            <a:ext cx="640080" cy="640080"/>
          </a:xfrm>
          <a:prstGeom prst="ellipse">
            <a:avLst/>
          </a:prstGeom>
          <a:solidFill>
            <a:schemeClr val="accent4"/>
          </a:solidFill>
          <a:ln w="12700">
            <a:solidFill>
              <a:schemeClr val="accent4"/>
            </a:solidFill>
            <a:prstDash val="solid"/>
          </a:ln>
        </p:spPr>
        <p:txBody>
          <a:bodyPr/>
          <a:lstStyle/>
          <a:p>
            <a:endParaRPr lang="en-US"/>
          </a:p>
        </p:txBody>
      </p:sp>
      <p:pic>
        <p:nvPicPr>
          <p:cNvPr id="20" name="Image 3" descr="Code icon"/>
          <p:cNvPicPr>
            <a:picLocks noChangeAspect="1"/>
          </p:cNvPicPr>
          <p:nvPr/>
        </p:nvPicPr>
        <p:blipFill>
          <a:blip r:embed="rId6"/>
          <a:stretch>
            <a:fillRect/>
          </a:stretch>
        </p:blipFill>
        <p:spPr>
          <a:xfrm>
            <a:off x="982980" y="4229100"/>
            <a:ext cx="320040" cy="320040"/>
          </a:xfrm>
          <a:prstGeom prst="rect">
            <a:avLst/>
          </a:prstGeom>
        </p:spPr>
      </p:pic>
      <p:sp>
        <p:nvSpPr>
          <p:cNvPr id="21" name="Text 15"/>
          <p:cNvSpPr txBox="1"/>
          <p:nvPr/>
        </p:nvSpPr>
        <p:spPr>
          <a:xfrm>
            <a:off x="1645920" y="414223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Use XML tags</a:t>
            </a:r>
            <a:endParaRPr lang="en-US" sz="1800" dirty="0"/>
          </a:p>
        </p:txBody>
      </p:sp>
      <p:sp>
        <p:nvSpPr>
          <p:cNvPr id="22" name="Text 16"/>
          <p:cNvSpPr txBox="1"/>
          <p:nvPr/>
        </p:nvSpPr>
        <p:spPr>
          <a:xfrm>
            <a:off x="822960" y="4846320"/>
            <a:ext cx="3017520" cy="1051560"/>
          </a:xfrm>
          <a:prstGeom prst="rect">
            <a:avLst/>
          </a:prstGeom>
          <a:noFill/>
          <a:ln/>
        </p:spPr>
        <p:txBody>
          <a:bodyPr wrap="square" lIns="0" tIns="0" rIns="0" bIns="0" rtlCol="0" anchor="t"/>
          <a:lstStyle/>
          <a:p>
            <a:pPr marL="0" indent="0">
              <a:buNone/>
            </a:pPr>
            <a:r>
              <a:rPr lang="en-US" sz="1400" dirty="0">
                <a:solidFill>
                  <a:schemeClr val="tx2"/>
                </a:solidFill>
              </a:rPr>
              <a:t>Separate instructions, documents and examples: &lt;instructions&gt;, &lt;document&gt;, &lt;example&gt;.</a:t>
            </a:r>
            <a:endParaRPr lang="en-US" sz="1400" dirty="0"/>
          </a:p>
        </p:txBody>
      </p:sp>
      <p:sp>
        <p:nvSpPr>
          <p:cNvPr id="23" name="card"/>
          <p:cNvSpPr/>
          <p:nvPr/>
        </p:nvSpPr>
        <p:spPr>
          <a:xfrm>
            <a:off x="4279392" y="379476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4" name="icon circle"/>
          <p:cNvSpPr/>
          <p:nvPr/>
        </p:nvSpPr>
        <p:spPr>
          <a:xfrm>
            <a:off x="4553712" y="4069080"/>
            <a:ext cx="640080" cy="640080"/>
          </a:xfrm>
          <a:prstGeom prst="ellipse">
            <a:avLst/>
          </a:prstGeom>
          <a:solidFill>
            <a:schemeClr val="tx1"/>
          </a:solidFill>
          <a:ln w="12700">
            <a:solidFill>
              <a:schemeClr val="tx1"/>
            </a:solidFill>
            <a:prstDash val="solid"/>
          </a:ln>
        </p:spPr>
        <p:txBody>
          <a:bodyPr/>
          <a:lstStyle/>
          <a:p>
            <a:endParaRPr lang="en-US"/>
          </a:p>
        </p:txBody>
      </p:sp>
      <p:pic>
        <p:nvPicPr>
          <p:cNvPr id="25" name="Image 4" descr="ThumbsUp icon"/>
          <p:cNvPicPr>
            <a:picLocks noChangeAspect="1"/>
          </p:cNvPicPr>
          <p:nvPr/>
        </p:nvPicPr>
        <p:blipFill>
          <a:blip r:embed="rId7"/>
          <a:stretch>
            <a:fillRect/>
          </a:stretch>
        </p:blipFill>
        <p:spPr>
          <a:xfrm>
            <a:off x="4713732" y="4229100"/>
            <a:ext cx="320040" cy="320040"/>
          </a:xfrm>
          <a:prstGeom prst="rect">
            <a:avLst/>
          </a:prstGeom>
        </p:spPr>
      </p:pic>
      <p:sp>
        <p:nvSpPr>
          <p:cNvPr id="26" name="Text 19"/>
          <p:cNvSpPr txBox="1"/>
          <p:nvPr/>
        </p:nvSpPr>
        <p:spPr>
          <a:xfrm>
            <a:off x="5376672" y="414223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Say what to do</a:t>
            </a:r>
            <a:endParaRPr lang="en-US" sz="1800" dirty="0"/>
          </a:p>
        </p:txBody>
      </p:sp>
      <p:sp>
        <p:nvSpPr>
          <p:cNvPr id="27" name="Text 20"/>
          <p:cNvSpPr txBox="1"/>
          <p:nvPr/>
        </p:nvSpPr>
        <p:spPr>
          <a:xfrm>
            <a:off x="4553712" y="4846320"/>
            <a:ext cx="3017520" cy="1051560"/>
          </a:xfrm>
          <a:prstGeom prst="rect">
            <a:avLst/>
          </a:prstGeom>
          <a:noFill/>
          <a:ln/>
        </p:spPr>
        <p:txBody>
          <a:bodyPr wrap="square" lIns="0" tIns="0" rIns="0" bIns="0" rtlCol="0" anchor="t"/>
          <a:lstStyle/>
          <a:p>
            <a:pPr marL="0" indent="0">
              <a:buNone/>
            </a:pPr>
            <a:r>
              <a:rPr lang="en-US" sz="1400" dirty="0">
                <a:solidFill>
                  <a:schemeClr val="tx2"/>
                </a:solidFill>
              </a:rPr>
              <a:t>“Write in flowing paragraphs” works better than “Don’t use markdown.”</a:t>
            </a:r>
            <a:endParaRPr lang="en-US" sz="1400" dirty="0"/>
          </a:p>
        </p:txBody>
      </p:sp>
      <p:sp>
        <p:nvSpPr>
          <p:cNvPr id="28" name="card"/>
          <p:cNvSpPr/>
          <p:nvPr/>
        </p:nvSpPr>
        <p:spPr>
          <a:xfrm>
            <a:off x="8010144" y="379476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9" name="icon circle"/>
          <p:cNvSpPr/>
          <p:nvPr/>
        </p:nvSpPr>
        <p:spPr>
          <a:xfrm>
            <a:off x="8284464" y="4069080"/>
            <a:ext cx="640080" cy="640080"/>
          </a:xfrm>
          <a:prstGeom prst="ellipse">
            <a:avLst/>
          </a:prstGeom>
          <a:solidFill>
            <a:schemeClr val="tx2"/>
          </a:solidFill>
          <a:ln w="12700">
            <a:solidFill>
              <a:schemeClr val="tx2"/>
            </a:solidFill>
            <a:prstDash val="solid"/>
          </a:ln>
        </p:spPr>
        <p:txBody>
          <a:bodyPr/>
          <a:lstStyle/>
          <a:p>
            <a:endParaRPr lang="en-US"/>
          </a:p>
        </p:txBody>
      </p:sp>
      <p:pic>
        <p:nvPicPr>
          <p:cNvPr id="30" name="Image 5" descr="MagnifyingGlass icon"/>
          <p:cNvPicPr>
            <a:picLocks noChangeAspect="1"/>
          </p:cNvPicPr>
          <p:nvPr/>
        </p:nvPicPr>
        <p:blipFill>
          <a:blip r:embed="rId8"/>
          <a:stretch>
            <a:fillRect/>
          </a:stretch>
        </p:blipFill>
        <p:spPr>
          <a:xfrm>
            <a:off x="8444484" y="4229100"/>
            <a:ext cx="320040" cy="320040"/>
          </a:xfrm>
          <a:prstGeom prst="rect">
            <a:avLst/>
          </a:prstGeom>
        </p:spPr>
      </p:pic>
      <p:sp>
        <p:nvSpPr>
          <p:cNvPr id="31" name="Text 23"/>
          <p:cNvSpPr txBox="1"/>
          <p:nvPr/>
        </p:nvSpPr>
        <p:spPr>
          <a:xfrm>
            <a:off x="9107424" y="414223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Ask for a check</a:t>
            </a:r>
            <a:endParaRPr lang="en-US" sz="1800" dirty="0"/>
          </a:p>
        </p:txBody>
      </p:sp>
      <p:sp>
        <p:nvSpPr>
          <p:cNvPr id="32" name="Text 24"/>
          <p:cNvSpPr txBox="1"/>
          <p:nvPr/>
        </p:nvSpPr>
        <p:spPr>
          <a:xfrm>
            <a:off x="8284464" y="4846320"/>
            <a:ext cx="3017520" cy="1051560"/>
          </a:xfrm>
          <a:prstGeom prst="rect">
            <a:avLst/>
          </a:prstGeom>
          <a:noFill/>
          <a:ln/>
        </p:spPr>
        <p:txBody>
          <a:bodyPr wrap="square" lIns="0" tIns="0" rIns="0" bIns="0" rtlCol="0" anchor="t"/>
          <a:lstStyle/>
          <a:p>
            <a:pPr marL="0" indent="0">
              <a:buNone/>
            </a:pPr>
            <a:r>
              <a:rPr lang="en-US" sz="1400" dirty="0">
                <a:solidFill>
                  <a:schemeClr val="tx2"/>
                </a:solidFill>
              </a:rPr>
              <a:t>“Before you finish, verify the answer against the test cases.” Catches its own mistakes.</a:t>
            </a:r>
            <a:endParaRPr lang="en-US" sz="14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Long documents: put them first, ask your question last</a:t>
            </a:r>
            <a:endParaRPr lang="en-US" sz="3200" dirty="0"/>
          </a:p>
        </p:txBody>
      </p:sp>
      <p:sp>
        <p:nvSpPr>
          <p:cNvPr id="3" name="prompt block"/>
          <p:cNvSpPr/>
          <p:nvPr/>
        </p:nvSpPr>
        <p:spPr>
          <a:xfrm>
            <a:off x="548640" y="1417320"/>
            <a:ext cx="5120640" cy="548640"/>
          </a:xfrm>
          <a:prstGeom prst="roundRect">
            <a:avLst>
              <a:gd name="adj" fmla="val 10000"/>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77240" y="1417320"/>
            <a:ext cx="4663440" cy="548640"/>
          </a:xfrm>
          <a:prstGeom prst="rect">
            <a:avLst/>
          </a:prstGeom>
          <a:noFill/>
          <a:ln/>
        </p:spPr>
        <p:txBody>
          <a:bodyPr wrap="square" lIns="0" tIns="0" rIns="0" bIns="0" rtlCol="0" anchor="ctr"/>
          <a:lstStyle/>
          <a:p>
            <a:pPr marL="0" indent="0">
              <a:buNone/>
            </a:pPr>
            <a:r>
              <a:rPr lang="en-US" sz="1500" dirty="0">
                <a:solidFill>
                  <a:schemeClr val="bg1"/>
                </a:solidFill>
              </a:rPr>
              <a:t>System prompt: role, rules</a:t>
            </a:r>
            <a:endParaRPr lang="en-US" sz="1500" dirty="0"/>
          </a:p>
        </p:txBody>
      </p:sp>
      <p:sp>
        <p:nvSpPr>
          <p:cNvPr id="5" name="prompt block"/>
          <p:cNvSpPr/>
          <p:nvPr/>
        </p:nvSpPr>
        <p:spPr>
          <a:xfrm>
            <a:off x="548640" y="2075688"/>
            <a:ext cx="5120640" cy="2011680"/>
          </a:xfrm>
          <a:prstGeom prst="roundRect">
            <a:avLst>
              <a:gd name="adj" fmla="val 2727"/>
            </a:avLst>
          </a:prstGeom>
          <a:solidFill>
            <a:schemeClr val="accent2"/>
          </a:solidFill>
          <a:ln w="12700">
            <a:solidFill>
              <a:schemeClr val="accent2"/>
            </a:solidFill>
            <a:prstDash val="solid"/>
          </a:ln>
        </p:spPr>
        <p:txBody>
          <a:bodyPr/>
          <a:lstStyle/>
          <a:p>
            <a:endParaRPr lang="en-US"/>
          </a:p>
        </p:txBody>
      </p:sp>
      <p:sp>
        <p:nvSpPr>
          <p:cNvPr id="6" name="Text 4"/>
          <p:cNvSpPr txBox="1"/>
          <p:nvPr/>
        </p:nvSpPr>
        <p:spPr>
          <a:xfrm>
            <a:off x="777240" y="2075688"/>
            <a:ext cx="4663440" cy="2011680"/>
          </a:xfrm>
          <a:prstGeom prst="rect">
            <a:avLst/>
          </a:prstGeom>
          <a:noFill/>
          <a:ln/>
        </p:spPr>
        <p:txBody>
          <a:bodyPr wrap="square" lIns="0" tIns="0" rIns="0" bIns="0" rtlCol="0" anchor="ctr"/>
          <a:lstStyle/>
          <a:p>
            <a:pPr marL="0" indent="0">
              <a:buNone/>
            </a:pPr>
            <a:r>
              <a:rPr lang="en-US" sz="1500" dirty="0">
                <a:solidFill>
                  <a:schemeClr val="bg1"/>
                </a:solidFill>
              </a:rPr>
              <a:t>&lt;documents&gt; … 20k+ tokens of reports, contracts, code … &lt;/documents&gt;</a:t>
            </a:r>
            <a:endParaRPr lang="en-US" sz="1500" dirty="0"/>
          </a:p>
        </p:txBody>
      </p:sp>
      <p:sp>
        <p:nvSpPr>
          <p:cNvPr id="7" name="prompt block"/>
          <p:cNvSpPr/>
          <p:nvPr/>
        </p:nvSpPr>
        <p:spPr>
          <a:xfrm>
            <a:off x="548640" y="4197096"/>
            <a:ext cx="5120640" cy="685800"/>
          </a:xfrm>
          <a:prstGeom prst="roundRect">
            <a:avLst>
              <a:gd name="adj" fmla="val 8000"/>
            </a:avLst>
          </a:prstGeom>
          <a:solidFill>
            <a:schemeClr val="accent3"/>
          </a:solidFill>
          <a:ln w="12700">
            <a:solidFill>
              <a:schemeClr val="accent3"/>
            </a:solidFill>
            <a:prstDash val="solid"/>
          </a:ln>
        </p:spPr>
        <p:txBody>
          <a:bodyPr/>
          <a:lstStyle/>
          <a:p>
            <a:endParaRPr lang="en-US"/>
          </a:p>
        </p:txBody>
      </p:sp>
      <p:sp>
        <p:nvSpPr>
          <p:cNvPr id="8" name="Text 6"/>
          <p:cNvSpPr txBox="1"/>
          <p:nvPr/>
        </p:nvSpPr>
        <p:spPr>
          <a:xfrm>
            <a:off x="777240" y="4197096"/>
            <a:ext cx="4663440" cy="685800"/>
          </a:xfrm>
          <a:prstGeom prst="rect">
            <a:avLst/>
          </a:prstGeom>
          <a:noFill/>
          <a:ln/>
        </p:spPr>
        <p:txBody>
          <a:bodyPr wrap="square" lIns="0" tIns="0" rIns="0" bIns="0" rtlCol="0" anchor="ctr"/>
          <a:lstStyle/>
          <a:p>
            <a:pPr marL="0" indent="0">
              <a:buNone/>
            </a:pPr>
            <a:r>
              <a:rPr lang="en-US" sz="1500" dirty="0">
                <a:solidFill>
                  <a:schemeClr val="bg1"/>
                </a:solidFill>
              </a:rPr>
              <a:t>Instructions: what to do with them</a:t>
            </a:r>
            <a:endParaRPr lang="en-US" sz="1500" dirty="0"/>
          </a:p>
        </p:txBody>
      </p:sp>
      <p:sp>
        <p:nvSpPr>
          <p:cNvPr id="9" name="prompt block"/>
          <p:cNvSpPr/>
          <p:nvPr/>
        </p:nvSpPr>
        <p:spPr>
          <a:xfrm>
            <a:off x="548640" y="4992624"/>
            <a:ext cx="5120640" cy="685800"/>
          </a:xfrm>
          <a:prstGeom prst="roundRect">
            <a:avLst>
              <a:gd name="adj" fmla="val 8000"/>
            </a:avLst>
          </a:prstGeom>
          <a:solidFill>
            <a:schemeClr val="accent1"/>
          </a:solidFill>
          <a:ln w="12700">
            <a:solidFill>
              <a:schemeClr val="accent1"/>
            </a:solidFill>
            <a:prstDash val="solid"/>
          </a:ln>
        </p:spPr>
        <p:txBody>
          <a:bodyPr/>
          <a:lstStyle/>
          <a:p>
            <a:endParaRPr lang="en-US"/>
          </a:p>
        </p:txBody>
      </p:sp>
      <p:sp>
        <p:nvSpPr>
          <p:cNvPr id="10" name="Text 8"/>
          <p:cNvSpPr txBox="1"/>
          <p:nvPr/>
        </p:nvSpPr>
        <p:spPr>
          <a:xfrm>
            <a:off x="777240" y="4992624"/>
            <a:ext cx="4663440" cy="685800"/>
          </a:xfrm>
          <a:prstGeom prst="rect">
            <a:avLst/>
          </a:prstGeom>
          <a:noFill/>
          <a:ln/>
        </p:spPr>
        <p:txBody>
          <a:bodyPr wrap="square" lIns="0" tIns="0" rIns="0" bIns="0" rtlCol="0" anchor="ctr"/>
          <a:lstStyle/>
          <a:p>
            <a:pPr marL="0" indent="0">
              <a:buNone/>
            </a:pPr>
            <a:r>
              <a:rPr lang="en-US" sz="1500" b="1" dirty="0">
                <a:solidFill>
                  <a:schemeClr val="bg1"/>
                </a:solidFill>
              </a:rPr>
              <a:t>Your question (at the very end)</a:t>
            </a:r>
            <a:endParaRPr lang="en-US" sz="1500" dirty="0"/>
          </a:p>
        </p:txBody>
      </p:sp>
      <p:sp>
        <p:nvSpPr>
          <p:cNvPr id="11" name="Text 9"/>
          <p:cNvSpPr txBox="1"/>
          <p:nvPr/>
        </p:nvSpPr>
        <p:spPr>
          <a:xfrm>
            <a:off x="5806440" y="1463040"/>
            <a:ext cx="1463040" cy="274320"/>
          </a:xfrm>
          <a:prstGeom prst="rect">
            <a:avLst/>
          </a:prstGeom>
          <a:noFill/>
          <a:ln/>
        </p:spPr>
        <p:txBody>
          <a:bodyPr wrap="square" lIns="0" tIns="0" rIns="0" bIns="0" rtlCol="0" anchor="t"/>
          <a:lstStyle/>
          <a:p>
            <a:pPr marL="0" indent="0">
              <a:buNone/>
            </a:pPr>
            <a:r>
              <a:rPr lang="en-US" sz="1100" dirty="0">
                <a:solidFill>
                  <a:schemeClr val="accent5"/>
                </a:solidFill>
              </a:rPr>
              <a:t>Top of prompt</a:t>
            </a:r>
            <a:endParaRPr lang="en-US" sz="1100" dirty="0"/>
          </a:p>
        </p:txBody>
      </p:sp>
      <p:sp>
        <p:nvSpPr>
          <p:cNvPr id="12" name="Text 10"/>
          <p:cNvSpPr txBox="1"/>
          <p:nvPr/>
        </p:nvSpPr>
        <p:spPr>
          <a:xfrm>
            <a:off x="5806440" y="5257800"/>
            <a:ext cx="1463040" cy="274320"/>
          </a:xfrm>
          <a:prstGeom prst="rect">
            <a:avLst/>
          </a:prstGeom>
          <a:noFill/>
          <a:ln/>
        </p:spPr>
        <p:txBody>
          <a:bodyPr wrap="square" lIns="0" tIns="0" rIns="0" bIns="0" rtlCol="0" anchor="t"/>
          <a:lstStyle/>
          <a:p>
            <a:pPr marL="0" indent="0">
              <a:buNone/>
            </a:pPr>
            <a:r>
              <a:rPr lang="en-US" sz="1100" dirty="0">
                <a:solidFill>
                  <a:schemeClr val="accent5"/>
                </a:solidFill>
              </a:rPr>
              <a:t>End of prompt</a:t>
            </a:r>
            <a:endParaRPr lang="en-US" sz="1100" dirty="0"/>
          </a:p>
        </p:txBody>
      </p:sp>
      <p:sp>
        <p:nvSpPr>
          <p:cNvPr id="13" name="Text 11"/>
          <p:cNvSpPr txBox="1"/>
          <p:nvPr/>
        </p:nvSpPr>
        <p:spPr>
          <a:xfrm>
            <a:off x="7315200" y="1371600"/>
            <a:ext cx="4297680" cy="1828800"/>
          </a:xfrm>
          <a:prstGeom prst="rect">
            <a:avLst/>
          </a:prstGeom>
          <a:noFill/>
          <a:ln/>
        </p:spPr>
        <p:txBody>
          <a:bodyPr wrap="square" lIns="0" tIns="0" rIns="0" bIns="0" rtlCol="0" anchor="t"/>
          <a:lstStyle/>
          <a:p>
            <a:pPr marL="0" indent="0">
              <a:buNone/>
            </a:pPr>
            <a:r>
              <a:rPr lang="en-US" sz="5400" b="1" dirty="0">
                <a:solidFill>
                  <a:schemeClr val="accent1"/>
                </a:solidFill>
                <a:latin typeface="Cambria" pitchFamily="34" charset="0"/>
                <a:ea typeface="Cambria" pitchFamily="34" charset="-122"/>
                <a:cs typeface="Cambria" pitchFamily="34" charset="-120"/>
              </a:rPr>
              <a:t>up to 30%</a:t>
            </a:r>
            <a:endParaRPr lang="en-US" sz="5400" dirty="0"/>
          </a:p>
          <a:p>
            <a:pPr marL="0" indent="0">
              <a:buNone/>
            </a:pPr>
            <a:r>
              <a:rPr lang="en-US" sz="1400" dirty="0">
                <a:solidFill>
                  <a:schemeClr val="tx2"/>
                </a:solidFill>
              </a:rPr>
              <a:t>better answers on complex multi-document tasks when the query comes after the documents (Anthropic docs)</a:t>
            </a:r>
            <a:endParaRPr lang="en-US" sz="5400" dirty="0"/>
          </a:p>
        </p:txBody>
      </p:sp>
      <p:sp>
        <p:nvSpPr>
          <p:cNvPr id="14" name="card"/>
          <p:cNvSpPr/>
          <p:nvPr/>
        </p:nvSpPr>
        <p:spPr>
          <a:xfrm>
            <a:off x="7315200" y="3520440"/>
            <a:ext cx="4297680" cy="2514600"/>
          </a:xfrm>
          <a:prstGeom prst="roundRect">
            <a:avLst>
              <a:gd name="adj" fmla="val 2909"/>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7589520" y="3703320"/>
            <a:ext cx="3840480" cy="320040"/>
          </a:xfrm>
          <a:prstGeom prst="rect">
            <a:avLst/>
          </a:prstGeom>
          <a:noFill/>
          <a:ln/>
        </p:spPr>
        <p:txBody>
          <a:bodyPr wrap="square" lIns="0" tIns="0" rIns="0" bIns="0" rtlCol="0" anchor="t"/>
          <a:lstStyle/>
          <a:p>
            <a:pPr marL="0" indent="0">
              <a:buNone/>
            </a:pPr>
            <a:r>
              <a:rPr lang="en-US" sz="1600" b="1" dirty="0">
                <a:solidFill>
                  <a:schemeClr val="tx1"/>
                </a:solidFill>
              </a:rPr>
              <a:t>Two more tricks</a:t>
            </a:r>
            <a:endParaRPr lang="en-US" sz="1600" dirty="0"/>
          </a:p>
        </p:txBody>
      </p:sp>
      <p:sp>
        <p:nvSpPr>
          <p:cNvPr id="16" name="Text 14"/>
          <p:cNvSpPr txBox="1"/>
          <p:nvPr/>
        </p:nvSpPr>
        <p:spPr>
          <a:xfrm>
            <a:off x="7589520" y="4114800"/>
            <a:ext cx="384048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Ask Claude to quote the relevant passages in &lt;quotes&gt; first, then answer from them. It cuts through the noise.</a:t>
            </a:r>
            <a:endParaRPr lang="en-US" sz="1400" dirty="0"/>
          </a:p>
          <a:p>
            <a:pPr marL="342900" indent="-342900">
              <a:spcAft>
                <a:spcPts val="600"/>
              </a:spcAft>
              <a:buSzPct val="100000"/>
              <a:buChar char="•"/>
            </a:pPr>
            <a:r>
              <a:rPr lang="en-US" sz="1400" dirty="0">
                <a:solidFill>
                  <a:schemeClr val="tx2"/>
                </a:solidFill>
              </a:rPr>
              <a:t>Wrap each file in &lt;document&gt; with &lt;source&gt; and &lt;document_content&gt; tags so it can cite which file said what.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Treat a prompt like code: test it, change one thing, test again</a:t>
            </a:r>
            <a:endParaRPr lang="en-US" sz="3200" dirty="0"/>
          </a:p>
        </p:txBody>
      </p:sp>
      <p:sp>
        <p:nvSpPr>
          <p:cNvPr id="3" name="card"/>
          <p:cNvSpPr/>
          <p:nvPr/>
        </p:nvSpPr>
        <p:spPr>
          <a:xfrm>
            <a:off x="548640" y="1417320"/>
            <a:ext cx="2468880" cy="2377440"/>
          </a:xfrm>
          <a:prstGeom prst="roundRect">
            <a:avLst>
              <a:gd name="adj" fmla="val 307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icon circle"/>
          <p:cNvSpPr/>
          <p:nvPr/>
        </p:nvSpPr>
        <p:spPr>
          <a:xfrm>
            <a:off x="1417320" y="164592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5" name="Image 0" descr="PenNib icon"/>
          <p:cNvPicPr>
            <a:picLocks noChangeAspect="1"/>
          </p:cNvPicPr>
          <p:nvPr/>
        </p:nvPicPr>
        <p:blipFill>
          <a:blip r:embed="rId3"/>
          <a:stretch>
            <a:fillRect/>
          </a:stretch>
        </p:blipFill>
        <p:spPr>
          <a:xfrm>
            <a:off x="1600200" y="1828800"/>
            <a:ext cx="365760" cy="365760"/>
          </a:xfrm>
          <a:prstGeom prst="rect">
            <a:avLst/>
          </a:prstGeom>
        </p:spPr>
      </p:pic>
      <p:sp>
        <p:nvSpPr>
          <p:cNvPr id="6" name="Text 3"/>
          <p:cNvSpPr txBox="1"/>
          <p:nvPr/>
        </p:nvSpPr>
        <p:spPr>
          <a:xfrm>
            <a:off x="731520" y="2514600"/>
            <a:ext cx="2103120" cy="365760"/>
          </a:xfrm>
          <a:prstGeom prst="rect">
            <a:avLst/>
          </a:prstGeom>
          <a:noFill/>
          <a:ln/>
        </p:spPr>
        <p:txBody>
          <a:bodyPr wrap="square" lIns="0" tIns="0" rIns="0" bIns="0" rtlCol="0" anchor="t"/>
          <a:lstStyle/>
          <a:p>
            <a:pPr marL="0" indent="0" algn="ctr">
              <a:buNone/>
            </a:pPr>
            <a:r>
              <a:rPr lang="en-US" sz="1800" b="1" dirty="0">
                <a:solidFill>
                  <a:schemeClr val="tx1"/>
                </a:solidFill>
              </a:rPr>
              <a:t>Write</a:t>
            </a:r>
            <a:endParaRPr lang="en-US" sz="1800" dirty="0"/>
          </a:p>
        </p:txBody>
      </p:sp>
      <p:sp>
        <p:nvSpPr>
          <p:cNvPr id="7" name="Text 4"/>
          <p:cNvSpPr txBox="1"/>
          <p:nvPr/>
        </p:nvSpPr>
        <p:spPr>
          <a:xfrm>
            <a:off x="777240" y="2926080"/>
            <a:ext cx="2011680" cy="731520"/>
          </a:xfrm>
          <a:prstGeom prst="rect">
            <a:avLst/>
          </a:prstGeom>
          <a:noFill/>
          <a:ln/>
        </p:spPr>
        <p:txBody>
          <a:bodyPr wrap="square" lIns="0" tIns="0" rIns="0" bIns="0" rtlCol="0" anchor="t"/>
          <a:lstStyle/>
          <a:p>
            <a:pPr marL="0" indent="0" algn="ctr">
              <a:buNone/>
            </a:pPr>
            <a:r>
              <a:rPr lang="en-US" sz="1400" dirty="0">
                <a:solidFill>
                  <a:schemeClr val="tx2"/>
                </a:solidFill>
              </a:rPr>
              <a:t>First draft using the anatomy</a:t>
            </a:r>
            <a:endParaRPr lang="en-US" sz="1400" dirty="0"/>
          </a:p>
        </p:txBody>
      </p:sp>
      <p:sp>
        <p:nvSpPr>
          <p:cNvPr id="8" name="arrow"/>
          <p:cNvSpPr/>
          <p:nvPr/>
        </p:nvSpPr>
        <p:spPr>
          <a:xfrm>
            <a:off x="3063240" y="2606040"/>
            <a:ext cx="274320" cy="0"/>
          </a:xfrm>
          <a:prstGeom prst="line">
            <a:avLst/>
          </a:prstGeom>
          <a:noFill/>
          <a:ln w="19050">
            <a:solidFill>
              <a:schemeClr val="accent5"/>
            </a:solidFill>
            <a:prstDash val="solid"/>
            <a:tailEnd type="triangle"/>
          </a:ln>
        </p:spPr>
        <p:txBody>
          <a:bodyPr/>
          <a:lstStyle/>
          <a:p>
            <a:endParaRPr lang="en-US"/>
          </a:p>
        </p:txBody>
      </p:sp>
      <p:sp>
        <p:nvSpPr>
          <p:cNvPr id="9" name="card"/>
          <p:cNvSpPr/>
          <p:nvPr/>
        </p:nvSpPr>
        <p:spPr>
          <a:xfrm>
            <a:off x="3383280" y="1417320"/>
            <a:ext cx="2468880" cy="2377440"/>
          </a:xfrm>
          <a:prstGeom prst="roundRect">
            <a:avLst>
              <a:gd name="adj" fmla="val 307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0" name="icon circle"/>
          <p:cNvSpPr/>
          <p:nvPr/>
        </p:nvSpPr>
        <p:spPr>
          <a:xfrm>
            <a:off x="4251960" y="1645920"/>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11" name="Image 1" descr="Flask icon"/>
          <p:cNvPicPr>
            <a:picLocks noChangeAspect="1"/>
          </p:cNvPicPr>
          <p:nvPr/>
        </p:nvPicPr>
        <p:blipFill>
          <a:blip r:embed="rId4"/>
          <a:stretch>
            <a:fillRect/>
          </a:stretch>
        </p:blipFill>
        <p:spPr>
          <a:xfrm>
            <a:off x="4434840" y="1828800"/>
            <a:ext cx="365760" cy="365760"/>
          </a:xfrm>
          <a:prstGeom prst="rect">
            <a:avLst/>
          </a:prstGeom>
        </p:spPr>
      </p:pic>
      <p:sp>
        <p:nvSpPr>
          <p:cNvPr id="12" name="Text 8"/>
          <p:cNvSpPr txBox="1"/>
          <p:nvPr/>
        </p:nvSpPr>
        <p:spPr>
          <a:xfrm>
            <a:off x="3566160" y="2514600"/>
            <a:ext cx="2103120" cy="365760"/>
          </a:xfrm>
          <a:prstGeom prst="rect">
            <a:avLst/>
          </a:prstGeom>
          <a:noFill/>
          <a:ln/>
        </p:spPr>
        <p:txBody>
          <a:bodyPr wrap="square" lIns="0" tIns="0" rIns="0" bIns="0" rtlCol="0" anchor="t"/>
          <a:lstStyle/>
          <a:p>
            <a:pPr marL="0" indent="0" algn="ctr">
              <a:buNone/>
            </a:pPr>
            <a:r>
              <a:rPr lang="en-US" sz="1800" b="1" dirty="0">
                <a:solidFill>
                  <a:schemeClr val="tx1"/>
                </a:solidFill>
              </a:rPr>
              <a:t>Test</a:t>
            </a:r>
            <a:endParaRPr lang="en-US" sz="1800" dirty="0"/>
          </a:p>
        </p:txBody>
      </p:sp>
      <p:sp>
        <p:nvSpPr>
          <p:cNvPr id="13" name="Text 9"/>
          <p:cNvSpPr txBox="1"/>
          <p:nvPr/>
        </p:nvSpPr>
        <p:spPr>
          <a:xfrm>
            <a:off x="3611880" y="2926080"/>
            <a:ext cx="2011680" cy="731520"/>
          </a:xfrm>
          <a:prstGeom prst="rect">
            <a:avLst/>
          </a:prstGeom>
          <a:noFill/>
          <a:ln/>
        </p:spPr>
        <p:txBody>
          <a:bodyPr wrap="square" lIns="0" tIns="0" rIns="0" bIns="0" rtlCol="0" anchor="t"/>
          <a:lstStyle/>
          <a:p>
            <a:pPr marL="0" indent="0" algn="ctr">
              <a:buNone/>
            </a:pPr>
            <a:r>
              <a:rPr lang="en-US" sz="1400" dirty="0">
                <a:solidFill>
                  <a:schemeClr val="tx2"/>
                </a:solidFill>
              </a:rPr>
              <a:t>Run on 5–20 real, varied inputs</a:t>
            </a:r>
            <a:endParaRPr lang="en-US" sz="1400" dirty="0"/>
          </a:p>
        </p:txBody>
      </p:sp>
      <p:sp>
        <p:nvSpPr>
          <p:cNvPr id="14" name="arrow"/>
          <p:cNvSpPr/>
          <p:nvPr/>
        </p:nvSpPr>
        <p:spPr>
          <a:xfrm>
            <a:off x="5897880" y="2606040"/>
            <a:ext cx="274320" cy="0"/>
          </a:xfrm>
          <a:prstGeom prst="line">
            <a:avLst/>
          </a:prstGeom>
          <a:noFill/>
          <a:ln w="19050">
            <a:solidFill>
              <a:schemeClr val="accent5"/>
            </a:solidFill>
            <a:prstDash val="solid"/>
            <a:tailEnd type="triangle"/>
          </a:ln>
        </p:spPr>
        <p:txBody>
          <a:bodyPr/>
          <a:lstStyle/>
          <a:p>
            <a:endParaRPr lang="en-US"/>
          </a:p>
        </p:txBody>
      </p:sp>
      <p:sp>
        <p:nvSpPr>
          <p:cNvPr id="15" name="card"/>
          <p:cNvSpPr/>
          <p:nvPr/>
        </p:nvSpPr>
        <p:spPr>
          <a:xfrm>
            <a:off x="6217920" y="1417320"/>
            <a:ext cx="2468880" cy="2377440"/>
          </a:xfrm>
          <a:prstGeom prst="roundRect">
            <a:avLst>
              <a:gd name="adj" fmla="val 307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6" name="icon circle"/>
          <p:cNvSpPr/>
          <p:nvPr/>
        </p:nvSpPr>
        <p:spPr>
          <a:xfrm>
            <a:off x="7086600" y="1645920"/>
            <a:ext cx="731520" cy="731520"/>
          </a:xfrm>
          <a:prstGeom prst="ellipse">
            <a:avLst/>
          </a:prstGeom>
          <a:solidFill>
            <a:schemeClr val="accent3"/>
          </a:solidFill>
          <a:ln w="12700">
            <a:solidFill>
              <a:schemeClr val="accent3"/>
            </a:solidFill>
            <a:prstDash val="solid"/>
          </a:ln>
        </p:spPr>
        <p:txBody>
          <a:bodyPr/>
          <a:lstStyle/>
          <a:p>
            <a:endParaRPr lang="en-US"/>
          </a:p>
        </p:txBody>
      </p:sp>
      <p:pic>
        <p:nvPicPr>
          <p:cNvPr id="17" name="Image 2" descr="Eye icon"/>
          <p:cNvPicPr>
            <a:picLocks noChangeAspect="1"/>
          </p:cNvPicPr>
          <p:nvPr/>
        </p:nvPicPr>
        <p:blipFill>
          <a:blip r:embed="rId5"/>
          <a:stretch>
            <a:fillRect/>
          </a:stretch>
        </p:blipFill>
        <p:spPr>
          <a:xfrm>
            <a:off x="7269480" y="1828800"/>
            <a:ext cx="365760" cy="365760"/>
          </a:xfrm>
          <a:prstGeom prst="rect">
            <a:avLst/>
          </a:prstGeom>
        </p:spPr>
      </p:pic>
      <p:sp>
        <p:nvSpPr>
          <p:cNvPr id="18" name="Text 13"/>
          <p:cNvSpPr txBox="1"/>
          <p:nvPr/>
        </p:nvSpPr>
        <p:spPr>
          <a:xfrm>
            <a:off x="6400800" y="2514600"/>
            <a:ext cx="2103120" cy="365760"/>
          </a:xfrm>
          <a:prstGeom prst="rect">
            <a:avLst/>
          </a:prstGeom>
          <a:noFill/>
          <a:ln/>
        </p:spPr>
        <p:txBody>
          <a:bodyPr wrap="square" lIns="0" tIns="0" rIns="0" bIns="0" rtlCol="0" anchor="t"/>
          <a:lstStyle/>
          <a:p>
            <a:pPr marL="0" indent="0" algn="ctr">
              <a:buNone/>
            </a:pPr>
            <a:r>
              <a:rPr lang="en-US" sz="1800" b="1" dirty="0">
                <a:solidFill>
                  <a:schemeClr val="tx1"/>
                </a:solidFill>
              </a:rPr>
              <a:t>Read</a:t>
            </a:r>
            <a:endParaRPr lang="en-US" sz="1800" dirty="0"/>
          </a:p>
        </p:txBody>
      </p:sp>
      <p:sp>
        <p:nvSpPr>
          <p:cNvPr id="19" name="Text 14"/>
          <p:cNvSpPr txBox="1"/>
          <p:nvPr/>
        </p:nvSpPr>
        <p:spPr>
          <a:xfrm>
            <a:off x="6446520" y="2926080"/>
            <a:ext cx="2011680" cy="731520"/>
          </a:xfrm>
          <a:prstGeom prst="rect">
            <a:avLst/>
          </a:prstGeom>
          <a:noFill/>
          <a:ln/>
        </p:spPr>
        <p:txBody>
          <a:bodyPr wrap="square" lIns="0" tIns="0" rIns="0" bIns="0" rtlCol="0" anchor="t"/>
          <a:lstStyle/>
          <a:p>
            <a:pPr marL="0" indent="0" algn="ctr">
              <a:buNone/>
            </a:pPr>
            <a:r>
              <a:rPr lang="en-US" sz="1400" dirty="0">
                <a:solidFill>
                  <a:schemeClr val="tx2"/>
                </a:solidFill>
              </a:rPr>
              <a:t>Find the failure pattern, not one bad output</a:t>
            </a:r>
            <a:endParaRPr lang="en-US" sz="1400" dirty="0"/>
          </a:p>
        </p:txBody>
      </p:sp>
      <p:sp>
        <p:nvSpPr>
          <p:cNvPr id="20" name="arrow"/>
          <p:cNvSpPr/>
          <p:nvPr/>
        </p:nvSpPr>
        <p:spPr>
          <a:xfrm>
            <a:off x="8732520" y="2606040"/>
            <a:ext cx="274320" cy="0"/>
          </a:xfrm>
          <a:prstGeom prst="line">
            <a:avLst/>
          </a:prstGeom>
          <a:noFill/>
          <a:ln w="19050">
            <a:solidFill>
              <a:schemeClr val="accent5"/>
            </a:solidFill>
            <a:prstDash val="solid"/>
            <a:tailEnd type="triangle"/>
          </a:ln>
        </p:spPr>
        <p:txBody>
          <a:bodyPr/>
          <a:lstStyle/>
          <a:p>
            <a:endParaRPr lang="en-US"/>
          </a:p>
        </p:txBody>
      </p:sp>
      <p:sp>
        <p:nvSpPr>
          <p:cNvPr id="21" name="card"/>
          <p:cNvSpPr/>
          <p:nvPr/>
        </p:nvSpPr>
        <p:spPr>
          <a:xfrm>
            <a:off x="9052560" y="1417320"/>
            <a:ext cx="2468880" cy="2377440"/>
          </a:xfrm>
          <a:prstGeom prst="roundRect">
            <a:avLst>
              <a:gd name="adj" fmla="val 307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2" name="icon circle"/>
          <p:cNvSpPr/>
          <p:nvPr/>
        </p:nvSpPr>
        <p:spPr>
          <a:xfrm>
            <a:off x="9921240" y="1645920"/>
            <a:ext cx="731520" cy="731520"/>
          </a:xfrm>
          <a:prstGeom prst="ellipse">
            <a:avLst/>
          </a:prstGeom>
          <a:solidFill>
            <a:schemeClr val="accent4"/>
          </a:solidFill>
          <a:ln w="12700">
            <a:solidFill>
              <a:schemeClr val="accent4"/>
            </a:solidFill>
            <a:prstDash val="solid"/>
          </a:ln>
        </p:spPr>
        <p:txBody>
          <a:bodyPr/>
          <a:lstStyle/>
          <a:p>
            <a:endParaRPr lang="en-US"/>
          </a:p>
        </p:txBody>
      </p:sp>
      <p:pic>
        <p:nvPicPr>
          <p:cNvPr id="23" name="Image 3" descr="Wrench icon"/>
          <p:cNvPicPr>
            <a:picLocks noChangeAspect="1"/>
          </p:cNvPicPr>
          <p:nvPr/>
        </p:nvPicPr>
        <p:blipFill>
          <a:blip r:embed="rId6"/>
          <a:stretch>
            <a:fillRect/>
          </a:stretch>
        </p:blipFill>
        <p:spPr>
          <a:xfrm>
            <a:off x="10104120" y="1828800"/>
            <a:ext cx="365760" cy="365760"/>
          </a:xfrm>
          <a:prstGeom prst="rect">
            <a:avLst/>
          </a:prstGeom>
        </p:spPr>
      </p:pic>
      <p:sp>
        <p:nvSpPr>
          <p:cNvPr id="24" name="Text 18"/>
          <p:cNvSpPr txBox="1"/>
          <p:nvPr/>
        </p:nvSpPr>
        <p:spPr>
          <a:xfrm>
            <a:off x="9235440" y="2514600"/>
            <a:ext cx="2103120" cy="365760"/>
          </a:xfrm>
          <a:prstGeom prst="rect">
            <a:avLst/>
          </a:prstGeom>
          <a:noFill/>
          <a:ln/>
        </p:spPr>
        <p:txBody>
          <a:bodyPr wrap="square" lIns="0" tIns="0" rIns="0" bIns="0" rtlCol="0" anchor="t"/>
          <a:lstStyle/>
          <a:p>
            <a:pPr marL="0" indent="0" algn="ctr">
              <a:buNone/>
            </a:pPr>
            <a:r>
              <a:rPr lang="en-US" sz="1800" b="1" dirty="0">
                <a:solidFill>
                  <a:schemeClr val="tx1"/>
                </a:solidFill>
              </a:rPr>
              <a:t>Fix</a:t>
            </a:r>
            <a:endParaRPr lang="en-US" sz="1800" dirty="0"/>
          </a:p>
        </p:txBody>
      </p:sp>
      <p:sp>
        <p:nvSpPr>
          <p:cNvPr id="25" name="Text 19"/>
          <p:cNvSpPr txBox="1"/>
          <p:nvPr/>
        </p:nvSpPr>
        <p:spPr>
          <a:xfrm>
            <a:off x="9281160" y="2926080"/>
            <a:ext cx="2011680" cy="731520"/>
          </a:xfrm>
          <a:prstGeom prst="rect">
            <a:avLst/>
          </a:prstGeom>
          <a:noFill/>
          <a:ln/>
        </p:spPr>
        <p:txBody>
          <a:bodyPr wrap="square" lIns="0" tIns="0" rIns="0" bIns="0" rtlCol="0" anchor="t"/>
          <a:lstStyle/>
          <a:p>
            <a:pPr marL="0" indent="0" algn="ctr">
              <a:buNone/>
            </a:pPr>
            <a:r>
              <a:rPr lang="en-US" sz="1400" dirty="0">
                <a:solidFill>
                  <a:schemeClr val="tx2"/>
                </a:solidFill>
              </a:rPr>
              <a:t>Change one thing; add an example or rule</a:t>
            </a:r>
            <a:endParaRPr lang="en-US" sz="1400" dirty="0"/>
          </a:p>
        </p:txBody>
      </p:sp>
      <p:sp>
        <p:nvSpPr>
          <p:cNvPr id="26" name="card"/>
          <p:cNvSpPr/>
          <p:nvPr/>
        </p:nvSpPr>
        <p:spPr>
          <a:xfrm>
            <a:off x="548640" y="4114800"/>
            <a:ext cx="5486400" cy="1920240"/>
          </a:xfrm>
          <a:prstGeom prst="roundRect">
            <a:avLst>
              <a:gd name="adj" fmla="val 3810"/>
            </a:avLst>
          </a:prstGeom>
          <a:solidFill>
            <a:schemeClr val="bg1"/>
          </a:solidFill>
          <a:ln w="9525">
            <a:solidFill>
              <a:schemeClr val="accent6"/>
            </a:solidFill>
            <a:prstDash val="solid"/>
          </a:ln>
        </p:spPr>
        <p:txBody>
          <a:bodyPr/>
          <a:lstStyle/>
          <a:p>
            <a:endParaRPr lang="en-US"/>
          </a:p>
        </p:txBody>
      </p:sp>
      <p:sp>
        <p:nvSpPr>
          <p:cNvPr id="27" name="Text 21"/>
          <p:cNvSpPr txBox="1"/>
          <p:nvPr/>
        </p:nvSpPr>
        <p:spPr>
          <a:xfrm>
            <a:off x="822960" y="4297680"/>
            <a:ext cx="5029200" cy="320040"/>
          </a:xfrm>
          <a:prstGeom prst="rect">
            <a:avLst/>
          </a:prstGeom>
          <a:noFill/>
          <a:ln/>
        </p:spPr>
        <p:txBody>
          <a:bodyPr wrap="square" lIns="0" tIns="0" rIns="0" bIns="0" rtlCol="0" anchor="t"/>
          <a:lstStyle/>
          <a:p>
            <a:pPr marL="0" indent="0">
              <a:buNone/>
            </a:pPr>
            <a:r>
              <a:rPr lang="en-US" sz="1600" b="1" dirty="0">
                <a:solidFill>
                  <a:schemeClr val="tx1"/>
                </a:solidFill>
              </a:rPr>
              <a:t>Chain prompts for big tasks</a:t>
            </a:r>
            <a:endParaRPr lang="en-US" sz="1600" dirty="0"/>
          </a:p>
        </p:txBody>
      </p:sp>
      <p:sp>
        <p:nvSpPr>
          <p:cNvPr id="28" name="Text 22"/>
          <p:cNvSpPr txBox="1"/>
          <p:nvPr/>
        </p:nvSpPr>
        <p:spPr>
          <a:xfrm>
            <a:off x="822960" y="4709160"/>
            <a:ext cx="4937760" cy="1188720"/>
          </a:xfrm>
          <a:prstGeom prst="rect">
            <a:avLst/>
          </a:prstGeom>
          <a:noFill/>
          <a:ln/>
        </p:spPr>
        <p:txBody>
          <a:bodyPr wrap="square" lIns="0" tIns="0" rIns="0" bIns="0" rtlCol="0" anchor="t"/>
          <a:lstStyle/>
          <a:p>
            <a:pPr marL="0" indent="0">
              <a:buNone/>
            </a:pPr>
            <a:r>
              <a:rPr lang="en-US" sz="1400" dirty="0">
                <a:solidFill>
                  <a:schemeClr val="tx2"/>
                </a:solidFill>
              </a:rPr>
              <a:t>Draft → review against criteria → refine, as separate steps. You can inspect and fix each step, and each prompt stays simple.</a:t>
            </a:r>
            <a:endParaRPr lang="en-US" sz="1400" dirty="0"/>
          </a:p>
        </p:txBody>
      </p:sp>
      <p:sp>
        <p:nvSpPr>
          <p:cNvPr id="29" name="card"/>
          <p:cNvSpPr/>
          <p:nvPr/>
        </p:nvSpPr>
        <p:spPr>
          <a:xfrm>
            <a:off x="6309360" y="4114800"/>
            <a:ext cx="5303520" cy="1920240"/>
          </a:xfrm>
          <a:prstGeom prst="roundRect">
            <a:avLst>
              <a:gd name="adj" fmla="val 3810"/>
            </a:avLst>
          </a:prstGeom>
          <a:solidFill>
            <a:schemeClr val="bg1"/>
          </a:solidFill>
          <a:ln w="9525">
            <a:solidFill>
              <a:schemeClr val="accent6"/>
            </a:solidFill>
            <a:prstDash val="solid"/>
          </a:ln>
        </p:spPr>
        <p:txBody>
          <a:bodyPr/>
          <a:lstStyle/>
          <a:p>
            <a:endParaRPr lang="en-US"/>
          </a:p>
        </p:txBody>
      </p:sp>
      <p:sp>
        <p:nvSpPr>
          <p:cNvPr id="30" name="Text 24"/>
          <p:cNvSpPr txBox="1"/>
          <p:nvPr/>
        </p:nvSpPr>
        <p:spPr>
          <a:xfrm>
            <a:off x="6583680" y="4297680"/>
            <a:ext cx="4846320" cy="320040"/>
          </a:xfrm>
          <a:prstGeom prst="rect">
            <a:avLst/>
          </a:prstGeom>
          <a:noFill/>
          <a:ln/>
        </p:spPr>
        <p:txBody>
          <a:bodyPr wrap="square" lIns="0" tIns="0" rIns="0" bIns="0" rtlCol="0" anchor="t"/>
          <a:lstStyle/>
          <a:p>
            <a:pPr marL="0" indent="0">
              <a:buNone/>
            </a:pPr>
            <a:r>
              <a:rPr lang="en-US" sz="1600" b="1" dirty="0">
                <a:solidFill>
                  <a:schemeClr val="tx1"/>
                </a:solidFill>
              </a:rPr>
              <a:t>Let Claude help</a:t>
            </a:r>
            <a:endParaRPr lang="en-US" sz="1600" dirty="0"/>
          </a:p>
        </p:txBody>
      </p:sp>
      <p:sp>
        <p:nvSpPr>
          <p:cNvPr id="31" name="Text 25"/>
          <p:cNvSpPr txBox="1"/>
          <p:nvPr/>
        </p:nvSpPr>
        <p:spPr>
          <a:xfrm>
            <a:off x="6583680" y="4709160"/>
            <a:ext cx="4846320" cy="1188720"/>
          </a:xfrm>
          <a:prstGeom prst="rect">
            <a:avLst/>
          </a:prstGeom>
          <a:noFill/>
          <a:ln/>
        </p:spPr>
        <p:txBody>
          <a:bodyPr wrap="square" lIns="0" tIns="0" rIns="0" bIns="0" rtlCol="0" anchor="t"/>
          <a:lstStyle/>
          <a:p>
            <a:pPr marL="0" indent="0">
              <a:buNone/>
            </a:pPr>
            <a:r>
              <a:rPr lang="en-US" sz="1400" dirty="0">
                <a:solidFill>
                  <a:schemeClr val="tx2"/>
                </a:solidFill>
              </a:rPr>
              <a:t>Ask: “Here is my prompt and an output I didn’t like. Rewrite the prompt so this doesn’t happen.” The Claude Console also has a prompt generator and improver.</a:t>
            </a:r>
            <a:endParaRPr lang="en-US" sz="14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365760"/>
          </a:xfrm>
          <a:prstGeom prst="rect">
            <a:avLst/>
          </a:prstGeom>
          <a:noFill/>
          <a:ln/>
        </p:spPr>
        <p:txBody>
          <a:bodyPr wrap="square" lIns="0" tIns="0" rIns="0" bIns="0" rtlCol="0"/>
          <a:lstStyle/>
          <a:p>
            <a:pPr marL="0" indent="0">
              <a:buNone/>
            </a:pPr>
            <a:r>
              <a:rPr lang="en-US" sz="1400" b="1" kern="0" spc="400" dirty="0">
                <a:solidFill>
                  <a:schemeClr val="accent1"/>
                </a:solidFill>
              </a:rPr>
              <a:t>PART 2</a:t>
            </a:r>
            <a:endParaRPr lang="en-US" sz="1400" dirty="0"/>
          </a:p>
        </p:txBody>
      </p:sp>
      <p:sp>
        <p:nvSpPr>
          <p:cNvPr id="3" name="Text 0"/>
          <p:cNvSpPr>
            <a:spLocks noGrp="1"/>
          </p:cNvSpPr>
          <p:nvPr>
            <p:ph type="title" idx="101" hasCustomPrompt="1"/>
          </p:nvPr>
        </p:nvSpPr>
        <p:spPr>
          <a:xfrm>
            <a:off x="548640" y="2423160"/>
            <a:ext cx="6583680" cy="914400"/>
          </a:xfrm>
          <a:prstGeom prst="rect">
            <a:avLst/>
          </a:prstGeom>
          <a:noFill/>
          <a:ln/>
        </p:spPr>
        <p:txBody>
          <a:bodyPr wrap="square" lIns="0" tIns="0" rIns="0" bIns="0"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The knobs</a:t>
            </a:r>
            <a:endParaRPr lang="en-US" sz="4000" dirty="0"/>
          </a:p>
        </p:txBody>
      </p:sp>
      <p:sp>
        <p:nvSpPr>
          <p:cNvPr id="4" name="Text 0"/>
          <p:cNvSpPr>
            <a:spLocks noGrp="1"/>
          </p:cNvSpPr>
          <p:nvPr>
            <p:ph type="body" idx="102" hasCustomPrompt="1"/>
          </p:nvPr>
        </p:nvSpPr>
        <p:spPr>
          <a:xfrm>
            <a:off x="548640" y="3474720"/>
            <a:ext cx="6217920" cy="1097280"/>
          </a:xfrm>
          <a:prstGeom prst="rect">
            <a:avLst/>
          </a:prstGeom>
          <a:noFill/>
          <a:ln/>
        </p:spPr>
        <p:txBody>
          <a:bodyPr wrap="square" lIns="0" tIns="0" rIns="0" bIns="0" rtlCol="0" anchor="t"/>
          <a:lstStyle/>
          <a:p>
            <a:pPr marL="0" indent="0">
              <a:buNone/>
            </a:pPr>
            <a:r>
              <a:rPr lang="en-US" sz="1800" dirty="0">
                <a:solidFill>
                  <a:schemeClr val="accent6"/>
                </a:solidFill>
              </a:rPr>
              <a:t>Temperature, top-k, top-p, effort, context length, max tokens, KV cache: what each does and what you can actually change on Claude today.</a:t>
            </a:r>
            <a:endParaRPr lang="en-US" sz="1800" dirty="0"/>
          </a:p>
        </p:txBody>
      </p:sp>
      <p:sp>
        <p:nvSpPr>
          <p:cNvPr id="5" name="token chip"/>
          <p:cNvSpPr/>
          <p:nvPr/>
        </p:nvSpPr>
        <p:spPr>
          <a:xfrm>
            <a:off x="7863840" y="1645920"/>
            <a:ext cx="749808" cy="502920"/>
          </a:xfrm>
          <a:prstGeom prst="roundRect">
            <a:avLst>
              <a:gd name="adj" fmla="val 10909"/>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7863840" y="1645920"/>
            <a:ext cx="749808" cy="502920"/>
          </a:xfrm>
          <a:prstGeom prst="rect">
            <a:avLst/>
          </a:prstGeom>
          <a:noFill/>
          <a:ln/>
        </p:spPr>
        <p:txBody>
          <a:bodyPr wrap="square" lIns="0" tIns="0" rIns="0" bIns="0" rtlCol="0" anchor="ctr"/>
          <a:lstStyle/>
          <a:p>
            <a:pPr marL="0" indent="0" algn="ctr">
              <a:buNone/>
            </a:pPr>
            <a:r>
              <a:rPr lang="en-US" sz="1600" dirty="0">
                <a:solidFill>
                  <a:schemeClr val="bg1"/>
                </a:solidFill>
              </a:rPr>
              <a:t>temp</a:t>
            </a:r>
            <a:endParaRPr lang="en-US" sz="1600" dirty="0"/>
          </a:p>
        </p:txBody>
      </p:sp>
      <p:sp>
        <p:nvSpPr>
          <p:cNvPr id="7" name="token chip"/>
          <p:cNvSpPr/>
          <p:nvPr/>
        </p:nvSpPr>
        <p:spPr>
          <a:xfrm>
            <a:off x="8750808" y="1645920"/>
            <a:ext cx="868680" cy="502920"/>
          </a:xfrm>
          <a:prstGeom prst="roundRect">
            <a:avLst>
              <a:gd name="adj" fmla="val 10909"/>
            </a:avLst>
          </a:prstGeom>
          <a:solidFill>
            <a:schemeClr val="accent2"/>
          </a:solidFill>
          <a:ln w="12700">
            <a:solidFill>
              <a:schemeClr val="accent2"/>
            </a:solidFill>
            <a:prstDash val="solid"/>
          </a:ln>
        </p:spPr>
        <p:txBody>
          <a:bodyPr/>
          <a:lstStyle/>
          <a:p>
            <a:endParaRPr lang="en-US"/>
          </a:p>
        </p:txBody>
      </p:sp>
      <p:sp>
        <p:nvSpPr>
          <p:cNvPr id="8" name="Text 6"/>
          <p:cNvSpPr txBox="1"/>
          <p:nvPr/>
        </p:nvSpPr>
        <p:spPr>
          <a:xfrm>
            <a:off x="8750808" y="1645920"/>
            <a:ext cx="868680" cy="502920"/>
          </a:xfrm>
          <a:prstGeom prst="rect">
            <a:avLst/>
          </a:prstGeom>
          <a:noFill/>
          <a:ln/>
        </p:spPr>
        <p:txBody>
          <a:bodyPr wrap="square" lIns="0" tIns="0" rIns="0" bIns="0" rtlCol="0" anchor="ctr"/>
          <a:lstStyle/>
          <a:p>
            <a:pPr marL="0" indent="0" algn="ctr">
              <a:buNone/>
            </a:pPr>
            <a:r>
              <a:rPr lang="en-US" sz="1600" dirty="0">
                <a:solidFill>
                  <a:schemeClr val="bg1"/>
                </a:solidFill>
              </a:rPr>
              <a:t>top_k</a:t>
            </a:r>
            <a:endParaRPr lang="en-US" sz="1600" dirty="0"/>
          </a:p>
        </p:txBody>
      </p:sp>
      <p:sp>
        <p:nvSpPr>
          <p:cNvPr id="9" name="token chip"/>
          <p:cNvSpPr/>
          <p:nvPr/>
        </p:nvSpPr>
        <p:spPr>
          <a:xfrm>
            <a:off x="9756648" y="1645920"/>
            <a:ext cx="868680" cy="502920"/>
          </a:xfrm>
          <a:prstGeom prst="roundRect">
            <a:avLst>
              <a:gd name="adj" fmla="val 10909"/>
            </a:avLst>
          </a:prstGeom>
          <a:solidFill>
            <a:schemeClr val="accent3"/>
          </a:solidFill>
          <a:ln w="12700">
            <a:solidFill>
              <a:schemeClr val="accent3"/>
            </a:solidFill>
            <a:prstDash val="solid"/>
          </a:ln>
        </p:spPr>
        <p:txBody>
          <a:bodyPr/>
          <a:lstStyle/>
          <a:p>
            <a:endParaRPr lang="en-US"/>
          </a:p>
        </p:txBody>
      </p:sp>
      <p:sp>
        <p:nvSpPr>
          <p:cNvPr id="10" name="Text 8"/>
          <p:cNvSpPr txBox="1"/>
          <p:nvPr/>
        </p:nvSpPr>
        <p:spPr>
          <a:xfrm>
            <a:off x="9756648" y="1645920"/>
            <a:ext cx="868680" cy="502920"/>
          </a:xfrm>
          <a:prstGeom prst="rect">
            <a:avLst/>
          </a:prstGeom>
          <a:noFill/>
          <a:ln/>
        </p:spPr>
        <p:txBody>
          <a:bodyPr wrap="square" lIns="0" tIns="0" rIns="0" bIns="0" rtlCol="0" anchor="ctr"/>
          <a:lstStyle/>
          <a:p>
            <a:pPr marL="0" indent="0" algn="ctr">
              <a:buNone/>
            </a:pPr>
            <a:r>
              <a:rPr lang="en-US" sz="1600" dirty="0">
                <a:solidFill>
                  <a:schemeClr val="bg1"/>
                </a:solidFill>
              </a:rPr>
              <a:t>top_p</a:t>
            </a:r>
            <a:endParaRPr lang="en-US" sz="1600" dirty="0"/>
          </a:p>
        </p:txBody>
      </p:sp>
      <p:sp>
        <p:nvSpPr>
          <p:cNvPr id="11" name="token chip"/>
          <p:cNvSpPr/>
          <p:nvPr/>
        </p:nvSpPr>
        <p:spPr>
          <a:xfrm>
            <a:off x="8321040" y="2423160"/>
            <a:ext cx="987552" cy="502920"/>
          </a:xfrm>
          <a:prstGeom prst="roundRect">
            <a:avLst>
              <a:gd name="adj" fmla="val 10909"/>
            </a:avLst>
          </a:prstGeom>
          <a:solidFill>
            <a:schemeClr val="accent4"/>
          </a:solidFill>
          <a:ln w="12700">
            <a:solidFill>
              <a:schemeClr val="accent4"/>
            </a:solidFill>
            <a:prstDash val="solid"/>
          </a:ln>
        </p:spPr>
        <p:txBody>
          <a:bodyPr/>
          <a:lstStyle/>
          <a:p>
            <a:endParaRPr lang="en-US"/>
          </a:p>
        </p:txBody>
      </p:sp>
      <p:sp>
        <p:nvSpPr>
          <p:cNvPr id="12" name="Text 10"/>
          <p:cNvSpPr txBox="1"/>
          <p:nvPr/>
        </p:nvSpPr>
        <p:spPr>
          <a:xfrm>
            <a:off x="8321040" y="2423160"/>
            <a:ext cx="987552" cy="502920"/>
          </a:xfrm>
          <a:prstGeom prst="rect">
            <a:avLst/>
          </a:prstGeom>
          <a:noFill/>
          <a:ln/>
        </p:spPr>
        <p:txBody>
          <a:bodyPr wrap="square" lIns="0" tIns="0" rIns="0" bIns="0" rtlCol="0" anchor="ctr"/>
          <a:lstStyle/>
          <a:p>
            <a:pPr marL="0" indent="0" algn="ctr">
              <a:buNone/>
            </a:pPr>
            <a:r>
              <a:rPr lang="en-US" sz="1600" dirty="0">
                <a:solidFill>
                  <a:schemeClr val="tx1"/>
                </a:solidFill>
              </a:rPr>
              <a:t>effort</a:t>
            </a:r>
            <a:endParaRPr lang="en-US" sz="1600" dirty="0"/>
          </a:p>
        </p:txBody>
      </p:sp>
      <p:sp>
        <p:nvSpPr>
          <p:cNvPr id="13" name="token chip"/>
          <p:cNvSpPr/>
          <p:nvPr/>
        </p:nvSpPr>
        <p:spPr>
          <a:xfrm>
            <a:off x="9445752" y="2423160"/>
            <a:ext cx="512064" cy="502920"/>
          </a:xfrm>
          <a:prstGeom prst="roundRect">
            <a:avLst>
              <a:gd name="adj" fmla="val 10909"/>
            </a:avLst>
          </a:prstGeom>
          <a:solidFill>
            <a:schemeClr val="accent1"/>
          </a:solidFill>
          <a:ln w="12700">
            <a:solidFill>
              <a:schemeClr val="accent1"/>
            </a:solidFill>
            <a:prstDash val="solid"/>
          </a:ln>
        </p:spPr>
        <p:txBody>
          <a:bodyPr/>
          <a:lstStyle/>
          <a:p>
            <a:endParaRPr lang="en-US"/>
          </a:p>
        </p:txBody>
      </p:sp>
      <p:sp>
        <p:nvSpPr>
          <p:cNvPr id="14" name="Text 12"/>
          <p:cNvSpPr txBox="1"/>
          <p:nvPr/>
        </p:nvSpPr>
        <p:spPr>
          <a:xfrm>
            <a:off x="9445752" y="2423160"/>
            <a:ext cx="512064" cy="502920"/>
          </a:xfrm>
          <a:prstGeom prst="rect">
            <a:avLst/>
          </a:prstGeom>
          <a:noFill/>
          <a:ln/>
        </p:spPr>
        <p:txBody>
          <a:bodyPr wrap="square" lIns="0" tIns="0" rIns="0" bIns="0" rtlCol="0" anchor="ctr"/>
          <a:lstStyle/>
          <a:p>
            <a:pPr marL="0" indent="0" algn="ctr">
              <a:buNone/>
            </a:pPr>
            <a:r>
              <a:rPr lang="en-US" sz="1600" dirty="0">
                <a:solidFill>
                  <a:schemeClr val="bg1"/>
                </a:solidFill>
              </a:rPr>
              <a:t>1M</a:t>
            </a:r>
            <a:endParaRPr lang="en-US" sz="1600" dirty="0"/>
          </a:p>
        </p:txBody>
      </p:sp>
      <p:sp>
        <p:nvSpPr>
          <p:cNvPr id="15" name="token chip"/>
          <p:cNvSpPr/>
          <p:nvPr/>
        </p:nvSpPr>
        <p:spPr>
          <a:xfrm>
            <a:off x="10094976" y="2423160"/>
            <a:ext cx="868680" cy="502920"/>
          </a:xfrm>
          <a:prstGeom prst="roundRect">
            <a:avLst>
              <a:gd name="adj" fmla="val 10909"/>
            </a:avLst>
          </a:prstGeom>
          <a:solidFill>
            <a:schemeClr val="accent2"/>
          </a:solidFill>
          <a:ln w="12700">
            <a:solidFill>
              <a:schemeClr val="accent2"/>
            </a:solidFill>
            <a:prstDash val="solid"/>
          </a:ln>
        </p:spPr>
        <p:txBody>
          <a:bodyPr/>
          <a:lstStyle/>
          <a:p>
            <a:endParaRPr lang="en-US"/>
          </a:p>
        </p:txBody>
      </p:sp>
      <p:sp>
        <p:nvSpPr>
          <p:cNvPr id="16" name="Text 14"/>
          <p:cNvSpPr txBox="1"/>
          <p:nvPr/>
        </p:nvSpPr>
        <p:spPr>
          <a:xfrm>
            <a:off x="10094976" y="2423160"/>
            <a:ext cx="868680" cy="502920"/>
          </a:xfrm>
          <a:prstGeom prst="rect">
            <a:avLst/>
          </a:prstGeom>
          <a:noFill/>
          <a:ln/>
        </p:spPr>
        <p:txBody>
          <a:bodyPr wrap="square" lIns="0" tIns="0" rIns="0" bIns="0" rtlCol="0" anchor="ctr"/>
          <a:lstStyle/>
          <a:p>
            <a:pPr marL="0" indent="0" algn="ctr">
              <a:buNone/>
            </a:pPr>
            <a:r>
              <a:rPr lang="en-US" sz="1600" dirty="0">
                <a:solidFill>
                  <a:schemeClr val="bg1"/>
                </a:solidFill>
              </a:rPr>
              <a:t>cache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Which knobs exist on Claude today (Opus 5.5 / Sonnet 5)</a:t>
            </a:r>
            <a:endParaRPr lang="en-US" sz="3200" dirty="0"/>
          </a:p>
        </p:txBody>
      </p:sp>
      <p:graphicFrame>
        <p:nvGraphicFramePr>
          <p:cNvPr id="11" name="Table 0"/>
          <p:cNvGraphicFramePr>
            <a:graphicFrameLocks noGrp="1"/>
          </p:cNvGraphicFramePr>
          <p:nvPr/>
        </p:nvGraphicFramePr>
        <p:xfrm>
          <a:off x="548640" y="1371600"/>
          <a:ext cx="11064240" cy="4224528"/>
        </p:xfrm>
        <a:graphic>
          <a:graphicData uri="http://schemas.openxmlformats.org/drawingml/2006/table">
            <a:tbl>
              <a:tblPr/>
              <a:tblGrid>
                <a:gridCol w="26517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603504">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Knob</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Can you set it?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Use instead / note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temperature · top_p · top_k</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Randomness of the next-token pick</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latin typeface="Calibri" pitchFamily="34" charset="0"/>
                          <a:ea typeface="Calibri" pitchFamily="34" charset="-122"/>
                          <a:cs typeface="Calibri" pitchFamily="34" charset="-120"/>
                        </a:rPr>
                        <a:t>No: 400 error</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Omit them. Steer with the prompt, examples, structured outputs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effort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How much Claude thinks and how thorough it is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2"/>
                          </a:solidFill>
                          <a:latin typeface="Calibri" pitchFamily="34" charset="0"/>
                          <a:ea typeface="Calibri" pitchFamily="34" charset="-122"/>
                          <a:cs typeface="Calibri" pitchFamily="34" charset="-120"/>
                        </a:rPr>
                        <a:t>Yes: main knob</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low · medium · high · xhigh · max</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thinking</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Reasoning before answering</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3"/>
                          </a:solidFill>
                          <a:latin typeface="Calibri" pitchFamily="34" charset="0"/>
                          <a:ea typeface="Calibri" pitchFamily="34" charset="-122"/>
                          <a:cs typeface="Calibri" pitchFamily="34" charset="-120"/>
                        </a:rPr>
                        <a:t>Always adaptive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Claude decides how much; set display to see summaries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max_tokens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Hard cap on output (thinking + text)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2"/>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Up to 128k; start near 64k at high effort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Context window</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How much text fits in one request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3"/>
                          </a:solidFill>
                          <a:latin typeface="Calibri" pitchFamily="34" charset="0"/>
                          <a:ea typeface="Calibri" pitchFamily="34" charset="-122"/>
                          <a:cs typeface="Calibri" pitchFamily="34" charset="-120"/>
                        </a:rPr>
                        <a:t>Fixed by model</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1M tokens on current models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KV cache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Server memory of processed tokens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3"/>
                          </a:solidFill>
                          <a:latin typeface="Calibri" pitchFamily="34" charset="0"/>
                          <a:ea typeface="Calibri" pitchFamily="34" charset="-122"/>
                          <a:cs typeface="Calibri" pitchFamily="34" charset="-120"/>
                        </a:rPr>
                        <a:t>Not directly</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Prompt caching (cache_control) reuses it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806440"/>
            <a:ext cx="11064240" cy="365760"/>
          </a:xfrm>
          <a:prstGeom prst="rect">
            <a:avLst/>
          </a:prstGeom>
          <a:noFill/>
          <a:ln/>
        </p:spPr>
        <p:txBody>
          <a:bodyPr wrap="square" lIns="0" tIns="0" rIns="0" bIns="0" rtlCol="0" anchor="t"/>
          <a:lstStyle/>
          <a:p>
            <a:pPr marL="0" indent="0">
              <a:buNone/>
            </a:pPr>
            <a:r>
              <a:rPr lang="en-US" sz="1200" i="1" dirty="0">
                <a:solidFill>
                  <a:schemeClr val="accent5"/>
                </a:solidFill>
              </a:rPr>
              <a:t>Older models (Claude 4.5 and earlier) still accept temperature, top_p and top_k. The newest models moved these decisions inside the model.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3306172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Refresher: what temperature, top-k and top-p do</a:t>
            </a:r>
            <a:endParaRPr lang="en-US" sz="3200" dirty="0"/>
          </a:p>
        </p:txBody>
      </p:sp>
      <p:graphicFrame>
        <p:nvGraphicFramePr>
          <p:cNvPr id="3" name="next token chart"/>
          <p:cNvGraphicFramePr/>
          <p:nvPr/>
        </p:nvGraphicFramePr>
        <p:xfrm>
          <a:off x="548640" y="1371600"/>
          <a:ext cx="60350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6949440" y="1371600"/>
            <a:ext cx="4663440" cy="1234440"/>
          </a:xfrm>
          <a:prstGeom prst="roundRect">
            <a:avLst>
              <a:gd name="adj" fmla="val 5926"/>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5" name="dot"/>
          <p:cNvSpPr/>
          <p:nvPr/>
        </p:nvSpPr>
        <p:spPr>
          <a:xfrm>
            <a:off x="7178040" y="1600200"/>
            <a:ext cx="274320" cy="274320"/>
          </a:xfrm>
          <a:prstGeom prst="ellipse">
            <a:avLst/>
          </a:prstGeom>
          <a:solidFill>
            <a:schemeClr val="accent1"/>
          </a:solidFill>
          <a:ln w="12700">
            <a:solidFill>
              <a:schemeClr val="accent1"/>
            </a:solidFill>
            <a:prstDash val="solid"/>
          </a:ln>
        </p:spPr>
        <p:txBody>
          <a:bodyPr/>
          <a:lstStyle/>
          <a:p>
            <a:endParaRPr lang="en-US"/>
          </a:p>
        </p:txBody>
      </p:sp>
      <p:sp>
        <p:nvSpPr>
          <p:cNvPr id="6" name="Text 3"/>
          <p:cNvSpPr txBox="1"/>
          <p:nvPr/>
        </p:nvSpPr>
        <p:spPr>
          <a:xfrm>
            <a:off x="7589520" y="1554480"/>
            <a:ext cx="3840480" cy="365760"/>
          </a:xfrm>
          <a:prstGeom prst="rect">
            <a:avLst/>
          </a:prstGeom>
          <a:noFill/>
          <a:ln/>
        </p:spPr>
        <p:txBody>
          <a:bodyPr wrap="square" lIns="0" tIns="0" rIns="0" bIns="0" rtlCol="0" anchor="t"/>
          <a:lstStyle/>
          <a:p>
            <a:pPr marL="0" indent="0">
              <a:buNone/>
            </a:pPr>
            <a:r>
              <a:rPr lang="en-US" sz="1600" b="1" dirty="0">
                <a:solidFill>
                  <a:schemeClr val="tx1"/>
                </a:solidFill>
              </a:rPr>
              <a:t>Temperature</a:t>
            </a:r>
            <a:endParaRPr lang="en-US" sz="1600" dirty="0"/>
          </a:p>
        </p:txBody>
      </p:sp>
      <p:sp>
        <p:nvSpPr>
          <p:cNvPr id="7" name="Text 4"/>
          <p:cNvSpPr txBox="1"/>
          <p:nvPr/>
        </p:nvSpPr>
        <p:spPr>
          <a:xfrm>
            <a:off x="7589520" y="1920240"/>
            <a:ext cx="3840480" cy="640080"/>
          </a:xfrm>
          <a:prstGeom prst="rect">
            <a:avLst/>
          </a:prstGeom>
          <a:noFill/>
          <a:ln/>
        </p:spPr>
        <p:txBody>
          <a:bodyPr wrap="square" lIns="0" tIns="0" rIns="0" bIns="0" rtlCol="0" anchor="t"/>
          <a:lstStyle/>
          <a:p>
            <a:pPr marL="0" indent="0">
              <a:buNone/>
            </a:pPr>
            <a:r>
              <a:rPr lang="en-US" sz="1300" dirty="0">
                <a:solidFill>
                  <a:schemeClr val="tx2"/>
                </a:solidFill>
              </a:rPr>
              <a:t>Sharpens (low) or flattens (high) the whole distribution. Low = focused and repeatable; high = varied.</a:t>
            </a:r>
            <a:endParaRPr lang="en-US" sz="1300" dirty="0"/>
          </a:p>
        </p:txBody>
      </p:sp>
      <p:sp>
        <p:nvSpPr>
          <p:cNvPr id="8" name="card"/>
          <p:cNvSpPr/>
          <p:nvPr/>
        </p:nvSpPr>
        <p:spPr>
          <a:xfrm>
            <a:off x="6949440" y="2788920"/>
            <a:ext cx="4663440" cy="1234440"/>
          </a:xfrm>
          <a:prstGeom prst="roundRect">
            <a:avLst>
              <a:gd name="adj" fmla="val 5926"/>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dot"/>
          <p:cNvSpPr/>
          <p:nvPr/>
        </p:nvSpPr>
        <p:spPr>
          <a:xfrm>
            <a:off x="7178040" y="3017520"/>
            <a:ext cx="274320" cy="274320"/>
          </a:xfrm>
          <a:prstGeom prst="ellipse">
            <a:avLst/>
          </a:prstGeom>
          <a:solidFill>
            <a:schemeClr val="accent3"/>
          </a:solidFill>
          <a:ln w="12700">
            <a:solidFill>
              <a:schemeClr val="accent3"/>
            </a:solidFill>
            <a:prstDash val="solid"/>
          </a:ln>
        </p:spPr>
        <p:txBody>
          <a:bodyPr/>
          <a:lstStyle/>
          <a:p>
            <a:endParaRPr lang="en-US"/>
          </a:p>
        </p:txBody>
      </p:sp>
      <p:sp>
        <p:nvSpPr>
          <p:cNvPr id="10" name="Text 7"/>
          <p:cNvSpPr txBox="1"/>
          <p:nvPr/>
        </p:nvSpPr>
        <p:spPr>
          <a:xfrm>
            <a:off x="7589520" y="2971800"/>
            <a:ext cx="3840480" cy="365760"/>
          </a:xfrm>
          <a:prstGeom prst="rect">
            <a:avLst/>
          </a:prstGeom>
          <a:noFill/>
          <a:ln/>
        </p:spPr>
        <p:txBody>
          <a:bodyPr wrap="square" lIns="0" tIns="0" rIns="0" bIns="0" rtlCol="0" anchor="t"/>
          <a:lstStyle/>
          <a:p>
            <a:pPr marL="0" indent="0">
              <a:buNone/>
            </a:pPr>
            <a:r>
              <a:rPr lang="en-US" sz="1600" b="1" dirty="0">
                <a:solidFill>
                  <a:schemeClr val="tx1"/>
                </a:solidFill>
              </a:rPr>
              <a:t>Top-k</a:t>
            </a:r>
            <a:endParaRPr lang="en-US" sz="1600" dirty="0"/>
          </a:p>
        </p:txBody>
      </p:sp>
      <p:sp>
        <p:nvSpPr>
          <p:cNvPr id="11" name="Text 8"/>
          <p:cNvSpPr txBox="1"/>
          <p:nvPr/>
        </p:nvSpPr>
        <p:spPr>
          <a:xfrm>
            <a:off x="7589520" y="3337560"/>
            <a:ext cx="3840480" cy="640080"/>
          </a:xfrm>
          <a:prstGeom prst="rect">
            <a:avLst/>
          </a:prstGeom>
          <a:noFill/>
          <a:ln/>
        </p:spPr>
        <p:txBody>
          <a:bodyPr wrap="square" lIns="0" tIns="0" rIns="0" bIns="0" rtlCol="0" anchor="t"/>
          <a:lstStyle/>
          <a:p>
            <a:pPr marL="0" indent="0">
              <a:buNone/>
            </a:pPr>
            <a:r>
              <a:rPr lang="en-US" sz="1300" dirty="0">
                <a:solidFill>
                  <a:schemeClr val="tx2"/>
                </a:solidFill>
              </a:rPr>
              <a:t>Keep only the k most likely tokens. k = 3 → only mat, floor, sofa can be picked.</a:t>
            </a:r>
            <a:endParaRPr lang="en-US" sz="1300" dirty="0"/>
          </a:p>
        </p:txBody>
      </p:sp>
      <p:sp>
        <p:nvSpPr>
          <p:cNvPr id="12" name="card"/>
          <p:cNvSpPr/>
          <p:nvPr/>
        </p:nvSpPr>
        <p:spPr>
          <a:xfrm>
            <a:off x="6949440" y="4206240"/>
            <a:ext cx="4663440" cy="1234440"/>
          </a:xfrm>
          <a:prstGeom prst="roundRect">
            <a:avLst>
              <a:gd name="adj" fmla="val 5926"/>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3" name="dot"/>
          <p:cNvSpPr/>
          <p:nvPr/>
        </p:nvSpPr>
        <p:spPr>
          <a:xfrm>
            <a:off x="7178040" y="4434840"/>
            <a:ext cx="274320" cy="27432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589520" y="4389120"/>
            <a:ext cx="3840480" cy="365760"/>
          </a:xfrm>
          <a:prstGeom prst="rect">
            <a:avLst/>
          </a:prstGeom>
          <a:noFill/>
          <a:ln/>
        </p:spPr>
        <p:txBody>
          <a:bodyPr wrap="square" lIns="0" tIns="0" rIns="0" bIns="0" rtlCol="0" anchor="t"/>
          <a:lstStyle/>
          <a:p>
            <a:pPr marL="0" indent="0">
              <a:buNone/>
            </a:pPr>
            <a:r>
              <a:rPr lang="en-US" sz="1600" b="1" dirty="0">
                <a:solidFill>
                  <a:schemeClr val="tx1"/>
                </a:solidFill>
              </a:rPr>
              <a:t>Top-p</a:t>
            </a:r>
            <a:endParaRPr lang="en-US" sz="1600" dirty="0"/>
          </a:p>
        </p:txBody>
      </p:sp>
      <p:sp>
        <p:nvSpPr>
          <p:cNvPr id="15" name="Text 12"/>
          <p:cNvSpPr txBox="1"/>
          <p:nvPr/>
        </p:nvSpPr>
        <p:spPr>
          <a:xfrm>
            <a:off x="7589520" y="4754880"/>
            <a:ext cx="3840480" cy="640080"/>
          </a:xfrm>
          <a:prstGeom prst="rect">
            <a:avLst/>
          </a:prstGeom>
          <a:noFill/>
          <a:ln/>
        </p:spPr>
        <p:txBody>
          <a:bodyPr wrap="square" lIns="0" tIns="0" rIns="0" bIns="0" rtlCol="0" anchor="t"/>
          <a:lstStyle/>
          <a:p>
            <a:pPr marL="0" indent="0">
              <a:buNone/>
            </a:pPr>
            <a:r>
              <a:rPr lang="en-US" sz="1300" dirty="0">
                <a:solidFill>
                  <a:schemeClr val="tx2"/>
                </a:solidFill>
              </a:rPr>
              <a:t>Keep the fewest tokens whose probabilities add up to at least p. With p = 0.9: the 7 teal bars (92%).</a:t>
            </a:r>
            <a:endParaRPr lang="en-US" sz="1300" dirty="0"/>
          </a:p>
        </p:txBody>
      </p:sp>
      <p:sp>
        <p:nvSpPr>
          <p:cNvPr id="16" name="Text 13"/>
          <p:cNvSpPr txBox="1"/>
          <p:nvPr/>
        </p:nvSpPr>
        <p:spPr>
          <a:xfrm>
            <a:off x="548640" y="5669280"/>
            <a:ext cx="5486400" cy="274320"/>
          </a:xfrm>
          <a:prstGeom prst="rect">
            <a:avLst/>
          </a:prstGeom>
          <a:noFill/>
          <a:ln/>
        </p:spPr>
        <p:txBody>
          <a:bodyPr wrap="square" lIns="0" tIns="0" rIns="0" bIns="0" rtlCol="0" anchor="t"/>
          <a:lstStyle/>
          <a:p>
            <a:pPr marL="0" indent="0">
              <a:buNone/>
            </a:pPr>
            <a:r>
              <a:rPr lang="en-US" sz="1000" i="1" dirty="0">
                <a:solidFill>
                  <a:schemeClr val="accent5"/>
                </a:solidFill>
              </a:rPr>
              <a:t>Illustrative numbers.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Sampling on Claude: from sliders to “just prompt it”</a:t>
            </a:r>
            <a:endParaRPr lang="en-US" sz="3200" dirty="0"/>
          </a:p>
        </p:txBody>
      </p:sp>
      <p:sp>
        <p:nvSpPr>
          <p:cNvPr id="3" name="timeline"/>
          <p:cNvSpPr/>
          <p:nvPr/>
        </p:nvSpPr>
        <p:spPr>
          <a:xfrm>
            <a:off x="822960" y="2377440"/>
            <a:ext cx="10515600" cy="0"/>
          </a:xfrm>
          <a:prstGeom prst="line">
            <a:avLst/>
          </a:prstGeom>
          <a:noFill/>
          <a:ln w="38100">
            <a:solidFill>
              <a:schemeClr val="accent6"/>
            </a:solidFill>
            <a:prstDash val="solid"/>
          </a:ln>
        </p:spPr>
        <p:txBody>
          <a:bodyPr/>
          <a:lstStyle/>
          <a:p>
            <a:endParaRPr lang="en-US"/>
          </a:p>
        </p:txBody>
      </p:sp>
      <p:sp>
        <p:nvSpPr>
          <p:cNvPr id="4" name="milestone"/>
          <p:cNvSpPr/>
          <p:nvPr/>
        </p:nvSpPr>
        <p:spPr>
          <a:xfrm>
            <a:off x="822960" y="2212848"/>
            <a:ext cx="329184" cy="329184"/>
          </a:xfrm>
          <a:prstGeom prst="ellipse">
            <a:avLst/>
          </a:prstGeom>
          <a:solidFill>
            <a:schemeClr val="accent2"/>
          </a:solidFill>
          <a:ln w="25400">
            <a:solidFill>
              <a:schemeClr val="bg1"/>
            </a:solidFill>
            <a:prstDash val="solid"/>
          </a:ln>
        </p:spPr>
        <p:txBody>
          <a:bodyPr/>
          <a:lstStyle/>
          <a:p>
            <a:endParaRPr lang="en-US"/>
          </a:p>
        </p:txBody>
      </p:sp>
      <p:sp>
        <p:nvSpPr>
          <p:cNvPr id="5" name="Text 3"/>
          <p:cNvSpPr txBox="1"/>
          <p:nvPr/>
        </p:nvSpPr>
        <p:spPr>
          <a:xfrm>
            <a:off x="822960" y="1417320"/>
            <a:ext cx="2560320" cy="640080"/>
          </a:xfrm>
          <a:prstGeom prst="rect">
            <a:avLst/>
          </a:prstGeom>
          <a:noFill/>
          <a:ln/>
        </p:spPr>
        <p:txBody>
          <a:bodyPr wrap="square" lIns="0" tIns="0" rIns="0" bIns="0" rtlCol="0" anchor="b"/>
          <a:lstStyle/>
          <a:p>
            <a:pPr marL="0" indent="0">
              <a:buNone/>
            </a:pPr>
            <a:r>
              <a:rPr lang="en-US" sz="1600" b="1" dirty="0">
                <a:solidFill>
                  <a:schemeClr val="tx1"/>
                </a:solidFill>
              </a:rPr>
              <a:t>Claude 3 – 4.5</a:t>
            </a:r>
            <a:endParaRPr lang="en-US" sz="1600" dirty="0"/>
          </a:p>
        </p:txBody>
      </p:sp>
      <p:sp>
        <p:nvSpPr>
          <p:cNvPr id="6" name="Text 4"/>
          <p:cNvSpPr txBox="1"/>
          <p:nvPr/>
        </p:nvSpPr>
        <p:spPr>
          <a:xfrm>
            <a:off x="822960" y="2743200"/>
            <a:ext cx="2514600" cy="1005840"/>
          </a:xfrm>
          <a:prstGeom prst="rect">
            <a:avLst/>
          </a:prstGeom>
          <a:noFill/>
          <a:ln/>
        </p:spPr>
        <p:txBody>
          <a:bodyPr wrap="square" lIns="0" tIns="0" rIns="0" bIns="0" rtlCol="0" anchor="t"/>
          <a:lstStyle/>
          <a:p>
            <a:pPr marL="0" indent="0">
              <a:buNone/>
            </a:pPr>
            <a:r>
              <a:rPr lang="en-US" sz="1400" dirty="0">
                <a:solidFill>
                  <a:schemeClr val="tx2"/>
                </a:solidFill>
              </a:rPr>
              <a:t>temperature 0–1 (default 1.0), top_p, top_k all accepted</a:t>
            </a:r>
            <a:endParaRPr lang="en-US" sz="1400" dirty="0"/>
          </a:p>
        </p:txBody>
      </p:sp>
      <p:sp>
        <p:nvSpPr>
          <p:cNvPr id="7" name="milestone"/>
          <p:cNvSpPr/>
          <p:nvPr/>
        </p:nvSpPr>
        <p:spPr>
          <a:xfrm>
            <a:off x="3520440" y="2212848"/>
            <a:ext cx="329184" cy="329184"/>
          </a:xfrm>
          <a:prstGeom prst="ellipse">
            <a:avLst/>
          </a:prstGeom>
          <a:solidFill>
            <a:schemeClr val="accent4"/>
          </a:solidFill>
          <a:ln w="25400">
            <a:solidFill>
              <a:schemeClr val="bg1"/>
            </a:solidFill>
            <a:prstDash val="solid"/>
          </a:ln>
        </p:spPr>
        <p:txBody>
          <a:bodyPr/>
          <a:lstStyle/>
          <a:p>
            <a:endParaRPr lang="en-US"/>
          </a:p>
        </p:txBody>
      </p:sp>
      <p:sp>
        <p:nvSpPr>
          <p:cNvPr id="8" name="Text 6"/>
          <p:cNvSpPr txBox="1"/>
          <p:nvPr/>
        </p:nvSpPr>
        <p:spPr>
          <a:xfrm>
            <a:off x="3520440" y="1417320"/>
            <a:ext cx="2560320" cy="640080"/>
          </a:xfrm>
          <a:prstGeom prst="rect">
            <a:avLst/>
          </a:prstGeom>
          <a:noFill/>
          <a:ln/>
        </p:spPr>
        <p:txBody>
          <a:bodyPr wrap="square" lIns="0" tIns="0" rIns="0" bIns="0" rtlCol="0" anchor="b"/>
          <a:lstStyle/>
          <a:p>
            <a:pPr marL="0" indent="0">
              <a:buNone/>
            </a:pPr>
            <a:r>
              <a:rPr lang="en-US" sz="1600" b="1" dirty="0">
                <a:solidFill>
                  <a:schemeClr val="tx1"/>
                </a:solidFill>
              </a:rPr>
              <a:t>Later Claude 4.x</a:t>
            </a:r>
            <a:endParaRPr lang="en-US" sz="1600" dirty="0"/>
          </a:p>
        </p:txBody>
      </p:sp>
      <p:sp>
        <p:nvSpPr>
          <p:cNvPr id="9" name="Text 7"/>
          <p:cNvSpPr txBox="1"/>
          <p:nvPr/>
        </p:nvSpPr>
        <p:spPr>
          <a:xfrm>
            <a:off x="3520440" y="2743200"/>
            <a:ext cx="2514600" cy="1005840"/>
          </a:xfrm>
          <a:prstGeom prst="rect">
            <a:avLst/>
          </a:prstGeom>
          <a:noFill/>
          <a:ln/>
        </p:spPr>
        <p:txBody>
          <a:bodyPr wrap="square" lIns="0" tIns="0" rIns="0" bIns="0" rtlCol="0" anchor="t"/>
          <a:lstStyle/>
          <a:p>
            <a:pPr marL="0" indent="0">
              <a:buNone/>
            </a:pPr>
            <a:r>
              <a:rPr lang="en-US" sz="1400" dirty="0">
                <a:solidFill>
                  <a:schemeClr val="tx2"/>
                </a:solidFill>
              </a:rPr>
              <a:t>Pick temperature or top_p, not both; defaults recommended</a:t>
            </a:r>
            <a:endParaRPr lang="en-US" sz="1400" dirty="0"/>
          </a:p>
        </p:txBody>
      </p:sp>
      <p:sp>
        <p:nvSpPr>
          <p:cNvPr id="10" name="milestone"/>
          <p:cNvSpPr/>
          <p:nvPr/>
        </p:nvSpPr>
        <p:spPr>
          <a:xfrm>
            <a:off x="6217920" y="2212848"/>
            <a:ext cx="329184" cy="329184"/>
          </a:xfrm>
          <a:prstGeom prst="ellipse">
            <a:avLst/>
          </a:prstGeom>
          <a:solidFill>
            <a:schemeClr val="accent1"/>
          </a:solidFill>
          <a:ln w="25400">
            <a:solidFill>
              <a:schemeClr val="bg1"/>
            </a:solidFill>
            <a:prstDash val="solid"/>
          </a:ln>
        </p:spPr>
        <p:txBody>
          <a:bodyPr/>
          <a:lstStyle/>
          <a:p>
            <a:endParaRPr lang="en-US"/>
          </a:p>
        </p:txBody>
      </p:sp>
      <p:sp>
        <p:nvSpPr>
          <p:cNvPr id="11" name="Text 9"/>
          <p:cNvSpPr txBox="1"/>
          <p:nvPr/>
        </p:nvSpPr>
        <p:spPr>
          <a:xfrm>
            <a:off x="6217920" y="1417320"/>
            <a:ext cx="2560320" cy="640080"/>
          </a:xfrm>
          <a:prstGeom prst="rect">
            <a:avLst/>
          </a:prstGeom>
          <a:noFill/>
          <a:ln/>
        </p:spPr>
        <p:txBody>
          <a:bodyPr wrap="square" lIns="0" tIns="0" rIns="0" bIns="0" rtlCol="0" anchor="b"/>
          <a:lstStyle/>
          <a:p>
            <a:pPr marL="0" indent="0">
              <a:buNone/>
            </a:pPr>
            <a:r>
              <a:rPr lang="en-US" sz="1600" b="1" dirty="0">
                <a:solidFill>
                  <a:schemeClr val="tx1"/>
                </a:solidFill>
              </a:rPr>
              <a:t>Opus 4.7 (Apr 2026)</a:t>
            </a:r>
            <a:endParaRPr lang="en-US" sz="1600" dirty="0"/>
          </a:p>
        </p:txBody>
      </p:sp>
      <p:sp>
        <p:nvSpPr>
          <p:cNvPr id="12" name="Text 10"/>
          <p:cNvSpPr txBox="1"/>
          <p:nvPr/>
        </p:nvSpPr>
        <p:spPr>
          <a:xfrm>
            <a:off x="6217920" y="2743200"/>
            <a:ext cx="2514600" cy="1005840"/>
          </a:xfrm>
          <a:prstGeom prst="rect">
            <a:avLst/>
          </a:prstGeom>
          <a:noFill/>
          <a:ln/>
        </p:spPr>
        <p:txBody>
          <a:bodyPr wrap="square" lIns="0" tIns="0" rIns="0" bIns="0" rtlCol="0" anchor="t"/>
          <a:lstStyle/>
          <a:p>
            <a:pPr marL="0" indent="0">
              <a:buNone/>
            </a:pPr>
            <a:r>
              <a:rPr lang="en-US" sz="1400" dirty="0">
                <a:solidFill>
                  <a:schemeClr val="tx2"/>
                </a:solidFill>
              </a:rPr>
              <a:t>Sampling params deprecated; adaptive thinking only; effort gains xhigh</a:t>
            </a:r>
            <a:endParaRPr lang="en-US" sz="1400" dirty="0"/>
          </a:p>
        </p:txBody>
      </p:sp>
      <p:sp>
        <p:nvSpPr>
          <p:cNvPr id="13" name="milestone"/>
          <p:cNvSpPr/>
          <p:nvPr/>
        </p:nvSpPr>
        <p:spPr>
          <a:xfrm>
            <a:off x="8915400" y="2212848"/>
            <a:ext cx="329184" cy="329184"/>
          </a:xfrm>
          <a:prstGeom prst="ellipse">
            <a:avLst/>
          </a:prstGeom>
          <a:solidFill>
            <a:schemeClr val="accent3"/>
          </a:solidFill>
          <a:ln w="25400">
            <a:solidFill>
              <a:schemeClr val="bg1"/>
            </a:solidFill>
            <a:prstDash val="solid"/>
          </a:ln>
        </p:spPr>
        <p:txBody>
          <a:bodyPr/>
          <a:lstStyle/>
          <a:p>
            <a:endParaRPr lang="en-US"/>
          </a:p>
        </p:txBody>
      </p:sp>
      <p:sp>
        <p:nvSpPr>
          <p:cNvPr id="14" name="Text 12"/>
          <p:cNvSpPr txBox="1"/>
          <p:nvPr/>
        </p:nvSpPr>
        <p:spPr>
          <a:xfrm>
            <a:off x="8915400" y="1417320"/>
            <a:ext cx="2560320" cy="640080"/>
          </a:xfrm>
          <a:prstGeom prst="rect">
            <a:avLst/>
          </a:prstGeom>
          <a:noFill/>
          <a:ln/>
        </p:spPr>
        <p:txBody>
          <a:bodyPr wrap="square" lIns="0" tIns="0" rIns="0" bIns="0" rtlCol="0" anchor="b"/>
          <a:lstStyle/>
          <a:p>
            <a:pPr marL="0" indent="0">
              <a:buNone/>
            </a:pPr>
            <a:r>
              <a:rPr lang="en-US" sz="1600" b="1" dirty="0">
                <a:solidFill>
                  <a:schemeClr val="tx1"/>
                </a:solidFill>
              </a:rPr>
              <a:t>Opus 5.5 · Sonnet 5</a:t>
            </a:r>
            <a:endParaRPr lang="en-US" sz="1600" dirty="0"/>
          </a:p>
        </p:txBody>
      </p:sp>
      <p:sp>
        <p:nvSpPr>
          <p:cNvPr id="15" name="Text 13"/>
          <p:cNvSpPr txBox="1"/>
          <p:nvPr/>
        </p:nvSpPr>
        <p:spPr>
          <a:xfrm>
            <a:off x="8915400" y="2743200"/>
            <a:ext cx="2514600" cy="1005840"/>
          </a:xfrm>
          <a:prstGeom prst="rect">
            <a:avLst/>
          </a:prstGeom>
          <a:noFill/>
          <a:ln/>
        </p:spPr>
        <p:txBody>
          <a:bodyPr wrap="square" lIns="0" tIns="0" rIns="0" bIns="0" rtlCol="0" anchor="t"/>
          <a:lstStyle/>
          <a:p>
            <a:pPr marL="0" indent="0">
              <a:buNone/>
            </a:pPr>
            <a:r>
              <a:rPr lang="en-US" sz="1400" dirty="0">
                <a:solidFill>
                  <a:schemeClr val="tx2"/>
                </a:solidFill>
              </a:rPr>
              <a:t>Sampling params return HTTP 400. Thinking always on; effort is the dial</a:t>
            </a:r>
            <a:endParaRPr lang="en-US" sz="1400" dirty="0"/>
          </a:p>
        </p:txBody>
      </p:sp>
      <p:sp>
        <p:nvSpPr>
          <p:cNvPr id="16" name="card"/>
          <p:cNvSpPr/>
          <p:nvPr/>
        </p:nvSpPr>
        <p:spPr>
          <a:xfrm>
            <a:off x="548640" y="4069080"/>
            <a:ext cx="11064240" cy="1965960"/>
          </a:xfrm>
          <a:prstGeom prst="roundRect">
            <a:avLst>
              <a:gd name="adj" fmla="val 3721"/>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7" name="icon circle"/>
          <p:cNvSpPr/>
          <p:nvPr/>
        </p:nvSpPr>
        <p:spPr>
          <a:xfrm>
            <a:off x="822960" y="4343400"/>
            <a:ext cx="731520" cy="731520"/>
          </a:xfrm>
          <a:prstGeom prst="ellipse">
            <a:avLst/>
          </a:prstGeom>
          <a:solidFill>
            <a:schemeClr val="accent1"/>
          </a:solidFill>
          <a:ln w="12700">
            <a:solidFill>
              <a:schemeClr val="accent1"/>
            </a:solidFill>
            <a:prstDash val="solid"/>
          </a:ln>
        </p:spPr>
        <p:txBody>
          <a:bodyPr/>
          <a:lstStyle/>
          <a:p>
            <a:endParaRPr lang="en-US"/>
          </a:p>
        </p:txBody>
      </p:sp>
      <p:pic>
        <p:nvPicPr>
          <p:cNvPr id="18" name="Image 0" descr="Lightbulb icon"/>
          <p:cNvPicPr>
            <a:picLocks noChangeAspect="1"/>
          </p:cNvPicPr>
          <p:nvPr/>
        </p:nvPicPr>
        <p:blipFill>
          <a:blip r:embed="rId3"/>
          <a:stretch>
            <a:fillRect/>
          </a:stretch>
        </p:blipFill>
        <p:spPr>
          <a:xfrm>
            <a:off x="1005840" y="4526280"/>
            <a:ext cx="365760" cy="365760"/>
          </a:xfrm>
          <a:prstGeom prst="rect">
            <a:avLst/>
          </a:prstGeom>
        </p:spPr>
      </p:pic>
      <p:sp>
        <p:nvSpPr>
          <p:cNvPr id="19" name="Text 16"/>
          <p:cNvSpPr txBox="1"/>
          <p:nvPr/>
        </p:nvSpPr>
        <p:spPr>
          <a:xfrm>
            <a:off x="1828800" y="4297680"/>
            <a:ext cx="9144000" cy="365760"/>
          </a:xfrm>
          <a:prstGeom prst="rect">
            <a:avLst/>
          </a:prstGeom>
          <a:noFill/>
          <a:ln/>
        </p:spPr>
        <p:txBody>
          <a:bodyPr wrap="square" lIns="0" tIns="0" rIns="0" bIns="0" rtlCol="0" anchor="t"/>
          <a:lstStyle/>
          <a:p>
            <a:pPr marL="0" indent="0">
              <a:buNone/>
            </a:pPr>
            <a:r>
              <a:rPr lang="en-US" sz="1800" b="1" dirty="0">
                <a:solidFill>
                  <a:schemeClr val="tx1"/>
                </a:solidFill>
              </a:rPr>
              <a:t>What to do instead</a:t>
            </a:r>
            <a:endParaRPr lang="en-US" sz="1800" dirty="0"/>
          </a:p>
        </p:txBody>
      </p:sp>
      <p:sp>
        <p:nvSpPr>
          <p:cNvPr id="20" name="Text 17"/>
          <p:cNvSpPr txBox="1"/>
          <p:nvPr/>
        </p:nvSpPr>
        <p:spPr>
          <a:xfrm>
            <a:off x="1828800" y="4709160"/>
            <a:ext cx="9509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Want consistent output? Give a fixed format, examples and structured outputs (a JSON schema). Even temperature 0 never guaranteed identical answers.</a:t>
            </a:r>
            <a:endParaRPr lang="en-US" sz="1400" dirty="0"/>
          </a:p>
          <a:p>
            <a:pPr marL="342900" indent="-342900">
              <a:spcAft>
                <a:spcPts val="600"/>
              </a:spcAft>
              <a:buSzPct val="100000"/>
              <a:buChar char="•"/>
            </a:pPr>
            <a:r>
              <a:rPr lang="en-US" sz="1400" dirty="0">
                <a:solidFill>
                  <a:schemeClr val="tx2"/>
                </a:solidFill>
              </a:rPr>
              <a:t>Want variety? Ask for it: “Give 5 very different options”, or say who the audience is and what tone to take.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Effort: the dial that replaced the sampling sliders</a:t>
            </a:r>
            <a:endParaRPr lang="en-US" sz="3200" dirty="0"/>
          </a:p>
        </p:txBody>
      </p:sp>
      <p:sp>
        <p:nvSpPr>
          <p:cNvPr id="3" name="effort bar"/>
          <p:cNvSpPr/>
          <p:nvPr/>
        </p:nvSpPr>
        <p:spPr>
          <a:xfrm>
            <a:off x="548640" y="1463040"/>
            <a:ext cx="310896" cy="457200"/>
          </a:xfrm>
          <a:prstGeom prst="roundRect">
            <a:avLst>
              <a:gd name="adj" fmla="val 11765"/>
            </a:avLst>
          </a:prstGeom>
          <a:solidFill>
            <a:schemeClr val="accent2"/>
          </a:solidFill>
          <a:ln w="12700">
            <a:solidFill>
              <a:schemeClr val="accent2"/>
            </a:solidFill>
            <a:prstDash val="solid"/>
          </a:ln>
        </p:spPr>
        <p:txBody>
          <a:bodyPr/>
          <a:lstStyle/>
          <a:p>
            <a:endParaRPr lang="en-US"/>
          </a:p>
        </p:txBody>
      </p:sp>
      <p:sp>
        <p:nvSpPr>
          <p:cNvPr id="4" name="effort bar"/>
          <p:cNvSpPr/>
          <p:nvPr/>
        </p:nvSpPr>
        <p:spPr>
          <a:xfrm>
            <a:off x="932688"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5" name="effort bar"/>
          <p:cNvSpPr/>
          <p:nvPr/>
        </p:nvSpPr>
        <p:spPr>
          <a:xfrm>
            <a:off x="1316736"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6" name="effort bar"/>
          <p:cNvSpPr/>
          <p:nvPr/>
        </p:nvSpPr>
        <p:spPr>
          <a:xfrm>
            <a:off x="1700784"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7" name="effort bar"/>
          <p:cNvSpPr/>
          <p:nvPr/>
        </p:nvSpPr>
        <p:spPr>
          <a:xfrm>
            <a:off x="2084832"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8" name="Text 6"/>
          <p:cNvSpPr txBox="1"/>
          <p:nvPr/>
        </p:nvSpPr>
        <p:spPr>
          <a:xfrm>
            <a:off x="548640" y="2057400"/>
            <a:ext cx="2011680" cy="411480"/>
          </a:xfrm>
          <a:prstGeom prst="rect">
            <a:avLst/>
          </a:prstGeom>
          <a:noFill/>
          <a:ln/>
        </p:spPr>
        <p:txBody>
          <a:bodyPr wrap="square" lIns="0" tIns="0" rIns="0" bIns="0" rtlCol="0" anchor="t"/>
          <a:lstStyle/>
          <a:p>
            <a:pPr marL="0" indent="0">
              <a:buNone/>
            </a:pPr>
            <a:r>
              <a:rPr lang="en-US" sz="2000" b="1" dirty="0">
                <a:solidFill>
                  <a:schemeClr val="tx1"/>
                </a:solidFill>
                <a:latin typeface="Courier New" pitchFamily="34" charset="0"/>
                <a:ea typeface="Courier New" pitchFamily="34" charset="-122"/>
                <a:cs typeface="Courier New" pitchFamily="34" charset="-120"/>
              </a:rPr>
              <a:t>low</a:t>
            </a:r>
            <a:endParaRPr lang="en-US" sz="2000" dirty="0"/>
          </a:p>
        </p:txBody>
      </p:sp>
      <p:sp>
        <p:nvSpPr>
          <p:cNvPr id="9" name="Text 7"/>
          <p:cNvSpPr txBox="1"/>
          <p:nvPr/>
        </p:nvSpPr>
        <p:spPr>
          <a:xfrm>
            <a:off x="548640" y="2514600"/>
            <a:ext cx="2011680" cy="914400"/>
          </a:xfrm>
          <a:prstGeom prst="rect">
            <a:avLst/>
          </a:prstGeom>
          <a:noFill/>
          <a:ln/>
        </p:spPr>
        <p:txBody>
          <a:bodyPr wrap="square" lIns="0" tIns="0" rIns="0" bIns="0" rtlCol="0" anchor="t"/>
          <a:lstStyle/>
          <a:p>
            <a:pPr marL="0" indent="0">
              <a:buNone/>
            </a:pPr>
            <a:r>
              <a:rPr lang="en-US" sz="1400" dirty="0">
                <a:solidFill>
                  <a:schemeClr val="tx2"/>
                </a:solidFill>
              </a:rPr>
              <a:t>Fast and cheap. Simple lookups, classification, chat</a:t>
            </a:r>
            <a:endParaRPr lang="en-US" sz="1400" dirty="0"/>
          </a:p>
        </p:txBody>
      </p:sp>
      <p:sp>
        <p:nvSpPr>
          <p:cNvPr id="10" name="effort bar"/>
          <p:cNvSpPr/>
          <p:nvPr/>
        </p:nvSpPr>
        <p:spPr>
          <a:xfrm>
            <a:off x="2798064" y="1463040"/>
            <a:ext cx="310896" cy="457200"/>
          </a:xfrm>
          <a:prstGeom prst="roundRect">
            <a:avLst>
              <a:gd name="adj" fmla="val 11765"/>
            </a:avLst>
          </a:prstGeom>
          <a:solidFill>
            <a:schemeClr val="accent2"/>
          </a:solidFill>
          <a:ln w="12700">
            <a:solidFill>
              <a:schemeClr val="accent2"/>
            </a:solidFill>
            <a:prstDash val="solid"/>
          </a:ln>
        </p:spPr>
        <p:txBody>
          <a:bodyPr/>
          <a:lstStyle/>
          <a:p>
            <a:endParaRPr lang="en-US"/>
          </a:p>
        </p:txBody>
      </p:sp>
      <p:sp>
        <p:nvSpPr>
          <p:cNvPr id="11" name="effort bar"/>
          <p:cNvSpPr/>
          <p:nvPr/>
        </p:nvSpPr>
        <p:spPr>
          <a:xfrm>
            <a:off x="3182112" y="1463040"/>
            <a:ext cx="310896" cy="457200"/>
          </a:xfrm>
          <a:prstGeom prst="roundRect">
            <a:avLst>
              <a:gd name="adj" fmla="val 11765"/>
            </a:avLst>
          </a:prstGeom>
          <a:solidFill>
            <a:schemeClr val="accent2"/>
          </a:solidFill>
          <a:ln w="12700">
            <a:solidFill>
              <a:schemeClr val="accent2"/>
            </a:solidFill>
            <a:prstDash val="solid"/>
          </a:ln>
        </p:spPr>
        <p:txBody>
          <a:bodyPr/>
          <a:lstStyle/>
          <a:p>
            <a:endParaRPr lang="en-US"/>
          </a:p>
        </p:txBody>
      </p:sp>
      <p:sp>
        <p:nvSpPr>
          <p:cNvPr id="12" name="effort bar"/>
          <p:cNvSpPr/>
          <p:nvPr/>
        </p:nvSpPr>
        <p:spPr>
          <a:xfrm>
            <a:off x="3566160"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13" name="effort bar"/>
          <p:cNvSpPr/>
          <p:nvPr/>
        </p:nvSpPr>
        <p:spPr>
          <a:xfrm>
            <a:off x="3950208"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14" name="effort bar"/>
          <p:cNvSpPr/>
          <p:nvPr/>
        </p:nvSpPr>
        <p:spPr>
          <a:xfrm>
            <a:off x="4334256"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15" name="Text 13"/>
          <p:cNvSpPr txBox="1"/>
          <p:nvPr/>
        </p:nvSpPr>
        <p:spPr>
          <a:xfrm>
            <a:off x="2798064" y="2057400"/>
            <a:ext cx="2011680" cy="411480"/>
          </a:xfrm>
          <a:prstGeom prst="rect">
            <a:avLst/>
          </a:prstGeom>
          <a:noFill/>
          <a:ln/>
        </p:spPr>
        <p:txBody>
          <a:bodyPr wrap="square" lIns="0" tIns="0" rIns="0" bIns="0" rtlCol="0" anchor="t"/>
          <a:lstStyle/>
          <a:p>
            <a:pPr marL="0" indent="0">
              <a:buNone/>
            </a:pPr>
            <a:r>
              <a:rPr lang="en-US" sz="2000" b="1" dirty="0">
                <a:solidFill>
                  <a:schemeClr val="tx1"/>
                </a:solidFill>
                <a:latin typeface="Courier New" pitchFamily="34" charset="0"/>
                <a:ea typeface="Courier New" pitchFamily="34" charset="-122"/>
                <a:cs typeface="Courier New" pitchFamily="34" charset="-120"/>
              </a:rPr>
              <a:t>medium</a:t>
            </a:r>
            <a:endParaRPr lang="en-US" sz="2000" dirty="0"/>
          </a:p>
        </p:txBody>
      </p:sp>
      <p:sp>
        <p:nvSpPr>
          <p:cNvPr id="16" name="Text 14"/>
          <p:cNvSpPr txBox="1"/>
          <p:nvPr/>
        </p:nvSpPr>
        <p:spPr>
          <a:xfrm>
            <a:off x="2798064" y="2514600"/>
            <a:ext cx="2011680" cy="914400"/>
          </a:xfrm>
          <a:prstGeom prst="rect">
            <a:avLst/>
          </a:prstGeom>
          <a:noFill/>
          <a:ln/>
        </p:spPr>
        <p:txBody>
          <a:bodyPr wrap="square" lIns="0" tIns="0" rIns="0" bIns="0" rtlCol="0" anchor="t"/>
          <a:lstStyle/>
          <a:p>
            <a:pPr marL="0" indent="0">
              <a:buNone/>
            </a:pPr>
            <a:r>
              <a:rPr lang="en-US" sz="1400" dirty="0">
                <a:solidFill>
                  <a:schemeClr val="tx2"/>
                </a:solidFill>
              </a:rPr>
              <a:t>Default on Opus 5.5. Most everyday work</a:t>
            </a:r>
            <a:endParaRPr lang="en-US" sz="1400" dirty="0"/>
          </a:p>
        </p:txBody>
      </p:sp>
      <p:sp>
        <p:nvSpPr>
          <p:cNvPr id="17" name="effort bar"/>
          <p:cNvSpPr/>
          <p:nvPr/>
        </p:nvSpPr>
        <p:spPr>
          <a:xfrm>
            <a:off x="5047488" y="1463040"/>
            <a:ext cx="310896" cy="457200"/>
          </a:xfrm>
          <a:prstGeom prst="roundRect">
            <a:avLst>
              <a:gd name="adj" fmla="val 11765"/>
            </a:avLst>
          </a:prstGeom>
          <a:solidFill>
            <a:schemeClr val="accent3"/>
          </a:solidFill>
          <a:ln w="12700">
            <a:solidFill>
              <a:schemeClr val="accent3"/>
            </a:solidFill>
            <a:prstDash val="solid"/>
          </a:ln>
        </p:spPr>
        <p:txBody>
          <a:bodyPr/>
          <a:lstStyle/>
          <a:p>
            <a:endParaRPr lang="en-US"/>
          </a:p>
        </p:txBody>
      </p:sp>
      <p:sp>
        <p:nvSpPr>
          <p:cNvPr id="18" name="effort bar"/>
          <p:cNvSpPr/>
          <p:nvPr/>
        </p:nvSpPr>
        <p:spPr>
          <a:xfrm>
            <a:off x="5431536" y="1463040"/>
            <a:ext cx="310896" cy="457200"/>
          </a:xfrm>
          <a:prstGeom prst="roundRect">
            <a:avLst>
              <a:gd name="adj" fmla="val 11765"/>
            </a:avLst>
          </a:prstGeom>
          <a:solidFill>
            <a:schemeClr val="accent3"/>
          </a:solidFill>
          <a:ln w="12700">
            <a:solidFill>
              <a:schemeClr val="accent3"/>
            </a:solidFill>
            <a:prstDash val="solid"/>
          </a:ln>
        </p:spPr>
        <p:txBody>
          <a:bodyPr/>
          <a:lstStyle/>
          <a:p>
            <a:endParaRPr lang="en-US"/>
          </a:p>
        </p:txBody>
      </p:sp>
      <p:sp>
        <p:nvSpPr>
          <p:cNvPr id="19" name="effort bar"/>
          <p:cNvSpPr/>
          <p:nvPr/>
        </p:nvSpPr>
        <p:spPr>
          <a:xfrm>
            <a:off x="5815584" y="1463040"/>
            <a:ext cx="310896" cy="457200"/>
          </a:xfrm>
          <a:prstGeom prst="roundRect">
            <a:avLst>
              <a:gd name="adj" fmla="val 11765"/>
            </a:avLst>
          </a:prstGeom>
          <a:solidFill>
            <a:schemeClr val="accent3"/>
          </a:solidFill>
          <a:ln w="12700">
            <a:solidFill>
              <a:schemeClr val="accent3"/>
            </a:solidFill>
            <a:prstDash val="solid"/>
          </a:ln>
        </p:spPr>
        <p:txBody>
          <a:bodyPr/>
          <a:lstStyle/>
          <a:p>
            <a:endParaRPr lang="en-US"/>
          </a:p>
        </p:txBody>
      </p:sp>
      <p:sp>
        <p:nvSpPr>
          <p:cNvPr id="20" name="effort bar"/>
          <p:cNvSpPr/>
          <p:nvPr/>
        </p:nvSpPr>
        <p:spPr>
          <a:xfrm>
            <a:off x="6199632"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21" name="effort bar"/>
          <p:cNvSpPr/>
          <p:nvPr/>
        </p:nvSpPr>
        <p:spPr>
          <a:xfrm>
            <a:off x="6583680"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22" name="Text 20"/>
          <p:cNvSpPr txBox="1"/>
          <p:nvPr/>
        </p:nvSpPr>
        <p:spPr>
          <a:xfrm>
            <a:off x="5047488" y="2057400"/>
            <a:ext cx="2011680" cy="411480"/>
          </a:xfrm>
          <a:prstGeom prst="rect">
            <a:avLst/>
          </a:prstGeom>
          <a:noFill/>
          <a:ln/>
        </p:spPr>
        <p:txBody>
          <a:bodyPr wrap="square" lIns="0" tIns="0" rIns="0" bIns="0" rtlCol="0" anchor="t"/>
          <a:lstStyle/>
          <a:p>
            <a:pPr marL="0" indent="0">
              <a:buNone/>
            </a:pPr>
            <a:r>
              <a:rPr lang="en-US" sz="2000" b="1" dirty="0">
                <a:solidFill>
                  <a:schemeClr val="tx1"/>
                </a:solidFill>
                <a:latin typeface="Courier New" pitchFamily="34" charset="0"/>
                <a:ea typeface="Courier New" pitchFamily="34" charset="-122"/>
                <a:cs typeface="Courier New" pitchFamily="34" charset="-120"/>
              </a:rPr>
              <a:t>high</a:t>
            </a:r>
            <a:endParaRPr lang="en-US" sz="2000" dirty="0"/>
          </a:p>
        </p:txBody>
      </p:sp>
      <p:sp>
        <p:nvSpPr>
          <p:cNvPr id="23" name="Text 21"/>
          <p:cNvSpPr txBox="1"/>
          <p:nvPr/>
        </p:nvSpPr>
        <p:spPr>
          <a:xfrm>
            <a:off x="5047488" y="2514600"/>
            <a:ext cx="2011680" cy="914400"/>
          </a:xfrm>
          <a:prstGeom prst="rect">
            <a:avLst/>
          </a:prstGeom>
          <a:noFill/>
          <a:ln/>
        </p:spPr>
        <p:txBody>
          <a:bodyPr wrap="square" lIns="0" tIns="0" rIns="0" bIns="0" rtlCol="0" anchor="t"/>
          <a:lstStyle/>
          <a:p>
            <a:pPr marL="0" indent="0">
              <a:buNone/>
            </a:pPr>
            <a:r>
              <a:rPr lang="en-US" sz="1400" dirty="0">
                <a:solidFill>
                  <a:schemeClr val="tx2"/>
                </a:solidFill>
              </a:rPr>
              <a:t>Default on most other models. Harder reasoning</a:t>
            </a:r>
            <a:endParaRPr lang="en-US" sz="1400" dirty="0"/>
          </a:p>
        </p:txBody>
      </p:sp>
      <p:sp>
        <p:nvSpPr>
          <p:cNvPr id="24" name="effort bar"/>
          <p:cNvSpPr/>
          <p:nvPr/>
        </p:nvSpPr>
        <p:spPr>
          <a:xfrm>
            <a:off x="7296912" y="1463040"/>
            <a:ext cx="310896" cy="457200"/>
          </a:xfrm>
          <a:prstGeom prst="roundRect">
            <a:avLst>
              <a:gd name="adj" fmla="val 11765"/>
            </a:avLst>
          </a:prstGeom>
          <a:solidFill>
            <a:schemeClr val="accent1"/>
          </a:solidFill>
          <a:ln w="12700">
            <a:solidFill>
              <a:schemeClr val="accent1"/>
            </a:solidFill>
            <a:prstDash val="solid"/>
          </a:ln>
        </p:spPr>
        <p:txBody>
          <a:bodyPr/>
          <a:lstStyle/>
          <a:p>
            <a:endParaRPr lang="en-US"/>
          </a:p>
        </p:txBody>
      </p:sp>
      <p:sp>
        <p:nvSpPr>
          <p:cNvPr id="25" name="effort bar"/>
          <p:cNvSpPr/>
          <p:nvPr/>
        </p:nvSpPr>
        <p:spPr>
          <a:xfrm>
            <a:off x="7680960" y="1463040"/>
            <a:ext cx="310896" cy="457200"/>
          </a:xfrm>
          <a:prstGeom prst="roundRect">
            <a:avLst>
              <a:gd name="adj" fmla="val 11765"/>
            </a:avLst>
          </a:prstGeom>
          <a:solidFill>
            <a:schemeClr val="accent1"/>
          </a:solidFill>
          <a:ln w="12700">
            <a:solidFill>
              <a:schemeClr val="accent1"/>
            </a:solidFill>
            <a:prstDash val="solid"/>
          </a:ln>
        </p:spPr>
        <p:txBody>
          <a:bodyPr/>
          <a:lstStyle/>
          <a:p>
            <a:endParaRPr lang="en-US"/>
          </a:p>
        </p:txBody>
      </p:sp>
      <p:sp>
        <p:nvSpPr>
          <p:cNvPr id="26" name="effort bar"/>
          <p:cNvSpPr/>
          <p:nvPr/>
        </p:nvSpPr>
        <p:spPr>
          <a:xfrm>
            <a:off x="8065008" y="1463040"/>
            <a:ext cx="310896" cy="457200"/>
          </a:xfrm>
          <a:prstGeom prst="roundRect">
            <a:avLst>
              <a:gd name="adj" fmla="val 11765"/>
            </a:avLst>
          </a:prstGeom>
          <a:solidFill>
            <a:schemeClr val="accent1"/>
          </a:solidFill>
          <a:ln w="12700">
            <a:solidFill>
              <a:schemeClr val="accent1"/>
            </a:solidFill>
            <a:prstDash val="solid"/>
          </a:ln>
        </p:spPr>
        <p:txBody>
          <a:bodyPr/>
          <a:lstStyle/>
          <a:p>
            <a:endParaRPr lang="en-US"/>
          </a:p>
        </p:txBody>
      </p:sp>
      <p:sp>
        <p:nvSpPr>
          <p:cNvPr id="27" name="effort bar"/>
          <p:cNvSpPr/>
          <p:nvPr/>
        </p:nvSpPr>
        <p:spPr>
          <a:xfrm>
            <a:off x="8449056" y="1463040"/>
            <a:ext cx="310896" cy="457200"/>
          </a:xfrm>
          <a:prstGeom prst="roundRect">
            <a:avLst>
              <a:gd name="adj" fmla="val 11765"/>
            </a:avLst>
          </a:prstGeom>
          <a:solidFill>
            <a:schemeClr val="accent1"/>
          </a:solidFill>
          <a:ln w="12700">
            <a:solidFill>
              <a:schemeClr val="accent1"/>
            </a:solidFill>
            <a:prstDash val="solid"/>
          </a:ln>
        </p:spPr>
        <p:txBody>
          <a:bodyPr/>
          <a:lstStyle/>
          <a:p>
            <a:endParaRPr lang="en-US"/>
          </a:p>
        </p:txBody>
      </p:sp>
      <p:sp>
        <p:nvSpPr>
          <p:cNvPr id="28" name="effort bar"/>
          <p:cNvSpPr/>
          <p:nvPr/>
        </p:nvSpPr>
        <p:spPr>
          <a:xfrm>
            <a:off x="8833104" y="1463040"/>
            <a:ext cx="310896" cy="457200"/>
          </a:xfrm>
          <a:prstGeom prst="roundRect">
            <a:avLst>
              <a:gd name="adj" fmla="val 11765"/>
            </a:avLst>
          </a:prstGeom>
          <a:solidFill>
            <a:schemeClr val="accent6"/>
          </a:solidFill>
          <a:ln w="12700">
            <a:solidFill>
              <a:schemeClr val="accent6"/>
            </a:solidFill>
            <a:prstDash val="solid"/>
          </a:ln>
        </p:spPr>
        <p:txBody>
          <a:bodyPr/>
          <a:lstStyle/>
          <a:p>
            <a:endParaRPr lang="en-US"/>
          </a:p>
        </p:txBody>
      </p:sp>
      <p:sp>
        <p:nvSpPr>
          <p:cNvPr id="29" name="Text 27"/>
          <p:cNvSpPr txBox="1"/>
          <p:nvPr/>
        </p:nvSpPr>
        <p:spPr>
          <a:xfrm>
            <a:off x="7296912" y="2057400"/>
            <a:ext cx="2011680" cy="411480"/>
          </a:xfrm>
          <a:prstGeom prst="rect">
            <a:avLst/>
          </a:prstGeom>
          <a:noFill/>
          <a:ln/>
        </p:spPr>
        <p:txBody>
          <a:bodyPr wrap="square" lIns="0" tIns="0" rIns="0" bIns="0" rtlCol="0" anchor="t"/>
          <a:lstStyle/>
          <a:p>
            <a:pPr marL="0" indent="0">
              <a:buNone/>
            </a:pPr>
            <a:r>
              <a:rPr lang="en-US" sz="2000" b="1" dirty="0">
                <a:solidFill>
                  <a:schemeClr val="tx1"/>
                </a:solidFill>
                <a:latin typeface="Courier New" pitchFamily="34" charset="0"/>
                <a:ea typeface="Courier New" pitchFamily="34" charset="-122"/>
                <a:cs typeface="Courier New" pitchFamily="34" charset="-120"/>
              </a:rPr>
              <a:t>xhigh</a:t>
            </a:r>
            <a:endParaRPr lang="en-US" sz="2000" dirty="0"/>
          </a:p>
        </p:txBody>
      </p:sp>
      <p:sp>
        <p:nvSpPr>
          <p:cNvPr id="30" name="Text 28"/>
          <p:cNvSpPr txBox="1"/>
          <p:nvPr/>
        </p:nvSpPr>
        <p:spPr>
          <a:xfrm>
            <a:off x="7296912" y="2514600"/>
            <a:ext cx="2011680" cy="914400"/>
          </a:xfrm>
          <a:prstGeom prst="rect">
            <a:avLst/>
          </a:prstGeom>
          <a:noFill/>
          <a:ln/>
        </p:spPr>
        <p:txBody>
          <a:bodyPr wrap="square" lIns="0" tIns="0" rIns="0" bIns="0" rtlCol="0" anchor="t"/>
          <a:lstStyle/>
          <a:p>
            <a:pPr marL="0" indent="0">
              <a:buNone/>
            </a:pPr>
            <a:r>
              <a:rPr lang="en-US" sz="1400" dirty="0">
                <a:solidFill>
                  <a:schemeClr val="tx2"/>
                </a:solidFill>
              </a:rPr>
              <a:t>Long exploration, tricky code, deep analysis</a:t>
            </a:r>
            <a:endParaRPr lang="en-US" sz="1400" dirty="0"/>
          </a:p>
        </p:txBody>
      </p:sp>
      <p:sp>
        <p:nvSpPr>
          <p:cNvPr id="31" name="effort bar"/>
          <p:cNvSpPr/>
          <p:nvPr/>
        </p:nvSpPr>
        <p:spPr>
          <a:xfrm>
            <a:off x="9546336" y="1463040"/>
            <a:ext cx="310896" cy="457200"/>
          </a:xfrm>
          <a:prstGeom prst="roundRect">
            <a:avLst>
              <a:gd name="adj" fmla="val 11765"/>
            </a:avLst>
          </a:prstGeom>
          <a:solidFill>
            <a:schemeClr val="accent1"/>
          </a:solidFill>
          <a:ln w="12700">
            <a:solidFill>
              <a:schemeClr val="accent1"/>
            </a:solidFill>
            <a:prstDash val="solid"/>
          </a:ln>
        </p:spPr>
        <p:txBody>
          <a:bodyPr/>
          <a:lstStyle/>
          <a:p>
            <a:endParaRPr lang="en-US"/>
          </a:p>
        </p:txBody>
      </p:sp>
      <p:sp>
        <p:nvSpPr>
          <p:cNvPr id="32" name="effort bar"/>
          <p:cNvSpPr/>
          <p:nvPr/>
        </p:nvSpPr>
        <p:spPr>
          <a:xfrm>
            <a:off x="9930384" y="1463040"/>
            <a:ext cx="310896" cy="457200"/>
          </a:xfrm>
          <a:prstGeom prst="roundRect">
            <a:avLst>
              <a:gd name="adj" fmla="val 11765"/>
            </a:avLst>
          </a:prstGeom>
          <a:solidFill>
            <a:schemeClr val="accent1"/>
          </a:solidFill>
          <a:ln w="12700">
            <a:solidFill>
              <a:schemeClr val="accent1"/>
            </a:solidFill>
            <a:prstDash val="solid"/>
          </a:ln>
        </p:spPr>
        <p:txBody>
          <a:bodyPr/>
          <a:lstStyle/>
          <a:p>
            <a:endParaRPr lang="en-US"/>
          </a:p>
        </p:txBody>
      </p:sp>
      <p:sp>
        <p:nvSpPr>
          <p:cNvPr id="33" name="effort bar"/>
          <p:cNvSpPr/>
          <p:nvPr/>
        </p:nvSpPr>
        <p:spPr>
          <a:xfrm>
            <a:off x="10314432" y="1463040"/>
            <a:ext cx="310896" cy="457200"/>
          </a:xfrm>
          <a:prstGeom prst="roundRect">
            <a:avLst>
              <a:gd name="adj" fmla="val 11765"/>
            </a:avLst>
          </a:prstGeom>
          <a:solidFill>
            <a:schemeClr val="accent1"/>
          </a:solidFill>
          <a:ln w="12700">
            <a:solidFill>
              <a:schemeClr val="accent1"/>
            </a:solidFill>
            <a:prstDash val="solid"/>
          </a:ln>
        </p:spPr>
        <p:txBody>
          <a:bodyPr/>
          <a:lstStyle/>
          <a:p>
            <a:endParaRPr lang="en-US"/>
          </a:p>
        </p:txBody>
      </p:sp>
      <p:sp>
        <p:nvSpPr>
          <p:cNvPr id="34" name="effort bar"/>
          <p:cNvSpPr/>
          <p:nvPr/>
        </p:nvSpPr>
        <p:spPr>
          <a:xfrm>
            <a:off x="10698480" y="1463040"/>
            <a:ext cx="310896" cy="457200"/>
          </a:xfrm>
          <a:prstGeom prst="roundRect">
            <a:avLst>
              <a:gd name="adj" fmla="val 11765"/>
            </a:avLst>
          </a:prstGeom>
          <a:solidFill>
            <a:schemeClr val="accent1"/>
          </a:solidFill>
          <a:ln w="12700">
            <a:solidFill>
              <a:schemeClr val="accent1"/>
            </a:solidFill>
            <a:prstDash val="solid"/>
          </a:ln>
        </p:spPr>
        <p:txBody>
          <a:bodyPr/>
          <a:lstStyle/>
          <a:p>
            <a:endParaRPr lang="en-US"/>
          </a:p>
        </p:txBody>
      </p:sp>
      <p:sp>
        <p:nvSpPr>
          <p:cNvPr id="35" name="effort bar"/>
          <p:cNvSpPr/>
          <p:nvPr/>
        </p:nvSpPr>
        <p:spPr>
          <a:xfrm>
            <a:off x="11082528" y="1463040"/>
            <a:ext cx="310896" cy="457200"/>
          </a:xfrm>
          <a:prstGeom prst="roundRect">
            <a:avLst>
              <a:gd name="adj" fmla="val 11765"/>
            </a:avLst>
          </a:prstGeom>
          <a:solidFill>
            <a:schemeClr val="accent1"/>
          </a:solidFill>
          <a:ln w="12700">
            <a:solidFill>
              <a:schemeClr val="accent1"/>
            </a:solidFill>
            <a:prstDash val="solid"/>
          </a:ln>
        </p:spPr>
        <p:txBody>
          <a:bodyPr/>
          <a:lstStyle/>
          <a:p>
            <a:endParaRPr lang="en-US"/>
          </a:p>
        </p:txBody>
      </p:sp>
      <p:sp>
        <p:nvSpPr>
          <p:cNvPr id="36" name="Text 34"/>
          <p:cNvSpPr txBox="1"/>
          <p:nvPr/>
        </p:nvSpPr>
        <p:spPr>
          <a:xfrm>
            <a:off x="9546336" y="2057400"/>
            <a:ext cx="2011680" cy="411480"/>
          </a:xfrm>
          <a:prstGeom prst="rect">
            <a:avLst/>
          </a:prstGeom>
          <a:noFill/>
          <a:ln/>
        </p:spPr>
        <p:txBody>
          <a:bodyPr wrap="square" lIns="0" tIns="0" rIns="0" bIns="0" rtlCol="0" anchor="t"/>
          <a:lstStyle/>
          <a:p>
            <a:pPr marL="0" indent="0">
              <a:buNone/>
            </a:pPr>
            <a:r>
              <a:rPr lang="en-US" sz="2000" b="1" dirty="0">
                <a:solidFill>
                  <a:schemeClr val="tx1"/>
                </a:solidFill>
                <a:latin typeface="Courier New" pitchFamily="34" charset="0"/>
                <a:ea typeface="Courier New" pitchFamily="34" charset="-122"/>
                <a:cs typeface="Courier New" pitchFamily="34" charset="-120"/>
              </a:rPr>
              <a:t>max</a:t>
            </a:r>
            <a:endParaRPr lang="en-US" sz="2000" dirty="0"/>
          </a:p>
        </p:txBody>
      </p:sp>
      <p:sp>
        <p:nvSpPr>
          <p:cNvPr id="37" name="Text 35"/>
          <p:cNvSpPr txBox="1"/>
          <p:nvPr/>
        </p:nvSpPr>
        <p:spPr>
          <a:xfrm>
            <a:off x="9546336" y="2514600"/>
            <a:ext cx="2011680" cy="914400"/>
          </a:xfrm>
          <a:prstGeom prst="rect">
            <a:avLst/>
          </a:prstGeom>
          <a:noFill/>
          <a:ln/>
        </p:spPr>
        <p:txBody>
          <a:bodyPr wrap="square" lIns="0" tIns="0" rIns="0" bIns="0" rtlCol="0" anchor="t"/>
          <a:lstStyle/>
          <a:p>
            <a:pPr marL="0" indent="0">
              <a:buNone/>
            </a:pPr>
            <a:r>
              <a:rPr lang="en-US" sz="1400" dirty="0">
                <a:solidFill>
                  <a:schemeClr val="tx2"/>
                </a:solidFill>
              </a:rPr>
              <a:t>No limit on thinking. Hardest problems only</a:t>
            </a:r>
            <a:endParaRPr lang="en-US" sz="1400" dirty="0"/>
          </a:p>
        </p:txBody>
      </p:sp>
      <p:sp>
        <p:nvSpPr>
          <p:cNvPr id="38" name="code panel"/>
          <p:cNvSpPr/>
          <p:nvPr/>
        </p:nvSpPr>
        <p:spPr>
          <a:xfrm>
            <a:off x="548640" y="3703320"/>
            <a:ext cx="5486400" cy="2331720"/>
          </a:xfrm>
          <a:prstGeom prst="roundRect">
            <a:avLst>
              <a:gd name="adj" fmla="val 3137"/>
            </a:avLst>
          </a:prstGeom>
          <a:solidFill>
            <a:schemeClr val="tx1"/>
          </a:solidFill>
          <a:ln w="12700">
            <a:solidFill>
              <a:schemeClr val="tx1"/>
            </a:solidFill>
            <a:prstDash val="solid"/>
          </a:ln>
        </p:spPr>
        <p:txBody>
          <a:bodyPr/>
          <a:lstStyle/>
          <a:p>
            <a:endParaRPr lang="en-US"/>
          </a:p>
        </p:txBody>
      </p:sp>
      <p:sp>
        <p:nvSpPr>
          <p:cNvPr id="39" name="Text 37"/>
          <p:cNvSpPr txBox="1"/>
          <p:nvPr/>
        </p:nvSpPr>
        <p:spPr>
          <a:xfrm>
            <a:off x="777240" y="3886200"/>
            <a:ext cx="5029200" cy="1965960"/>
          </a:xfrm>
          <a:prstGeom prst="rect">
            <a:avLst/>
          </a:prstGeom>
          <a:noFill/>
          <a:ln/>
        </p:spPr>
        <p:txBody>
          <a:bodyPr wrap="square" lIns="0" tIns="0" rIns="0" bIns="0" rtlCol="0" anchor="t"/>
          <a:lstStyle/>
          <a:p>
            <a:pPr marL="0" indent="0">
              <a:buNone/>
            </a:pPr>
            <a:r>
              <a:rPr lang="en-US" sz="1300" dirty="0">
                <a:solidFill>
                  <a:srgbClr val="E3E5EC"/>
                </a:solidFill>
                <a:latin typeface="Courier New" pitchFamily="34" charset="0"/>
                <a:ea typeface="Courier New" pitchFamily="34" charset="-122"/>
                <a:cs typeface="Courier New" pitchFamily="34" charset="-120"/>
              </a:rPr>
              <a:t>client.messages.create(</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  model="claude-opus-5-5",</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  max_tokens=64000,</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  output_config={"effort": "high"},</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  messages=[{"role": "user",</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             "content": "..."}],</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a:t>
            </a:r>
            <a:endParaRPr lang="en-US" sz="1300" dirty="0"/>
          </a:p>
        </p:txBody>
      </p:sp>
      <p:sp>
        <p:nvSpPr>
          <p:cNvPr id="40" name="card"/>
          <p:cNvSpPr/>
          <p:nvPr/>
        </p:nvSpPr>
        <p:spPr>
          <a:xfrm>
            <a:off x="6309360" y="3703320"/>
            <a:ext cx="5303520" cy="2331720"/>
          </a:xfrm>
          <a:prstGeom prst="roundRect">
            <a:avLst>
              <a:gd name="adj" fmla="val 313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1" name="Text 39"/>
          <p:cNvSpPr txBox="1"/>
          <p:nvPr/>
        </p:nvSpPr>
        <p:spPr>
          <a:xfrm>
            <a:off x="6583680" y="3886200"/>
            <a:ext cx="4846320" cy="320040"/>
          </a:xfrm>
          <a:prstGeom prst="rect">
            <a:avLst/>
          </a:prstGeom>
          <a:noFill/>
          <a:ln/>
        </p:spPr>
        <p:txBody>
          <a:bodyPr wrap="square" lIns="0" tIns="0" rIns="0" bIns="0" rtlCol="0" anchor="t"/>
          <a:lstStyle/>
          <a:p>
            <a:pPr marL="0" indent="0">
              <a:buNone/>
            </a:pPr>
            <a:r>
              <a:rPr lang="en-US" sz="1600" b="1" dirty="0">
                <a:solidFill>
                  <a:schemeClr val="tx1"/>
                </a:solidFill>
              </a:rPr>
              <a:t>Rules of thumb</a:t>
            </a:r>
            <a:endParaRPr lang="en-US" sz="1600" dirty="0"/>
          </a:p>
        </p:txBody>
      </p:sp>
      <p:sp>
        <p:nvSpPr>
          <p:cNvPr id="42" name="Text 40"/>
          <p:cNvSpPr txBox="1"/>
          <p:nvPr/>
        </p:nvSpPr>
        <p:spPr>
          <a:xfrm>
            <a:off x="6583680" y="4297680"/>
            <a:ext cx="484632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Higher effort = more thinking tokens, billed as output</a:t>
            </a:r>
            <a:endParaRPr lang="en-US" sz="1400" dirty="0"/>
          </a:p>
          <a:p>
            <a:pPr marL="342900" indent="-342900">
              <a:spcAft>
                <a:spcPts val="600"/>
              </a:spcAft>
              <a:buSzPct val="100000"/>
              <a:buChar char="•"/>
            </a:pPr>
            <a:r>
              <a:rPr lang="en-US" sz="1400" dirty="0">
                <a:solidFill>
                  <a:schemeClr val="tx2"/>
                </a:solidFill>
              </a:rPr>
              <a:t>Changing effort mid-conversation breaks the prompt cache</a:t>
            </a:r>
            <a:endParaRPr lang="en-US" sz="1400" dirty="0"/>
          </a:p>
          <a:p>
            <a:pPr marL="342900" indent="-342900">
              <a:spcAft>
                <a:spcPts val="600"/>
              </a:spcAft>
              <a:buSzPct val="100000"/>
              <a:buChar char="•"/>
            </a:pPr>
            <a:r>
              <a:rPr lang="en-US" sz="1400" dirty="0">
                <a:solidFill>
                  <a:schemeClr val="tx2"/>
                </a:solidFill>
              </a:rPr>
              <a:t>Hitting max_tokens? Raise it, or lower effort if it overthinks</a:t>
            </a:r>
            <a:endParaRPr lang="en-US" sz="1400" dirty="0"/>
          </a:p>
          <a:p>
            <a:pPr marL="342900" indent="-342900">
              <a:spcAft>
                <a:spcPts val="600"/>
              </a:spcAft>
              <a:buSzPct val="100000"/>
              <a:buChar char="•"/>
            </a:pPr>
            <a:r>
              <a:rPr lang="en-US" sz="1400" dirty="0">
                <a:solidFill>
                  <a:schemeClr val="tx2"/>
                </a:solidFill>
              </a:rPr>
              <a:t>Test on your own tasks; don’t copy settings between models</a:t>
            </a:r>
            <a:endParaRPr lang="en-US" sz="1400" dirty="0"/>
          </a:p>
        </p:txBody>
      </p:sp>
      <p:sp>
        <p:nvSpPr>
          <p:cNvPr id="4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Context window vs max_tokens: one is fixed, one is yours</a:t>
            </a:r>
            <a:endParaRPr lang="en-US" sz="3200" dirty="0"/>
          </a:p>
        </p:txBody>
      </p:sp>
      <p:sp>
        <p:nvSpPr>
          <p:cNvPr id="3" name="Text 1"/>
          <p:cNvSpPr txBox="1"/>
          <p:nvPr/>
        </p:nvSpPr>
        <p:spPr>
          <a:xfrm>
            <a:off x="548640" y="1371600"/>
            <a:ext cx="10972800" cy="320040"/>
          </a:xfrm>
          <a:prstGeom prst="rect">
            <a:avLst/>
          </a:prstGeom>
          <a:noFill/>
          <a:ln/>
        </p:spPr>
        <p:txBody>
          <a:bodyPr wrap="square" lIns="0" tIns="0" rIns="0" bIns="0" rtlCol="0" anchor="t"/>
          <a:lstStyle/>
          <a:p>
            <a:pPr marL="0" indent="0">
              <a:buNone/>
            </a:pPr>
            <a:r>
              <a:rPr lang="en-US" sz="1400" b="1" dirty="0">
                <a:solidFill>
                  <a:schemeClr val="tx1"/>
                </a:solidFill>
              </a:rPr>
              <a:t>Everything below must fit in the context window (1M tokens on current models)</a:t>
            </a:r>
            <a:endParaRPr lang="en-US" sz="1400" dirty="0"/>
          </a:p>
        </p:txBody>
      </p:sp>
      <p:sp>
        <p:nvSpPr>
          <p:cNvPr id="4" name="context segment"/>
          <p:cNvSpPr/>
          <p:nvPr/>
        </p:nvSpPr>
        <p:spPr>
          <a:xfrm>
            <a:off x="548640" y="1783080"/>
            <a:ext cx="822960" cy="685800"/>
          </a:xfrm>
          <a:prstGeom prst="rect">
            <a:avLst/>
          </a:prstGeom>
          <a:solidFill>
            <a:schemeClr val="tx2"/>
          </a:solidFill>
          <a:ln w="25400">
            <a:solidFill>
              <a:schemeClr val="bg1"/>
            </a:solidFill>
            <a:prstDash val="solid"/>
          </a:ln>
        </p:spPr>
        <p:txBody>
          <a:bodyPr/>
          <a:lstStyle/>
          <a:p>
            <a:endParaRPr lang="en-US"/>
          </a:p>
        </p:txBody>
      </p:sp>
      <p:sp>
        <p:nvSpPr>
          <p:cNvPr id="5" name="Text 3"/>
          <p:cNvSpPr txBox="1"/>
          <p:nvPr/>
        </p:nvSpPr>
        <p:spPr>
          <a:xfrm>
            <a:off x="594360" y="1783080"/>
            <a:ext cx="731520" cy="685800"/>
          </a:xfrm>
          <a:prstGeom prst="rect">
            <a:avLst/>
          </a:prstGeom>
          <a:noFill/>
          <a:ln/>
        </p:spPr>
        <p:txBody>
          <a:bodyPr wrap="square" lIns="0" tIns="0" rIns="0" bIns="0" rtlCol="0" anchor="ctr"/>
          <a:lstStyle/>
          <a:p>
            <a:pPr marL="0" indent="0" algn="ctr">
              <a:buNone/>
            </a:pPr>
            <a:r>
              <a:rPr lang="en-US" sz="1300" dirty="0">
                <a:solidFill>
                  <a:schemeClr val="bg1"/>
                </a:solidFill>
              </a:rPr>
              <a:t>Tools</a:t>
            </a:r>
            <a:endParaRPr lang="en-US" sz="1300" dirty="0"/>
          </a:p>
        </p:txBody>
      </p:sp>
      <p:sp>
        <p:nvSpPr>
          <p:cNvPr id="6" name="context segment"/>
          <p:cNvSpPr/>
          <p:nvPr/>
        </p:nvSpPr>
        <p:spPr>
          <a:xfrm>
            <a:off x="1371600" y="1783080"/>
            <a:ext cx="1463040" cy="685800"/>
          </a:xfrm>
          <a:prstGeom prst="rect">
            <a:avLst/>
          </a:prstGeom>
          <a:solidFill>
            <a:schemeClr val="tx1"/>
          </a:solidFill>
          <a:ln w="25400">
            <a:solidFill>
              <a:schemeClr val="bg1"/>
            </a:solidFill>
            <a:prstDash val="solid"/>
          </a:ln>
        </p:spPr>
        <p:txBody>
          <a:bodyPr/>
          <a:lstStyle/>
          <a:p>
            <a:endParaRPr lang="en-US"/>
          </a:p>
        </p:txBody>
      </p:sp>
      <p:sp>
        <p:nvSpPr>
          <p:cNvPr id="7" name="Text 5"/>
          <p:cNvSpPr txBox="1"/>
          <p:nvPr/>
        </p:nvSpPr>
        <p:spPr>
          <a:xfrm>
            <a:off x="1417320" y="1783080"/>
            <a:ext cx="1371600" cy="685800"/>
          </a:xfrm>
          <a:prstGeom prst="rect">
            <a:avLst/>
          </a:prstGeom>
          <a:noFill/>
          <a:ln/>
        </p:spPr>
        <p:txBody>
          <a:bodyPr wrap="square" lIns="0" tIns="0" rIns="0" bIns="0" rtlCol="0" anchor="ctr"/>
          <a:lstStyle/>
          <a:p>
            <a:pPr marL="0" indent="0" algn="ctr">
              <a:buNone/>
            </a:pPr>
            <a:r>
              <a:rPr lang="en-US" sz="1300" dirty="0">
                <a:solidFill>
                  <a:schemeClr val="bg1"/>
                </a:solidFill>
              </a:rPr>
              <a:t>System prompt</a:t>
            </a:r>
            <a:endParaRPr lang="en-US" sz="1300" dirty="0"/>
          </a:p>
        </p:txBody>
      </p:sp>
      <p:sp>
        <p:nvSpPr>
          <p:cNvPr id="8" name="context segment"/>
          <p:cNvSpPr/>
          <p:nvPr/>
        </p:nvSpPr>
        <p:spPr>
          <a:xfrm>
            <a:off x="2834640" y="1783080"/>
            <a:ext cx="3566160" cy="685800"/>
          </a:xfrm>
          <a:prstGeom prst="rect">
            <a:avLst/>
          </a:prstGeom>
          <a:solidFill>
            <a:schemeClr val="accent3"/>
          </a:solidFill>
          <a:ln w="25400">
            <a:solidFill>
              <a:schemeClr val="bg1"/>
            </a:solidFill>
            <a:prstDash val="solid"/>
          </a:ln>
        </p:spPr>
        <p:txBody>
          <a:bodyPr/>
          <a:lstStyle/>
          <a:p>
            <a:endParaRPr lang="en-US"/>
          </a:p>
        </p:txBody>
      </p:sp>
      <p:sp>
        <p:nvSpPr>
          <p:cNvPr id="9" name="Text 7"/>
          <p:cNvSpPr txBox="1"/>
          <p:nvPr/>
        </p:nvSpPr>
        <p:spPr>
          <a:xfrm>
            <a:off x="2880360" y="1783080"/>
            <a:ext cx="3474720" cy="685800"/>
          </a:xfrm>
          <a:prstGeom prst="rect">
            <a:avLst/>
          </a:prstGeom>
          <a:noFill/>
          <a:ln/>
        </p:spPr>
        <p:txBody>
          <a:bodyPr wrap="square" lIns="0" tIns="0" rIns="0" bIns="0" rtlCol="0" anchor="ctr"/>
          <a:lstStyle/>
          <a:p>
            <a:pPr marL="0" indent="0" algn="ctr">
              <a:buNone/>
            </a:pPr>
            <a:r>
              <a:rPr lang="en-US" sz="1300" dirty="0">
                <a:solidFill>
                  <a:schemeClr val="bg1"/>
                </a:solidFill>
              </a:rPr>
              <a:t>Chat history + tool results</a:t>
            </a:r>
            <a:endParaRPr lang="en-US" sz="1300" dirty="0"/>
          </a:p>
        </p:txBody>
      </p:sp>
      <p:sp>
        <p:nvSpPr>
          <p:cNvPr id="10" name="context segment"/>
          <p:cNvSpPr/>
          <p:nvPr/>
        </p:nvSpPr>
        <p:spPr>
          <a:xfrm>
            <a:off x="6400800" y="1783080"/>
            <a:ext cx="2011680" cy="685800"/>
          </a:xfrm>
          <a:prstGeom prst="rect">
            <a:avLst/>
          </a:prstGeom>
          <a:solidFill>
            <a:schemeClr val="accent2"/>
          </a:solidFill>
          <a:ln w="25400">
            <a:solidFill>
              <a:schemeClr val="bg1"/>
            </a:solidFill>
            <a:prstDash val="solid"/>
          </a:ln>
        </p:spPr>
        <p:txBody>
          <a:bodyPr/>
          <a:lstStyle/>
          <a:p>
            <a:endParaRPr lang="en-US"/>
          </a:p>
        </p:txBody>
      </p:sp>
      <p:sp>
        <p:nvSpPr>
          <p:cNvPr id="11" name="Text 9"/>
          <p:cNvSpPr txBox="1"/>
          <p:nvPr/>
        </p:nvSpPr>
        <p:spPr>
          <a:xfrm>
            <a:off x="6446520" y="1783080"/>
            <a:ext cx="1920240" cy="685800"/>
          </a:xfrm>
          <a:prstGeom prst="rect">
            <a:avLst/>
          </a:prstGeom>
          <a:noFill/>
          <a:ln/>
        </p:spPr>
        <p:txBody>
          <a:bodyPr wrap="square" lIns="0" tIns="0" rIns="0" bIns="0" rtlCol="0" anchor="ctr"/>
          <a:lstStyle/>
          <a:p>
            <a:pPr marL="0" indent="0" algn="ctr">
              <a:buNone/>
            </a:pPr>
            <a:r>
              <a:rPr lang="en-US" sz="1300" dirty="0">
                <a:solidFill>
                  <a:schemeClr val="bg1"/>
                </a:solidFill>
              </a:rPr>
              <a:t>Files / images</a:t>
            </a:r>
            <a:endParaRPr lang="en-US" sz="1300" dirty="0"/>
          </a:p>
        </p:txBody>
      </p:sp>
      <p:sp>
        <p:nvSpPr>
          <p:cNvPr id="12" name="context segment"/>
          <p:cNvSpPr/>
          <p:nvPr/>
        </p:nvSpPr>
        <p:spPr>
          <a:xfrm>
            <a:off x="8412480" y="1783080"/>
            <a:ext cx="2468880" cy="685800"/>
          </a:xfrm>
          <a:prstGeom prst="rect">
            <a:avLst/>
          </a:prstGeom>
          <a:solidFill>
            <a:schemeClr val="accent1"/>
          </a:solidFill>
          <a:ln w="25400">
            <a:solidFill>
              <a:schemeClr val="bg1"/>
            </a:solidFill>
            <a:prstDash val="solid"/>
          </a:ln>
        </p:spPr>
        <p:txBody>
          <a:bodyPr/>
          <a:lstStyle/>
          <a:p>
            <a:endParaRPr lang="en-US"/>
          </a:p>
        </p:txBody>
      </p:sp>
      <p:sp>
        <p:nvSpPr>
          <p:cNvPr id="13" name="Text 11"/>
          <p:cNvSpPr txBox="1"/>
          <p:nvPr/>
        </p:nvSpPr>
        <p:spPr>
          <a:xfrm>
            <a:off x="8458200" y="1783080"/>
            <a:ext cx="2377440" cy="685800"/>
          </a:xfrm>
          <a:prstGeom prst="rect">
            <a:avLst/>
          </a:prstGeom>
          <a:noFill/>
          <a:ln/>
        </p:spPr>
        <p:txBody>
          <a:bodyPr wrap="square" lIns="0" tIns="0" rIns="0" bIns="0" rtlCol="0" anchor="ctr"/>
          <a:lstStyle/>
          <a:p>
            <a:pPr marL="0" indent="0" algn="ctr">
              <a:buNone/>
            </a:pPr>
            <a:r>
              <a:rPr lang="en-US" sz="1300" dirty="0">
                <a:solidFill>
                  <a:schemeClr val="bg1"/>
                </a:solidFill>
              </a:rPr>
              <a:t>Thinking + answer</a:t>
            </a:r>
            <a:endParaRPr lang="en-US" sz="1300" dirty="0"/>
          </a:p>
        </p:txBody>
      </p:sp>
      <p:sp>
        <p:nvSpPr>
          <p:cNvPr id="14" name="Text 12"/>
          <p:cNvSpPr txBox="1"/>
          <p:nvPr/>
        </p:nvSpPr>
        <p:spPr>
          <a:xfrm>
            <a:off x="8595360" y="2542032"/>
            <a:ext cx="3017520" cy="274320"/>
          </a:xfrm>
          <a:prstGeom prst="rect">
            <a:avLst/>
          </a:prstGeom>
          <a:noFill/>
          <a:ln/>
        </p:spPr>
        <p:txBody>
          <a:bodyPr wrap="square" lIns="0" tIns="0" rIns="0" bIns="0" rtlCol="0" anchor="t"/>
          <a:lstStyle/>
          <a:p>
            <a:pPr marL="0" indent="0" algn="r">
              <a:buNone/>
            </a:pPr>
            <a:r>
              <a:rPr lang="en-US" sz="1200" dirty="0">
                <a:solidFill>
                  <a:schemeClr val="accent1"/>
                </a:solidFill>
              </a:rPr>
              <a:t>↑ capped by max_tokens (up to 128k)</a:t>
            </a:r>
            <a:endParaRPr lang="en-US" sz="1200" dirty="0"/>
          </a:p>
        </p:txBody>
      </p:sp>
      <p:sp>
        <p:nvSpPr>
          <p:cNvPr id="15" name="card"/>
          <p:cNvSpPr/>
          <p:nvPr/>
        </p:nvSpPr>
        <p:spPr>
          <a:xfrm>
            <a:off x="548640" y="3108960"/>
            <a:ext cx="3529584" cy="2926080"/>
          </a:xfrm>
          <a:prstGeom prst="roundRect">
            <a:avLst>
              <a:gd name="adj" fmla="val 250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6" name="icon circle"/>
          <p:cNvSpPr/>
          <p:nvPr/>
        </p:nvSpPr>
        <p:spPr>
          <a:xfrm>
            <a:off x="822960" y="3383280"/>
            <a:ext cx="640080" cy="640080"/>
          </a:xfrm>
          <a:prstGeom prst="ellipse">
            <a:avLst/>
          </a:prstGeom>
          <a:solidFill>
            <a:schemeClr val="accent3"/>
          </a:solidFill>
          <a:ln w="12700">
            <a:solidFill>
              <a:schemeClr val="accent3"/>
            </a:solidFill>
            <a:prstDash val="solid"/>
          </a:ln>
        </p:spPr>
        <p:txBody>
          <a:bodyPr/>
          <a:lstStyle/>
          <a:p>
            <a:endParaRPr lang="en-US"/>
          </a:p>
        </p:txBody>
      </p:sp>
      <p:pic>
        <p:nvPicPr>
          <p:cNvPr id="17" name="Image 0" descr="Lock icon"/>
          <p:cNvPicPr>
            <a:picLocks noChangeAspect="1"/>
          </p:cNvPicPr>
          <p:nvPr/>
        </p:nvPicPr>
        <p:blipFill>
          <a:blip r:embed="rId3"/>
          <a:stretch>
            <a:fillRect/>
          </a:stretch>
        </p:blipFill>
        <p:spPr>
          <a:xfrm>
            <a:off x="982980" y="3543300"/>
            <a:ext cx="320040" cy="320040"/>
          </a:xfrm>
          <a:prstGeom prst="rect">
            <a:avLst/>
          </a:prstGeom>
        </p:spPr>
      </p:pic>
      <p:sp>
        <p:nvSpPr>
          <p:cNvPr id="18" name="Text 15"/>
          <p:cNvSpPr txBox="1"/>
          <p:nvPr/>
        </p:nvSpPr>
        <p:spPr>
          <a:xfrm>
            <a:off x="1645920" y="345643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Context window</a:t>
            </a:r>
            <a:endParaRPr lang="en-US" sz="1800" dirty="0"/>
          </a:p>
        </p:txBody>
      </p:sp>
      <p:sp>
        <p:nvSpPr>
          <p:cNvPr id="19" name="Text 16"/>
          <p:cNvSpPr txBox="1"/>
          <p:nvPr/>
        </p:nvSpPr>
        <p:spPr>
          <a:xfrm>
            <a:off x="822960" y="4206240"/>
            <a:ext cx="3017520" cy="1737360"/>
          </a:xfrm>
          <a:prstGeom prst="rect">
            <a:avLst/>
          </a:prstGeom>
          <a:noFill/>
          <a:ln/>
        </p:spPr>
        <p:txBody>
          <a:bodyPr wrap="square" lIns="0" tIns="0" rIns="0" bIns="0" rtlCol="0" anchor="t"/>
          <a:lstStyle/>
          <a:p>
            <a:pPr marL="0" indent="0">
              <a:buNone/>
            </a:pPr>
            <a:r>
              <a:rPr lang="en-US" sz="1400" dirty="0">
                <a:solidFill>
                  <a:schemeClr val="tx2"/>
                </a:solidFill>
              </a:rPr>
              <a:t>Set by the model, not by you. 1M tokens ≈ 750k words. Cached tokens still take up space.</a:t>
            </a:r>
            <a:endParaRPr lang="en-US" sz="1400" dirty="0"/>
          </a:p>
        </p:txBody>
      </p:sp>
      <p:sp>
        <p:nvSpPr>
          <p:cNvPr id="20" name="card"/>
          <p:cNvSpPr/>
          <p:nvPr/>
        </p:nvSpPr>
        <p:spPr>
          <a:xfrm>
            <a:off x="4279392" y="3108960"/>
            <a:ext cx="3529584" cy="2926080"/>
          </a:xfrm>
          <a:prstGeom prst="roundRect">
            <a:avLst>
              <a:gd name="adj" fmla="val 250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1" name="icon circle"/>
          <p:cNvSpPr/>
          <p:nvPr/>
        </p:nvSpPr>
        <p:spPr>
          <a:xfrm>
            <a:off x="4553712" y="338328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22" name="Image 1" descr="Scissors icon"/>
          <p:cNvPicPr>
            <a:picLocks noChangeAspect="1"/>
          </p:cNvPicPr>
          <p:nvPr/>
        </p:nvPicPr>
        <p:blipFill>
          <a:blip r:embed="rId4"/>
          <a:stretch>
            <a:fillRect/>
          </a:stretch>
        </p:blipFill>
        <p:spPr>
          <a:xfrm>
            <a:off x="4713732" y="3543300"/>
            <a:ext cx="320040" cy="320040"/>
          </a:xfrm>
          <a:prstGeom prst="rect">
            <a:avLst/>
          </a:prstGeom>
        </p:spPr>
      </p:pic>
      <p:sp>
        <p:nvSpPr>
          <p:cNvPr id="23" name="Text 19"/>
          <p:cNvSpPr txBox="1"/>
          <p:nvPr/>
        </p:nvSpPr>
        <p:spPr>
          <a:xfrm>
            <a:off x="5376672" y="345643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max_tokens</a:t>
            </a:r>
            <a:endParaRPr lang="en-US" sz="1800" dirty="0"/>
          </a:p>
        </p:txBody>
      </p:sp>
      <p:sp>
        <p:nvSpPr>
          <p:cNvPr id="24" name="Text 20"/>
          <p:cNvSpPr txBox="1"/>
          <p:nvPr/>
        </p:nvSpPr>
        <p:spPr>
          <a:xfrm>
            <a:off x="4553712" y="4206240"/>
            <a:ext cx="3017520" cy="1737360"/>
          </a:xfrm>
          <a:prstGeom prst="rect">
            <a:avLst/>
          </a:prstGeom>
          <a:noFill/>
          <a:ln/>
        </p:spPr>
        <p:txBody>
          <a:bodyPr wrap="square" lIns="0" tIns="0" rIns="0" bIns="0" rtlCol="0" anchor="t"/>
          <a:lstStyle/>
          <a:p>
            <a:pPr marL="0" indent="0">
              <a:buNone/>
            </a:pPr>
            <a:r>
              <a:rPr lang="en-US" sz="1400" dirty="0">
                <a:solidFill>
                  <a:schemeClr val="tx2"/>
                </a:solidFill>
              </a:rPr>
              <a:t>Your hard cap on output, including thinking. Too low → stop_reason "max_tokens" and a cut-off answer.</a:t>
            </a:r>
            <a:endParaRPr lang="en-US" sz="1400" dirty="0"/>
          </a:p>
        </p:txBody>
      </p:sp>
      <p:sp>
        <p:nvSpPr>
          <p:cNvPr id="25" name="card"/>
          <p:cNvSpPr/>
          <p:nvPr/>
        </p:nvSpPr>
        <p:spPr>
          <a:xfrm>
            <a:off x="8010144" y="3108960"/>
            <a:ext cx="3529584" cy="2926080"/>
          </a:xfrm>
          <a:prstGeom prst="roundRect">
            <a:avLst>
              <a:gd name="adj" fmla="val 250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6" name="icon circle"/>
          <p:cNvSpPr/>
          <p:nvPr/>
        </p:nvSpPr>
        <p:spPr>
          <a:xfrm>
            <a:off x="8284464" y="3383280"/>
            <a:ext cx="640080" cy="640080"/>
          </a:xfrm>
          <a:prstGeom prst="ellipse">
            <a:avLst/>
          </a:prstGeom>
          <a:solidFill>
            <a:schemeClr val="accent2"/>
          </a:solidFill>
          <a:ln w="12700">
            <a:solidFill>
              <a:schemeClr val="accent2"/>
            </a:solidFill>
            <a:prstDash val="solid"/>
          </a:ln>
        </p:spPr>
        <p:txBody>
          <a:bodyPr/>
          <a:lstStyle/>
          <a:p>
            <a:endParaRPr lang="en-US"/>
          </a:p>
        </p:txBody>
      </p:sp>
      <p:pic>
        <p:nvPicPr>
          <p:cNvPr id="27" name="Image 2" descr="Compress icon"/>
          <p:cNvPicPr>
            <a:picLocks noChangeAspect="1"/>
          </p:cNvPicPr>
          <p:nvPr/>
        </p:nvPicPr>
        <p:blipFill>
          <a:blip r:embed="rId5"/>
          <a:stretch>
            <a:fillRect/>
          </a:stretch>
        </p:blipFill>
        <p:spPr>
          <a:xfrm>
            <a:off x="8444484" y="3543300"/>
            <a:ext cx="320040" cy="320040"/>
          </a:xfrm>
          <a:prstGeom prst="rect">
            <a:avLst/>
          </a:prstGeom>
        </p:spPr>
      </p:pic>
      <p:sp>
        <p:nvSpPr>
          <p:cNvPr id="28" name="Text 23"/>
          <p:cNvSpPr txBox="1"/>
          <p:nvPr/>
        </p:nvSpPr>
        <p:spPr>
          <a:xfrm>
            <a:off x="9107424" y="345643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When it fills up</a:t>
            </a:r>
            <a:endParaRPr lang="en-US" sz="1800" dirty="0"/>
          </a:p>
        </p:txBody>
      </p:sp>
      <p:sp>
        <p:nvSpPr>
          <p:cNvPr id="29" name="Text 24"/>
          <p:cNvSpPr txBox="1"/>
          <p:nvPr/>
        </p:nvSpPr>
        <p:spPr>
          <a:xfrm>
            <a:off x="8284464" y="4206240"/>
            <a:ext cx="3017520" cy="1737360"/>
          </a:xfrm>
          <a:prstGeom prst="rect">
            <a:avLst/>
          </a:prstGeom>
          <a:noFill/>
          <a:ln/>
        </p:spPr>
        <p:txBody>
          <a:bodyPr wrap="square" lIns="0" tIns="0" rIns="0" bIns="0" rtlCol="0" anchor="t"/>
          <a:lstStyle/>
          <a:p>
            <a:pPr marL="0" indent="0">
              <a:buNone/>
            </a:pPr>
            <a:r>
              <a:rPr lang="en-US" sz="1400" dirty="0">
                <a:solidFill>
                  <a:schemeClr val="tx2"/>
                </a:solidFill>
              </a:rPr>
              <a:t>Use compaction (server-side summary of old turns) or context editing (clear old tool results). Or start fresh from notes.</a:t>
            </a:r>
            <a:endParaRPr lang="en-US" sz="14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From KV cache to prompt caching</a:t>
            </a:r>
            <a:endParaRPr lang="en-US" sz="3200" dirty="0"/>
          </a:p>
        </p:txBody>
      </p:sp>
      <p:sp>
        <p:nvSpPr>
          <p:cNvPr id="3" name="card"/>
          <p:cNvSpPr/>
          <p:nvPr/>
        </p:nvSpPr>
        <p:spPr>
          <a:xfrm>
            <a:off x="548640" y="1371600"/>
            <a:ext cx="5120640" cy="2148840"/>
          </a:xfrm>
          <a:prstGeom prst="roundRect">
            <a:avLst>
              <a:gd name="adj" fmla="val 3404"/>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icon circle"/>
          <p:cNvSpPr/>
          <p:nvPr/>
        </p:nvSpPr>
        <p:spPr>
          <a:xfrm>
            <a:off x="822960" y="1645920"/>
            <a:ext cx="640080" cy="640080"/>
          </a:xfrm>
          <a:prstGeom prst="ellipse">
            <a:avLst/>
          </a:prstGeom>
          <a:solidFill>
            <a:schemeClr val="accent3"/>
          </a:solidFill>
          <a:ln w="12700">
            <a:solidFill>
              <a:schemeClr val="accent3"/>
            </a:solidFill>
            <a:prstDash val="solid"/>
          </a:ln>
        </p:spPr>
        <p:txBody>
          <a:bodyPr/>
          <a:lstStyle/>
          <a:p>
            <a:endParaRPr lang="en-US"/>
          </a:p>
        </p:txBody>
      </p:sp>
      <p:pic>
        <p:nvPicPr>
          <p:cNvPr id="5" name="Image 0" descr="Memory icon"/>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691640"/>
            <a:ext cx="3840480" cy="457200"/>
          </a:xfrm>
          <a:prstGeom prst="rect">
            <a:avLst/>
          </a:prstGeom>
          <a:noFill/>
          <a:ln/>
        </p:spPr>
        <p:txBody>
          <a:bodyPr wrap="square" lIns="0" tIns="0" rIns="0" bIns="0" rtlCol="0" anchor="ctr"/>
          <a:lstStyle/>
          <a:p>
            <a:pPr marL="0" indent="0">
              <a:buNone/>
            </a:pPr>
            <a:r>
              <a:rPr lang="en-US" sz="1800" b="1" dirty="0">
                <a:solidFill>
                  <a:schemeClr val="tx1"/>
                </a:solidFill>
              </a:rPr>
              <a:t>What the KV cache is</a:t>
            </a:r>
            <a:endParaRPr lang="en-US" sz="1800" dirty="0"/>
          </a:p>
        </p:txBody>
      </p:sp>
      <p:sp>
        <p:nvSpPr>
          <p:cNvPr id="7" name="Text 4"/>
          <p:cNvSpPr txBox="1"/>
          <p:nvPr/>
        </p:nvSpPr>
        <p:spPr>
          <a:xfrm>
            <a:off x="822960" y="2423160"/>
            <a:ext cx="4663440" cy="1005840"/>
          </a:xfrm>
          <a:prstGeom prst="rect">
            <a:avLst/>
          </a:prstGeom>
          <a:noFill/>
          <a:ln/>
        </p:spPr>
        <p:txBody>
          <a:bodyPr wrap="square" lIns="0" tIns="0" rIns="0" bIns="0" rtlCol="0" anchor="t"/>
          <a:lstStyle/>
          <a:p>
            <a:pPr marL="0" indent="0">
              <a:buNone/>
            </a:pPr>
            <a:r>
              <a:rPr lang="en-US" sz="1400" dirty="0">
                <a:solidFill>
                  <a:schemeClr val="tx2"/>
                </a:solidFill>
              </a:rPr>
              <a:t>While reading your prompt, each layer stores keys and values for every token. Reusing them means the model doesn’t reprocess text it has already seen.</a:t>
            </a:r>
            <a:endParaRPr lang="en-US" sz="1400" dirty="0"/>
          </a:p>
        </p:txBody>
      </p:sp>
      <p:sp>
        <p:nvSpPr>
          <p:cNvPr id="8" name="card"/>
          <p:cNvSpPr/>
          <p:nvPr/>
        </p:nvSpPr>
        <p:spPr>
          <a:xfrm>
            <a:off x="548640" y="3703320"/>
            <a:ext cx="5120640" cy="2331720"/>
          </a:xfrm>
          <a:prstGeom prst="roundRect">
            <a:avLst>
              <a:gd name="adj" fmla="val 313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3886200"/>
            <a:ext cx="4572000" cy="320040"/>
          </a:xfrm>
          <a:prstGeom prst="rect">
            <a:avLst/>
          </a:prstGeom>
          <a:noFill/>
          <a:ln/>
        </p:spPr>
        <p:txBody>
          <a:bodyPr wrap="square" lIns="0" tIns="0" rIns="0" bIns="0" rtlCol="0" anchor="t"/>
          <a:lstStyle/>
          <a:p>
            <a:pPr marL="0" indent="0">
              <a:buNone/>
            </a:pPr>
            <a:r>
              <a:rPr lang="en-US" sz="1600" b="1" dirty="0">
                <a:solidFill>
                  <a:schemeClr val="tx1"/>
                </a:solidFill>
              </a:rPr>
              <a:t>On the Claude API</a:t>
            </a:r>
            <a:endParaRPr lang="en-US" sz="1600" dirty="0"/>
          </a:p>
        </p:txBody>
      </p:sp>
      <p:sp>
        <p:nvSpPr>
          <p:cNvPr id="10" name="Text 7"/>
          <p:cNvSpPr txBox="1"/>
          <p:nvPr/>
        </p:nvSpPr>
        <p:spPr>
          <a:xfrm>
            <a:off x="822960" y="4297680"/>
            <a:ext cx="46634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You can’t size or tune the server’s KV cache</a:t>
            </a:r>
            <a:endParaRPr lang="en-US" sz="1400" dirty="0"/>
          </a:p>
          <a:p>
            <a:pPr marL="342900" indent="-342900">
              <a:spcAft>
                <a:spcPts val="600"/>
              </a:spcAft>
              <a:buSzPct val="100000"/>
              <a:buChar char="•"/>
            </a:pPr>
            <a:r>
              <a:rPr lang="en-US" sz="1400" dirty="0">
                <a:solidFill>
                  <a:schemeClr val="tx2"/>
                </a:solidFill>
              </a:rPr>
              <a:t>You can mark a stable prefix with cache_control</a:t>
            </a:r>
            <a:endParaRPr lang="en-US" sz="1400" dirty="0"/>
          </a:p>
          <a:p>
            <a:pPr marL="342900" indent="-342900">
              <a:spcAft>
                <a:spcPts val="600"/>
              </a:spcAft>
              <a:buSzPct val="100000"/>
              <a:buChar char="•"/>
            </a:pPr>
            <a:r>
              <a:rPr lang="en-US" sz="1400" dirty="0">
                <a:solidFill>
                  <a:schemeClr val="tx2"/>
                </a:solidFill>
              </a:rPr>
              <a:t>TTL 5 min (refreshed on each hit) or 1 hour</a:t>
            </a:r>
            <a:endParaRPr lang="en-US" sz="1400" dirty="0"/>
          </a:p>
          <a:p>
            <a:pPr marL="342900" indent="-342900">
              <a:spcAft>
                <a:spcPts val="600"/>
              </a:spcAft>
              <a:buSzPct val="100000"/>
              <a:buChar char="•"/>
            </a:pPr>
            <a:r>
              <a:rPr lang="en-US" sz="1400" dirty="0">
                <a:solidFill>
                  <a:schemeClr val="tx2"/>
                </a:solidFill>
              </a:rPr>
              <a:t>Up to 4 breakpoints; min ~512 tokens on new models</a:t>
            </a:r>
            <a:endParaRPr lang="en-US" sz="1400" dirty="0"/>
          </a:p>
        </p:txBody>
      </p:sp>
      <p:sp>
        <p:nvSpPr>
          <p:cNvPr id="11" name="Text 8"/>
          <p:cNvSpPr txBox="1"/>
          <p:nvPr/>
        </p:nvSpPr>
        <p:spPr>
          <a:xfrm>
            <a:off x="6035040" y="1371600"/>
            <a:ext cx="5577840" cy="320040"/>
          </a:xfrm>
          <a:prstGeom prst="rect">
            <a:avLst/>
          </a:prstGeom>
          <a:noFill/>
          <a:ln/>
        </p:spPr>
        <p:txBody>
          <a:bodyPr wrap="square" lIns="0" tIns="0" rIns="0" bIns="0" rtlCol="0" anchor="t"/>
          <a:lstStyle/>
          <a:p>
            <a:pPr marL="0" indent="0">
              <a:buNone/>
            </a:pPr>
            <a:r>
              <a:rPr lang="en-US" sz="1400" b="1" dirty="0">
                <a:solidFill>
                  <a:schemeClr val="tx1"/>
                </a:solidFill>
              </a:rPr>
              <a:t>Prefix order: a change invalidates its level and everything after it</a:t>
            </a:r>
            <a:endParaRPr lang="en-US" sz="1400" dirty="0"/>
          </a:p>
        </p:txBody>
      </p:sp>
      <p:sp>
        <p:nvSpPr>
          <p:cNvPr id="12" name="prefix block"/>
          <p:cNvSpPr/>
          <p:nvPr/>
        </p:nvSpPr>
        <p:spPr>
          <a:xfrm>
            <a:off x="6035040" y="1828800"/>
            <a:ext cx="1097280" cy="640080"/>
          </a:xfrm>
          <a:prstGeom prst="rect">
            <a:avLst/>
          </a:prstGeom>
          <a:solidFill>
            <a:schemeClr val="tx2"/>
          </a:solidFill>
          <a:ln w="25400">
            <a:solidFill>
              <a:schemeClr val="bg1"/>
            </a:solidFill>
            <a:prstDash val="solid"/>
          </a:ln>
        </p:spPr>
        <p:txBody>
          <a:bodyPr/>
          <a:lstStyle/>
          <a:p>
            <a:endParaRPr lang="en-US"/>
          </a:p>
        </p:txBody>
      </p:sp>
      <p:sp>
        <p:nvSpPr>
          <p:cNvPr id="13" name="Text 10"/>
          <p:cNvSpPr txBox="1"/>
          <p:nvPr/>
        </p:nvSpPr>
        <p:spPr>
          <a:xfrm>
            <a:off x="6035040" y="1828800"/>
            <a:ext cx="1097280" cy="640080"/>
          </a:xfrm>
          <a:prstGeom prst="rect">
            <a:avLst/>
          </a:prstGeom>
          <a:noFill/>
          <a:ln/>
        </p:spPr>
        <p:txBody>
          <a:bodyPr wrap="square" lIns="0" tIns="0" rIns="0" bIns="0" rtlCol="0" anchor="ctr"/>
          <a:lstStyle/>
          <a:p>
            <a:pPr marL="0" indent="0" algn="ctr">
              <a:buNone/>
            </a:pPr>
            <a:r>
              <a:rPr lang="en-US" sz="1300" dirty="0">
                <a:solidFill>
                  <a:schemeClr val="bg1"/>
                </a:solidFill>
              </a:rPr>
              <a:t>tools</a:t>
            </a:r>
            <a:endParaRPr lang="en-US" sz="1300" dirty="0"/>
          </a:p>
        </p:txBody>
      </p:sp>
      <p:sp>
        <p:nvSpPr>
          <p:cNvPr id="14" name="prefix block"/>
          <p:cNvSpPr/>
          <p:nvPr/>
        </p:nvSpPr>
        <p:spPr>
          <a:xfrm>
            <a:off x="7132320" y="1828800"/>
            <a:ext cx="2377440" cy="640080"/>
          </a:xfrm>
          <a:prstGeom prst="rect">
            <a:avLst/>
          </a:prstGeom>
          <a:solidFill>
            <a:schemeClr val="tx1"/>
          </a:solidFill>
          <a:ln w="25400">
            <a:solidFill>
              <a:schemeClr val="bg1"/>
            </a:solidFill>
            <a:prstDash val="solid"/>
          </a:ln>
        </p:spPr>
        <p:txBody>
          <a:bodyPr/>
          <a:lstStyle/>
          <a:p>
            <a:endParaRPr lang="en-US"/>
          </a:p>
        </p:txBody>
      </p:sp>
      <p:sp>
        <p:nvSpPr>
          <p:cNvPr id="15" name="Text 12"/>
          <p:cNvSpPr txBox="1"/>
          <p:nvPr/>
        </p:nvSpPr>
        <p:spPr>
          <a:xfrm>
            <a:off x="7132320" y="1828800"/>
            <a:ext cx="2377440" cy="640080"/>
          </a:xfrm>
          <a:prstGeom prst="rect">
            <a:avLst/>
          </a:prstGeom>
          <a:noFill/>
          <a:ln/>
        </p:spPr>
        <p:txBody>
          <a:bodyPr wrap="square" lIns="0" tIns="0" rIns="0" bIns="0" rtlCol="0" anchor="ctr"/>
          <a:lstStyle/>
          <a:p>
            <a:pPr marL="0" indent="0" algn="ctr">
              <a:buNone/>
            </a:pPr>
            <a:r>
              <a:rPr lang="en-US" sz="1300" dirty="0">
                <a:solidFill>
                  <a:schemeClr val="bg1"/>
                </a:solidFill>
              </a:rPr>
              <a:t>system prompt + big docs</a:t>
            </a:r>
            <a:endParaRPr lang="en-US" sz="1300" dirty="0"/>
          </a:p>
        </p:txBody>
      </p:sp>
      <p:sp>
        <p:nvSpPr>
          <p:cNvPr id="16" name="prefix block"/>
          <p:cNvSpPr/>
          <p:nvPr/>
        </p:nvSpPr>
        <p:spPr>
          <a:xfrm>
            <a:off x="9509760" y="1828800"/>
            <a:ext cx="1188720" cy="640080"/>
          </a:xfrm>
          <a:prstGeom prst="rect">
            <a:avLst/>
          </a:prstGeom>
          <a:solidFill>
            <a:schemeClr val="accent3"/>
          </a:solidFill>
          <a:ln w="25400">
            <a:solidFill>
              <a:schemeClr val="bg1"/>
            </a:solidFill>
            <a:prstDash val="solid"/>
          </a:ln>
        </p:spPr>
        <p:txBody>
          <a:bodyPr/>
          <a:lstStyle/>
          <a:p>
            <a:endParaRPr lang="en-US"/>
          </a:p>
        </p:txBody>
      </p:sp>
      <p:sp>
        <p:nvSpPr>
          <p:cNvPr id="17" name="Text 14"/>
          <p:cNvSpPr txBox="1"/>
          <p:nvPr/>
        </p:nvSpPr>
        <p:spPr>
          <a:xfrm>
            <a:off x="9509760" y="1828800"/>
            <a:ext cx="1188720" cy="640080"/>
          </a:xfrm>
          <a:prstGeom prst="rect">
            <a:avLst/>
          </a:prstGeom>
          <a:noFill/>
          <a:ln/>
        </p:spPr>
        <p:txBody>
          <a:bodyPr wrap="square" lIns="0" tIns="0" rIns="0" bIns="0" rtlCol="0" anchor="ctr"/>
          <a:lstStyle/>
          <a:p>
            <a:pPr marL="0" indent="0" algn="ctr">
              <a:buNone/>
            </a:pPr>
            <a:r>
              <a:rPr lang="en-US" sz="1300" dirty="0">
                <a:solidFill>
                  <a:schemeClr val="bg1"/>
                </a:solidFill>
              </a:rPr>
              <a:t>old messages</a:t>
            </a:r>
            <a:endParaRPr lang="en-US" sz="1300" dirty="0"/>
          </a:p>
        </p:txBody>
      </p:sp>
      <p:sp>
        <p:nvSpPr>
          <p:cNvPr id="18" name="prefix block"/>
          <p:cNvSpPr/>
          <p:nvPr/>
        </p:nvSpPr>
        <p:spPr>
          <a:xfrm>
            <a:off x="10698480" y="1828800"/>
            <a:ext cx="914400" cy="640080"/>
          </a:xfrm>
          <a:prstGeom prst="rect">
            <a:avLst/>
          </a:prstGeom>
          <a:solidFill>
            <a:schemeClr val="accent1"/>
          </a:solidFill>
          <a:ln w="25400">
            <a:solidFill>
              <a:schemeClr val="bg1"/>
            </a:solidFill>
            <a:prstDash val="solid"/>
          </a:ln>
        </p:spPr>
        <p:txBody>
          <a:bodyPr/>
          <a:lstStyle/>
          <a:p>
            <a:endParaRPr lang="en-US"/>
          </a:p>
        </p:txBody>
      </p:sp>
      <p:sp>
        <p:nvSpPr>
          <p:cNvPr id="19" name="Text 16"/>
          <p:cNvSpPr txBox="1"/>
          <p:nvPr/>
        </p:nvSpPr>
        <p:spPr>
          <a:xfrm>
            <a:off x="10698480" y="1828800"/>
            <a:ext cx="914400" cy="640080"/>
          </a:xfrm>
          <a:prstGeom prst="rect">
            <a:avLst/>
          </a:prstGeom>
          <a:noFill/>
          <a:ln/>
        </p:spPr>
        <p:txBody>
          <a:bodyPr wrap="square" lIns="0" tIns="0" rIns="0" bIns="0" rtlCol="0" anchor="ctr"/>
          <a:lstStyle/>
          <a:p>
            <a:pPr marL="0" indent="0" algn="ctr">
              <a:buNone/>
            </a:pPr>
            <a:r>
              <a:rPr lang="en-US" sz="1300" dirty="0">
                <a:solidFill>
                  <a:schemeClr val="bg1"/>
                </a:solidFill>
              </a:rPr>
              <a:t>new msg</a:t>
            </a:r>
            <a:endParaRPr lang="en-US" sz="1300" dirty="0"/>
          </a:p>
        </p:txBody>
      </p:sp>
      <p:sp>
        <p:nvSpPr>
          <p:cNvPr id="20" name="breakpoint"/>
          <p:cNvSpPr/>
          <p:nvPr/>
        </p:nvSpPr>
        <p:spPr>
          <a:xfrm>
            <a:off x="10698480" y="1737360"/>
            <a:ext cx="0" cy="822960"/>
          </a:xfrm>
          <a:prstGeom prst="line">
            <a:avLst/>
          </a:prstGeom>
          <a:noFill/>
          <a:ln w="31750">
            <a:solidFill>
              <a:schemeClr val="accent1"/>
            </a:solidFill>
            <a:prstDash val="dash"/>
          </a:ln>
        </p:spPr>
        <p:txBody>
          <a:bodyPr/>
          <a:lstStyle/>
          <a:p>
            <a:endParaRPr lang="en-US"/>
          </a:p>
        </p:txBody>
      </p:sp>
      <p:sp>
        <p:nvSpPr>
          <p:cNvPr id="21" name="Text 18"/>
          <p:cNvSpPr txBox="1"/>
          <p:nvPr/>
        </p:nvSpPr>
        <p:spPr>
          <a:xfrm>
            <a:off x="6035040" y="2560320"/>
            <a:ext cx="4572000" cy="274320"/>
          </a:xfrm>
          <a:prstGeom prst="rect">
            <a:avLst/>
          </a:prstGeom>
          <a:noFill/>
          <a:ln/>
        </p:spPr>
        <p:txBody>
          <a:bodyPr wrap="square" lIns="0" tIns="0" rIns="0" bIns="0" rtlCol="0" anchor="t"/>
          <a:lstStyle/>
          <a:p>
            <a:pPr marL="0" indent="0" algn="r">
              <a:buNone/>
            </a:pPr>
            <a:r>
              <a:rPr lang="en-US" sz="1200" dirty="0">
                <a:solidFill>
                  <a:schemeClr val="accent1"/>
                </a:solidFill>
              </a:rPr>
              <a:t>cache_control here: cached prefix ←</a:t>
            </a:r>
            <a:endParaRPr lang="en-US" sz="1200" dirty="0"/>
          </a:p>
        </p:txBody>
      </p:sp>
      <p:sp>
        <p:nvSpPr>
          <p:cNvPr id="22" name="code panel"/>
          <p:cNvSpPr/>
          <p:nvPr/>
        </p:nvSpPr>
        <p:spPr>
          <a:xfrm>
            <a:off x="6035040" y="3063240"/>
            <a:ext cx="5577840" cy="2194560"/>
          </a:xfrm>
          <a:prstGeom prst="roundRect">
            <a:avLst>
              <a:gd name="adj" fmla="val 3333"/>
            </a:avLst>
          </a:prstGeom>
          <a:solidFill>
            <a:schemeClr val="tx1"/>
          </a:solidFill>
          <a:ln w="12700">
            <a:solidFill>
              <a:schemeClr val="tx1"/>
            </a:solidFill>
            <a:prstDash val="solid"/>
          </a:ln>
        </p:spPr>
        <p:txBody>
          <a:bodyPr/>
          <a:lstStyle/>
          <a:p>
            <a:endParaRPr lang="en-US"/>
          </a:p>
        </p:txBody>
      </p:sp>
      <p:sp>
        <p:nvSpPr>
          <p:cNvPr id="23" name="Text 20"/>
          <p:cNvSpPr txBox="1"/>
          <p:nvPr/>
        </p:nvSpPr>
        <p:spPr>
          <a:xfrm>
            <a:off x="6263640" y="3246120"/>
            <a:ext cx="5120640" cy="1828800"/>
          </a:xfrm>
          <a:prstGeom prst="rect">
            <a:avLst/>
          </a:prstGeom>
          <a:noFill/>
          <a:ln/>
        </p:spPr>
        <p:txBody>
          <a:bodyPr wrap="square" lIns="0" tIns="0" rIns="0" bIns="0" rtlCol="0" anchor="t"/>
          <a:lstStyle/>
          <a:p>
            <a:pPr marL="0" indent="0">
              <a:buNone/>
            </a:pPr>
            <a:r>
              <a:rPr lang="en-US" sz="1200" dirty="0">
                <a:solidFill>
                  <a:srgbClr val="E3E5EC"/>
                </a:solidFill>
                <a:latin typeface="Courier New" pitchFamily="34" charset="0"/>
                <a:ea typeface="Courier New" pitchFamily="34" charset="-122"/>
                <a:cs typeface="Courier New" pitchFamily="34" charset="-120"/>
              </a:rPr>
              <a:t>system=[{</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"type": "text",</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"text": LONG_STABLE_INSTRUCTIONS,</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"cache_control": {"type": "ephemeral",</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"ttl": "1h"},</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or top-level cache_control for automatic</a:t>
            </a:r>
            <a:endParaRPr lang="en-US" sz="1200" dirty="0"/>
          </a:p>
        </p:txBody>
      </p:sp>
      <p:sp>
        <p:nvSpPr>
          <p:cNvPr id="24" name="Text 21"/>
          <p:cNvSpPr txBox="1"/>
          <p:nvPr/>
        </p:nvSpPr>
        <p:spPr>
          <a:xfrm>
            <a:off x="6035040" y="5440680"/>
            <a:ext cx="5577840" cy="457200"/>
          </a:xfrm>
          <a:prstGeom prst="rect">
            <a:avLst/>
          </a:prstGeom>
          <a:noFill/>
          <a:ln/>
        </p:spPr>
        <p:txBody>
          <a:bodyPr wrap="square" lIns="0" tIns="0" rIns="0" bIns="0" rtlCol="0" anchor="t"/>
          <a:lstStyle/>
          <a:p>
            <a:pPr marL="0" indent="0">
              <a:buNone/>
            </a:pPr>
            <a:r>
              <a:rPr lang="en-US" sz="1300" i="1" dirty="0">
                <a:solidFill>
                  <a:schemeClr val="tx2"/>
                </a:solidFill>
              </a:rPr>
              <a:t>Check usage: cache_read_input_tokens &gt; 0 means it worked.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10 questions on one 50k-token document: up to 83% cheaper</a:t>
            </a:r>
            <a:endParaRPr lang="en-US" sz="3200" dirty="0"/>
          </a:p>
        </p:txBody>
      </p:sp>
      <p:graphicFrame>
        <p:nvGraphicFramePr>
          <p:cNvPr id="3" name="caching cost chart"/>
          <p:cNvGraphicFramePr/>
          <p:nvPr/>
        </p:nvGraphicFramePr>
        <p:xfrm>
          <a:off x="548640" y="1371600"/>
          <a:ext cx="6217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card"/>
          <p:cNvSpPr/>
          <p:nvPr/>
        </p:nvSpPr>
        <p:spPr>
          <a:xfrm>
            <a:off x="7132320" y="1371600"/>
            <a:ext cx="4480560" cy="1371600"/>
          </a:xfrm>
          <a:prstGeom prst="roundRect">
            <a:avLst>
              <a:gd name="adj" fmla="val 5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5" name="dot"/>
          <p:cNvSpPr/>
          <p:nvPr/>
        </p:nvSpPr>
        <p:spPr>
          <a:xfrm>
            <a:off x="7360920" y="1618488"/>
            <a:ext cx="274320" cy="274320"/>
          </a:xfrm>
          <a:prstGeom prst="ellipse">
            <a:avLst/>
          </a:prstGeom>
          <a:solidFill>
            <a:schemeClr val="accent3"/>
          </a:solidFill>
          <a:ln w="12700">
            <a:solidFill>
              <a:schemeClr val="accent3"/>
            </a:solidFill>
            <a:prstDash val="solid"/>
          </a:ln>
        </p:spPr>
        <p:txBody>
          <a:bodyPr/>
          <a:lstStyle/>
          <a:p>
            <a:endParaRPr lang="en-US"/>
          </a:p>
        </p:txBody>
      </p:sp>
      <p:sp>
        <p:nvSpPr>
          <p:cNvPr id="6" name="Text 3"/>
          <p:cNvSpPr txBox="1"/>
          <p:nvPr/>
        </p:nvSpPr>
        <p:spPr>
          <a:xfrm>
            <a:off x="7772400" y="1554480"/>
            <a:ext cx="3657600" cy="365760"/>
          </a:xfrm>
          <a:prstGeom prst="rect">
            <a:avLst/>
          </a:prstGeom>
          <a:noFill/>
          <a:ln/>
        </p:spPr>
        <p:txBody>
          <a:bodyPr wrap="square" lIns="0" tIns="0" rIns="0" bIns="0" rtlCol="0" anchor="t"/>
          <a:lstStyle/>
          <a:p>
            <a:pPr marL="0" indent="0">
              <a:buNone/>
            </a:pPr>
            <a:r>
              <a:rPr lang="en-US" sz="1600" b="1" dirty="0">
                <a:solidFill>
                  <a:schemeClr val="tx1"/>
                </a:solidFill>
              </a:rPr>
              <a:t>Cache write</a:t>
            </a:r>
            <a:endParaRPr lang="en-US" sz="1600" dirty="0"/>
          </a:p>
        </p:txBody>
      </p:sp>
      <p:sp>
        <p:nvSpPr>
          <p:cNvPr id="7" name="Text 4"/>
          <p:cNvSpPr txBox="1"/>
          <p:nvPr/>
        </p:nvSpPr>
        <p:spPr>
          <a:xfrm>
            <a:off x="7772400" y="1938528"/>
            <a:ext cx="3657600" cy="731520"/>
          </a:xfrm>
          <a:prstGeom prst="rect">
            <a:avLst/>
          </a:prstGeom>
          <a:noFill/>
          <a:ln/>
        </p:spPr>
        <p:txBody>
          <a:bodyPr wrap="square" lIns="0" tIns="0" rIns="0" bIns="0" rtlCol="0" anchor="t"/>
          <a:lstStyle/>
          <a:p>
            <a:pPr marL="0" indent="0">
              <a:buNone/>
            </a:pPr>
            <a:r>
              <a:rPr lang="en-US" sz="1400" dirty="0">
                <a:solidFill>
                  <a:schemeClr val="tx2"/>
                </a:solidFill>
              </a:rPr>
              <a:t>1.25× base price (5 min)</a:t>
            </a:r>
            <a:endParaRPr lang="en-US" sz="1400" dirty="0"/>
          </a:p>
          <a:p>
            <a:pPr marL="0" indent="0">
              <a:buNone/>
            </a:pPr>
            <a:r>
              <a:rPr lang="en-US" sz="1400" dirty="0">
                <a:solidFill>
                  <a:schemeClr val="tx2"/>
                </a:solidFill>
              </a:rPr>
              <a:t>2× base price (1 hour)</a:t>
            </a:r>
            <a:endParaRPr lang="en-US" sz="1400" dirty="0"/>
          </a:p>
        </p:txBody>
      </p:sp>
      <p:sp>
        <p:nvSpPr>
          <p:cNvPr id="8" name="card"/>
          <p:cNvSpPr/>
          <p:nvPr/>
        </p:nvSpPr>
        <p:spPr>
          <a:xfrm>
            <a:off x="7132320" y="2926080"/>
            <a:ext cx="4480560" cy="1371600"/>
          </a:xfrm>
          <a:prstGeom prst="roundRect">
            <a:avLst>
              <a:gd name="adj" fmla="val 5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dot"/>
          <p:cNvSpPr/>
          <p:nvPr/>
        </p:nvSpPr>
        <p:spPr>
          <a:xfrm>
            <a:off x="7360920" y="3172968"/>
            <a:ext cx="274320" cy="27432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7772400" y="3108960"/>
            <a:ext cx="3657600" cy="365760"/>
          </a:xfrm>
          <a:prstGeom prst="rect">
            <a:avLst/>
          </a:prstGeom>
          <a:noFill/>
          <a:ln/>
        </p:spPr>
        <p:txBody>
          <a:bodyPr wrap="square" lIns="0" tIns="0" rIns="0" bIns="0" rtlCol="0" anchor="t"/>
          <a:lstStyle/>
          <a:p>
            <a:pPr marL="0" indent="0">
              <a:buNone/>
            </a:pPr>
            <a:r>
              <a:rPr lang="en-US" sz="1600" b="1" dirty="0">
                <a:solidFill>
                  <a:schemeClr val="tx1"/>
                </a:solidFill>
              </a:rPr>
              <a:t>Cache read</a:t>
            </a:r>
            <a:endParaRPr lang="en-US" sz="1600" dirty="0"/>
          </a:p>
        </p:txBody>
      </p:sp>
      <p:sp>
        <p:nvSpPr>
          <p:cNvPr id="11" name="Text 8"/>
          <p:cNvSpPr txBox="1"/>
          <p:nvPr/>
        </p:nvSpPr>
        <p:spPr>
          <a:xfrm>
            <a:off x="7772400" y="3493008"/>
            <a:ext cx="3657600" cy="731520"/>
          </a:xfrm>
          <a:prstGeom prst="rect">
            <a:avLst/>
          </a:prstGeom>
          <a:noFill/>
          <a:ln/>
        </p:spPr>
        <p:txBody>
          <a:bodyPr wrap="square" lIns="0" tIns="0" rIns="0" bIns="0" rtlCol="0" anchor="t"/>
          <a:lstStyle/>
          <a:p>
            <a:pPr marL="0" indent="0">
              <a:buNone/>
            </a:pPr>
            <a:r>
              <a:rPr lang="en-US" sz="1400" dirty="0">
                <a:solidFill>
                  <a:schemeClr val="tx2"/>
                </a:solidFill>
              </a:rPr>
              <a:t>0.1× base on most models</a:t>
            </a:r>
            <a:endParaRPr lang="en-US" sz="1400" dirty="0"/>
          </a:p>
          <a:p>
            <a:pPr marL="0" indent="0">
              <a:buNone/>
            </a:pPr>
            <a:r>
              <a:rPr lang="en-US" sz="1400" dirty="0">
                <a:solidFill>
                  <a:schemeClr val="tx2"/>
                </a:solidFill>
              </a:rPr>
              <a:t>0.05× on Opus 5.5 / Sonnet 5.5</a:t>
            </a:r>
            <a:endParaRPr lang="en-US" sz="1400" dirty="0"/>
          </a:p>
        </p:txBody>
      </p:sp>
      <p:sp>
        <p:nvSpPr>
          <p:cNvPr id="12" name="card"/>
          <p:cNvSpPr/>
          <p:nvPr/>
        </p:nvSpPr>
        <p:spPr>
          <a:xfrm>
            <a:off x="7132320" y="4480560"/>
            <a:ext cx="4480560" cy="1371600"/>
          </a:xfrm>
          <a:prstGeom prst="roundRect">
            <a:avLst>
              <a:gd name="adj" fmla="val 5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3" name="dot"/>
          <p:cNvSpPr/>
          <p:nvPr/>
        </p:nvSpPr>
        <p:spPr>
          <a:xfrm>
            <a:off x="7360920" y="4727448"/>
            <a:ext cx="274320" cy="274320"/>
          </a:xfrm>
          <a:prstGeom prst="ellipse">
            <a:avLst/>
          </a:prstGeom>
          <a:solidFill>
            <a:schemeClr val="accent1"/>
          </a:solidFill>
          <a:ln w="12700">
            <a:solidFill>
              <a:schemeClr val="accent1"/>
            </a:solidFill>
            <a:prstDash val="solid"/>
          </a:ln>
        </p:spPr>
        <p:txBody>
          <a:bodyPr/>
          <a:lstStyle/>
          <a:p>
            <a:endParaRPr lang="en-US"/>
          </a:p>
        </p:txBody>
      </p:sp>
      <p:sp>
        <p:nvSpPr>
          <p:cNvPr id="14" name="Text 11"/>
          <p:cNvSpPr txBox="1"/>
          <p:nvPr/>
        </p:nvSpPr>
        <p:spPr>
          <a:xfrm>
            <a:off x="7772400" y="4663440"/>
            <a:ext cx="3657600" cy="365760"/>
          </a:xfrm>
          <a:prstGeom prst="rect">
            <a:avLst/>
          </a:prstGeom>
          <a:noFill/>
          <a:ln/>
        </p:spPr>
        <p:txBody>
          <a:bodyPr wrap="square" lIns="0" tIns="0" rIns="0" bIns="0" rtlCol="0" anchor="t"/>
          <a:lstStyle/>
          <a:p>
            <a:pPr marL="0" indent="0">
              <a:buNone/>
            </a:pPr>
            <a:r>
              <a:rPr lang="en-US" sz="1600" b="1" dirty="0">
                <a:solidFill>
                  <a:schemeClr val="tx1"/>
                </a:solidFill>
              </a:rPr>
              <a:t>Also faster</a:t>
            </a:r>
            <a:endParaRPr lang="en-US" sz="1600" dirty="0"/>
          </a:p>
        </p:txBody>
      </p:sp>
      <p:sp>
        <p:nvSpPr>
          <p:cNvPr id="15" name="Text 12"/>
          <p:cNvSpPr txBox="1"/>
          <p:nvPr/>
        </p:nvSpPr>
        <p:spPr>
          <a:xfrm>
            <a:off x="7772400" y="5047488"/>
            <a:ext cx="3657600" cy="731520"/>
          </a:xfrm>
          <a:prstGeom prst="rect">
            <a:avLst/>
          </a:prstGeom>
          <a:noFill/>
          <a:ln/>
        </p:spPr>
        <p:txBody>
          <a:bodyPr wrap="square" lIns="0" tIns="0" rIns="0" bIns="0" rtlCol="0" anchor="t"/>
          <a:lstStyle/>
          <a:p>
            <a:pPr marL="0" indent="0">
              <a:buNone/>
            </a:pPr>
            <a:r>
              <a:rPr lang="en-US" sz="1400" dirty="0">
                <a:solidFill>
                  <a:schemeClr val="tx2"/>
                </a:solidFill>
              </a:rPr>
              <a:t>Cached prefixes skip reprocessing, so long prompts answer sooner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365760"/>
          </a:xfrm>
          <a:prstGeom prst="rect">
            <a:avLst/>
          </a:prstGeom>
          <a:noFill/>
          <a:ln/>
        </p:spPr>
        <p:txBody>
          <a:bodyPr wrap="square" lIns="0" tIns="0" rIns="0" bIns="0" rtlCol="0"/>
          <a:lstStyle/>
          <a:p>
            <a:pPr marL="0" indent="0">
              <a:buNone/>
            </a:pPr>
            <a:r>
              <a:rPr lang="en-US" sz="1400" b="1" kern="0" spc="400" dirty="0">
                <a:solidFill>
                  <a:schemeClr val="accent1"/>
                </a:solidFill>
              </a:rPr>
              <a:t>PART 3</a:t>
            </a:r>
            <a:endParaRPr lang="en-US" sz="1400" dirty="0"/>
          </a:p>
        </p:txBody>
      </p:sp>
      <p:sp>
        <p:nvSpPr>
          <p:cNvPr id="3" name="Text 0"/>
          <p:cNvSpPr>
            <a:spLocks noGrp="1"/>
          </p:cNvSpPr>
          <p:nvPr>
            <p:ph type="title" idx="101" hasCustomPrompt="1"/>
          </p:nvPr>
        </p:nvSpPr>
        <p:spPr>
          <a:xfrm>
            <a:off x="548640" y="2423160"/>
            <a:ext cx="6583680" cy="914400"/>
          </a:xfrm>
          <a:prstGeom prst="rect">
            <a:avLst/>
          </a:prstGeom>
          <a:noFill/>
          <a:ln/>
        </p:spPr>
        <p:txBody>
          <a:bodyPr wrap="square" lIns="0" tIns="0" rIns="0" bIns="0"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Where to set them</a:t>
            </a:r>
            <a:endParaRPr lang="en-US" sz="4000" dirty="0"/>
          </a:p>
        </p:txBody>
      </p:sp>
      <p:sp>
        <p:nvSpPr>
          <p:cNvPr id="4" name="Text 0"/>
          <p:cNvSpPr>
            <a:spLocks noGrp="1"/>
          </p:cNvSpPr>
          <p:nvPr>
            <p:ph type="body" idx="102" hasCustomPrompt="1"/>
          </p:nvPr>
        </p:nvSpPr>
        <p:spPr>
          <a:xfrm>
            <a:off x="548640" y="3474720"/>
            <a:ext cx="6217920" cy="1097280"/>
          </a:xfrm>
          <a:prstGeom prst="rect">
            <a:avLst/>
          </a:prstGeom>
          <a:noFill/>
          <a:ln/>
        </p:spPr>
        <p:txBody>
          <a:bodyPr wrap="square" lIns="0" tIns="0" rIns="0" bIns="0" rtlCol="0" anchor="t"/>
          <a:lstStyle/>
          <a:p>
            <a:pPr marL="0" indent="0">
              <a:buNone/>
            </a:pPr>
            <a:r>
              <a:rPr lang="en-US" sz="1800" dirty="0">
                <a:solidFill>
                  <a:schemeClr val="accent6"/>
                </a:solidFill>
              </a:rPr>
              <a:t>The same ideas show up in four places, each with different controls.</a:t>
            </a:r>
            <a:endParaRPr lang="en-US" sz="1800" dirty="0"/>
          </a:p>
        </p:txBody>
      </p:sp>
      <p:sp>
        <p:nvSpPr>
          <p:cNvPr id="5" name="token chip"/>
          <p:cNvSpPr/>
          <p:nvPr/>
        </p:nvSpPr>
        <p:spPr>
          <a:xfrm>
            <a:off x="7863840" y="1645920"/>
            <a:ext cx="630936" cy="502920"/>
          </a:xfrm>
          <a:prstGeom prst="roundRect">
            <a:avLst>
              <a:gd name="adj" fmla="val 10909"/>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7863840" y="1645920"/>
            <a:ext cx="630936" cy="502920"/>
          </a:xfrm>
          <a:prstGeom prst="rect">
            <a:avLst/>
          </a:prstGeom>
          <a:noFill/>
          <a:ln/>
        </p:spPr>
        <p:txBody>
          <a:bodyPr wrap="square" lIns="0" tIns="0" rIns="0" bIns="0" rtlCol="0" anchor="ctr"/>
          <a:lstStyle/>
          <a:p>
            <a:pPr marL="0" indent="0" algn="ctr">
              <a:buNone/>
            </a:pPr>
            <a:r>
              <a:rPr lang="en-US" sz="1600" dirty="0">
                <a:solidFill>
                  <a:schemeClr val="bg1"/>
                </a:solidFill>
              </a:rPr>
              <a:t>app</a:t>
            </a:r>
            <a:endParaRPr lang="en-US" sz="1600" dirty="0"/>
          </a:p>
        </p:txBody>
      </p:sp>
      <p:sp>
        <p:nvSpPr>
          <p:cNvPr id="7" name="token chip"/>
          <p:cNvSpPr/>
          <p:nvPr/>
        </p:nvSpPr>
        <p:spPr>
          <a:xfrm>
            <a:off x="8631936" y="1645920"/>
            <a:ext cx="630936" cy="502920"/>
          </a:xfrm>
          <a:prstGeom prst="roundRect">
            <a:avLst>
              <a:gd name="adj" fmla="val 10909"/>
            </a:avLst>
          </a:prstGeom>
          <a:solidFill>
            <a:schemeClr val="accent2"/>
          </a:solidFill>
          <a:ln w="12700">
            <a:solidFill>
              <a:schemeClr val="accent2"/>
            </a:solidFill>
            <a:prstDash val="solid"/>
          </a:ln>
        </p:spPr>
        <p:txBody>
          <a:bodyPr/>
          <a:lstStyle/>
          <a:p>
            <a:endParaRPr lang="en-US"/>
          </a:p>
        </p:txBody>
      </p:sp>
      <p:sp>
        <p:nvSpPr>
          <p:cNvPr id="8" name="Text 6"/>
          <p:cNvSpPr txBox="1"/>
          <p:nvPr/>
        </p:nvSpPr>
        <p:spPr>
          <a:xfrm>
            <a:off x="8631936" y="1645920"/>
            <a:ext cx="630936" cy="502920"/>
          </a:xfrm>
          <a:prstGeom prst="rect">
            <a:avLst/>
          </a:prstGeom>
          <a:noFill/>
          <a:ln/>
        </p:spPr>
        <p:txBody>
          <a:bodyPr wrap="square" lIns="0" tIns="0" rIns="0" bIns="0" rtlCol="0" anchor="ctr"/>
          <a:lstStyle/>
          <a:p>
            <a:pPr marL="0" indent="0" algn="ctr">
              <a:buNone/>
            </a:pPr>
            <a:r>
              <a:rPr lang="en-US" sz="1600" dirty="0">
                <a:solidFill>
                  <a:schemeClr val="bg1"/>
                </a:solidFill>
              </a:rPr>
              <a:t>API</a:t>
            </a:r>
            <a:endParaRPr lang="en-US" sz="1600" dirty="0"/>
          </a:p>
        </p:txBody>
      </p:sp>
      <p:sp>
        <p:nvSpPr>
          <p:cNvPr id="9" name="token chip"/>
          <p:cNvSpPr/>
          <p:nvPr/>
        </p:nvSpPr>
        <p:spPr>
          <a:xfrm>
            <a:off x="9400032" y="1645920"/>
            <a:ext cx="749808" cy="502920"/>
          </a:xfrm>
          <a:prstGeom prst="roundRect">
            <a:avLst>
              <a:gd name="adj" fmla="val 10909"/>
            </a:avLst>
          </a:prstGeom>
          <a:solidFill>
            <a:schemeClr val="accent3"/>
          </a:solidFill>
          <a:ln w="12700">
            <a:solidFill>
              <a:schemeClr val="accent3"/>
            </a:solidFill>
            <a:prstDash val="solid"/>
          </a:ln>
        </p:spPr>
        <p:txBody>
          <a:bodyPr/>
          <a:lstStyle/>
          <a:p>
            <a:endParaRPr lang="en-US"/>
          </a:p>
        </p:txBody>
      </p:sp>
      <p:sp>
        <p:nvSpPr>
          <p:cNvPr id="10" name="Text 8"/>
          <p:cNvSpPr txBox="1"/>
          <p:nvPr/>
        </p:nvSpPr>
        <p:spPr>
          <a:xfrm>
            <a:off x="9400032" y="1645920"/>
            <a:ext cx="749808" cy="502920"/>
          </a:xfrm>
          <a:prstGeom prst="rect">
            <a:avLst/>
          </a:prstGeom>
          <a:noFill/>
          <a:ln/>
        </p:spPr>
        <p:txBody>
          <a:bodyPr wrap="square" lIns="0" tIns="0" rIns="0" bIns="0" rtlCol="0" anchor="ctr"/>
          <a:lstStyle/>
          <a:p>
            <a:pPr marL="0" indent="0" algn="ctr">
              <a:buNone/>
            </a:pPr>
            <a:r>
              <a:rPr lang="en-US" sz="1600" dirty="0">
                <a:solidFill>
                  <a:schemeClr val="bg1"/>
                </a:solidFill>
              </a:rPr>
              <a:t>Code</a:t>
            </a:r>
            <a:endParaRPr lang="en-US" sz="1600" dirty="0"/>
          </a:p>
        </p:txBody>
      </p:sp>
      <p:sp>
        <p:nvSpPr>
          <p:cNvPr id="11" name="token chip"/>
          <p:cNvSpPr/>
          <p:nvPr/>
        </p:nvSpPr>
        <p:spPr>
          <a:xfrm>
            <a:off x="8321040" y="2423160"/>
            <a:ext cx="868680" cy="502920"/>
          </a:xfrm>
          <a:prstGeom prst="roundRect">
            <a:avLst>
              <a:gd name="adj" fmla="val 10909"/>
            </a:avLst>
          </a:prstGeom>
          <a:solidFill>
            <a:schemeClr val="accent4"/>
          </a:solidFill>
          <a:ln w="12700">
            <a:solidFill>
              <a:schemeClr val="accent4"/>
            </a:solidFill>
            <a:prstDash val="solid"/>
          </a:ln>
        </p:spPr>
        <p:txBody>
          <a:bodyPr/>
          <a:lstStyle/>
          <a:p>
            <a:endParaRPr lang="en-US"/>
          </a:p>
        </p:txBody>
      </p:sp>
      <p:sp>
        <p:nvSpPr>
          <p:cNvPr id="12" name="Text 10"/>
          <p:cNvSpPr txBox="1"/>
          <p:nvPr/>
        </p:nvSpPr>
        <p:spPr>
          <a:xfrm>
            <a:off x="8321040" y="2423160"/>
            <a:ext cx="868680" cy="502920"/>
          </a:xfrm>
          <a:prstGeom prst="rect">
            <a:avLst/>
          </a:prstGeom>
          <a:noFill/>
          <a:ln/>
        </p:spPr>
        <p:txBody>
          <a:bodyPr wrap="square" lIns="0" tIns="0" rIns="0" bIns="0" rtlCol="0" anchor="ctr"/>
          <a:lstStyle/>
          <a:p>
            <a:pPr marL="0" indent="0" algn="ctr">
              <a:buNone/>
            </a:pPr>
            <a:r>
              <a:rPr lang="en-US" sz="1600" dirty="0">
                <a:solidFill>
                  <a:schemeClr val="tx1"/>
                </a:solidFill>
              </a:rPr>
              <a:t>local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Four places you use Claude, and the controls in each</a:t>
            </a:r>
            <a:endParaRPr lang="en-US" sz="3200" dirty="0"/>
          </a:p>
        </p:txBody>
      </p:sp>
      <p:sp>
        <p:nvSpPr>
          <p:cNvPr id="3" name="card"/>
          <p:cNvSpPr/>
          <p:nvPr/>
        </p:nvSpPr>
        <p:spPr>
          <a:xfrm>
            <a:off x="548640" y="1371600"/>
            <a:ext cx="2615184" cy="4663440"/>
          </a:xfrm>
          <a:prstGeom prst="roundRect">
            <a:avLst>
              <a:gd name="adj" fmla="val 279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icon circle"/>
          <p:cNvSpPr/>
          <p:nvPr/>
        </p:nvSpPr>
        <p:spPr>
          <a:xfrm>
            <a:off x="822960" y="164592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5" name="Image 0" descr="Comments icon"/>
          <p:cNvPicPr>
            <a:picLocks noChangeAspect="1"/>
          </p:cNvPicPr>
          <p:nvPr/>
        </p:nvPicPr>
        <p:blipFill>
          <a:blip r:embed="rId3"/>
          <a:stretch>
            <a:fillRect/>
          </a:stretch>
        </p:blipFill>
        <p:spPr>
          <a:xfrm>
            <a:off x="994410" y="1817370"/>
            <a:ext cx="342900" cy="342900"/>
          </a:xfrm>
          <a:prstGeom prst="rect">
            <a:avLst/>
          </a:prstGeom>
        </p:spPr>
      </p:pic>
      <p:sp>
        <p:nvSpPr>
          <p:cNvPr id="6" name="Text 3"/>
          <p:cNvSpPr txBox="1"/>
          <p:nvPr/>
        </p:nvSpPr>
        <p:spPr>
          <a:xfrm>
            <a:off x="822960" y="2468880"/>
            <a:ext cx="2194560" cy="365760"/>
          </a:xfrm>
          <a:prstGeom prst="rect">
            <a:avLst/>
          </a:prstGeom>
          <a:noFill/>
          <a:ln/>
        </p:spPr>
        <p:txBody>
          <a:bodyPr wrap="square" lIns="0" tIns="0" rIns="0" bIns="0" rtlCol="0" anchor="t"/>
          <a:lstStyle/>
          <a:p>
            <a:pPr marL="0" indent="0">
              <a:buNone/>
            </a:pPr>
            <a:r>
              <a:rPr lang="en-US" sz="1800" b="1" dirty="0">
                <a:solidFill>
                  <a:schemeClr val="tx1"/>
                </a:solidFill>
              </a:rPr>
              <a:t>Claude app</a:t>
            </a:r>
            <a:endParaRPr lang="en-US" sz="1800" dirty="0"/>
          </a:p>
        </p:txBody>
      </p:sp>
      <p:sp>
        <p:nvSpPr>
          <p:cNvPr id="7" name="Text 4"/>
          <p:cNvSpPr txBox="1"/>
          <p:nvPr/>
        </p:nvSpPr>
        <p:spPr>
          <a:xfrm>
            <a:off x="822960" y="2834640"/>
            <a:ext cx="2194560" cy="274320"/>
          </a:xfrm>
          <a:prstGeom prst="rect">
            <a:avLst/>
          </a:prstGeom>
          <a:noFill/>
          <a:ln/>
        </p:spPr>
        <p:txBody>
          <a:bodyPr wrap="square" lIns="0" tIns="0" rIns="0" bIns="0" rtlCol="0" anchor="t"/>
          <a:lstStyle/>
          <a:p>
            <a:pPr marL="0" indent="0">
              <a:buNone/>
            </a:pPr>
            <a:r>
              <a:rPr lang="en-US" sz="1200" i="1" dirty="0">
                <a:solidFill>
                  <a:schemeClr val="accent5"/>
                </a:solidFill>
              </a:rPr>
              <a:t>claude.ai, desktop, mobile</a:t>
            </a:r>
            <a:endParaRPr lang="en-US" sz="1200" dirty="0"/>
          </a:p>
        </p:txBody>
      </p:sp>
      <p:sp>
        <p:nvSpPr>
          <p:cNvPr id="8" name="Text 5"/>
          <p:cNvSpPr txBox="1"/>
          <p:nvPr/>
        </p:nvSpPr>
        <p:spPr>
          <a:xfrm>
            <a:off x="822960" y="3246120"/>
            <a:ext cx="21945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Model picker</a:t>
            </a:r>
            <a:endParaRPr lang="en-US" sz="1300" dirty="0"/>
          </a:p>
          <a:p>
            <a:pPr marL="342900" indent="-342900">
              <a:spcAft>
                <a:spcPts val="600"/>
              </a:spcAft>
              <a:buSzPct val="100000"/>
              <a:buChar char="•"/>
            </a:pPr>
            <a:r>
              <a:rPr lang="en-US" sz="1300" dirty="0">
                <a:solidFill>
                  <a:schemeClr val="tx2"/>
                </a:solidFill>
              </a:rPr>
              <a:t>Extended thinking / effort</a:t>
            </a:r>
            <a:endParaRPr lang="en-US" sz="1300" dirty="0"/>
          </a:p>
          <a:p>
            <a:pPr marL="342900" indent="-342900">
              <a:spcAft>
                <a:spcPts val="600"/>
              </a:spcAft>
              <a:buSzPct val="100000"/>
              <a:buChar char="•"/>
            </a:pPr>
            <a:r>
              <a:rPr lang="en-US" sz="1300" dirty="0">
                <a:solidFill>
                  <a:schemeClr val="tx2"/>
                </a:solidFill>
              </a:rPr>
              <a:t>Projects: shared files and instructions</a:t>
            </a:r>
            <a:endParaRPr lang="en-US" sz="1300" dirty="0"/>
          </a:p>
          <a:p>
            <a:pPr marL="342900" indent="-342900">
              <a:spcAft>
                <a:spcPts val="600"/>
              </a:spcAft>
              <a:buSzPct val="100000"/>
              <a:buChar char="•"/>
            </a:pPr>
            <a:r>
              <a:rPr lang="en-US" sz="1300" dirty="0">
                <a:solidFill>
                  <a:schemeClr val="tx2"/>
                </a:solidFill>
              </a:rPr>
              <a:t>Styles, custom instructions, memory</a:t>
            </a:r>
            <a:endParaRPr lang="en-US" sz="1300" dirty="0"/>
          </a:p>
          <a:p>
            <a:pPr marL="342900" indent="-342900">
              <a:spcAft>
                <a:spcPts val="600"/>
              </a:spcAft>
              <a:buSzPct val="100000"/>
              <a:buChar char="•"/>
            </a:pPr>
            <a:r>
              <a:rPr lang="en-US" sz="1300" dirty="0">
                <a:solidFill>
                  <a:schemeClr val="tx2"/>
                </a:solidFill>
              </a:rPr>
              <a:t>No temperature or context sliders</a:t>
            </a:r>
            <a:endParaRPr lang="en-US" sz="1300" dirty="0"/>
          </a:p>
        </p:txBody>
      </p:sp>
      <p:sp>
        <p:nvSpPr>
          <p:cNvPr id="9" name="card"/>
          <p:cNvSpPr/>
          <p:nvPr/>
        </p:nvSpPr>
        <p:spPr>
          <a:xfrm>
            <a:off x="3364992" y="1371600"/>
            <a:ext cx="2615184" cy="4663440"/>
          </a:xfrm>
          <a:prstGeom prst="roundRect">
            <a:avLst>
              <a:gd name="adj" fmla="val 279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0" name="icon circle"/>
          <p:cNvSpPr/>
          <p:nvPr/>
        </p:nvSpPr>
        <p:spPr>
          <a:xfrm>
            <a:off x="3639312" y="164592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11" name="Image 1" descr="Code icon"/>
          <p:cNvPicPr>
            <a:picLocks noChangeAspect="1"/>
          </p:cNvPicPr>
          <p:nvPr/>
        </p:nvPicPr>
        <p:blipFill>
          <a:blip r:embed="rId4"/>
          <a:stretch>
            <a:fillRect/>
          </a:stretch>
        </p:blipFill>
        <p:spPr>
          <a:xfrm>
            <a:off x="3810762" y="1817370"/>
            <a:ext cx="342900" cy="342900"/>
          </a:xfrm>
          <a:prstGeom prst="rect">
            <a:avLst/>
          </a:prstGeom>
        </p:spPr>
      </p:pic>
      <p:sp>
        <p:nvSpPr>
          <p:cNvPr id="12" name="Text 8"/>
          <p:cNvSpPr txBox="1"/>
          <p:nvPr/>
        </p:nvSpPr>
        <p:spPr>
          <a:xfrm>
            <a:off x="3639312" y="2468880"/>
            <a:ext cx="2194560" cy="365760"/>
          </a:xfrm>
          <a:prstGeom prst="rect">
            <a:avLst/>
          </a:prstGeom>
          <a:noFill/>
          <a:ln/>
        </p:spPr>
        <p:txBody>
          <a:bodyPr wrap="square" lIns="0" tIns="0" rIns="0" bIns="0" rtlCol="0" anchor="t"/>
          <a:lstStyle/>
          <a:p>
            <a:pPr marL="0" indent="0">
              <a:buNone/>
            </a:pPr>
            <a:r>
              <a:rPr lang="en-US" sz="1800" b="1" dirty="0">
                <a:solidFill>
                  <a:schemeClr val="tx1"/>
                </a:solidFill>
              </a:rPr>
              <a:t>Claude API</a:t>
            </a:r>
            <a:endParaRPr lang="en-US" sz="1800" dirty="0"/>
          </a:p>
        </p:txBody>
      </p:sp>
      <p:sp>
        <p:nvSpPr>
          <p:cNvPr id="13" name="Text 9"/>
          <p:cNvSpPr txBox="1"/>
          <p:nvPr/>
        </p:nvSpPr>
        <p:spPr>
          <a:xfrm>
            <a:off x="3639312" y="2834640"/>
            <a:ext cx="2194560" cy="274320"/>
          </a:xfrm>
          <a:prstGeom prst="rect">
            <a:avLst/>
          </a:prstGeom>
          <a:noFill/>
          <a:ln/>
        </p:spPr>
        <p:txBody>
          <a:bodyPr wrap="square" lIns="0" tIns="0" rIns="0" bIns="0" rtlCol="0" anchor="t"/>
          <a:lstStyle/>
          <a:p>
            <a:pPr marL="0" indent="0">
              <a:buNone/>
            </a:pPr>
            <a:r>
              <a:rPr lang="en-US" sz="1200" i="1" dirty="0">
                <a:solidFill>
                  <a:schemeClr val="accent5"/>
                </a:solidFill>
              </a:rPr>
              <a:t>Console Workbench + SDKs</a:t>
            </a:r>
            <a:endParaRPr lang="en-US" sz="1200" dirty="0"/>
          </a:p>
        </p:txBody>
      </p:sp>
      <p:sp>
        <p:nvSpPr>
          <p:cNvPr id="14" name="Text 10"/>
          <p:cNvSpPr txBox="1"/>
          <p:nvPr/>
        </p:nvSpPr>
        <p:spPr>
          <a:xfrm>
            <a:off x="3639312" y="3246120"/>
            <a:ext cx="21945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model, max_tokens, effort</a:t>
            </a:r>
            <a:endParaRPr lang="en-US" sz="1300" dirty="0"/>
          </a:p>
          <a:p>
            <a:pPr marL="342900" indent="-342900">
              <a:spcAft>
                <a:spcPts val="600"/>
              </a:spcAft>
              <a:buSzPct val="100000"/>
              <a:buChar char="•"/>
            </a:pPr>
            <a:r>
              <a:rPr lang="en-US" sz="1300" dirty="0">
                <a:solidFill>
                  <a:schemeClr val="tx2"/>
                </a:solidFill>
              </a:rPr>
              <a:t>system prompt, tools</a:t>
            </a:r>
            <a:endParaRPr lang="en-US" sz="1300" dirty="0"/>
          </a:p>
          <a:p>
            <a:pPr marL="342900" indent="-342900">
              <a:spcAft>
                <a:spcPts val="600"/>
              </a:spcAft>
              <a:buSzPct val="100000"/>
              <a:buChar char="•"/>
            </a:pPr>
            <a:r>
              <a:rPr lang="en-US" sz="1300" dirty="0">
                <a:solidFill>
                  <a:schemeClr val="tx2"/>
                </a:solidFill>
              </a:rPr>
              <a:t>cache_control, structured outputs</a:t>
            </a:r>
            <a:endParaRPr lang="en-US" sz="1300" dirty="0"/>
          </a:p>
          <a:p>
            <a:pPr marL="342900" indent="-342900">
              <a:spcAft>
                <a:spcPts val="600"/>
              </a:spcAft>
              <a:buSzPct val="100000"/>
              <a:buChar char="•"/>
            </a:pPr>
            <a:r>
              <a:rPr lang="en-US" sz="1300" dirty="0">
                <a:solidFill>
                  <a:schemeClr val="tx2"/>
                </a:solidFill>
              </a:rPr>
              <a:t>thinking display</a:t>
            </a:r>
            <a:endParaRPr lang="en-US" sz="1300" dirty="0"/>
          </a:p>
          <a:p>
            <a:pPr marL="342900" indent="-342900">
              <a:spcAft>
                <a:spcPts val="600"/>
              </a:spcAft>
              <a:buSzPct val="100000"/>
              <a:buChar char="•"/>
            </a:pPr>
            <a:r>
              <a:rPr lang="en-US" sz="1300" dirty="0">
                <a:solidFill>
                  <a:schemeClr val="tx2"/>
                </a:solidFill>
              </a:rPr>
              <a:t>Sampling: older models only</a:t>
            </a:r>
            <a:endParaRPr lang="en-US" sz="1300" dirty="0"/>
          </a:p>
        </p:txBody>
      </p:sp>
      <p:sp>
        <p:nvSpPr>
          <p:cNvPr id="15" name="card"/>
          <p:cNvSpPr/>
          <p:nvPr/>
        </p:nvSpPr>
        <p:spPr>
          <a:xfrm>
            <a:off x="6181344" y="1371600"/>
            <a:ext cx="2615184" cy="4663440"/>
          </a:xfrm>
          <a:prstGeom prst="roundRect">
            <a:avLst>
              <a:gd name="adj" fmla="val 279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6" name="icon circle"/>
          <p:cNvSpPr/>
          <p:nvPr/>
        </p:nvSpPr>
        <p:spPr>
          <a:xfrm>
            <a:off x="6455664" y="1645920"/>
            <a:ext cx="685800" cy="685800"/>
          </a:xfrm>
          <a:prstGeom prst="ellipse">
            <a:avLst/>
          </a:prstGeom>
          <a:solidFill>
            <a:schemeClr val="accent3"/>
          </a:solidFill>
          <a:ln w="12700">
            <a:solidFill>
              <a:schemeClr val="accent3"/>
            </a:solidFill>
            <a:prstDash val="solid"/>
          </a:ln>
        </p:spPr>
        <p:txBody>
          <a:bodyPr/>
          <a:lstStyle/>
          <a:p>
            <a:endParaRPr lang="en-US"/>
          </a:p>
        </p:txBody>
      </p:sp>
      <p:pic>
        <p:nvPicPr>
          <p:cNvPr id="17" name="Image 2" descr="Terminal icon"/>
          <p:cNvPicPr>
            <a:picLocks noChangeAspect="1"/>
          </p:cNvPicPr>
          <p:nvPr/>
        </p:nvPicPr>
        <p:blipFill>
          <a:blip r:embed="rId5"/>
          <a:stretch>
            <a:fillRect/>
          </a:stretch>
        </p:blipFill>
        <p:spPr>
          <a:xfrm>
            <a:off x="6627114" y="1817370"/>
            <a:ext cx="342900" cy="342900"/>
          </a:xfrm>
          <a:prstGeom prst="rect">
            <a:avLst/>
          </a:prstGeom>
        </p:spPr>
      </p:pic>
      <p:sp>
        <p:nvSpPr>
          <p:cNvPr id="18" name="Text 13"/>
          <p:cNvSpPr txBox="1"/>
          <p:nvPr/>
        </p:nvSpPr>
        <p:spPr>
          <a:xfrm>
            <a:off x="6455664" y="2468880"/>
            <a:ext cx="2194560" cy="365760"/>
          </a:xfrm>
          <a:prstGeom prst="rect">
            <a:avLst/>
          </a:prstGeom>
          <a:noFill/>
          <a:ln/>
        </p:spPr>
        <p:txBody>
          <a:bodyPr wrap="square" lIns="0" tIns="0" rIns="0" bIns="0" rtlCol="0" anchor="t"/>
          <a:lstStyle/>
          <a:p>
            <a:pPr marL="0" indent="0">
              <a:buNone/>
            </a:pPr>
            <a:r>
              <a:rPr lang="en-US" sz="1800" b="1" dirty="0">
                <a:solidFill>
                  <a:schemeClr val="tx1"/>
                </a:solidFill>
              </a:rPr>
              <a:t>Claude Code</a:t>
            </a:r>
            <a:endParaRPr lang="en-US" sz="1800" dirty="0"/>
          </a:p>
        </p:txBody>
      </p:sp>
      <p:sp>
        <p:nvSpPr>
          <p:cNvPr id="19" name="Text 14"/>
          <p:cNvSpPr txBox="1"/>
          <p:nvPr/>
        </p:nvSpPr>
        <p:spPr>
          <a:xfrm>
            <a:off x="6455664" y="2834640"/>
            <a:ext cx="2194560" cy="274320"/>
          </a:xfrm>
          <a:prstGeom prst="rect">
            <a:avLst/>
          </a:prstGeom>
          <a:noFill/>
          <a:ln/>
        </p:spPr>
        <p:txBody>
          <a:bodyPr wrap="square" lIns="0" tIns="0" rIns="0" bIns="0" rtlCol="0" anchor="t"/>
          <a:lstStyle/>
          <a:p>
            <a:pPr marL="0" indent="0">
              <a:buNone/>
            </a:pPr>
            <a:r>
              <a:rPr lang="en-US" sz="1200" i="1" dirty="0">
                <a:solidFill>
                  <a:schemeClr val="accent5"/>
                </a:solidFill>
              </a:rPr>
              <a:t>terminal, IDE, desktop, web</a:t>
            </a:r>
            <a:endParaRPr lang="en-US" sz="1200" dirty="0"/>
          </a:p>
        </p:txBody>
      </p:sp>
      <p:sp>
        <p:nvSpPr>
          <p:cNvPr id="20" name="Text 15"/>
          <p:cNvSpPr txBox="1"/>
          <p:nvPr/>
        </p:nvSpPr>
        <p:spPr>
          <a:xfrm>
            <a:off x="6455664" y="3246120"/>
            <a:ext cx="21945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/model and /effort</a:t>
            </a:r>
            <a:endParaRPr lang="en-US" sz="1300" dirty="0"/>
          </a:p>
          <a:p>
            <a:pPr marL="342900" indent="-342900">
              <a:spcAft>
                <a:spcPts val="600"/>
              </a:spcAft>
              <a:buSzPct val="100000"/>
              <a:buChar char="•"/>
            </a:pPr>
            <a:r>
              <a:rPr lang="en-US" sz="1300" dirty="0">
                <a:solidFill>
                  <a:schemeClr val="tx2"/>
                </a:solidFill>
              </a:rPr>
              <a:t>Shift+Tab → plan mode</a:t>
            </a:r>
            <a:endParaRPr lang="en-US" sz="1300" dirty="0"/>
          </a:p>
          <a:p>
            <a:pPr marL="342900" indent="-342900">
              <a:spcAft>
                <a:spcPts val="600"/>
              </a:spcAft>
              <a:buSzPct val="100000"/>
              <a:buChar char="•"/>
            </a:pPr>
            <a:r>
              <a:rPr lang="en-US" sz="1300" dirty="0">
                <a:solidFill>
                  <a:schemeClr val="tx2"/>
                </a:solidFill>
              </a:rPr>
              <a:t>CLAUDE.md, settings.json</a:t>
            </a:r>
            <a:endParaRPr lang="en-US" sz="1300" dirty="0"/>
          </a:p>
          <a:p>
            <a:pPr marL="342900" indent="-342900">
              <a:spcAft>
                <a:spcPts val="600"/>
              </a:spcAft>
              <a:buSzPct val="100000"/>
              <a:buChar char="•"/>
            </a:pPr>
            <a:r>
              <a:rPr lang="en-US" sz="1300" dirty="0">
                <a:solidFill>
                  <a:schemeClr val="tx2"/>
                </a:solidFill>
              </a:rPr>
              <a:t>/compact, /clear for context</a:t>
            </a:r>
            <a:endParaRPr lang="en-US" sz="1300" dirty="0"/>
          </a:p>
          <a:p>
            <a:pPr marL="342900" indent="-342900">
              <a:spcAft>
                <a:spcPts val="600"/>
              </a:spcAft>
              <a:buSzPct val="100000"/>
              <a:buChar char="•"/>
            </a:pPr>
            <a:r>
              <a:rPr lang="en-US" sz="1300" dirty="0">
                <a:solidFill>
                  <a:schemeClr val="tx2"/>
                </a:solidFill>
              </a:rPr>
              <a:t>Subagents, skills, hooks</a:t>
            </a:r>
            <a:endParaRPr lang="en-US" sz="1300" dirty="0"/>
          </a:p>
        </p:txBody>
      </p:sp>
      <p:sp>
        <p:nvSpPr>
          <p:cNvPr id="21" name="card"/>
          <p:cNvSpPr/>
          <p:nvPr/>
        </p:nvSpPr>
        <p:spPr>
          <a:xfrm>
            <a:off x="8997696" y="1371600"/>
            <a:ext cx="2615184" cy="4663440"/>
          </a:xfrm>
          <a:prstGeom prst="roundRect">
            <a:avLst>
              <a:gd name="adj" fmla="val 2797"/>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2" name="icon circle"/>
          <p:cNvSpPr/>
          <p:nvPr/>
        </p:nvSpPr>
        <p:spPr>
          <a:xfrm>
            <a:off x="9272016" y="1645920"/>
            <a:ext cx="685800" cy="685800"/>
          </a:xfrm>
          <a:prstGeom prst="ellipse">
            <a:avLst/>
          </a:prstGeom>
          <a:solidFill>
            <a:schemeClr val="accent4"/>
          </a:solidFill>
          <a:ln w="12700">
            <a:solidFill>
              <a:schemeClr val="accent4"/>
            </a:solidFill>
            <a:prstDash val="solid"/>
          </a:ln>
        </p:spPr>
        <p:txBody>
          <a:bodyPr/>
          <a:lstStyle/>
          <a:p>
            <a:endParaRPr lang="en-US"/>
          </a:p>
        </p:txBody>
      </p:sp>
      <p:pic>
        <p:nvPicPr>
          <p:cNvPr id="23" name="Image 3" descr="Server icon"/>
          <p:cNvPicPr>
            <a:picLocks noChangeAspect="1"/>
          </p:cNvPicPr>
          <p:nvPr/>
        </p:nvPicPr>
        <p:blipFill>
          <a:blip r:embed="rId6"/>
          <a:stretch>
            <a:fillRect/>
          </a:stretch>
        </p:blipFill>
        <p:spPr>
          <a:xfrm>
            <a:off x="9443466" y="1817370"/>
            <a:ext cx="342900" cy="342900"/>
          </a:xfrm>
          <a:prstGeom prst="rect">
            <a:avLst/>
          </a:prstGeom>
        </p:spPr>
      </p:pic>
      <p:sp>
        <p:nvSpPr>
          <p:cNvPr id="24" name="Text 18"/>
          <p:cNvSpPr txBox="1"/>
          <p:nvPr/>
        </p:nvSpPr>
        <p:spPr>
          <a:xfrm>
            <a:off x="9272016" y="2468880"/>
            <a:ext cx="2194560" cy="365760"/>
          </a:xfrm>
          <a:prstGeom prst="rect">
            <a:avLst/>
          </a:prstGeom>
          <a:noFill/>
          <a:ln/>
        </p:spPr>
        <p:txBody>
          <a:bodyPr wrap="square" lIns="0" tIns="0" rIns="0" bIns="0" rtlCol="0" anchor="t"/>
          <a:lstStyle/>
          <a:p>
            <a:pPr marL="0" indent="0">
              <a:buNone/>
            </a:pPr>
            <a:r>
              <a:rPr lang="en-US" sz="1800" b="1" dirty="0">
                <a:solidFill>
                  <a:schemeClr val="tx1"/>
                </a:solidFill>
              </a:rPr>
              <a:t>Local open models</a:t>
            </a:r>
            <a:endParaRPr lang="en-US" sz="1800" dirty="0"/>
          </a:p>
        </p:txBody>
      </p:sp>
      <p:sp>
        <p:nvSpPr>
          <p:cNvPr id="25" name="Text 19"/>
          <p:cNvSpPr txBox="1"/>
          <p:nvPr/>
        </p:nvSpPr>
        <p:spPr>
          <a:xfrm>
            <a:off x="9272016" y="2834640"/>
            <a:ext cx="2194560" cy="274320"/>
          </a:xfrm>
          <a:prstGeom prst="rect">
            <a:avLst/>
          </a:prstGeom>
          <a:noFill/>
          <a:ln/>
        </p:spPr>
        <p:txBody>
          <a:bodyPr wrap="square" lIns="0" tIns="0" rIns="0" bIns="0" rtlCol="0" anchor="t"/>
          <a:lstStyle/>
          <a:p>
            <a:pPr marL="0" indent="0">
              <a:buNone/>
            </a:pPr>
            <a:r>
              <a:rPr lang="en-US" sz="1200" i="1" dirty="0">
                <a:solidFill>
                  <a:schemeClr val="accent5"/>
                </a:solidFill>
              </a:rPr>
              <a:t>llama.cpp, Ollama, vLLM</a:t>
            </a:r>
            <a:endParaRPr lang="en-US" sz="1200" dirty="0"/>
          </a:p>
        </p:txBody>
      </p:sp>
      <p:sp>
        <p:nvSpPr>
          <p:cNvPr id="26" name="Text 20"/>
          <p:cNvSpPr txBox="1"/>
          <p:nvPr/>
        </p:nvSpPr>
        <p:spPr>
          <a:xfrm>
            <a:off x="9272016" y="3246120"/>
            <a:ext cx="21945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temperature, top_k, top_p</a:t>
            </a:r>
            <a:endParaRPr lang="en-US" sz="1300" dirty="0"/>
          </a:p>
          <a:p>
            <a:pPr marL="342900" indent="-342900">
              <a:spcAft>
                <a:spcPts val="600"/>
              </a:spcAft>
              <a:buSzPct val="100000"/>
              <a:buChar char="•"/>
            </a:pPr>
            <a:r>
              <a:rPr lang="en-US" sz="1300" dirty="0">
                <a:solidFill>
                  <a:schemeClr val="tx2"/>
                </a:solidFill>
              </a:rPr>
              <a:t>Context length</a:t>
            </a:r>
            <a:endParaRPr lang="en-US" sz="1300" dirty="0"/>
          </a:p>
          <a:p>
            <a:pPr marL="342900" indent="-342900">
              <a:spcAft>
                <a:spcPts val="600"/>
              </a:spcAft>
              <a:buSzPct val="100000"/>
              <a:buChar char="•"/>
            </a:pPr>
            <a:r>
              <a:rPr lang="en-US" sz="1300" dirty="0">
                <a:solidFill>
                  <a:schemeClr val="tx2"/>
                </a:solidFill>
              </a:rPr>
              <a:t>KV cache type (f16, q8_0)</a:t>
            </a:r>
            <a:endParaRPr lang="en-US" sz="1300" dirty="0"/>
          </a:p>
          <a:p>
            <a:pPr marL="342900" indent="-342900">
              <a:spcAft>
                <a:spcPts val="600"/>
              </a:spcAft>
              <a:buSzPct val="100000"/>
              <a:buChar char="•"/>
            </a:pPr>
            <a:r>
              <a:rPr lang="en-US" sz="1300" dirty="0">
                <a:solidFill>
                  <a:schemeClr val="tx2"/>
                </a:solidFill>
              </a:rPr>
              <a:t>GPU layers, batch size</a:t>
            </a:r>
            <a:endParaRPr lang="en-US" sz="1300" dirty="0"/>
          </a:p>
          <a:p>
            <a:pPr marL="342900" indent="-342900">
              <a:spcAft>
                <a:spcPts val="600"/>
              </a:spcAft>
              <a:buSzPct val="100000"/>
              <a:buChar char="•"/>
            </a:pPr>
            <a:r>
              <a:rPr lang="en-US" sz="1300" dirty="0">
                <a:solidFill>
                  <a:schemeClr val="tx2"/>
                </a:solidFill>
              </a:rPr>
              <a:t>All knobs, all yours</a:t>
            </a:r>
            <a:endParaRPr lang="en-US" sz="13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Anatomy of an API request: every setting in one place</a:t>
            </a:r>
            <a:endParaRPr lang="en-US" sz="3200" dirty="0"/>
          </a:p>
        </p:txBody>
      </p:sp>
      <p:sp>
        <p:nvSpPr>
          <p:cNvPr id="3" name="code panel"/>
          <p:cNvSpPr/>
          <p:nvPr/>
        </p:nvSpPr>
        <p:spPr>
          <a:xfrm>
            <a:off x="548640" y="1371600"/>
            <a:ext cx="6949440" cy="4663440"/>
          </a:xfrm>
          <a:prstGeom prst="roundRect">
            <a:avLst>
              <a:gd name="adj" fmla="val 156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77240" y="1554480"/>
            <a:ext cx="6492240" cy="4297680"/>
          </a:xfrm>
          <a:prstGeom prst="rect">
            <a:avLst/>
          </a:prstGeom>
          <a:noFill/>
          <a:ln/>
        </p:spPr>
        <p:txBody>
          <a:bodyPr wrap="square" lIns="0" tIns="0" rIns="0" bIns="0" rtlCol="0" anchor="t"/>
          <a:lstStyle/>
          <a:p>
            <a:pPr marL="0" indent="0">
              <a:buNone/>
            </a:pPr>
            <a:r>
              <a:rPr lang="en-US" sz="1200" dirty="0">
                <a:solidFill>
                  <a:srgbClr val="E3E5EC"/>
                </a:solidFill>
                <a:latin typeface="Courier New" pitchFamily="34" charset="0"/>
                <a:ea typeface="Courier New" pitchFamily="34" charset="-122"/>
                <a:cs typeface="Courier New" pitchFamily="34" charset="-120"/>
              </a:rPr>
              <a:t>import anthropic</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client = anthropic.Anthropic()</a:t>
            </a:r>
            <a:endParaRPr lang="en-US" sz="1200" dirty="0"/>
          </a:p>
          <a:p>
            <a:pPr marL="0" indent="0">
              <a:buNone/>
            </a:pP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resp = client.messages.create(</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model="claude-opus-5-5",          # 1 which model</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max_tokens=16000,                 # 2 output cap</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output_config={"effort": "medium"},  # 3 depth</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thinking={"type": "adaptive",</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"display": "summarized"},  # 4 see reasoning</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system=[{"type": "text", "text": RULES,</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"cache_control": {"type": "ephemeral"}}],  # 5</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tools=[search_tool],              # 6 what it can do</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messages=[{"role": "user", "content": question}],</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print(resp.usage)   # 7 tokens, cache hits, cost</a:t>
            </a:r>
            <a:endParaRPr lang="en-US" sz="1200" dirty="0"/>
          </a:p>
        </p:txBody>
      </p:sp>
      <p:sp>
        <p:nvSpPr>
          <p:cNvPr id="5" name="number"/>
          <p:cNvSpPr/>
          <p:nvPr/>
        </p:nvSpPr>
        <p:spPr>
          <a:xfrm>
            <a:off x="7772400" y="1417320"/>
            <a:ext cx="411480" cy="411480"/>
          </a:xfrm>
          <a:prstGeom prst="ellipse">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7772400" y="141732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8321040" y="1371600"/>
            <a:ext cx="3291840" cy="548640"/>
          </a:xfrm>
          <a:prstGeom prst="rect">
            <a:avLst/>
          </a:prstGeom>
          <a:noFill/>
          <a:ln/>
        </p:spPr>
        <p:txBody>
          <a:bodyPr wrap="square" lIns="0" tIns="0" rIns="0" bIns="0" rtlCol="0" anchor="ctr"/>
          <a:lstStyle/>
          <a:p>
            <a:pPr marL="0" indent="0">
              <a:buNone/>
            </a:pPr>
            <a:r>
              <a:rPr lang="en-US" sz="1300" b="1" dirty="0">
                <a:solidFill>
                  <a:schemeClr val="tx1"/>
                </a:solidFill>
              </a:rPr>
              <a:t>Model  </a:t>
            </a:r>
            <a:r>
              <a:rPr lang="en-US" sz="1300" dirty="0">
                <a:solidFill>
                  <a:schemeClr val="tx2"/>
                </a:solidFill>
              </a:rPr>
              <a:t>Opus for hard work, Sonnet for balance, Haiku for speed</a:t>
            </a:r>
            <a:endParaRPr lang="en-US" sz="1300" dirty="0"/>
          </a:p>
        </p:txBody>
      </p:sp>
      <p:sp>
        <p:nvSpPr>
          <p:cNvPr id="8" name="number"/>
          <p:cNvSpPr/>
          <p:nvPr/>
        </p:nvSpPr>
        <p:spPr>
          <a:xfrm>
            <a:off x="7772400" y="2084832"/>
            <a:ext cx="411480" cy="411480"/>
          </a:xfrm>
          <a:prstGeom prst="ellipse">
            <a:avLst/>
          </a:prstGeom>
          <a:solidFill>
            <a:schemeClr val="accent1"/>
          </a:solidFill>
          <a:ln w="12700">
            <a:solidFill>
              <a:schemeClr val="accent1"/>
            </a:solidFill>
            <a:prstDash val="solid"/>
          </a:ln>
        </p:spPr>
        <p:txBody>
          <a:bodyPr/>
          <a:lstStyle/>
          <a:p>
            <a:endParaRPr lang="en-US"/>
          </a:p>
        </p:txBody>
      </p:sp>
      <p:sp>
        <p:nvSpPr>
          <p:cNvPr id="9" name="Text 7"/>
          <p:cNvSpPr txBox="1"/>
          <p:nvPr/>
        </p:nvSpPr>
        <p:spPr>
          <a:xfrm>
            <a:off x="7772400" y="2084832"/>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ext 8"/>
          <p:cNvSpPr txBox="1"/>
          <p:nvPr/>
        </p:nvSpPr>
        <p:spPr>
          <a:xfrm>
            <a:off x="8321040" y="2039112"/>
            <a:ext cx="3291840" cy="548640"/>
          </a:xfrm>
          <a:prstGeom prst="rect">
            <a:avLst/>
          </a:prstGeom>
          <a:noFill/>
          <a:ln/>
        </p:spPr>
        <p:txBody>
          <a:bodyPr wrap="square" lIns="0" tIns="0" rIns="0" bIns="0" rtlCol="0" anchor="ctr"/>
          <a:lstStyle/>
          <a:p>
            <a:pPr marL="0" indent="0">
              <a:buNone/>
            </a:pPr>
            <a:r>
              <a:rPr lang="en-US" sz="1300" b="1" dirty="0">
                <a:solidFill>
                  <a:schemeClr val="tx1"/>
                </a:solidFill>
              </a:rPr>
              <a:t>max_tokens  </a:t>
            </a:r>
            <a:r>
              <a:rPr lang="en-US" sz="1300" dirty="0">
                <a:solidFill>
                  <a:schemeClr val="tx2"/>
                </a:solidFill>
              </a:rPr>
              <a:t>Covers thinking + answer</a:t>
            </a:r>
            <a:endParaRPr lang="en-US" sz="1300" dirty="0"/>
          </a:p>
        </p:txBody>
      </p:sp>
      <p:sp>
        <p:nvSpPr>
          <p:cNvPr id="11" name="number"/>
          <p:cNvSpPr/>
          <p:nvPr/>
        </p:nvSpPr>
        <p:spPr>
          <a:xfrm>
            <a:off x="7772400" y="2752344"/>
            <a:ext cx="411480" cy="411480"/>
          </a:xfrm>
          <a:prstGeom prst="ellipse">
            <a:avLst/>
          </a:prstGeom>
          <a:solidFill>
            <a:schemeClr val="accent1"/>
          </a:solidFill>
          <a:ln w="12700">
            <a:solidFill>
              <a:schemeClr val="accent1"/>
            </a:solidFill>
            <a:prstDash val="solid"/>
          </a:ln>
        </p:spPr>
        <p:txBody>
          <a:bodyPr/>
          <a:lstStyle/>
          <a:p>
            <a:endParaRPr lang="en-US"/>
          </a:p>
        </p:txBody>
      </p:sp>
      <p:sp>
        <p:nvSpPr>
          <p:cNvPr id="12" name="Text 10"/>
          <p:cNvSpPr txBox="1"/>
          <p:nvPr/>
        </p:nvSpPr>
        <p:spPr>
          <a:xfrm>
            <a:off x="7772400" y="2752344"/>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Text 11"/>
          <p:cNvSpPr txBox="1"/>
          <p:nvPr/>
        </p:nvSpPr>
        <p:spPr>
          <a:xfrm>
            <a:off x="8321040" y="2706624"/>
            <a:ext cx="3291840" cy="548640"/>
          </a:xfrm>
          <a:prstGeom prst="rect">
            <a:avLst/>
          </a:prstGeom>
          <a:noFill/>
          <a:ln/>
        </p:spPr>
        <p:txBody>
          <a:bodyPr wrap="square" lIns="0" tIns="0" rIns="0" bIns="0" rtlCol="0" anchor="ctr"/>
          <a:lstStyle/>
          <a:p>
            <a:pPr marL="0" indent="0">
              <a:buNone/>
            </a:pPr>
            <a:r>
              <a:rPr lang="en-US" sz="1300" b="1" dirty="0">
                <a:solidFill>
                  <a:schemeClr val="tx1"/>
                </a:solidFill>
              </a:rPr>
              <a:t>Effort  </a:t>
            </a:r>
            <a:r>
              <a:rPr lang="en-US" sz="1300" dirty="0">
                <a:solidFill>
                  <a:schemeClr val="tx2"/>
                </a:solidFill>
              </a:rPr>
              <a:t>The quality / speed / cost dial</a:t>
            </a:r>
            <a:endParaRPr lang="en-US" sz="1300" dirty="0"/>
          </a:p>
        </p:txBody>
      </p:sp>
      <p:sp>
        <p:nvSpPr>
          <p:cNvPr id="14" name="number"/>
          <p:cNvSpPr/>
          <p:nvPr/>
        </p:nvSpPr>
        <p:spPr>
          <a:xfrm>
            <a:off x="7772400" y="3419856"/>
            <a:ext cx="411480" cy="411480"/>
          </a:xfrm>
          <a:prstGeom prst="ellipse">
            <a:avLst/>
          </a:prstGeom>
          <a:solidFill>
            <a:schemeClr val="accent1"/>
          </a:solidFill>
          <a:ln w="12700">
            <a:solidFill>
              <a:schemeClr val="accent1"/>
            </a:solidFill>
            <a:prstDash val="solid"/>
          </a:ln>
        </p:spPr>
        <p:txBody>
          <a:bodyPr/>
          <a:lstStyle/>
          <a:p>
            <a:endParaRPr lang="en-US"/>
          </a:p>
        </p:txBody>
      </p:sp>
      <p:sp>
        <p:nvSpPr>
          <p:cNvPr id="15" name="Text 13"/>
          <p:cNvSpPr txBox="1"/>
          <p:nvPr/>
        </p:nvSpPr>
        <p:spPr>
          <a:xfrm>
            <a:off x="7772400" y="3419856"/>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6" name="Text 14"/>
          <p:cNvSpPr txBox="1"/>
          <p:nvPr/>
        </p:nvSpPr>
        <p:spPr>
          <a:xfrm>
            <a:off x="8321040" y="3374136"/>
            <a:ext cx="3291840" cy="548640"/>
          </a:xfrm>
          <a:prstGeom prst="rect">
            <a:avLst/>
          </a:prstGeom>
          <a:noFill/>
          <a:ln/>
        </p:spPr>
        <p:txBody>
          <a:bodyPr wrap="square" lIns="0" tIns="0" rIns="0" bIns="0" rtlCol="0" anchor="ctr"/>
          <a:lstStyle/>
          <a:p>
            <a:pPr marL="0" indent="0">
              <a:buNone/>
            </a:pPr>
            <a:r>
              <a:rPr lang="en-US" sz="1300" b="1" dirty="0">
                <a:solidFill>
                  <a:schemeClr val="tx1"/>
                </a:solidFill>
              </a:rPr>
              <a:t>Thinking  </a:t>
            </a:r>
            <a:r>
              <a:rPr lang="en-US" sz="1300" dirty="0">
                <a:solidFill>
                  <a:schemeClr val="tx2"/>
                </a:solidFill>
              </a:rPr>
              <a:t>Adaptive; 'summarized' shows a readable summary</a:t>
            </a:r>
            <a:endParaRPr lang="en-US" sz="1300" dirty="0"/>
          </a:p>
        </p:txBody>
      </p:sp>
      <p:sp>
        <p:nvSpPr>
          <p:cNvPr id="17" name="number"/>
          <p:cNvSpPr/>
          <p:nvPr/>
        </p:nvSpPr>
        <p:spPr>
          <a:xfrm>
            <a:off x="7772400" y="4087368"/>
            <a:ext cx="411480" cy="411480"/>
          </a:xfrm>
          <a:prstGeom prst="ellipse">
            <a:avLst/>
          </a:prstGeom>
          <a:solidFill>
            <a:schemeClr val="accent1"/>
          </a:solidFill>
          <a:ln w="12700">
            <a:solidFill>
              <a:schemeClr val="accent1"/>
            </a:solidFill>
            <a:prstDash val="solid"/>
          </a:ln>
        </p:spPr>
        <p:txBody>
          <a:bodyPr/>
          <a:lstStyle/>
          <a:p>
            <a:endParaRPr lang="en-US"/>
          </a:p>
        </p:txBody>
      </p:sp>
      <p:sp>
        <p:nvSpPr>
          <p:cNvPr id="18" name="Text 16"/>
          <p:cNvSpPr txBox="1"/>
          <p:nvPr/>
        </p:nvSpPr>
        <p:spPr>
          <a:xfrm>
            <a:off x="7772400" y="4087368"/>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9" name="Text 17"/>
          <p:cNvSpPr txBox="1"/>
          <p:nvPr/>
        </p:nvSpPr>
        <p:spPr>
          <a:xfrm>
            <a:off x="8321040" y="4041648"/>
            <a:ext cx="3291840" cy="548640"/>
          </a:xfrm>
          <a:prstGeom prst="rect">
            <a:avLst/>
          </a:prstGeom>
          <a:noFill/>
          <a:ln/>
        </p:spPr>
        <p:txBody>
          <a:bodyPr wrap="square" lIns="0" tIns="0" rIns="0" bIns="0" rtlCol="0" anchor="ctr"/>
          <a:lstStyle/>
          <a:p>
            <a:pPr marL="0" indent="0">
              <a:buNone/>
            </a:pPr>
            <a:r>
              <a:rPr lang="en-US" sz="1300" b="1" dirty="0">
                <a:solidFill>
                  <a:schemeClr val="tx1"/>
                </a:solidFill>
              </a:rPr>
              <a:t>Cached system prompt  </a:t>
            </a:r>
            <a:r>
              <a:rPr lang="en-US" sz="1300" dirty="0">
                <a:solidFill>
                  <a:schemeClr val="tx2"/>
                </a:solidFill>
              </a:rPr>
              <a:t>Stable rules first, cached</a:t>
            </a:r>
            <a:endParaRPr lang="en-US" sz="1300" dirty="0"/>
          </a:p>
        </p:txBody>
      </p:sp>
      <p:sp>
        <p:nvSpPr>
          <p:cNvPr id="20" name="number"/>
          <p:cNvSpPr/>
          <p:nvPr/>
        </p:nvSpPr>
        <p:spPr>
          <a:xfrm>
            <a:off x="7772400" y="4754880"/>
            <a:ext cx="411480" cy="411480"/>
          </a:xfrm>
          <a:prstGeom prst="ellipse">
            <a:avLst/>
          </a:prstGeom>
          <a:solidFill>
            <a:schemeClr val="accent1"/>
          </a:solidFill>
          <a:ln w="12700">
            <a:solidFill>
              <a:schemeClr val="accent1"/>
            </a:solidFill>
            <a:prstDash val="solid"/>
          </a:ln>
        </p:spPr>
        <p:txBody>
          <a:bodyPr/>
          <a:lstStyle/>
          <a:p>
            <a:endParaRPr lang="en-US"/>
          </a:p>
        </p:txBody>
      </p:sp>
      <p:sp>
        <p:nvSpPr>
          <p:cNvPr id="21" name="Text 19"/>
          <p:cNvSpPr txBox="1"/>
          <p:nvPr/>
        </p:nvSpPr>
        <p:spPr>
          <a:xfrm>
            <a:off x="7772400" y="475488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2" name="Text 20"/>
          <p:cNvSpPr txBox="1"/>
          <p:nvPr/>
        </p:nvSpPr>
        <p:spPr>
          <a:xfrm>
            <a:off x="8321040" y="4709160"/>
            <a:ext cx="3291840" cy="548640"/>
          </a:xfrm>
          <a:prstGeom prst="rect">
            <a:avLst/>
          </a:prstGeom>
          <a:noFill/>
          <a:ln/>
        </p:spPr>
        <p:txBody>
          <a:bodyPr wrap="square" lIns="0" tIns="0" rIns="0" bIns="0" rtlCol="0" anchor="ctr"/>
          <a:lstStyle/>
          <a:p>
            <a:pPr marL="0" indent="0">
              <a:buNone/>
            </a:pPr>
            <a:r>
              <a:rPr lang="en-US" sz="1300" b="1" dirty="0">
                <a:solidFill>
                  <a:schemeClr val="tx1"/>
                </a:solidFill>
              </a:rPr>
              <a:t>Tools  </a:t>
            </a:r>
            <a:r>
              <a:rPr lang="en-US" sz="1300" dirty="0">
                <a:solidFill>
                  <a:schemeClr val="tx2"/>
                </a:solidFill>
              </a:rPr>
              <a:t>Functions, web search, code execution, MCP</a:t>
            </a:r>
            <a:endParaRPr lang="en-US" sz="1300" dirty="0"/>
          </a:p>
        </p:txBody>
      </p:sp>
      <p:sp>
        <p:nvSpPr>
          <p:cNvPr id="23" name="number"/>
          <p:cNvSpPr/>
          <p:nvPr/>
        </p:nvSpPr>
        <p:spPr>
          <a:xfrm>
            <a:off x="7772400" y="5422392"/>
            <a:ext cx="411480" cy="411480"/>
          </a:xfrm>
          <a:prstGeom prst="ellipse">
            <a:avLst/>
          </a:prstGeom>
          <a:solidFill>
            <a:schemeClr val="accent1"/>
          </a:solidFill>
          <a:ln w="12700">
            <a:solidFill>
              <a:schemeClr val="accent1"/>
            </a:solidFill>
            <a:prstDash val="solid"/>
          </a:ln>
        </p:spPr>
        <p:txBody>
          <a:bodyPr/>
          <a:lstStyle/>
          <a:p>
            <a:endParaRPr lang="en-US"/>
          </a:p>
        </p:txBody>
      </p:sp>
      <p:sp>
        <p:nvSpPr>
          <p:cNvPr id="24" name="Text 22"/>
          <p:cNvSpPr txBox="1"/>
          <p:nvPr/>
        </p:nvSpPr>
        <p:spPr>
          <a:xfrm>
            <a:off x="7772400" y="5422392"/>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25" name="Text 23"/>
          <p:cNvSpPr txBox="1"/>
          <p:nvPr/>
        </p:nvSpPr>
        <p:spPr>
          <a:xfrm>
            <a:off x="8321040" y="5376672"/>
            <a:ext cx="3291840" cy="548640"/>
          </a:xfrm>
          <a:prstGeom prst="rect">
            <a:avLst/>
          </a:prstGeom>
          <a:noFill/>
          <a:ln/>
        </p:spPr>
        <p:txBody>
          <a:bodyPr wrap="square" lIns="0" tIns="0" rIns="0" bIns="0" rtlCol="0" anchor="ctr"/>
          <a:lstStyle/>
          <a:p>
            <a:pPr marL="0" indent="0">
              <a:buNone/>
            </a:pPr>
            <a:r>
              <a:rPr lang="en-US" sz="1300" b="1" dirty="0">
                <a:solidFill>
                  <a:schemeClr val="tx1"/>
                </a:solidFill>
              </a:rPr>
              <a:t>usage  </a:t>
            </a:r>
            <a:r>
              <a:rPr lang="en-US" sz="1300" dirty="0">
                <a:solidFill>
                  <a:schemeClr val="tx2"/>
                </a:solidFill>
              </a:rPr>
              <a:t>Always check it</a:t>
            </a:r>
            <a:endParaRPr lang="en-US" sz="13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Running models yourself? Here the classic knobs are real</a:t>
            </a:r>
            <a:endParaRPr lang="en-US" sz="3200" dirty="0"/>
          </a:p>
        </p:txBody>
      </p:sp>
      <p:graphicFrame>
        <p:nvGraphicFramePr>
          <p:cNvPr id="3" name="kv cache chart"/>
          <p:cNvGraphicFramePr/>
          <p:nvPr/>
        </p:nvGraphicFramePr>
        <p:xfrm>
          <a:off x="548640" y="1371600"/>
          <a:ext cx="539496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548640" y="5486400"/>
            <a:ext cx="5394960" cy="548640"/>
          </a:xfrm>
          <a:prstGeom prst="rect">
            <a:avLst/>
          </a:prstGeom>
          <a:noFill/>
          <a:ln/>
        </p:spPr>
        <p:txBody>
          <a:bodyPr wrap="square" lIns="0" tIns="0" rIns="0" bIns="0" rtlCol="0" anchor="t"/>
          <a:lstStyle/>
          <a:p>
            <a:pPr marL="0" indent="0">
              <a:buNone/>
            </a:pPr>
            <a:r>
              <a:rPr lang="en-US" sz="1100" i="1" dirty="0">
                <a:solidFill>
                  <a:schemeClr val="accent5"/>
                </a:solidFill>
              </a:rPr>
              <a:t>KV bytes ≈ 2 × layers × KV heads × head dim × context × bytes per value  (Llama-3-8B: 128 KB per token at FP16)</a:t>
            </a:r>
            <a:endParaRPr lang="en-US" sz="1100" dirty="0"/>
          </a:p>
        </p:txBody>
      </p:sp>
      <p:sp>
        <p:nvSpPr>
          <p:cNvPr id="5" name="code panel"/>
          <p:cNvSpPr/>
          <p:nvPr/>
        </p:nvSpPr>
        <p:spPr>
          <a:xfrm>
            <a:off x="6309360" y="1371600"/>
            <a:ext cx="5303520" cy="4023360"/>
          </a:xfrm>
          <a:prstGeom prst="roundRect">
            <a:avLst>
              <a:gd name="adj" fmla="val 1818"/>
            </a:avLst>
          </a:prstGeom>
          <a:solidFill>
            <a:schemeClr val="tx1"/>
          </a:solidFill>
          <a:ln w="12700">
            <a:solidFill>
              <a:schemeClr val="tx1"/>
            </a:solidFill>
            <a:prstDash val="solid"/>
          </a:ln>
        </p:spPr>
        <p:txBody>
          <a:bodyPr/>
          <a:lstStyle/>
          <a:p>
            <a:endParaRPr lang="en-US"/>
          </a:p>
        </p:txBody>
      </p:sp>
      <p:sp>
        <p:nvSpPr>
          <p:cNvPr id="6" name="Text 3"/>
          <p:cNvSpPr txBox="1"/>
          <p:nvPr/>
        </p:nvSpPr>
        <p:spPr>
          <a:xfrm>
            <a:off x="6537960" y="1554480"/>
            <a:ext cx="4846320" cy="3657600"/>
          </a:xfrm>
          <a:prstGeom prst="rect">
            <a:avLst/>
          </a:prstGeom>
          <a:noFill/>
          <a:ln/>
        </p:spPr>
        <p:txBody>
          <a:bodyPr wrap="square" lIns="0" tIns="0" rIns="0" bIns="0" rtlCol="0" anchor="t"/>
          <a:lstStyle/>
          <a:p>
            <a:pPr marL="0" indent="0">
              <a:buNone/>
            </a:pPr>
            <a:r>
              <a:rPr lang="en-US" sz="1200" dirty="0">
                <a:solidFill>
                  <a:srgbClr val="E3E5EC"/>
                </a:solidFill>
                <a:latin typeface="Courier New" pitchFamily="34" charset="0"/>
                <a:ea typeface="Courier New" pitchFamily="34" charset="-122"/>
                <a:cs typeface="Courier New" pitchFamily="34" charset="-120"/>
              </a:rPr>
              <a:t># llama.cpp</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llama-server -m model.gguf \</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--temp 0.7 --top-k 40 --top-p 0.9 \</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-c 32768 -fa on \</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--cache-type-k q8_0 --cache-type-v q8_0</a:t>
            </a:r>
            <a:endParaRPr lang="en-US" sz="1200" dirty="0"/>
          </a:p>
          <a:p>
            <a:pPr marL="0" indent="0">
              <a:buNone/>
            </a:pP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Ollama (Modelfile)</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PARAMETER temperature 0.7</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PARAMETER top_k 40</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PARAMETER num_ctx 32768</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env: OLLAMA_FLASH_ATTENTION=1</a:t>
            </a:r>
            <a:endParaRPr lang="en-US" sz="1200" dirty="0"/>
          </a:p>
          <a:p>
            <a:pPr marL="0" indent="0">
              <a:buNone/>
            </a:pPr>
            <a:r>
              <a:rPr lang="en-US" sz="1200" dirty="0">
                <a:solidFill>
                  <a:srgbClr val="E3E5EC"/>
                </a:solidFill>
                <a:latin typeface="Courier New" pitchFamily="34" charset="0"/>
                <a:ea typeface="Courier New" pitchFamily="34" charset="-122"/>
                <a:cs typeface="Courier New" pitchFamily="34" charset="-120"/>
              </a:rPr>
              <a:t>#      OLLAMA_KV_CACHE_TYPE=q8_0</a:t>
            </a:r>
            <a:endParaRPr lang="en-US" sz="1200" dirty="0"/>
          </a:p>
        </p:txBody>
      </p:sp>
      <p:sp>
        <p:nvSpPr>
          <p:cNvPr id="7" name="Text 4"/>
          <p:cNvSpPr txBox="1"/>
          <p:nvPr/>
        </p:nvSpPr>
        <p:spPr>
          <a:xfrm>
            <a:off x="6309360" y="5486400"/>
            <a:ext cx="5303520" cy="548640"/>
          </a:xfrm>
          <a:prstGeom prst="rect">
            <a:avLst/>
          </a:prstGeom>
          <a:noFill/>
          <a:ln/>
        </p:spPr>
        <p:txBody>
          <a:bodyPr wrap="square" lIns="0" tIns="0" rIns="0" bIns="0" rtlCol="0" anchor="t"/>
          <a:lstStyle/>
          <a:p>
            <a:pPr marL="0" indent="0">
              <a:buNone/>
            </a:pPr>
            <a:r>
              <a:rPr lang="en-US" sz="1300" dirty="0">
                <a:solidFill>
                  <a:schemeClr val="tx2"/>
                </a:solidFill>
              </a:rPr>
              <a:t>Longer context costs memory linearly. Quantizing the KV cache to 8-bit roughly halves it with little quality loss.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365760"/>
          </a:xfrm>
          <a:prstGeom prst="rect">
            <a:avLst/>
          </a:prstGeom>
          <a:noFill/>
          <a:ln/>
        </p:spPr>
        <p:txBody>
          <a:bodyPr wrap="square" lIns="0" tIns="0" rIns="0" bIns="0" rtlCol="0"/>
          <a:lstStyle/>
          <a:p>
            <a:pPr marL="0" indent="0">
              <a:buNone/>
            </a:pPr>
            <a:r>
              <a:rPr lang="en-US" sz="1400" b="1" kern="0" spc="400" dirty="0">
                <a:solidFill>
                  <a:schemeClr val="accent1"/>
                </a:solidFill>
              </a:rPr>
              <a:t>PART 4</a:t>
            </a:r>
            <a:endParaRPr lang="en-US" sz="1400" dirty="0"/>
          </a:p>
        </p:txBody>
      </p:sp>
      <p:sp>
        <p:nvSpPr>
          <p:cNvPr id="3" name="Text 0"/>
          <p:cNvSpPr>
            <a:spLocks noGrp="1"/>
          </p:cNvSpPr>
          <p:nvPr>
            <p:ph type="title" idx="101" hasCustomPrompt="1"/>
          </p:nvPr>
        </p:nvSpPr>
        <p:spPr>
          <a:xfrm>
            <a:off x="548640" y="2423160"/>
            <a:ext cx="6583680" cy="914400"/>
          </a:xfrm>
          <a:prstGeom prst="rect">
            <a:avLst/>
          </a:prstGeom>
          <a:noFill/>
          <a:ln/>
        </p:spPr>
        <p:txBody>
          <a:bodyPr wrap="square" lIns="0" tIns="0" rIns="0" bIns="0"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Agents &amp; multi-agent</a:t>
            </a:r>
            <a:endParaRPr lang="en-US" sz="4000" dirty="0"/>
          </a:p>
        </p:txBody>
      </p:sp>
      <p:sp>
        <p:nvSpPr>
          <p:cNvPr id="4" name="Text 0"/>
          <p:cNvSpPr>
            <a:spLocks noGrp="1"/>
          </p:cNvSpPr>
          <p:nvPr>
            <p:ph type="body" idx="102" hasCustomPrompt="1"/>
          </p:nvPr>
        </p:nvSpPr>
        <p:spPr>
          <a:xfrm>
            <a:off x="548640" y="3474720"/>
            <a:ext cx="6217920" cy="1097280"/>
          </a:xfrm>
          <a:prstGeom prst="rect">
            <a:avLst/>
          </a:prstGeom>
          <a:noFill/>
          <a:ln/>
        </p:spPr>
        <p:txBody>
          <a:bodyPr wrap="square" lIns="0" tIns="0" rIns="0" bIns="0" rtlCol="0" anchor="t"/>
          <a:lstStyle/>
          <a:p>
            <a:pPr marL="0" indent="0">
              <a:buNone/>
            </a:pPr>
            <a:r>
              <a:rPr lang="en-US" sz="1800" dirty="0">
                <a:solidFill>
                  <a:schemeClr val="accent6"/>
                </a:solidFill>
              </a:rPr>
              <a:t>Give Claude tools and a loop, and it stops answering and starts doing. Then give it teammates.</a:t>
            </a:r>
            <a:endParaRPr lang="en-US" sz="1800" dirty="0"/>
          </a:p>
        </p:txBody>
      </p:sp>
      <p:sp>
        <p:nvSpPr>
          <p:cNvPr id="5" name="token chip"/>
          <p:cNvSpPr/>
          <p:nvPr/>
        </p:nvSpPr>
        <p:spPr>
          <a:xfrm>
            <a:off x="7863840" y="1645920"/>
            <a:ext cx="868680" cy="502920"/>
          </a:xfrm>
          <a:prstGeom prst="roundRect">
            <a:avLst>
              <a:gd name="adj" fmla="val 10909"/>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7863840" y="1645920"/>
            <a:ext cx="868680" cy="502920"/>
          </a:xfrm>
          <a:prstGeom prst="rect">
            <a:avLst/>
          </a:prstGeom>
          <a:noFill/>
          <a:ln/>
        </p:spPr>
        <p:txBody>
          <a:bodyPr wrap="square" lIns="0" tIns="0" rIns="0" bIns="0" rtlCol="0" anchor="ctr"/>
          <a:lstStyle/>
          <a:p>
            <a:pPr marL="0" indent="0" algn="ctr">
              <a:buNone/>
            </a:pPr>
            <a:r>
              <a:rPr lang="en-US" sz="1600" dirty="0">
                <a:solidFill>
                  <a:schemeClr val="bg1"/>
                </a:solidFill>
              </a:rPr>
              <a:t>think</a:t>
            </a:r>
            <a:endParaRPr lang="en-US" sz="1600" dirty="0"/>
          </a:p>
        </p:txBody>
      </p:sp>
      <p:sp>
        <p:nvSpPr>
          <p:cNvPr id="7" name="token chip"/>
          <p:cNvSpPr/>
          <p:nvPr/>
        </p:nvSpPr>
        <p:spPr>
          <a:xfrm>
            <a:off x="8869680" y="1645920"/>
            <a:ext cx="630936" cy="502920"/>
          </a:xfrm>
          <a:prstGeom prst="roundRect">
            <a:avLst>
              <a:gd name="adj" fmla="val 10909"/>
            </a:avLst>
          </a:prstGeom>
          <a:solidFill>
            <a:schemeClr val="accent2"/>
          </a:solidFill>
          <a:ln w="12700">
            <a:solidFill>
              <a:schemeClr val="accent2"/>
            </a:solidFill>
            <a:prstDash val="solid"/>
          </a:ln>
        </p:spPr>
        <p:txBody>
          <a:bodyPr/>
          <a:lstStyle/>
          <a:p>
            <a:endParaRPr lang="en-US"/>
          </a:p>
        </p:txBody>
      </p:sp>
      <p:sp>
        <p:nvSpPr>
          <p:cNvPr id="8" name="Text 6"/>
          <p:cNvSpPr txBox="1"/>
          <p:nvPr/>
        </p:nvSpPr>
        <p:spPr>
          <a:xfrm>
            <a:off x="8869680" y="1645920"/>
            <a:ext cx="630936" cy="502920"/>
          </a:xfrm>
          <a:prstGeom prst="rect">
            <a:avLst/>
          </a:prstGeom>
          <a:noFill/>
          <a:ln/>
        </p:spPr>
        <p:txBody>
          <a:bodyPr wrap="square" lIns="0" tIns="0" rIns="0" bIns="0" rtlCol="0" anchor="ctr"/>
          <a:lstStyle/>
          <a:p>
            <a:pPr marL="0" indent="0" algn="ctr">
              <a:buNone/>
            </a:pPr>
            <a:r>
              <a:rPr lang="en-US" sz="1600" dirty="0">
                <a:solidFill>
                  <a:schemeClr val="bg1"/>
                </a:solidFill>
              </a:rPr>
              <a:t>act</a:t>
            </a:r>
            <a:endParaRPr lang="en-US" sz="1600" dirty="0"/>
          </a:p>
        </p:txBody>
      </p:sp>
      <p:sp>
        <p:nvSpPr>
          <p:cNvPr id="9" name="token chip"/>
          <p:cNvSpPr/>
          <p:nvPr/>
        </p:nvSpPr>
        <p:spPr>
          <a:xfrm>
            <a:off x="9637776" y="1645920"/>
            <a:ext cx="1106424" cy="502920"/>
          </a:xfrm>
          <a:prstGeom prst="roundRect">
            <a:avLst>
              <a:gd name="adj" fmla="val 10909"/>
            </a:avLst>
          </a:prstGeom>
          <a:solidFill>
            <a:schemeClr val="accent3"/>
          </a:solidFill>
          <a:ln w="12700">
            <a:solidFill>
              <a:schemeClr val="accent3"/>
            </a:solidFill>
            <a:prstDash val="solid"/>
          </a:ln>
        </p:spPr>
        <p:txBody>
          <a:bodyPr/>
          <a:lstStyle/>
          <a:p>
            <a:endParaRPr lang="en-US"/>
          </a:p>
        </p:txBody>
      </p:sp>
      <p:sp>
        <p:nvSpPr>
          <p:cNvPr id="10" name="Text 8"/>
          <p:cNvSpPr txBox="1"/>
          <p:nvPr/>
        </p:nvSpPr>
        <p:spPr>
          <a:xfrm>
            <a:off x="9637776" y="1645920"/>
            <a:ext cx="1106424" cy="502920"/>
          </a:xfrm>
          <a:prstGeom prst="rect">
            <a:avLst/>
          </a:prstGeom>
          <a:noFill/>
          <a:ln/>
        </p:spPr>
        <p:txBody>
          <a:bodyPr wrap="square" lIns="0" tIns="0" rIns="0" bIns="0" rtlCol="0" anchor="ctr"/>
          <a:lstStyle/>
          <a:p>
            <a:pPr marL="0" indent="0" algn="ctr">
              <a:buNone/>
            </a:pPr>
            <a:r>
              <a:rPr lang="en-US" sz="1600" dirty="0">
                <a:solidFill>
                  <a:schemeClr val="bg1"/>
                </a:solidFill>
              </a:rPr>
              <a:t>observe</a:t>
            </a:r>
            <a:endParaRPr lang="en-US" sz="1600" dirty="0"/>
          </a:p>
        </p:txBody>
      </p:sp>
      <p:sp>
        <p:nvSpPr>
          <p:cNvPr id="11" name="token chip"/>
          <p:cNvSpPr/>
          <p:nvPr/>
        </p:nvSpPr>
        <p:spPr>
          <a:xfrm>
            <a:off x="8321040" y="2423160"/>
            <a:ext cx="987552" cy="502920"/>
          </a:xfrm>
          <a:prstGeom prst="roundRect">
            <a:avLst>
              <a:gd name="adj" fmla="val 10909"/>
            </a:avLst>
          </a:prstGeom>
          <a:solidFill>
            <a:schemeClr val="accent4"/>
          </a:solidFill>
          <a:ln w="12700">
            <a:solidFill>
              <a:schemeClr val="accent4"/>
            </a:solidFill>
            <a:prstDash val="solid"/>
          </a:ln>
        </p:spPr>
        <p:txBody>
          <a:bodyPr/>
          <a:lstStyle/>
          <a:p>
            <a:endParaRPr lang="en-US"/>
          </a:p>
        </p:txBody>
      </p:sp>
      <p:sp>
        <p:nvSpPr>
          <p:cNvPr id="12" name="Text 10"/>
          <p:cNvSpPr txBox="1"/>
          <p:nvPr/>
        </p:nvSpPr>
        <p:spPr>
          <a:xfrm>
            <a:off x="8321040" y="2423160"/>
            <a:ext cx="987552" cy="502920"/>
          </a:xfrm>
          <a:prstGeom prst="rect">
            <a:avLst/>
          </a:prstGeom>
          <a:noFill/>
          <a:ln/>
        </p:spPr>
        <p:txBody>
          <a:bodyPr wrap="square" lIns="0" tIns="0" rIns="0" bIns="0" rtlCol="0" anchor="ctr"/>
          <a:lstStyle/>
          <a:p>
            <a:pPr marL="0" indent="0" algn="ctr">
              <a:buNone/>
            </a:pPr>
            <a:r>
              <a:rPr lang="en-US" sz="1600" dirty="0">
                <a:solidFill>
                  <a:schemeClr val="tx1"/>
                </a:solidFill>
              </a:rPr>
              <a:t>repeat</a:t>
            </a:r>
            <a:endParaRPr lang="en-US" sz="1600" dirty="0"/>
          </a:p>
        </p:txBody>
      </p:sp>
      <p:sp>
        <p:nvSpPr>
          <p:cNvPr id="13" name="token chip"/>
          <p:cNvSpPr/>
          <p:nvPr/>
        </p:nvSpPr>
        <p:spPr>
          <a:xfrm>
            <a:off x="9445752" y="2423160"/>
            <a:ext cx="749808" cy="502920"/>
          </a:xfrm>
          <a:prstGeom prst="roundRect">
            <a:avLst>
              <a:gd name="adj" fmla="val 10909"/>
            </a:avLst>
          </a:prstGeom>
          <a:solidFill>
            <a:schemeClr val="accent1"/>
          </a:solidFill>
          <a:ln w="12700">
            <a:solidFill>
              <a:schemeClr val="accent1"/>
            </a:solidFill>
            <a:prstDash val="solid"/>
          </a:ln>
        </p:spPr>
        <p:txBody>
          <a:bodyPr/>
          <a:lstStyle/>
          <a:p>
            <a:endParaRPr lang="en-US"/>
          </a:p>
        </p:txBody>
      </p:sp>
      <p:sp>
        <p:nvSpPr>
          <p:cNvPr id="14" name="Text 12"/>
          <p:cNvSpPr txBox="1"/>
          <p:nvPr/>
        </p:nvSpPr>
        <p:spPr>
          <a:xfrm>
            <a:off x="9445752" y="2423160"/>
            <a:ext cx="749808" cy="502920"/>
          </a:xfrm>
          <a:prstGeom prst="rect">
            <a:avLst/>
          </a:prstGeom>
          <a:noFill/>
          <a:ln/>
        </p:spPr>
        <p:txBody>
          <a:bodyPr wrap="square" lIns="0" tIns="0" rIns="0" bIns="0" rtlCol="0" anchor="ctr"/>
          <a:lstStyle/>
          <a:p>
            <a:pPr marL="0" indent="0" algn="ctr">
              <a:buNone/>
            </a:pPr>
            <a:r>
              <a:rPr lang="en-US" sz="1600" dirty="0">
                <a:solidFill>
                  <a:schemeClr val="bg1"/>
                </a:solidFill>
              </a:rPr>
              <a:t>lead</a:t>
            </a:r>
            <a:endParaRPr lang="en-US" sz="1600" dirty="0"/>
          </a:p>
        </p:txBody>
      </p:sp>
      <p:sp>
        <p:nvSpPr>
          <p:cNvPr id="15" name="token chip"/>
          <p:cNvSpPr/>
          <p:nvPr/>
        </p:nvSpPr>
        <p:spPr>
          <a:xfrm>
            <a:off x="10332720" y="2423160"/>
            <a:ext cx="749808" cy="502920"/>
          </a:xfrm>
          <a:prstGeom prst="roundRect">
            <a:avLst>
              <a:gd name="adj" fmla="val 10909"/>
            </a:avLst>
          </a:prstGeom>
          <a:solidFill>
            <a:schemeClr val="accent2"/>
          </a:solidFill>
          <a:ln w="12700">
            <a:solidFill>
              <a:schemeClr val="accent2"/>
            </a:solidFill>
            <a:prstDash val="solid"/>
          </a:ln>
        </p:spPr>
        <p:txBody>
          <a:bodyPr/>
          <a:lstStyle/>
          <a:p>
            <a:endParaRPr lang="en-US"/>
          </a:p>
        </p:txBody>
      </p:sp>
      <p:sp>
        <p:nvSpPr>
          <p:cNvPr id="16" name="Text 14"/>
          <p:cNvSpPr txBox="1"/>
          <p:nvPr/>
        </p:nvSpPr>
        <p:spPr>
          <a:xfrm>
            <a:off x="10332720" y="2423160"/>
            <a:ext cx="749808" cy="502920"/>
          </a:xfrm>
          <a:prstGeom prst="rect">
            <a:avLst/>
          </a:prstGeom>
          <a:noFill/>
          <a:ln/>
        </p:spPr>
        <p:txBody>
          <a:bodyPr wrap="square" lIns="0" tIns="0" rIns="0" bIns="0" rtlCol="0" anchor="ctr"/>
          <a:lstStyle/>
          <a:p>
            <a:pPr marL="0" indent="0" algn="ctr">
              <a:buNone/>
            </a:pPr>
            <a:r>
              <a:rPr lang="en-US" sz="1600" dirty="0">
                <a:solidFill>
                  <a:schemeClr val="bg1"/>
                </a:solidFill>
              </a:rPr>
              <a:t>team</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An agent is Claude in a loop with tools</a:t>
            </a:r>
            <a:endParaRPr lang="en-US" sz="3200" dirty="0"/>
          </a:p>
        </p:txBody>
      </p:sp>
      <p:sp>
        <p:nvSpPr>
          <p:cNvPr id="3" name="loop node"/>
          <p:cNvSpPr/>
          <p:nvPr/>
        </p:nvSpPr>
        <p:spPr>
          <a:xfrm>
            <a:off x="1463040" y="1463040"/>
            <a:ext cx="1463040" cy="1463040"/>
          </a:xfrm>
          <a:prstGeom prst="ellipse">
            <a:avLst/>
          </a:prstGeom>
          <a:solidFill>
            <a:schemeClr val="accent3"/>
          </a:solidFill>
          <a:ln w="12700">
            <a:solidFill>
              <a:schemeClr val="accent3"/>
            </a:solidFill>
            <a:prstDash val="solid"/>
          </a:ln>
        </p:spPr>
        <p:txBody>
          <a:bodyPr/>
          <a:lstStyle/>
          <a:p>
            <a:endParaRPr lang="en-US"/>
          </a:p>
        </p:txBody>
      </p:sp>
      <p:sp>
        <p:nvSpPr>
          <p:cNvPr id="4" name="Text 2"/>
          <p:cNvSpPr txBox="1"/>
          <p:nvPr/>
        </p:nvSpPr>
        <p:spPr>
          <a:xfrm>
            <a:off x="1463040" y="1874520"/>
            <a:ext cx="1463040" cy="365760"/>
          </a:xfrm>
          <a:prstGeom prst="rect">
            <a:avLst/>
          </a:prstGeom>
          <a:noFill/>
          <a:ln/>
        </p:spPr>
        <p:txBody>
          <a:bodyPr wrap="square" lIns="0" tIns="0" rIns="0" bIns="0" rtlCol="0" anchor="t"/>
          <a:lstStyle/>
          <a:p>
            <a:pPr marL="0" indent="0" algn="ctr">
              <a:buNone/>
            </a:pPr>
            <a:r>
              <a:rPr lang="en-US" sz="1800" b="1" dirty="0">
                <a:solidFill>
                  <a:schemeClr val="bg1"/>
                </a:solidFill>
              </a:rPr>
              <a:t>Think</a:t>
            </a:r>
            <a:endParaRPr lang="en-US" sz="1800" dirty="0"/>
          </a:p>
        </p:txBody>
      </p:sp>
      <p:sp>
        <p:nvSpPr>
          <p:cNvPr id="5" name="Text 3"/>
          <p:cNvSpPr txBox="1"/>
          <p:nvPr/>
        </p:nvSpPr>
        <p:spPr>
          <a:xfrm>
            <a:off x="1554480" y="2240280"/>
            <a:ext cx="1280160" cy="365760"/>
          </a:xfrm>
          <a:prstGeom prst="rect">
            <a:avLst/>
          </a:prstGeom>
          <a:noFill/>
          <a:ln/>
        </p:spPr>
        <p:txBody>
          <a:bodyPr wrap="square" lIns="0" tIns="0" rIns="0" bIns="0" rtlCol="0" anchor="t"/>
          <a:lstStyle/>
          <a:p>
            <a:pPr marL="0" indent="0" algn="ctr">
              <a:buNone/>
            </a:pPr>
            <a:r>
              <a:rPr lang="en-US" sz="1200" dirty="0">
                <a:solidFill>
                  <a:schemeClr val="bg1"/>
                </a:solidFill>
              </a:rPr>
              <a:t>Plan the next step</a:t>
            </a:r>
            <a:endParaRPr lang="en-US" sz="1200" dirty="0"/>
          </a:p>
        </p:txBody>
      </p:sp>
      <p:sp>
        <p:nvSpPr>
          <p:cNvPr id="6" name="loop node"/>
          <p:cNvSpPr/>
          <p:nvPr/>
        </p:nvSpPr>
        <p:spPr>
          <a:xfrm>
            <a:off x="3657600" y="2834640"/>
            <a:ext cx="1463040" cy="1463040"/>
          </a:xfrm>
          <a:prstGeom prst="ellipse">
            <a:avLst/>
          </a:prstGeom>
          <a:solidFill>
            <a:schemeClr val="accent1"/>
          </a:solidFill>
          <a:ln w="12700">
            <a:solidFill>
              <a:schemeClr val="accent1"/>
            </a:solidFill>
            <a:prstDash val="solid"/>
          </a:ln>
        </p:spPr>
        <p:txBody>
          <a:bodyPr/>
          <a:lstStyle/>
          <a:p>
            <a:endParaRPr lang="en-US"/>
          </a:p>
        </p:txBody>
      </p:sp>
      <p:sp>
        <p:nvSpPr>
          <p:cNvPr id="7" name="Text 5"/>
          <p:cNvSpPr txBox="1"/>
          <p:nvPr/>
        </p:nvSpPr>
        <p:spPr>
          <a:xfrm>
            <a:off x="3657600" y="3246120"/>
            <a:ext cx="1463040" cy="365760"/>
          </a:xfrm>
          <a:prstGeom prst="rect">
            <a:avLst/>
          </a:prstGeom>
          <a:noFill/>
          <a:ln/>
        </p:spPr>
        <p:txBody>
          <a:bodyPr wrap="square" lIns="0" tIns="0" rIns="0" bIns="0" rtlCol="0" anchor="t"/>
          <a:lstStyle/>
          <a:p>
            <a:pPr marL="0" indent="0" algn="ctr">
              <a:buNone/>
            </a:pPr>
            <a:r>
              <a:rPr lang="en-US" sz="1800" b="1" dirty="0">
                <a:solidFill>
                  <a:schemeClr val="bg1"/>
                </a:solidFill>
              </a:rPr>
              <a:t>Act</a:t>
            </a:r>
            <a:endParaRPr lang="en-US" sz="1800" dirty="0"/>
          </a:p>
        </p:txBody>
      </p:sp>
      <p:sp>
        <p:nvSpPr>
          <p:cNvPr id="8" name="Text 6"/>
          <p:cNvSpPr txBox="1"/>
          <p:nvPr/>
        </p:nvSpPr>
        <p:spPr>
          <a:xfrm>
            <a:off x="3749040" y="3611880"/>
            <a:ext cx="1280160" cy="365760"/>
          </a:xfrm>
          <a:prstGeom prst="rect">
            <a:avLst/>
          </a:prstGeom>
          <a:noFill/>
          <a:ln/>
        </p:spPr>
        <p:txBody>
          <a:bodyPr wrap="square" lIns="0" tIns="0" rIns="0" bIns="0" rtlCol="0" anchor="t"/>
          <a:lstStyle/>
          <a:p>
            <a:pPr marL="0" indent="0" algn="ctr">
              <a:buNone/>
            </a:pPr>
            <a:r>
              <a:rPr lang="en-US" sz="1200" dirty="0">
                <a:solidFill>
                  <a:schemeClr val="bg1"/>
                </a:solidFill>
              </a:rPr>
              <a:t>Call a tool</a:t>
            </a:r>
            <a:endParaRPr lang="en-US" sz="1200" dirty="0"/>
          </a:p>
        </p:txBody>
      </p:sp>
      <p:sp>
        <p:nvSpPr>
          <p:cNvPr id="9" name="loop node"/>
          <p:cNvSpPr/>
          <p:nvPr/>
        </p:nvSpPr>
        <p:spPr>
          <a:xfrm>
            <a:off x="1463040" y="4206240"/>
            <a:ext cx="1463040" cy="1463040"/>
          </a:xfrm>
          <a:prstGeom prst="ellipse">
            <a:avLst/>
          </a:prstGeom>
          <a:solidFill>
            <a:schemeClr val="accent2"/>
          </a:solidFill>
          <a:ln w="12700">
            <a:solidFill>
              <a:schemeClr val="accent2"/>
            </a:solidFill>
            <a:prstDash val="solid"/>
          </a:ln>
        </p:spPr>
        <p:txBody>
          <a:bodyPr/>
          <a:lstStyle/>
          <a:p>
            <a:endParaRPr lang="en-US"/>
          </a:p>
        </p:txBody>
      </p:sp>
      <p:sp>
        <p:nvSpPr>
          <p:cNvPr id="10" name="Text 8"/>
          <p:cNvSpPr txBox="1"/>
          <p:nvPr/>
        </p:nvSpPr>
        <p:spPr>
          <a:xfrm>
            <a:off x="1463040" y="4617720"/>
            <a:ext cx="1463040" cy="365760"/>
          </a:xfrm>
          <a:prstGeom prst="rect">
            <a:avLst/>
          </a:prstGeom>
          <a:noFill/>
          <a:ln/>
        </p:spPr>
        <p:txBody>
          <a:bodyPr wrap="square" lIns="0" tIns="0" rIns="0" bIns="0" rtlCol="0" anchor="t"/>
          <a:lstStyle/>
          <a:p>
            <a:pPr marL="0" indent="0" algn="ctr">
              <a:buNone/>
            </a:pPr>
            <a:r>
              <a:rPr lang="en-US" sz="1800" b="1" dirty="0">
                <a:solidFill>
                  <a:schemeClr val="bg1"/>
                </a:solidFill>
              </a:rPr>
              <a:t>Observe</a:t>
            </a:r>
            <a:endParaRPr lang="en-US" sz="1800" dirty="0"/>
          </a:p>
        </p:txBody>
      </p:sp>
      <p:sp>
        <p:nvSpPr>
          <p:cNvPr id="11" name="Text 9"/>
          <p:cNvSpPr txBox="1"/>
          <p:nvPr/>
        </p:nvSpPr>
        <p:spPr>
          <a:xfrm>
            <a:off x="1554480" y="4983480"/>
            <a:ext cx="1280160" cy="365760"/>
          </a:xfrm>
          <a:prstGeom prst="rect">
            <a:avLst/>
          </a:prstGeom>
          <a:noFill/>
          <a:ln/>
        </p:spPr>
        <p:txBody>
          <a:bodyPr wrap="square" lIns="0" tIns="0" rIns="0" bIns="0" rtlCol="0" anchor="t"/>
          <a:lstStyle/>
          <a:p>
            <a:pPr marL="0" indent="0" algn="ctr">
              <a:buNone/>
            </a:pPr>
            <a:r>
              <a:rPr lang="en-US" sz="1200" dirty="0">
                <a:solidFill>
                  <a:schemeClr val="bg1"/>
                </a:solidFill>
              </a:rPr>
              <a:t>Read the result</a:t>
            </a:r>
            <a:endParaRPr lang="en-US" sz="1200" dirty="0"/>
          </a:p>
        </p:txBody>
      </p:sp>
      <p:sp>
        <p:nvSpPr>
          <p:cNvPr id="12" name="arrow"/>
          <p:cNvSpPr/>
          <p:nvPr/>
        </p:nvSpPr>
        <p:spPr>
          <a:xfrm>
            <a:off x="2926080" y="2286000"/>
            <a:ext cx="822960" cy="640080"/>
          </a:xfrm>
          <a:prstGeom prst="line">
            <a:avLst/>
          </a:prstGeom>
          <a:noFill/>
          <a:ln w="19050">
            <a:solidFill>
              <a:schemeClr val="accent5"/>
            </a:solidFill>
            <a:prstDash val="solid"/>
            <a:tailEnd type="triangle"/>
          </a:ln>
        </p:spPr>
        <p:txBody>
          <a:bodyPr/>
          <a:lstStyle/>
          <a:p>
            <a:endParaRPr lang="en-US"/>
          </a:p>
        </p:txBody>
      </p:sp>
      <p:sp>
        <p:nvSpPr>
          <p:cNvPr id="13" name="arrow"/>
          <p:cNvSpPr/>
          <p:nvPr/>
        </p:nvSpPr>
        <p:spPr>
          <a:xfrm>
            <a:off x="3749040" y="4114800"/>
            <a:ext cx="0" cy="731520"/>
          </a:xfrm>
          <a:prstGeom prst="line">
            <a:avLst/>
          </a:prstGeom>
          <a:noFill/>
          <a:ln w="19050">
            <a:solidFill>
              <a:schemeClr val="accent5"/>
            </a:solidFill>
            <a:prstDash val="solid"/>
            <a:tailEnd type="triangle"/>
          </a:ln>
        </p:spPr>
        <p:txBody>
          <a:bodyPr/>
          <a:lstStyle/>
          <a:p>
            <a:endParaRPr lang="en-US"/>
          </a:p>
        </p:txBody>
      </p:sp>
      <p:sp>
        <p:nvSpPr>
          <p:cNvPr id="14" name="arrow"/>
          <p:cNvSpPr/>
          <p:nvPr/>
        </p:nvSpPr>
        <p:spPr>
          <a:xfrm>
            <a:off x="2194560" y="4206240"/>
            <a:ext cx="914" cy="0"/>
          </a:xfrm>
          <a:prstGeom prst="line">
            <a:avLst/>
          </a:prstGeom>
          <a:noFill/>
          <a:ln w="19050">
            <a:solidFill>
              <a:schemeClr val="accent5"/>
            </a:solidFill>
            <a:prstDash val="solid"/>
            <a:tailEnd type="triangle"/>
          </a:ln>
        </p:spPr>
        <p:txBody>
          <a:bodyPr/>
          <a:lstStyle/>
          <a:p>
            <a:endParaRPr lang="en-US"/>
          </a:p>
        </p:txBody>
      </p:sp>
      <p:sp>
        <p:nvSpPr>
          <p:cNvPr id="15" name="Text 13"/>
          <p:cNvSpPr txBox="1"/>
          <p:nvPr/>
        </p:nvSpPr>
        <p:spPr>
          <a:xfrm>
            <a:off x="3566160" y="5394960"/>
            <a:ext cx="2194560" cy="274320"/>
          </a:xfrm>
          <a:prstGeom prst="rect">
            <a:avLst/>
          </a:prstGeom>
          <a:noFill/>
          <a:ln/>
        </p:spPr>
        <p:txBody>
          <a:bodyPr wrap="square" lIns="0" tIns="0" rIns="0" bIns="0" rtlCol="0" anchor="t"/>
          <a:lstStyle/>
          <a:p>
            <a:pPr marL="0" indent="0">
              <a:buNone/>
            </a:pPr>
            <a:r>
              <a:rPr lang="en-US" sz="1200" i="1" dirty="0">
                <a:solidFill>
                  <a:schemeClr val="accent5"/>
                </a:solidFill>
              </a:rPr>
              <a:t>…until the goal is met</a:t>
            </a:r>
            <a:endParaRPr lang="en-US" sz="1200" dirty="0"/>
          </a:p>
        </p:txBody>
      </p:sp>
      <p:sp>
        <p:nvSpPr>
          <p:cNvPr id="16" name="card"/>
          <p:cNvSpPr/>
          <p:nvPr/>
        </p:nvSpPr>
        <p:spPr>
          <a:xfrm>
            <a:off x="6035040" y="1371600"/>
            <a:ext cx="557784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7" name="icon circle"/>
          <p:cNvSpPr/>
          <p:nvPr/>
        </p:nvSpPr>
        <p:spPr>
          <a:xfrm>
            <a:off x="6263640" y="1563624"/>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18" name="Image 0" descr="Wrench icon"/>
          <p:cNvPicPr>
            <a:picLocks noChangeAspect="1"/>
          </p:cNvPicPr>
          <p:nvPr/>
        </p:nvPicPr>
        <p:blipFill>
          <a:blip r:embed="rId3"/>
          <a:stretch>
            <a:fillRect/>
          </a:stretch>
        </p:blipFill>
        <p:spPr>
          <a:xfrm>
            <a:off x="6423660" y="1723644"/>
            <a:ext cx="320040" cy="320040"/>
          </a:xfrm>
          <a:prstGeom prst="rect">
            <a:avLst/>
          </a:prstGeom>
        </p:spPr>
      </p:pic>
      <p:sp>
        <p:nvSpPr>
          <p:cNvPr id="19" name="Text 16"/>
          <p:cNvSpPr txBox="1"/>
          <p:nvPr/>
        </p:nvSpPr>
        <p:spPr>
          <a:xfrm>
            <a:off x="7132320" y="1499616"/>
            <a:ext cx="4297680" cy="320040"/>
          </a:xfrm>
          <a:prstGeom prst="rect">
            <a:avLst/>
          </a:prstGeom>
          <a:noFill/>
          <a:ln/>
        </p:spPr>
        <p:txBody>
          <a:bodyPr wrap="square" lIns="0" tIns="0" rIns="0" bIns="0" rtlCol="0" anchor="t"/>
          <a:lstStyle/>
          <a:p>
            <a:pPr marL="0" indent="0">
              <a:buNone/>
            </a:pPr>
            <a:r>
              <a:rPr lang="en-US" sz="1600" b="1" dirty="0">
                <a:solidFill>
                  <a:schemeClr val="tx1"/>
                </a:solidFill>
              </a:rPr>
              <a:t>Tools</a:t>
            </a:r>
            <a:endParaRPr lang="en-US" sz="1600" dirty="0"/>
          </a:p>
        </p:txBody>
      </p:sp>
      <p:sp>
        <p:nvSpPr>
          <p:cNvPr id="20" name="Text 17"/>
          <p:cNvSpPr txBox="1"/>
          <p:nvPr/>
        </p:nvSpPr>
        <p:spPr>
          <a:xfrm>
            <a:off x="7132320" y="1828800"/>
            <a:ext cx="4297680" cy="502920"/>
          </a:xfrm>
          <a:prstGeom prst="rect">
            <a:avLst/>
          </a:prstGeom>
          <a:noFill/>
          <a:ln/>
        </p:spPr>
        <p:txBody>
          <a:bodyPr wrap="square" lIns="0" tIns="0" rIns="0" bIns="0" rtlCol="0" anchor="t"/>
          <a:lstStyle/>
          <a:p>
            <a:pPr marL="0" indent="0">
              <a:buNone/>
            </a:pPr>
            <a:r>
              <a:rPr lang="en-US" sz="1300" dirty="0">
                <a:solidFill>
                  <a:schemeClr val="tx2"/>
                </a:solidFill>
              </a:rPr>
              <a:t>Functions Claude can call: search, run code, edit files, send email</a:t>
            </a:r>
            <a:endParaRPr lang="en-US" sz="1300" dirty="0"/>
          </a:p>
        </p:txBody>
      </p:sp>
      <p:sp>
        <p:nvSpPr>
          <p:cNvPr id="21" name="card"/>
          <p:cNvSpPr/>
          <p:nvPr/>
        </p:nvSpPr>
        <p:spPr>
          <a:xfrm>
            <a:off x="6035040" y="2560320"/>
            <a:ext cx="557784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2" name="icon circle"/>
          <p:cNvSpPr/>
          <p:nvPr/>
        </p:nvSpPr>
        <p:spPr>
          <a:xfrm>
            <a:off x="6263640" y="2752344"/>
            <a:ext cx="640080" cy="640080"/>
          </a:xfrm>
          <a:prstGeom prst="ellipse">
            <a:avLst/>
          </a:prstGeom>
          <a:solidFill>
            <a:schemeClr val="accent2"/>
          </a:solidFill>
          <a:ln w="12700">
            <a:solidFill>
              <a:schemeClr val="accent2"/>
            </a:solidFill>
            <a:prstDash val="solid"/>
          </a:ln>
        </p:spPr>
        <p:txBody>
          <a:bodyPr/>
          <a:lstStyle/>
          <a:p>
            <a:endParaRPr lang="en-US"/>
          </a:p>
        </p:txBody>
      </p:sp>
      <p:pic>
        <p:nvPicPr>
          <p:cNvPr id="23" name="Image 1" descr="Plug icon"/>
          <p:cNvPicPr>
            <a:picLocks noChangeAspect="1"/>
          </p:cNvPicPr>
          <p:nvPr/>
        </p:nvPicPr>
        <p:blipFill>
          <a:blip r:embed="rId4"/>
          <a:stretch>
            <a:fillRect/>
          </a:stretch>
        </p:blipFill>
        <p:spPr>
          <a:xfrm>
            <a:off x="6423660" y="2912364"/>
            <a:ext cx="320040" cy="320040"/>
          </a:xfrm>
          <a:prstGeom prst="rect">
            <a:avLst/>
          </a:prstGeom>
        </p:spPr>
      </p:pic>
      <p:sp>
        <p:nvSpPr>
          <p:cNvPr id="24" name="Text 20"/>
          <p:cNvSpPr txBox="1"/>
          <p:nvPr/>
        </p:nvSpPr>
        <p:spPr>
          <a:xfrm>
            <a:off x="7132320" y="2688336"/>
            <a:ext cx="4297680" cy="320040"/>
          </a:xfrm>
          <a:prstGeom prst="rect">
            <a:avLst/>
          </a:prstGeom>
          <a:noFill/>
          <a:ln/>
        </p:spPr>
        <p:txBody>
          <a:bodyPr wrap="square" lIns="0" tIns="0" rIns="0" bIns="0" rtlCol="0" anchor="t"/>
          <a:lstStyle/>
          <a:p>
            <a:pPr marL="0" indent="0">
              <a:buNone/>
            </a:pPr>
            <a:r>
              <a:rPr lang="en-US" sz="1600" b="1" dirty="0">
                <a:solidFill>
                  <a:schemeClr val="tx1"/>
                </a:solidFill>
              </a:rPr>
              <a:t>MCP connectors</a:t>
            </a:r>
            <a:endParaRPr lang="en-US" sz="1600" dirty="0"/>
          </a:p>
        </p:txBody>
      </p:sp>
      <p:sp>
        <p:nvSpPr>
          <p:cNvPr id="25" name="Text 21"/>
          <p:cNvSpPr txBox="1"/>
          <p:nvPr/>
        </p:nvSpPr>
        <p:spPr>
          <a:xfrm>
            <a:off x="7132320" y="3017520"/>
            <a:ext cx="4297680" cy="502920"/>
          </a:xfrm>
          <a:prstGeom prst="rect">
            <a:avLst/>
          </a:prstGeom>
          <a:noFill/>
          <a:ln/>
        </p:spPr>
        <p:txBody>
          <a:bodyPr wrap="square" lIns="0" tIns="0" rIns="0" bIns="0" rtlCol="0" anchor="t"/>
          <a:lstStyle/>
          <a:p>
            <a:pPr marL="0" indent="0">
              <a:buNone/>
            </a:pPr>
            <a:r>
              <a:rPr lang="en-US" sz="1300" dirty="0">
                <a:solidFill>
                  <a:schemeClr val="tx2"/>
                </a:solidFill>
              </a:rPr>
              <a:t>A standard way to plug in apps: Drive, Slack, GitHub, databases</a:t>
            </a:r>
            <a:endParaRPr lang="en-US" sz="1300" dirty="0"/>
          </a:p>
        </p:txBody>
      </p:sp>
      <p:sp>
        <p:nvSpPr>
          <p:cNvPr id="26" name="card"/>
          <p:cNvSpPr/>
          <p:nvPr/>
        </p:nvSpPr>
        <p:spPr>
          <a:xfrm>
            <a:off x="6035040" y="3749040"/>
            <a:ext cx="557784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7" name="icon circle"/>
          <p:cNvSpPr/>
          <p:nvPr/>
        </p:nvSpPr>
        <p:spPr>
          <a:xfrm>
            <a:off x="6263640" y="3941064"/>
            <a:ext cx="640080" cy="640080"/>
          </a:xfrm>
          <a:prstGeom prst="ellipse">
            <a:avLst/>
          </a:prstGeom>
          <a:solidFill>
            <a:schemeClr val="accent3"/>
          </a:solidFill>
          <a:ln w="12700">
            <a:solidFill>
              <a:schemeClr val="accent3"/>
            </a:solidFill>
            <a:prstDash val="solid"/>
          </a:ln>
        </p:spPr>
        <p:txBody>
          <a:bodyPr/>
          <a:lstStyle/>
          <a:p>
            <a:endParaRPr lang="en-US"/>
          </a:p>
        </p:txBody>
      </p:sp>
      <p:pic>
        <p:nvPicPr>
          <p:cNvPr id="28" name="Image 2" descr="Book icon"/>
          <p:cNvPicPr>
            <a:picLocks noChangeAspect="1"/>
          </p:cNvPicPr>
          <p:nvPr/>
        </p:nvPicPr>
        <p:blipFill>
          <a:blip r:embed="rId5"/>
          <a:stretch>
            <a:fillRect/>
          </a:stretch>
        </p:blipFill>
        <p:spPr>
          <a:xfrm>
            <a:off x="6423660" y="4101084"/>
            <a:ext cx="320040" cy="320040"/>
          </a:xfrm>
          <a:prstGeom prst="rect">
            <a:avLst/>
          </a:prstGeom>
        </p:spPr>
      </p:pic>
      <p:sp>
        <p:nvSpPr>
          <p:cNvPr id="29" name="Text 24"/>
          <p:cNvSpPr txBox="1"/>
          <p:nvPr/>
        </p:nvSpPr>
        <p:spPr>
          <a:xfrm>
            <a:off x="7132320" y="3877056"/>
            <a:ext cx="4297680" cy="320040"/>
          </a:xfrm>
          <a:prstGeom prst="rect">
            <a:avLst/>
          </a:prstGeom>
          <a:noFill/>
          <a:ln/>
        </p:spPr>
        <p:txBody>
          <a:bodyPr wrap="square" lIns="0" tIns="0" rIns="0" bIns="0" rtlCol="0" anchor="t"/>
          <a:lstStyle/>
          <a:p>
            <a:pPr marL="0" indent="0">
              <a:buNone/>
            </a:pPr>
            <a:r>
              <a:rPr lang="en-US" sz="1600" b="1" dirty="0">
                <a:solidFill>
                  <a:schemeClr val="tx1"/>
                </a:solidFill>
              </a:rPr>
              <a:t>Skills</a:t>
            </a:r>
            <a:endParaRPr lang="en-US" sz="1600" dirty="0"/>
          </a:p>
        </p:txBody>
      </p:sp>
      <p:sp>
        <p:nvSpPr>
          <p:cNvPr id="30" name="Text 25"/>
          <p:cNvSpPr txBox="1"/>
          <p:nvPr/>
        </p:nvSpPr>
        <p:spPr>
          <a:xfrm>
            <a:off x="7132320" y="4206240"/>
            <a:ext cx="4297680" cy="502920"/>
          </a:xfrm>
          <a:prstGeom prst="rect">
            <a:avLst/>
          </a:prstGeom>
          <a:noFill/>
          <a:ln/>
        </p:spPr>
        <p:txBody>
          <a:bodyPr wrap="square" lIns="0" tIns="0" rIns="0" bIns="0" rtlCol="0" anchor="t"/>
          <a:lstStyle/>
          <a:p>
            <a:pPr marL="0" indent="0">
              <a:buNone/>
            </a:pPr>
            <a:r>
              <a:rPr lang="en-US" sz="1300" dirty="0">
                <a:solidFill>
                  <a:schemeClr val="tx2"/>
                </a:solidFill>
              </a:rPr>
              <a:t>Folders of instructions and scripts Claude loads only when relevant</a:t>
            </a:r>
            <a:endParaRPr lang="en-US" sz="1300" dirty="0"/>
          </a:p>
        </p:txBody>
      </p:sp>
      <p:sp>
        <p:nvSpPr>
          <p:cNvPr id="31" name="card"/>
          <p:cNvSpPr/>
          <p:nvPr/>
        </p:nvSpPr>
        <p:spPr>
          <a:xfrm>
            <a:off x="6035040" y="4937760"/>
            <a:ext cx="557784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32" name="icon circle"/>
          <p:cNvSpPr/>
          <p:nvPr/>
        </p:nvSpPr>
        <p:spPr>
          <a:xfrm>
            <a:off x="6263640" y="5129784"/>
            <a:ext cx="640080" cy="640080"/>
          </a:xfrm>
          <a:prstGeom prst="ellipse">
            <a:avLst/>
          </a:prstGeom>
          <a:solidFill>
            <a:schemeClr val="accent4"/>
          </a:solidFill>
          <a:ln w="12700">
            <a:solidFill>
              <a:schemeClr val="accent4"/>
            </a:solidFill>
            <a:prstDash val="solid"/>
          </a:ln>
        </p:spPr>
        <p:txBody>
          <a:bodyPr/>
          <a:lstStyle/>
          <a:p>
            <a:endParaRPr lang="en-US"/>
          </a:p>
        </p:txBody>
      </p:sp>
      <p:pic>
        <p:nvPicPr>
          <p:cNvPr id="33" name="Image 3" descr="Brain icon"/>
          <p:cNvPicPr>
            <a:picLocks noChangeAspect="1"/>
          </p:cNvPicPr>
          <p:nvPr/>
        </p:nvPicPr>
        <p:blipFill>
          <a:blip r:embed="rId6"/>
          <a:stretch>
            <a:fillRect/>
          </a:stretch>
        </p:blipFill>
        <p:spPr>
          <a:xfrm>
            <a:off x="6423660" y="5289804"/>
            <a:ext cx="320040" cy="320040"/>
          </a:xfrm>
          <a:prstGeom prst="rect">
            <a:avLst/>
          </a:prstGeom>
        </p:spPr>
      </p:pic>
      <p:sp>
        <p:nvSpPr>
          <p:cNvPr id="34" name="Text 28"/>
          <p:cNvSpPr txBox="1"/>
          <p:nvPr/>
        </p:nvSpPr>
        <p:spPr>
          <a:xfrm>
            <a:off x="7132320" y="5065776"/>
            <a:ext cx="4297680" cy="320040"/>
          </a:xfrm>
          <a:prstGeom prst="rect">
            <a:avLst/>
          </a:prstGeom>
          <a:noFill/>
          <a:ln/>
        </p:spPr>
        <p:txBody>
          <a:bodyPr wrap="square" lIns="0" tIns="0" rIns="0" bIns="0" rtlCol="0" anchor="t"/>
          <a:lstStyle/>
          <a:p>
            <a:pPr marL="0" indent="0">
              <a:buNone/>
            </a:pPr>
            <a:r>
              <a:rPr lang="en-US" sz="1600" b="1" dirty="0">
                <a:solidFill>
                  <a:schemeClr val="tx1"/>
                </a:solidFill>
              </a:rPr>
              <a:t>Memory</a:t>
            </a:r>
            <a:endParaRPr lang="en-US" sz="1600" dirty="0"/>
          </a:p>
        </p:txBody>
      </p:sp>
      <p:sp>
        <p:nvSpPr>
          <p:cNvPr id="35" name="Text 29"/>
          <p:cNvSpPr txBox="1"/>
          <p:nvPr/>
        </p:nvSpPr>
        <p:spPr>
          <a:xfrm>
            <a:off x="7132320" y="5394960"/>
            <a:ext cx="4297680" cy="502920"/>
          </a:xfrm>
          <a:prstGeom prst="rect">
            <a:avLst/>
          </a:prstGeom>
          <a:noFill/>
          <a:ln/>
        </p:spPr>
        <p:txBody>
          <a:bodyPr wrap="square" lIns="0" tIns="0" rIns="0" bIns="0" rtlCol="0" anchor="t"/>
          <a:lstStyle/>
          <a:p>
            <a:pPr marL="0" indent="0">
              <a:buNone/>
            </a:pPr>
            <a:r>
              <a:rPr lang="en-US" sz="1300" dirty="0">
                <a:solidFill>
                  <a:schemeClr val="tx2"/>
                </a:solidFill>
              </a:rPr>
              <a:t>CLAUDE.md, project files, notes it writes for its future self</a:t>
            </a:r>
            <a:endParaRPr lang="en-US" sz="13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MCP gives Claude one standard plug for every app</a:t>
            </a:r>
            <a:endParaRPr lang="en-US" sz="3200" dirty="0"/>
          </a:p>
        </p:txBody>
      </p:sp>
      <p:sp>
        <p:nvSpPr>
          <p:cNvPr id="130" name="MCP name bullets"/>
          <p:cNvSpPr txBox="1"/>
          <p:nvPr/>
        </p:nvSpPr>
        <p:spPr>
          <a:xfrm>
            <a:off x="546100" y="1219200"/>
            <a:ext cx="11061700" cy="762000"/>
          </a:xfrm>
          <a:prstGeom prst="rect">
            <a:avLst/>
          </a:prstGeom>
          <a:noFill/>
          <a:ln/>
        </p:spPr>
        <p:txBody>
          <a:bodyPr wrap="square" lIns="0" tIns="0" rIns="0" bIns="0" rtlCol="0" anchor="t"/>
          <a:lstStyle/>
          <a:p>
            <a:pPr marL="285750" indent="-285750">
              <a:spcAft>
                <a:spcPts val="300"/>
              </a:spcAft>
              <a:buClr>
                <a:schemeClr val="accent2"/>
              </a:buClr>
              <a:buFont typeface="Arial"/>
              <a:buChar char="•"/>
            </a:pPr>
            <a:r>
              <a:rPr lang="en-US" sz="1400" dirty="0">
                <a:solidFill>
                  <a:schemeClr val="tx1"/>
                </a:solidFill>
              </a:rPr>
              <a:t>MCP stands for </a:t>
            </a:r>
            <a:r>
              <a:rPr lang="en-US" sz="1400" b="1" dirty="0">
                <a:solidFill>
                  <a:schemeClr val="tx1"/>
                </a:solidFill>
              </a:rPr>
              <a:t>Model Context Protocol</a:t>
            </a:r>
            <a:r>
              <a:rPr lang="en-US" sz="1400" dirty="0">
                <a:solidFill>
                  <a:schemeClr val="tx1"/>
                </a:solidFill>
              </a:rPr>
              <a:t>, an open standard Anthropic published in 2024</a:t>
            </a:r>
          </a:p>
          <a:p>
            <a:pPr marL="285750" indent="-285750">
              <a:spcAft>
                <a:spcPts val="300"/>
              </a:spcAft>
              <a:buClr>
                <a:schemeClr val="accent2"/>
              </a:buClr>
              <a:buFont typeface="Arial"/>
              <a:buChar char="•"/>
            </a:pPr>
            <a:r>
              <a:rPr lang="en-US" sz="1400" b="1" dirty="0">
                <a:solidFill>
                  <a:schemeClr val="tx1"/>
                </a:solidFill>
              </a:rPr>
              <a:t>Model</a:t>
            </a:r>
            <a:r>
              <a:rPr lang="en-US" sz="1400" dirty="0">
                <a:solidFill>
                  <a:schemeClr val="tx1"/>
                </a:solidFill>
              </a:rPr>
              <a:t> is the AI, here Claude; </a:t>
            </a:r>
            <a:r>
              <a:rPr lang="en-US" sz="1400" b="1" dirty="0">
                <a:solidFill>
                  <a:schemeClr val="tx1"/>
                </a:solidFill>
              </a:rPr>
              <a:t>context</a:t>
            </a:r>
            <a:r>
              <a:rPr lang="en-US" sz="1400" dirty="0">
                <a:solidFill>
                  <a:schemeClr val="tx1"/>
                </a:solidFill>
              </a:rPr>
              <a:t> is the data and actions it can reach</a:t>
            </a:r>
          </a:p>
          <a:p>
            <a:pPr marL="285750" indent="-285750">
              <a:spcAft>
                <a:spcPts val="300"/>
              </a:spcAft>
              <a:buClr>
                <a:schemeClr val="accent2"/>
              </a:buClr>
              <a:buFont typeface="Arial"/>
              <a:buChar char="•"/>
            </a:pPr>
            <a:r>
              <a:rPr lang="en-US" sz="1400" b="1" dirty="0">
                <a:solidFill>
                  <a:schemeClr val="tx1"/>
                </a:solidFill>
              </a:rPr>
              <a:t>Protocol</a:t>
            </a:r>
            <a:r>
              <a:rPr lang="en-US" sz="1400" dirty="0">
                <a:solidFill>
                  <a:schemeClr val="tx1"/>
                </a:solidFill>
              </a:rPr>
              <a:t> means shared rules, so any app that follows them works with any MCP client</a:t>
            </a:r>
          </a:p>
        </p:txBody>
      </p:sp>
      <p:sp>
        <p:nvSpPr>
          <p:cNvPr id="100" name="card"/>
          <p:cNvSpPr/>
          <p:nvPr/>
        </p:nvSpPr>
        <p:spPr>
          <a:xfrm>
            <a:off x="546100" y="2184400"/>
            <a:ext cx="3048000" cy="1625600"/>
          </a:xfrm>
          <a:prstGeom prst="roundRect">
            <a:avLst>
              <a:gd name="adj" fmla="val 7143"/>
            </a:avLst>
          </a:prstGeom>
          <a:solidFill>
            <a:schemeClr val="bg2"/>
          </a:solidFill>
          <a:ln w="9525">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1" name="icon circle"/>
          <p:cNvSpPr/>
          <p:nvPr/>
        </p:nvSpPr>
        <p:spPr>
          <a:xfrm>
            <a:off x="749300" y="2362200"/>
            <a:ext cx="558800" cy="558800"/>
          </a:xfrm>
          <a:prstGeom prst="ellipse">
            <a:avLst/>
          </a:prstGeom>
          <a:solidFill>
            <a:schemeClr val="accent3"/>
          </a:solidFill>
          <a:ln w="12700">
            <a:solidFill>
              <a:schemeClr val="accent3"/>
            </a:solidFill>
          </a:ln>
        </p:spPr>
        <p:txBody>
          <a:bodyPr/>
          <a:lstStyle/>
          <a:p>
            <a:endParaRPr lang="en-US"/>
          </a:p>
        </p:txBody>
      </p:sp>
      <p:sp>
        <p:nvSpPr>
          <p:cNvPr id="102" name="text"/>
          <p:cNvSpPr txBox="1"/>
          <p:nvPr/>
        </p:nvSpPr>
        <p:spPr>
          <a:xfrm>
            <a:off x="1460500" y="2387600"/>
            <a:ext cx="1930400" cy="508000"/>
          </a:xfrm>
          <a:prstGeom prst="rect">
            <a:avLst/>
          </a:prstGeom>
          <a:noFill/>
          <a:ln/>
        </p:spPr>
        <p:txBody>
          <a:bodyPr wrap="square" lIns="0" tIns="0" rIns="0" bIns="0" rtlCol="0" anchor="t"/>
          <a:lstStyle/>
          <a:p>
            <a:pPr marL="0" indent="0" algn="l">
              <a:spcAft>
                <a:spcPts val="0"/>
              </a:spcAft>
              <a:buNone/>
            </a:pPr>
            <a:r>
              <a:rPr lang="en-US" sz="1600" b="1" dirty="0">
                <a:solidFill>
                  <a:schemeClr val="tx1"/>
                </a:solidFill>
              </a:rPr>
              <a:t>Claude</a:t>
            </a:r>
          </a:p>
          <a:p>
            <a:pPr marL="0" indent="0" algn="l">
              <a:spcAft>
                <a:spcPts val="0"/>
              </a:spcAft>
              <a:buNone/>
            </a:pPr>
            <a:r>
              <a:rPr lang="en-US" sz="1300" dirty="0">
                <a:solidFill>
                  <a:schemeClr val="tx2"/>
                </a:solidFill>
              </a:rPr>
              <a:t>MCP client</a:t>
            </a:r>
          </a:p>
        </p:txBody>
      </p:sp>
      <p:sp>
        <p:nvSpPr>
          <p:cNvPr id="103" name="text"/>
          <p:cNvSpPr txBox="1"/>
          <p:nvPr/>
        </p:nvSpPr>
        <p:spPr>
          <a:xfrm>
            <a:off x="749300" y="3022600"/>
            <a:ext cx="2641600" cy="711200"/>
          </a:xfrm>
          <a:prstGeom prst="rect">
            <a:avLst/>
          </a:prstGeom>
          <a:noFill/>
          <a:ln/>
        </p:spPr>
        <p:txBody>
          <a:bodyPr wrap="square" lIns="0" tIns="0" rIns="0" bIns="0" rtlCol="0" anchor="t"/>
          <a:lstStyle/>
          <a:p>
            <a:pPr marL="0" indent="0" algn="l">
              <a:spcAft>
                <a:spcPts val="0"/>
              </a:spcAft>
              <a:buNone/>
            </a:pPr>
            <a:r>
              <a:rPr lang="en-US" sz="1400" dirty="0">
                <a:solidFill>
                  <a:schemeClr val="tx2"/>
                </a:solidFill>
              </a:rPr>
              <a:t>Claude, Claude Code or an IDE. Shows the server's actions to Claude as tools.</a:t>
            </a:r>
          </a:p>
        </p:txBody>
      </p:sp>
      <p:sp>
        <p:nvSpPr>
          <p:cNvPr id="104" name="card"/>
          <p:cNvSpPr/>
          <p:nvPr/>
        </p:nvSpPr>
        <p:spPr>
          <a:xfrm>
            <a:off x="4546600" y="2184400"/>
            <a:ext cx="3048000" cy="1625600"/>
          </a:xfrm>
          <a:prstGeom prst="roundRect">
            <a:avLst>
              <a:gd name="adj" fmla="val 7143"/>
            </a:avLst>
          </a:prstGeom>
          <a:solidFill>
            <a:schemeClr val="bg2"/>
          </a:solidFill>
          <a:ln w="9525">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5" name="icon circle"/>
          <p:cNvSpPr/>
          <p:nvPr/>
        </p:nvSpPr>
        <p:spPr>
          <a:xfrm>
            <a:off x="4749800" y="2362200"/>
            <a:ext cx="558800" cy="558800"/>
          </a:xfrm>
          <a:prstGeom prst="ellipse">
            <a:avLst/>
          </a:prstGeom>
          <a:solidFill>
            <a:schemeClr val="accent2"/>
          </a:solidFill>
          <a:ln w="12700">
            <a:solidFill>
              <a:schemeClr val="accent2"/>
            </a:solidFill>
          </a:ln>
        </p:spPr>
        <p:txBody>
          <a:bodyPr/>
          <a:lstStyle/>
          <a:p>
            <a:endParaRPr lang="en-US"/>
          </a:p>
        </p:txBody>
      </p:sp>
      <p:sp>
        <p:nvSpPr>
          <p:cNvPr id="106" name="text"/>
          <p:cNvSpPr txBox="1"/>
          <p:nvPr/>
        </p:nvSpPr>
        <p:spPr>
          <a:xfrm>
            <a:off x="5461000" y="2387600"/>
            <a:ext cx="1930400" cy="508000"/>
          </a:xfrm>
          <a:prstGeom prst="rect">
            <a:avLst/>
          </a:prstGeom>
          <a:noFill/>
          <a:ln/>
        </p:spPr>
        <p:txBody>
          <a:bodyPr wrap="square" lIns="0" tIns="0" rIns="0" bIns="0" rtlCol="0" anchor="t"/>
          <a:lstStyle/>
          <a:p>
            <a:pPr marL="0" indent="0" algn="l">
              <a:spcAft>
                <a:spcPts val="0"/>
              </a:spcAft>
              <a:buNone/>
            </a:pPr>
            <a:r>
              <a:rPr lang="en-US" sz="1600" b="1" dirty="0">
                <a:solidFill>
                  <a:schemeClr val="tx1"/>
                </a:solidFill>
              </a:rPr>
              <a:t>MCP server</a:t>
            </a:r>
          </a:p>
          <a:p>
            <a:pPr marL="0" indent="0" algn="l">
              <a:spcAft>
                <a:spcPts val="0"/>
              </a:spcAft>
              <a:buNone/>
            </a:pPr>
            <a:r>
              <a:rPr lang="en-US" sz="1300" dirty="0">
                <a:solidFill>
                  <a:schemeClr val="tx2"/>
                </a:solidFill>
              </a:rPr>
              <a:t>The connector</a:t>
            </a:r>
          </a:p>
        </p:txBody>
      </p:sp>
      <p:sp>
        <p:nvSpPr>
          <p:cNvPr id="107" name="text"/>
          <p:cNvSpPr txBox="1"/>
          <p:nvPr/>
        </p:nvSpPr>
        <p:spPr>
          <a:xfrm>
            <a:off x="4749800" y="3022600"/>
            <a:ext cx="2641600" cy="711200"/>
          </a:xfrm>
          <a:prstGeom prst="rect">
            <a:avLst/>
          </a:prstGeom>
          <a:noFill/>
          <a:ln/>
        </p:spPr>
        <p:txBody>
          <a:bodyPr wrap="square" lIns="0" tIns="0" rIns="0" bIns="0" rtlCol="0" anchor="t"/>
          <a:lstStyle/>
          <a:p>
            <a:pPr marL="0" indent="0" algn="l">
              <a:spcAft>
                <a:spcPts val="0"/>
              </a:spcAft>
              <a:buNone/>
            </a:pPr>
            <a:r>
              <a:rPr lang="en-US" sz="1400" dirty="0">
                <a:solidFill>
                  <a:schemeClr val="tx2"/>
                </a:solidFill>
              </a:rPr>
              <a:t>Sits in front of one app. Lists its actions and runs them when Claude asks.</a:t>
            </a:r>
          </a:p>
        </p:txBody>
      </p:sp>
      <p:sp>
        <p:nvSpPr>
          <p:cNvPr id="108" name="card"/>
          <p:cNvSpPr/>
          <p:nvPr/>
        </p:nvSpPr>
        <p:spPr>
          <a:xfrm>
            <a:off x="8559800" y="2184400"/>
            <a:ext cx="3048000" cy="1625600"/>
          </a:xfrm>
          <a:prstGeom prst="roundRect">
            <a:avLst>
              <a:gd name="adj" fmla="val 7143"/>
            </a:avLst>
          </a:prstGeom>
          <a:solidFill>
            <a:schemeClr val="bg2"/>
          </a:solidFill>
          <a:ln w="9525">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9" name="icon circle"/>
          <p:cNvSpPr/>
          <p:nvPr/>
        </p:nvSpPr>
        <p:spPr>
          <a:xfrm>
            <a:off x="8763000" y="2362200"/>
            <a:ext cx="558800" cy="558800"/>
          </a:xfrm>
          <a:prstGeom prst="ellipse">
            <a:avLst/>
          </a:prstGeom>
          <a:solidFill>
            <a:schemeClr val="accent1"/>
          </a:solidFill>
          <a:ln w="12700">
            <a:solidFill>
              <a:schemeClr val="accent1"/>
            </a:solidFill>
          </a:ln>
        </p:spPr>
        <p:txBody>
          <a:bodyPr/>
          <a:lstStyle/>
          <a:p>
            <a:endParaRPr lang="en-US"/>
          </a:p>
        </p:txBody>
      </p:sp>
      <p:sp>
        <p:nvSpPr>
          <p:cNvPr id="110" name="text"/>
          <p:cNvSpPr txBox="1"/>
          <p:nvPr/>
        </p:nvSpPr>
        <p:spPr>
          <a:xfrm>
            <a:off x="9474200" y="2387600"/>
            <a:ext cx="1930400" cy="508000"/>
          </a:xfrm>
          <a:prstGeom prst="rect">
            <a:avLst/>
          </a:prstGeom>
          <a:noFill/>
          <a:ln/>
        </p:spPr>
        <p:txBody>
          <a:bodyPr wrap="square" lIns="0" tIns="0" rIns="0" bIns="0" rtlCol="0" anchor="t"/>
          <a:lstStyle/>
          <a:p>
            <a:pPr marL="0" indent="0" algn="l">
              <a:spcAft>
                <a:spcPts val="0"/>
              </a:spcAft>
              <a:buNone/>
            </a:pPr>
            <a:r>
              <a:rPr lang="en-US" sz="1600" b="1" dirty="0">
                <a:solidFill>
                  <a:schemeClr val="tx1"/>
                </a:solidFill>
              </a:rPr>
              <a:t>Your app</a:t>
            </a:r>
          </a:p>
          <a:p>
            <a:pPr marL="0" indent="0" algn="l">
              <a:spcAft>
                <a:spcPts val="0"/>
              </a:spcAft>
              <a:buNone/>
            </a:pPr>
            <a:r>
              <a:rPr lang="en-US" sz="1300" dirty="0">
                <a:solidFill>
                  <a:schemeClr val="tx2"/>
                </a:solidFill>
              </a:rPr>
              <a:t>Drive, Slack, GitHub</a:t>
            </a:r>
          </a:p>
        </p:txBody>
      </p:sp>
      <p:sp>
        <p:nvSpPr>
          <p:cNvPr id="111" name="text"/>
          <p:cNvSpPr txBox="1"/>
          <p:nvPr/>
        </p:nvSpPr>
        <p:spPr>
          <a:xfrm>
            <a:off x="8763000" y="3022600"/>
            <a:ext cx="2641600" cy="711200"/>
          </a:xfrm>
          <a:prstGeom prst="rect">
            <a:avLst/>
          </a:prstGeom>
          <a:noFill/>
          <a:ln/>
        </p:spPr>
        <p:txBody>
          <a:bodyPr wrap="square" lIns="0" tIns="0" rIns="0" bIns="0" rtlCol="0" anchor="t"/>
          <a:lstStyle/>
          <a:p>
            <a:pPr marL="0" indent="0" algn="l">
              <a:spcAft>
                <a:spcPts val="0"/>
              </a:spcAft>
              <a:buNone/>
            </a:pPr>
            <a:r>
              <a:rPr lang="en-US" sz="1400" dirty="0">
                <a:solidFill>
                  <a:schemeClr val="tx2"/>
                </a:solidFill>
              </a:rPr>
              <a:t>Does the work with your sign-in and permissions, then returns the result.</a:t>
            </a:r>
          </a:p>
        </p:txBody>
      </p:sp>
      <p:cxnSp>
        <p:nvCxnSpPr>
          <p:cNvPr id="112" name="arrow"/>
          <p:cNvCxnSpPr/>
          <p:nvPr/>
        </p:nvCxnSpPr>
        <p:spPr>
          <a:xfrm>
            <a:off x="3695700" y="2997200"/>
            <a:ext cx="749300" cy="0"/>
          </a:xfrm>
          <a:prstGeom prst="line">
            <a:avLst/>
          </a:prstGeom>
          <a:ln w="19050">
            <a:solidFill>
              <a:schemeClr val="accent5"/>
            </a:solidFill>
            <a:headEnd type="triangle"/>
            <a:tailEnd type="triangle"/>
          </a:ln>
        </p:spPr>
      </p:cxnSp>
      <p:cxnSp>
        <p:nvCxnSpPr>
          <p:cNvPr id="113" name="arrow"/>
          <p:cNvCxnSpPr/>
          <p:nvPr/>
        </p:nvCxnSpPr>
        <p:spPr>
          <a:xfrm>
            <a:off x="7696200" y="2997200"/>
            <a:ext cx="762000" cy="0"/>
          </a:xfrm>
          <a:prstGeom prst="line">
            <a:avLst/>
          </a:prstGeom>
          <a:ln w="19050">
            <a:solidFill>
              <a:schemeClr val="accent5"/>
            </a:solidFill>
            <a:headEnd type="triangle"/>
            <a:tailEnd type="triangle"/>
          </a:ln>
        </p:spPr>
      </p:cxnSp>
      <p:sp>
        <p:nvSpPr>
          <p:cNvPr id="114" name="text"/>
          <p:cNvSpPr txBox="1"/>
          <p:nvPr/>
        </p:nvSpPr>
        <p:spPr>
          <a:xfrm>
            <a:off x="3594100" y="2667000"/>
            <a:ext cx="952500" cy="254000"/>
          </a:xfrm>
          <a:prstGeom prst="rect">
            <a:avLst/>
          </a:prstGeom>
          <a:noFill/>
          <a:ln/>
        </p:spPr>
        <p:txBody>
          <a:bodyPr wrap="square" lIns="0" tIns="0" rIns="0" bIns="0" rtlCol="0" anchor="b"/>
          <a:lstStyle/>
          <a:p>
            <a:pPr marL="0" indent="0" algn="ctr">
              <a:spcAft>
                <a:spcPts val="0"/>
              </a:spcAft>
              <a:buNone/>
            </a:pPr>
            <a:r>
              <a:rPr lang="en-US" sz="1400" b="1" dirty="0">
                <a:solidFill>
                  <a:schemeClr val="tx2"/>
                </a:solidFill>
              </a:rPr>
              <a:t>MCP</a:t>
            </a:r>
          </a:p>
        </p:txBody>
      </p:sp>
      <p:sp>
        <p:nvSpPr>
          <p:cNvPr id="115" name="text"/>
          <p:cNvSpPr txBox="1"/>
          <p:nvPr/>
        </p:nvSpPr>
        <p:spPr>
          <a:xfrm>
            <a:off x="7594600" y="2667000"/>
            <a:ext cx="965200" cy="254000"/>
          </a:xfrm>
          <a:prstGeom prst="rect">
            <a:avLst/>
          </a:prstGeom>
          <a:noFill/>
          <a:ln/>
        </p:spPr>
        <p:txBody>
          <a:bodyPr wrap="square" lIns="0" tIns="0" rIns="0" bIns="0" rtlCol="0" anchor="b"/>
          <a:lstStyle/>
          <a:p>
            <a:pPr marL="0" indent="0" algn="ctr">
              <a:spcAft>
                <a:spcPts val="0"/>
              </a:spcAft>
              <a:buNone/>
            </a:pPr>
            <a:r>
              <a:rPr lang="en-US" sz="1400" b="1" dirty="0">
                <a:solidFill>
                  <a:schemeClr val="tx2"/>
                </a:solidFill>
              </a:rPr>
              <a:t>App API</a:t>
            </a:r>
          </a:p>
        </p:txBody>
      </p:sp>
      <p:sp>
        <p:nvSpPr>
          <p:cNvPr id="116" name="text"/>
          <p:cNvSpPr txBox="1"/>
          <p:nvPr/>
        </p:nvSpPr>
        <p:spPr>
          <a:xfrm>
            <a:off x="546100" y="4013200"/>
            <a:ext cx="11061700" cy="279400"/>
          </a:xfrm>
          <a:prstGeom prst="rect">
            <a:avLst/>
          </a:prstGeom>
          <a:noFill/>
          <a:ln/>
        </p:spPr>
        <p:txBody>
          <a:bodyPr wrap="square" lIns="0" tIns="0" rIns="0" bIns="0" rtlCol="0" anchor="t"/>
          <a:lstStyle/>
          <a:p>
            <a:pPr marL="0" indent="0" algn="l">
              <a:spcAft>
                <a:spcPts val="0"/>
              </a:spcAft>
              <a:buNone/>
            </a:pPr>
            <a:r>
              <a:rPr lang="en-US" sz="1600" b="1" dirty="0">
                <a:solidFill>
                  <a:schemeClr val="tx1"/>
                </a:solidFill>
              </a:rPr>
              <a:t>What a server can offer Claude</a:t>
            </a:r>
          </a:p>
        </p:txBody>
      </p:sp>
      <p:sp>
        <p:nvSpPr>
          <p:cNvPr id="117" name="card"/>
          <p:cNvSpPr/>
          <p:nvPr/>
        </p:nvSpPr>
        <p:spPr>
          <a:xfrm>
            <a:off x="546100" y="4343400"/>
            <a:ext cx="3048000" cy="939800"/>
          </a:xfrm>
          <a:prstGeom prst="roundRect">
            <a:avLst>
              <a:gd name="adj" fmla="val 7143"/>
            </a:avLst>
          </a:prstGeom>
          <a:solidFill>
            <a:schemeClr val="bg2"/>
          </a:solidFill>
          <a:ln w="9525">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18" name="text"/>
          <p:cNvSpPr txBox="1"/>
          <p:nvPr/>
        </p:nvSpPr>
        <p:spPr>
          <a:xfrm>
            <a:off x="749300" y="4470400"/>
            <a:ext cx="2641600" cy="762000"/>
          </a:xfrm>
          <a:prstGeom prst="rect">
            <a:avLst/>
          </a:prstGeom>
          <a:noFill/>
          <a:ln/>
        </p:spPr>
        <p:txBody>
          <a:bodyPr wrap="square" lIns="0" tIns="0" rIns="0" bIns="0" rtlCol="0" anchor="t"/>
          <a:lstStyle/>
          <a:p>
            <a:pPr marL="0" indent="0" algn="l">
              <a:spcAft>
                <a:spcPts val="200"/>
              </a:spcAft>
              <a:buNone/>
            </a:pPr>
            <a:r>
              <a:rPr lang="en-US" sz="1600" b="1" dirty="0">
                <a:solidFill>
                  <a:schemeClr val="tx1"/>
                </a:solidFill>
              </a:rPr>
              <a:t>Tools</a:t>
            </a:r>
          </a:p>
          <a:p>
            <a:pPr marL="0" indent="0" algn="l">
              <a:spcAft>
                <a:spcPts val="0"/>
              </a:spcAft>
              <a:buNone/>
            </a:pPr>
            <a:r>
              <a:rPr lang="en-US" sz="1400" dirty="0">
                <a:solidFill>
                  <a:schemeClr val="tx2"/>
                </a:solidFill>
              </a:rPr>
              <a:t>Actions to run: search files, post a message, open a ticket</a:t>
            </a:r>
          </a:p>
        </p:txBody>
      </p:sp>
      <p:sp>
        <p:nvSpPr>
          <p:cNvPr id="119" name="card"/>
          <p:cNvSpPr/>
          <p:nvPr/>
        </p:nvSpPr>
        <p:spPr>
          <a:xfrm>
            <a:off x="4546600" y="4343400"/>
            <a:ext cx="3048000" cy="939800"/>
          </a:xfrm>
          <a:prstGeom prst="roundRect">
            <a:avLst>
              <a:gd name="adj" fmla="val 7143"/>
            </a:avLst>
          </a:prstGeom>
          <a:solidFill>
            <a:schemeClr val="bg2"/>
          </a:solidFill>
          <a:ln w="9525">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20" name="text"/>
          <p:cNvSpPr txBox="1"/>
          <p:nvPr/>
        </p:nvSpPr>
        <p:spPr>
          <a:xfrm>
            <a:off x="4749800" y="4470400"/>
            <a:ext cx="2641600" cy="762000"/>
          </a:xfrm>
          <a:prstGeom prst="rect">
            <a:avLst/>
          </a:prstGeom>
          <a:noFill/>
          <a:ln/>
        </p:spPr>
        <p:txBody>
          <a:bodyPr wrap="square" lIns="0" tIns="0" rIns="0" bIns="0" rtlCol="0" anchor="t"/>
          <a:lstStyle/>
          <a:p>
            <a:pPr marL="0" indent="0" algn="l">
              <a:spcAft>
                <a:spcPts val="200"/>
              </a:spcAft>
              <a:buNone/>
            </a:pPr>
            <a:r>
              <a:rPr lang="en-US" sz="1600" b="1" dirty="0">
                <a:solidFill>
                  <a:schemeClr val="tx1"/>
                </a:solidFill>
              </a:rPr>
              <a:t>Resources</a:t>
            </a:r>
          </a:p>
          <a:p>
            <a:pPr marL="0" indent="0" algn="l">
              <a:spcAft>
                <a:spcPts val="0"/>
              </a:spcAft>
              <a:buNone/>
            </a:pPr>
            <a:r>
              <a:rPr lang="en-US" sz="1400" dirty="0">
                <a:solidFill>
                  <a:schemeClr val="tx2"/>
                </a:solidFill>
              </a:rPr>
              <a:t>Data to read: a document, a table, a customer record</a:t>
            </a:r>
          </a:p>
        </p:txBody>
      </p:sp>
      <p:sp>
        <p:nvSpPr>
          <p:cNvPr id="121" name="card"/>
          <p:cNvSpPr/>
          <p:nvPr/>
        </p:nvSpPr>
        <p:spPr>
          <a:xfrm>
            <a:off x="8559800" y="4343400"/>
            <a:ext cx="3048000" cy="939800"/>
          </a:xfrm>
          <a:prstGeom prst="roundRect">
            <a:avLst>
              <a:gd name="adj" fmla="val 7143"/>
            </a:avLst>
          </a:prstGeom>
          <a:solidFill>
            <a:schemeClr val="bg2"/>
          </a:solidFill>
          <a:ln w="9525">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22" name="text"/>
          <p:cNvSpPr txBox="1"/>
          <p:nvPr/>
        </p:nvSpPr>
        <p:spPr>
          <a:xfrm>
            <a:off x="8763000" y="4470400"/>
            <a:ext cx="2641600" cy="762000"/>
          </a:xfrm>
          <a:prstGeom prst="rect">
            <a:avLst/>
          </a:prstGeom>
          <a:noFill/>
          <a:ln/>
        </p:spPr>
        <p:txBody>
          <a:bodyPr wrap="square" lIns="0" tIns="0" rIns="0" bIns="0" rtlCol="0" anchor="t"/>
          <a:lstStyle/>
          <a:p>
            <a:pPr marL="0" indent="0" algn="l">
              <a:spcAft>
                <a:spcPts val="200"/>
              </a:spcAft>
              <a:buNone/>
            </a:pPr>
            <a:r>
              <a:rPr lang="en-US" sz="1600" b="1" dirty="0">
                <a:solidFill>
                  <a:schemeClr val="tx1"/>
                </a:solidFill>
              </a:rPr>
              <a:t>Prompts</a:t>
            </a:r>
          </a:p>
          <a:p>
            <a:pPr marL="0" indent="0" algn="l">
              <a:spcAft>
                <a:spcPts val="0"/>
              </a:spcAft>
              <a:buNone/>
            </a:pPr>
            <a:r>
              <a:rPr lang="en-US" sz="1400" dirty="0">
                <a:solidFill>
                  <a:schemeClr val="tx2"/>
                </a:solidFill>
              </a:rPr>
              <a:t>Ready-made templates for the app's common tasks</a:t>
            </a:r>
          </a:p>
        </p:txBody>
      </p:sp>
      <p:sp>
        <p:nvSpPr>
          <p:cNvPr id="123" name="card"/>
          <p:cNvSpPr/>
          <p:nvPr/>
        </p:nvSpPr>
        <p:spPr>
          <a:xfrm>
            <a:off x="546100" y="5537200"/>
            <a:ext cx="11061700" cy="558800"/>
          </a:xfrm>
          <a:prstGeom prst="roundRect">
            <a:avLst>
              <a:gd name="adj" fmla="val 7143"/>
            </a:avLst>
          </a:prstGeom>
          <a:solidFill>
            <a:schemeClr val="bg2"/>
          </a:solidFill>
          <a:ln w="9525">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24" name="accent bar"/>
          <p:cNvSpPr/>
          <p:nvPr/>
        </p:nvSpPr>
        <p:spPr>
          <a:xfrm>
            <a:off x="546100" y="5537200"/>
            <a:ext cx="76200" cy="558800"/>
          </a:xfrm>
          <a:prstGeom prst="rect">
            <a:avLst/>
          </a:prstGeom>
          <a:solidFill>
            <a:schemeClr val="accent2"/>
          </a:solidFill>
          <a:ln>
            <a:noFill/>
          </a:ln>
        </p:spPr>
        <p:txBody>
          <a:bodyPr/>
          <a:lstStyle/>
          <a:p>
            <a:endParaRPr lang="en-US"/>
          </a:p>
        </p:txBody>
      </p:sp>
      <p:sp>
        <p:nvSpPr>
          <p:cNvPr id="125" name="text"/>
          <p:cNvSpPr txBox="1"/>
          <p:nvPr/>
        </p:nvSpPr>
        <p:spPr>
          <a:xfrm>
            <a:off x="825500" y="5537200"/>
            <a:ext cx="10604500" cy="558800"/>
          </a:xfrm>
          <a:prstGeom prst="rect">
            <a:avLst/>
          </a:prstGeom>
          <a:noFill/>
          <a:ln/>
        </p:spPr>
        <p:txBody>
          <a:bodyPr wrap="square" lIns="0" tIns="0" rIns="0" bIns="0" rtlCol="0" anchor="ctr"/>
          <a:lstStyle/>
          <a:p>
            <a:pPr marL="0" indent="0" algn="l">
              <a:spcAft>
                <a:spcPts val="0"/>
              </a:spcAft>
              <a:buNone/>
            </a:pPr>
            <a:r>
              <a:rPr lang="en-US" sz="1400" b="1" dirty="0">
                <a:solidFill>
                  <a:schemeClr val="tx1"/>
                </a:solidFill>
              </a:rPr>
              <a:t>A connector is a ready-made MCP server you switch on in Claude by signing in. </a:t>
            </a:r>
            <a:r>
              <a:rPr lang="en-US" sz="1400" dirty="0">
                <a:solidFill>
                  <a:schemeClr val="tx2"/>
                </a:solidFill>
              </a:rPr>
              <a:t>Each app builds it once, and it works in any MCP client.</a:t>
            </a:r>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23</a:t>
            </a:fld>
            <a:endParaRPr lang="en-US"/>
          </a:p>
        </p:txBody>
      </p:sp>
      <p:pic>
        <p:nvPicPr>
          <p:cNvPr id="126" name="Graphic 126" descr="Claude clien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6300" y="2489200"/>
            <a:ext cx="304800" cy="304800"/>
          </a:xfrm>
          <a:prstGeom prst="rect">
            <a:avLst/>
          </a:prstGeom>
        </p:spPr>
      </p:pic>
      <p:pic>
        <p:nvPicPr>
          <p:cNvPr id="127" name="Graphic 127" descr="MCP serve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76800" y="2489200"/>
            <a:ext cx="304800" cy="304800"/>
          </a:xfrm>
          <a:prstGeom prst="rect">
            <a:avLst/>
          </a:prstGeom>
        </p:spPr>
      </p:pic>
      <p:pic>
        <p:nvPicPr>
          <p:cNvPr id="128" name="Graphic 128" descr="Your app"/>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90000" y="2489200"/>
            <a:ext cx="304800" cy="304800"/>
          </a:xfrm>
          <a:prstGeom prst="rect">
            <a:avLst/>
          </a:prstGeom>
        </p:spPr>
      </p:pic>
    </p:spTree>
    <p:extLst>
      <p:ext uri="{BB962C8B-B14F-4D97-AF65-F5344CB8AC3E}">
        <p14:creationId xmlns:p14="http://schemas.microsoft.com/office/powerpoint/2010/main" val="3633467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Five workflow patterns: start with the simplest</a:t>
            </a:r>
            <a:endParaRPr lang="en-US" sz="3200" dirty="0"/>
          </a:p>
        </p:txBody>
      </p:sp>
      <p:sp>
        <p:nvSpPr>
          <p:cNvPr id="3" name="card"/>
          <p:cNvSpPr/>
          <p:nvPr/>
        </p:nvSpPr>
        <p:spPr>
          <a:xfrm>
            <a:off x="548640" y="1371600"/>
            <a:ext cx="2066544" cy="46634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node"/>
          <p:cNvSpPr/>
          <p:nvPr/>
        </p:nvSpPr>
        <p:spPr>
          <a:xfrm>
            <a:off x="713232" y="2057400"/>
            <a:ext cx="457200" cy="411480"/>
          </a:xfrm>
          <a:prstGeom prst="roundRect">
            <a:avLst>
              <a:gd name="adj" fmla="val 11111"/>
            </a:avLst>
          </a:prstGeom>
          <a:solidFill>
            <a:schemeClr val="accent1"/>
          </a:solidFill>
          <a:ln w="12700">
            <a:solidFill>
              <a:schemeClr val="accent1"/>
            </a:solidFill>
            <a:prstDash val="solid"/>
          </a:ln>
        </p:spPr>
        <p:txBody>
          <a:bodyPr/>
          <a:lstStyle/>
          <a:p>
            <a:endParaRPr lang="en-US"/>
          </a:p>
        </p:txBody>
      </p:sp>
      <p:sp>
        <p:nvSpPr>
          <p:cNvPr id="5" name="arrow"/>
          <p:cNvSpPr/>
          <p:nvPr/>
        </p:nvSpPr>
        <p:spPr>
          <a:xfrm>
            <a:off x="1188720" y="2263140"/>
            <a:ext cx="128016" cy="0"/>
          </a:xfrm>
          <a:prstGeom prst="line">
            <a:avLst/>
          </a:prstGeom>
          <a:noFill/>
          <a:ln w="19050">
            <a:solidFill>
              <a:schemeClr val="accent5"/>
            </a:solidFill>
            <a:prstDash val="solid"/>
            <a:tailEnd type="triangle"/>
          </a:ln>
        </p:spPr>
        <p:txBody>
          <a:bodyPr/>
          <a:lstStyle/>
          <a:p>
            <a:endParaRPr lang="en-US"/>
          </a:p>
        </p:txBody>
      </p:sp>
      <p:sp>
        <p:nvSpPr>
          <p:cNvPr id="6" name="node"/>
          <p:cNvSpPr/>
          <p:nvPr/>
        </p:nvSpPr>
        <p:spPr>
          <a:xfrm>
            <a:off x="1335024" y="2057400"/>
            <a:ext cx="457200" cy="411480"/>
          </a:xfrm>
          <a:prstGeom prst="roundRect">
            <a:avLst>
              <a:gd name="adj" fmla="val 11111"/>
            </a:avLst>
          </a:prstGeom>
          <a:solidFill>
            <a:schemeClr val="accent1"/>
          </a:solidFill>
          <a:ln w="12700">
            <a:solidFill>
              <a:schemeClr val="accent1"/>
            </a:solidFill>
            <a:prstDash val="solid"/>
          </a:ln>
        </p:spPr>
        <p:txBody>
          <a:bodyPr/>
          <a:lstStyle/>
          <a:p>
            <a:endParaRPr lang="en-US"/>
          </a:p>
        </p:txBody>
      </p:sp>
      <p:sp>
        <p:nvSpPr>
          <p:cNvPr id="7" name="arrow"/>
          <p:cNvSpPr/>
          <p:nvPr/>
        </p:nvSpPr>
        <p:spPr>
          <a:xfrm>
            <a:off x="1810512" y="2263140"/>
            <a:ext cx="128016" cy="0"/>
          </a:xfrm>
          <a:prstGeom prst="line">
            <a:avLst/>
          </a:prstGeom>
          <a:noFill/>
          <a:ln w="19050">
            <a:solidFill>
              <a:schemeClr val="accent5"/>
            </a:solidFill>
            <a:prstDash val="solid"/>
            <a:tailEnd type="triangle"/>
          </a:ln>
        </p:spPr>
        <p:txBody>
          <a:bodyPr/>
          <a:lstStyle/>
          <a:p>
            <a:endParaRPr lang="en-US"/>
          </a:p>
        </p:txBody>
      </p:sp>
      <p:sp>
        <p:nvSpPr>
          <p:cNvPr id="8" name="node"/>
          <p:cNvSpPr/>
          <p:nvPr/>
        </p:nvSpPr>
        <p:spPr>
          <a:xfrm>
            <a:off x="1956816" y="2057400"/>
            <a:ext cx="457200" cy="411480"/>
          </a:xfrm>
          <a:prstGeom prst="roundRect">
            <a:avLst>
              <a:gd name="adj" fmla="val 11111"/>
            </a:avLst>
          </a:prstGeom>
          <a:solidFill>
            <a:schemeClr val="accent1"/>
          </a:solidFill>
          <a:ln w="12700">
            <a:solidFill>
              <a:schemeClr val="accent1"/>
            </a:solidFill>
            <a:prstDash val="solid"/>
          </a:ln>
        </p:spPr>
        <p:txBody>
          <a:bodyPr/>
          <a:lstStyle/>
          <a:p>
            <a:endParaRPr lang="en-US"/>
          </a:p>
        </p:txBody>
      </p:sp>
      <p:sp>
        <p:nvSpPr>
          <p:cNvPr id="9" name="Text 7"/>
          <p:cNvSpPr txBox="1"/>
          <p:nvPr/>
        </p:nvSpPr>
        <p:spPr>
          <a:xfrm>
            <a:off x="731520" y="3200400"/>
            <a:ext cx="1737360" cy="640080"/>
          </a:xfrm>
          <a:prstGeom prst="rect">
            <a:avLst/>
          </a:prstGeom>
          <a:noFill/>
          <a:ln/>
        </p:spPr>
        <p:txBody>
          <a:bodyPr wrap="square" lIns="0" tIns="0" rIns="0" bIns="0" rtlCol="0" anchor="t"/>
          <a:lstStyle/>
          <a:p>
            <a:pPr marL="0" indent="0">
              <a:buNone/>
            </a:pPr>
            <a:r>
              <a:rPr lang="en-US" sz="1600" b="1" dirty="0">
                <a:solidFill>
                  <a:schemeClr val="tx1"/>
                </a:solidFill>
              </a:rPr>
              <a:t>Prompt chaining</a:t>
            </a:r>
            <a:endParaRPr lang="en-US" sz="1600" dirty="0"/>
          </a:p>
        </p:txBody>
      </p:sp>
      <p:sp>
        <p:nvSpPr>
          <p:cNvPr id="10" name="Text 8"/>
          <p:cNvSpPr txBox="1"/>
          <p:nvPr/>
        </p:nvSpPr>
        <p:spPr>
          <a:xfrm>
            <a:off x="731520" y="3886200"/>
            <a:ext cx="1737360" cy="914400"/>
          </a:xfrm>
          <a:prstGeom prst="rect">
            <a:avLst/>
          </a:prstGeom>
          <a:noFill/>
          <a:ln/>
        </p:spPr>
        <p:txBody>
          <a:bodyPr wrap="square" lIns="0" tIns="0" rIns="0" bIns="0" rtlCol="0" anchor="t"/>
          <a:lstStyle/>
          <a:p>
            <a:pPr marL="0" indent="0">
              <a:buNone/>
            </a:pPr>
            <a:r>
              <a:rPr lang="en-US" sz="1300" dirty="0">
                <a:solidFill>
                  <a:schemeClr val="tx2"/>
                </a:solidFill>
              </a:rPr>
              <a:t>Fixed steps, each feeds the next</a:t>
            </a:r>
            <a:endParaRPr lang="en-US" sz="1300" dirty="0"/>
          </a:p>
        </p:txBody>
      </p:sp>
      <p:sp>
        <p:nvSpPr>
          <p:cNvPr id="11" name="Text 9"/>
          <p:cNvSpPr txBox="1"/>
          <p:nvPr/>
        </p:nvSpPr>
        <p:spPr>
          <a:xfrm>
            <a:off x="731520" y="4937760"/>
            <a:ext cx="1737360" cy="914400"/>
          </a:xfrm>
          <a:prstGeom prst="rect">
            <a:avLst/>
          </a:prstGeom>
          <a:noFill/>
          <a:ln/>
        </p:spPr>
        <p:txBody>
          <a:bodyPr wrap="square" lIns="0" tIns="0" rIns="0" bIns="0" rtlCol="0" anchor="t"/>
          <a:lstStyle/>
          <a:p>
            <a:pPr marL="0" indent="0">
              <a:buNone/>
            </a:pPr>
            <a:r>
              <a:rPr lang="en-US" sz="1200" i="1" dirty="0">
                <a:solidFill>
                  <a:schemeClr val="accent5"/>
                </a:solidFill>
              </a:rPr>
              <a:t>Outline → draft → translate</a:t>
            </a:r>
            <a:endParaRPr lang="en-US" sz="1200" dirty="0"/>
          </a:p>
        </p:txBody>
      </p:sp>
      <p:sp>
        <p:nvSpPr>
          <p:cNvPr id="12" name="card"/>
          <p:cNvSpPr/>
          <p:nvPr/>
        </p:nvSpPr>
        <p:spPr>
          <a:xfrm>
            <a:off x="2798064" y="1371600"/>
            <a:ext cx="2066544" cy="46634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3" name="node"/>
          <p:cNvSpPr/>
          <p:nvPr/>
        </p:nvSpPr>
        <p:spPr>
          <a:xfrm>
            <a:off x="3602736" y="1691640"/>
            <a:ext cx="457200" cy="365760"/>
          </a:xfrm>
          <a:prstGeom prst="roundRect">
            <a:avLst>
              <a:gd name="adj" fmla="val 12500"/>
            </a:avLst>
          </a:prstGeom>
          <a:solidFill>
            <a:schemeClr val="accent2"/>
          </a:solidFill>
          <a:ln w="12700">
            <a:solidFill>
              <a:schemeClr val="accent2"/>
            </a:solidFill>
            <a:prstDash val="solid"/>
          </a:ln>
        </p:spPr>
        <p:txBody>
          <a:bodyPr/>
          <a:lstStyle/>
          <a:p>
            <a:endParaRPr lang="en-US"/>
          </a:p>
        </p:txBody>
      </p:sp>
      <p:sp>
        <p:nvSpPr>
          <p:cNvPr id="14" name="node"/>
          <p:cNvSpPr/>
          <p:nvPr/>
        </p:nvSpPr>
        <p:spPr>
          <a:xfrm>
            <a:off x="3008376" y="2606040"/>
            <a:ext cx="457200" cy="36576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15" name="arrow"/>
          <p:cNvSpPr/>
          <p:nvPr/>
        </p:nvSpPr>
        <p:spPr>
          <a:xfrm>
            <a:off x="3831336" y="2075688"/>
            <a:ext cx="0" cy="512064"/>
          </a:xfrm>
          <a:prstGeom prst="line">
            <a:avLst/>
          </a:prstGeom>
          <a:noFill/>
          <a:ln w="19050">
            <a:solidFill>
              <a:schemeClr val="accent5"/>
            </a:solidFill>
            <a:prstDash val="solid"/>
            <a:tailEnd type="triangle"/>
          </a:ln>
        </p:spPr>
        <p:txBody>
          <a:bodyPr/>
          <a:lstStyle/>
          <a:p>
            <a:endParaRPr lang="en-US"/>
          </a:p>
        </p:txBody>
      </p:sp>
      <p:sp>
        <p:nvSpPr>
          <p:cNvPr id="16" name="node"/>
          <p:cNvSpPr/>
          <p:nvPr/>
        </p:nvSpPr>
        <p:spPr>
          <a:xfrm>
            <a:off x="3602736" y="2606040"/>
            <a:ext cx="457200" cy="36576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17" name="arrow"/>
          <p:cNvSpPr/>
          <p:nvPr/>
        </p:nvSpPr>
        <p:spPr>
          <a:xfrm>
            <a:off x="3831336" y="2075688"/>
            <a:ext cx="914" cy="512064"/>
          </a:xfrm>
          <a:prstGeom prst="line">
            <a:avLst/>
          </a:prstGeom>
          <a:noFill/>
          <a:ln w="19050">
            <a:solidFill>
              <a:schemeClr val="accent5"/>
            </a:solidFill>
            <a:prstDash val="solid"/>
            <a:tailEnd type="triangle"/>
          </a:ln>
        </p:spPr>
        <p:txBody>
          <a:bodyPr/>
          <a:lstStyle/>
          <a:p>
            <a:endParaRPr lang="en-US"/>
          </a:p>
        </p:txBody>
      </p:sp>
      <p:sp>
        <p:nvSpPr>
          <p:cNvPr id="18" name="node"/>
          <p:cNvSpPr/>
          <p:nvPr/>
        </p:nvSpPr>
        <p:spPr>
          <a:xfrm>
            <a:off x="4197096" y="2606040"/>
            <a:ext cx="457200" cy="36576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19" name="arrow"/>
          <p:cNvSpPr/>
          <p:nvPr/>
        </p:nvSpPr>
        <p:spPr>
          <a:xfrm>
            <a:off x="3831336" y="2075688"/>
            <a:ext cx="594360" cy="512064"/>
          </a:xfrm>
          <a:prstGeom prst="line">
            <a:avLst/>
          </a:prstGeom>
          <a:noFill/>
          <a:ln w="19050">
            <a:solidFill>
              <a:schemeClr val="accent5"/>
            </a:solidFill>
            <a:prstDash val="solid"/>
            <a:tailEnd type="triangle"/>
          </a:ln>
        </p:spPr>
        <p:txBody>
          <a:bodyPr/>
          <a:lstStyle/>
          <a:p>
            <a:endParaRPr lang="en-US"/>
          </a:p>
        </p:txBody>
      </p:sp>
      <p:sp>
        <p:nvSpPr>
          <p:cNvPr id="20" name="Text 18"/>
          <p:cNvSpPr txBox="1"/>
          <p:nvPr/>
        </p:nvSpPr>
        <p:spPr>
          <a:xfrm>
            <a:off x="2980944" y="3200400"/>
            <a:ext cx="1737360" cy="640080"/>
          </a:xfrm>
          <a:prstGeom prst="rect">
            <a:avLst/>
          </a:prstGeom>
          <a:noFill/>
          <a:ln/>
        </p:spPr>
        <p:txBody>
          <a:bodyPr wrap="square" lIns="0" tIns="0" rIns="0" bIns="0" rtlCol="0" anchor="t"/>
          <a:lstStyle/>
          <a:p>
            <a:pPr marL="0" indent="0">
              <a:buNone/>
            </a:pPr>
            <a:r>
              <a:rPr lang="en-US" sz="1600" b="1" dirty="0">
                <a:solidFill>
                  <a:schemeClr val="tx1"/>
                </a:solidFill>
              </a:rPr>
              <a:t>Routing</a:t>
            </a:r>
            <a:endParaRPr lang="en-US" sz="1600" dirty="0"/>
          </a:p>
        </p:txBody>
      </p:sp>
      <p:sp>
        <p:nvSpPr>
          <p:cNvPr id="21" name="Text 19"/>
          <p:cNvSpPr txBox="1"/>
          <p:nvPr/>
        </p:nvSpPr>
        <p:spPr>
          <a:xfrm>
            <a:off x="2980944" y="3886200"/>
            <a:ext cx="1737360" cy="914400"/>
          </a:xfrm>
          <a:prstGeom prst="rect">
            <a:avLst/>
          </a:prstGeom>
          <a:noFill/>
          <a:ln/>
        </p:spPr>
        <p:txBody>
          <a:bodyPr wrap="square" lIns="0" tIns="0" rIns="0" bIns="0" rtlCol="0" anchor="t"/>
          <a:lstStyle/>
          <a:p>
            <a:pPr marL="0" indent="0">
              <a:buNone/>
            </a:pPr>
            <a:r>
              <a:rPr lang="en-US" sz="1300" dirty="0">
                <a:solidFill>
                  <a:schemeClr val="tx2"/>
                </a:solidFill>
              </a:rPr>
              <a:t>Classify, then send to a specialist</a:t>
            </a:r>
            <a:endParaRPr lang="en-US" sz="1300" dirty="0"/>
          </a:p>
        </p:txBody>
      </p:sp>
      <p:sp>
        <p:nvSpPr>
          <p:cNvPr id="22" name="Text 20"/>
          <p:cNvSpPr txBox="1"/>
          <p:nvPr/>
        </p:nvSpPr>
        <p:spPr>
          <a:xfrm>
            <a:off x="2980944" y="4937760"/>
            <a:ext cx="1737360" cy="914400"/>
          </a:xfrm>
          <a:prstGeom prst="rect">
            <a:avLst/>
          </a:prstGeom>
          <a:noFill/>
          <a:ln/>
        </p:spPr>
        <p:txBody>
          <a:bodyPr wrap="square" lIns="0" tIns="0" rIns="0" bIns="0" rtlCol="0" anchor="t"/>
          <a:lstStyle/>
          <a:p>
            <a:pPr marL="0" indent="0">
              <a:buNone/>
            </a:pPr>
            <a:r>
              <a:rPr lang="en-US" sz="1200" i="1" dirty="0">
                <a:solidFill>
                  <a:schemeClr val="accent5"/>
                </a:solidFill>
              </a:rPr>
              <a:t>Support: billing vs tech vs refund</a:t>
            </a:r>
            <a:endParaRPr lang="en-US" sz="1200" dirty="0"/>
          </a:p>
        </p:txBody>
      </p:sp>
      <p:sp>
        <p:nvSpPr>
          <p:cNvPr id="23" name="card"/>
          <p:cNvSpPr/>
          <p:nvPr/>
        </p:nvSpPr>
        <p:spPr>
          <a:xfrm>
            <a:off x="5047488" y="1371600"/>
            <a:ext cx="2066544" cy="46634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4" name="node"/>
          <p:cNvSpPr/>
          <p:nvPr/>
        </p:nvSpPr>
        <p:spPr>
          <a:xfrm>
            <a:off x="5852160" y="2606040"/>
            <a:ext cx="457200" cy="365760"/>
          </a:xfrm>
          <a:prstGeom prst="roundRect">
            <a:avLst>
              <a:gd name="adj" fmla="val 12500"/>
            </a:avLst>
          </a:prstGeom>
          <a:solidFill>
            <a:schemeClr val="accent3"/>
          </a:solidFill>
          <a:ln w="12700">
            <a:solidFill>
              <a:schemeClr val="accent3"/>
            </a:solidFill>
            <a:prstDash val="solid"/>
          </a:ln>
        </p:spPr>
        <p:txBody>
          <a:bodyPr/>
          <a:lstStyle/>
          <a:p>
            <a:endParaRPr lang="en-US"/>
          </a:p>
        </p:txBody>
      </p:sp>
      <p:sp>
        <p:nvSpPr>
          <p:cNvPr id="25" name="node"/>
          <p:cNvSpPr/>
          <p:nvPr/>
        </p:nvSpPr>
        <p:spPr>
          <a:xfrm>
            <a:off x="5257800" y="1691640"/>
            <a:ext cx="457200" cy="36576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26" name="arrow"/>
          <p:cNvSpPr/>
          <p:nvPr/>
        </p:nvSpPr>
        <p:spPr>
          <a:xfrm>
            <a:off x="5486400" y="2075688"/>
            <a:ext cx="594360" cy="512064"/>
          </a:xfrm>
          <a:prstGeom prst="line">
            <a:avLst/>
          </a:prstGeom>
          <a:noFill/>
          <a:ln w="19050">
            <a:solidFill>
              <a:schemeClr val="accent5"/>
            </a:solidFill>
            <a:prstDash val="solid"/>
            <a:tailEnd type="triangle"/>
          </a:ln>
        </p:spPr>
        <p:txBody>
          <a:bodyPr/>
          <a:lstStyle/>
          <a:p>
            <a:endParaRPr lang="en-US"/>
          </a:p>
        </p:txBody>
      </p:sp>
      <p:sp>
        <p:nvSpPr>
          <p:cNvPr id="27" name="node"/>
          <p:cNvSpPr/>
          <p:nvPr/>
        </p:nvSpPr>
        <p:spPr>
          <a:xfrm>
            <a:off x="5852160" y="1691640"/>
            <a:ext cx="457200" cy="36576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28" name="arrow"/>
          <p:cNvSpPr/>
          <p:nvPr/>
        </p:nvSpPr>
        <p:spPr>
          <a:xfrm>
            <a:off x="6080760" y="2075688"/>
            <a:ext cx="914" cy="512064"/>
          </a:xfrm>
          <a:prstGeom prst="line">
            <a:avLst/>
          </a:prstGeom>
          <a:noFill/>
          <a:ln w="19050">
            <a:solidFill>
              <a:schemeClr val="accent5"/>
            </a:solidFill>
            <a:prstDash val="solid"/>
            <a:tailEnd type="triangle"/>
          </a:ln>
        </p:spPr>
        <p:txBody>
          <a:bodyPr/>
          <a:lstStyle/>
          <a:p>
            <a:endParaRPr lang="en-US"/>
          </a:p>
        </p:txBody>
      </p:sp>
      <p:sp>
        <p:nvSpPr>
          <p:cNvPr id="29" name="node"/>
          <p:cNvSpPr/>
          <p:nvPr/>
        </p:nvSpPr>
        <p:spPr>
          <a:xfrm>
            <a:off x="6446520" y="1691640"/>
            <a:ext cx="457200" cy="36576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30" name="arrow"/>
          <p:cNvSpPr/>
          <p:nvPr/>
        </p:nvSpPr>
        <p:spPr>
          <a:xfrm>
            <a:off x="6675120" y="2075688"/>
            <a:ext cx="0" cy="512064"/>
          </a:xfrm>
          <a:prstGeom prst="line">
            <a:avLst/>
          </a:prstGeom>
          <a:noFill/>
          <a:ln w="19050">
            <a:solidFill>
              <a:schemeClr val="accent5"/>
            </a:solidFill>
            <a:prstDash val="solid"/>
            <a:tailEnd type="triangle"/>
          </a:ln>
        </p:spPr>
        <p:txBody>
          <a:bodyPr/>
          <a:lstStyle/>
          <a:p>
            <a:endParaRPr lang="en-US"/>
          </a:p>
        </p:txBody>
      </p:sp>
      <p:sp>
        <p:nvSpPr>
          <p:cNvPr id="31" name="Text 29"/>
          <p:cNvSpPr txBox="1"/>
          <p:nvPr/>
        </p:nvSpPr>
        <p:spPr>
          <a:xfrm>
            <a:off x="5230368" y="3200400"/>
            <a:ext cx="1737360" cy="640080"/>
          </a:xfrm>
          <a:prstGeom prst="rect">
            <a:avLst/>
          </a:prstGeom>
          <a:noFill/>
          <a:ln/>
        </p:spPr>
        <p:txBody>
          <a:bodyPr wrap="square" lIns="0" tIns="0" rIns="0" bIns="0" rtlCol="0" anchor="t"/>
          <a:lstStyle/>
          <a:p>
            <a:pPr marL="0" indent="0">
              <a:buNone/>
            </a:pPr>
            <a:r>
              <a:rPr lang="en-US" sz="1600" b="1" dirty="0">
                <a:solidFill>
                  <a:schemeClr val="tx1"/>
                </a:solidFill>
              </a:rPr>
              <a:t>Parallelization</a:t>
            </a:r>
            <a:endParaRPr lang="en-US" sz="1600" dirty="0"/>
          </a:p>
        </p:txBody>
      </p:sp>
      <p:sp>
        <p:nvSpPr>
          <p:cNvPr id="32" name="Text 30"/>
          <p:cNvSpPr txBox="1"/>
          <p:nvPr/>
        </p:nvSpPr>
        <p:spPr>
          <a:xfrm>
            <a:off x="5230368" y="3886200"/>
            <a:ext cx="1737360" cy="914400"/>
          </a:xfrm>
          <a:prstGeom prst="rect">
            <a:avLst/>
          </a:prstGeom>
          <a:noFill/>
          <a:ln/>
        </p:spPr>
        <p:txBody>
          <a:bodyPr wrap="square" lIns="0" tIns="0" rIns="0" bIns="0" rtlCol="0" anchor="t"/>
          <a:lstStyle/>
          <a:p>
            <a:pPr marL="0" indent="0">
              <a:buNone/>
            </a:pPr>
            <a:r>
              <a:rPr lang="en-US" sz="1300" dirty="0">
                <a:solidFill>
                  <a:schemeClr val="tx2"/>
                </a:solidFill>
              </a:rPr>
              <a:t>Same or split task run at once, then combine</a:t>
            </a:r>
            <a:endParaRPr lang="en-US" sz="1300" dirty="0"/>
          </a:p>
        </p:txBody>
      </p:sp>
      <p:sp>
        <p:nvSpPr>
          <p:cNvPr id="33" name="Text 31"/>
          <p:cNvSpPr txBox="1"/>
          <p:nvPr/>
        </p:nvSpPr>
        <p:spPr>
          <a:xfrm>
            <a:off x="5230368" y="4937760"/>
            <a:ext cx="1737360" cy="914400"/>
          </a:xfrm>
          <a:prstGeom prst="rect">
            <a:avLst/>
          </a:prstGeom>
          <a:noFill/>
          <a:ln/>
        </p:spPr>
        <p:txBody>
          <a:bodyPr wrap="square" lIns="0" tIns="0" rIns="0" bIns="0" rtlCol="0" anchor="t"/>
          <a:lstStyle/>
          <a:p>
            <a:pPr marL="0" indent="0">
              <a:buNone/>
            </a:pPr>
            <a:r>
              <a:rPr lang="en-US" sz="1200" i="1" dirty="0">
                <a:solidFill>
                  <a:schemeClr val="accent5"/>
                </a:solidFill>
              </a:rPr>
              <a:t>3 reviewers vote on a risky change</a:t>
            </a:r>
            <a:endParaRPr lang="en-US" sz="1200" dirty="0"/>
          </a:p>
        </p:txBody>
      </p:sp>
      <p:sp>
        <p:nvSpPr>
          <p:cNvPr id="34" name="card"/>
          <p:cNvSpPr/>
          <p:nvPr/>
        </p:nvSpPr>
        <p:spPr>
          <a:xfrm>
            <a:off x="7296912" y="1371600"/>
            <a:ext cx="2066544" cy="46634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35" name="node"/>
          <p:cNvSpPr/>
          <p:nvPr/>
        </p:nvSpPr>
        <p:spPr>
          <a:xfrm>
            <a:off x="8101584" y="1691640"/>
            <a:ext cx="457200" cy="365760"/>
          </a:xfrm>
          <a:prstGeom prst="roundRect">
            <a:avLst>
              <a:gd name="adj" fmla="val 12500"/>
            </a:avLst>
          </a:prstGeom>
          <a:solidFill>
            <a:schemeClr val="accent4"/>
          </a:solidFill>
          <a:ln w="12700">
            <a:solidFill>
              <a:schemeClr val="accent4"/>
            </a:solidFill>
            <a:prstDash val="solid"/>
          </a:ln>
        </p:spPr>
        <p:txBody>
          <a:bodyPr/>
          <a:lstStyle/>
          <a:p>
            <a:endParaRPr lang="en-US"/>
          </a:p>
        </p:txBody>
      </p:sp>
      <p:sp>
        <p:nvSpPr>
          <p:cNvPr id="36" name="node"/>
          <p:cNvSpPr/>
          <p:nvPr/>
        </p:nvSpPr>
        <p:spPr>
          <a:xfrm>
            <a:off x="7507224" y="2606040"/>
            <a:ext cx="457200" cy="36576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37" name="arrow"/>
          <p:cNvSpPr/>
          <p:nvPr/>
        </p:nvSpPr>
        <p:spPr>
          <a:xfrm>
            <a:off x="8330184" y="2075688"/>
            <a:ext cx="0" cy="512064"/>
          </a:xfrm>
          <a:prstGeom prst="line">
            <a:avLst/>
          </a:prstGeom>
          <a:noFill/>
          <a:ln w="19050">
            <a:solidFill>
              <a:schemeClr val="accent5"/>
            </a:solidFill>
            <a:prstDash val="solid"/>
            <a:tailEnd type="triangle"/>
          </a:ln>
        </p:spPr>
        <p:txBody>
          <a:bodyPr/>
          <a:lstStyle/>
          <a:p>
            <a:endParaRPr lang="en-US"/>
          </a:p>
        </p:txBody>
      </p:sp>
      <p:sp>
        <p:nvSpPr>
          <p:cNvPr id="38" name="node"/>
          <p:cNvSpPr/>
          <p:nvPr/>
        </p:nvSpPr>
        <p:spPr>
          <a:xfrm>
            <a:off x="8101584" y="2606040"/>
            <a:ext cx="457200" cy="36576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39" name="arrow"/>
          <p:cNvSpPr/>
          <p:nvPr/>
        </p:nvSpPr>
        <p:spPr>
          <a:xfrm>
            <a:off x="8330184" y="2075688"/>
            <a:ext cx="0" cy="512064"/>
          </a:xfrm>
          <a:prstGeom prst="line">
            <a:avLst/>
          </a:prstGeom>
          <a:noFill/>
          <a:ln w="19050">
            <a:solidFill>
              <a:schemeClr val="accent5"/>
            </a:solidFill>
            <a:prstDash val="solid"/>
            <a:tailEnd type="triangle"/>
          </a:ln>
        </p:spPr>
        <p:txBody>
          <a:bodyPr/>
          <a:lstStyle/>
          <a:p>
            <a:endParaRPr lang="en-US"/>
          </a:p>
        </p:txBody>
      </p:sp>
      <p:sp>
        <p:nvSpPr>
          <p:cNvPr id="40" name="node"/>
          <p:cNvSpPr/>
          <p:nvPr/>
        </p:nvSpPr>
        <p:spPr>
          <a:xfrm>
            <a:off x="8695944" y="2606040"/>
            <a:ext cx="457200" cy="365760"/>
          </a:xfrm>
          <a:prstGeom prst="roundRect">
            <a:avLst>
              <a:gd name="adj" fmla="val 12500"/>
            </a:avLst>
          </a:prstGeom>
          <a:solidFill>
            <a:schemeClr val="accent5"/>
          </a:solidFill>
          <a:ln w="12700">
            <a:solidFill>
              <a:schemeClr val="accent5"/>
            </a:solidFill>
            <a:prstDash val="solid"/>
          </a:ln>
        </p:spPr>
        <p:txBody>
          <a:bodyPr/>
          <a:lstStyle/>
          <a:p>
            <a:endParaRPr lang="en-US"/>
          </a:p>
        </p:txBody>
      </p:sp>
      <p:sp>
        <p:nvSpPr>
          <p:cNvPr id="41" name="arrow"/>
          <p:cNvSpPr/>
          <p:nvPr/>
        </p:nvSpPr>
        <p:spPr>
          <a:xfrm>
            <a:off x="8330184" y="2075688"/>
            <a:ext cx="594360" cy="512064"/>
          </a:xfrm>
          <a:prstGeom prst="line">
            <a:avLst/>
          </a:prstGeom>
          <a:noFill/>
          <a:ln w="19050">
            <a:solidFill>
              <a:schemeClr val="accent5"/>
            </a:solidFill>
            <a:prstDash val="solid"/>
            <a:tailEnd type="triangle"/>
          </a:ln>
        </p:spPr>
        <p:txBody>
          <a:bodyPr/>
          <a:lstStyle/>
          <a:p>
            <a:endParaRPr lang="en-US"/>
          </a:p>
        </p:txBody>
      </p:sp>
      <p:sp>
        <p:nvSpPr>
          <p:cNvPr id="42" name="Text 40"/>
          <p:cNvSpPr txBox="1"/>
          <p:nvPr/>
        </p:nvSpPr>
        <p:spPr>
          <a:xfrm>
            <a:off x="7479792" y="3200400"/>
            <a:ext cx="1737360" cy="640080"/>
          </a:xfrm>
          <a:prstGeom prst="rect">
            <a:avLst/>
          </a:prstGeom>
          <a:noFill/>
          <a:ln/>
        </p:spPr>
        <p:txBody>
          <a:bodyPr wrap="square" lIns="0" tIns="0" rIns="0" bIns="0" rtlCol="0" anchor="t"/>
          <a:lstStyle/>
          <a:p>
            <a:pPr marL="0" indent="0">
              <a:buNone/>
            </a:pPr>
            <a:r>
              <a:rPr lang="en-US" sz="1600" b="1" dirty="0">
                <a:solidFill>
                  <a:schemeClr val="tx1"/>
                </a:solidFill>
              </a:rPr>
              <a:t>Orchestrator–workers</a:t>
            </a:r>
            <a:endParaRPr lang="en-US" sz="1600" dirty="0"/>
          </a:p>
        </p:txBody>
      </p:sp>
      <p:sp>
        <p:nvSpPr>
          <p:cNvPr id="43" name="Text 41"/>
          <p:cNvSpPr txBox="1"/>
          <p:nvPr/>
        </p:nvSpPr>
        <p:spPr>
          <a:xfrm>
            <a:off x="7479792" y="3886200"/>
            <a:ext cx="1737360" cy="914400"/>
          </a:xfrm>
          <a:prstGeom prst="rect">
            <a:avLst/>
          </a:prstGeom>
          <a:noFill/>
          <a:ln/>
        </p:spPr>
        <p:txBody>
          <a:bodyPr wrap="square" lIns="0" tIns="0" rIns="0" bIns="0" rtlCol="0" anchor="t"/>
          <a:lstStyle/>
          <a:p>
            <a:pPr marL="0" indent="0">
              <a:buNone/>
            </a:pPr>
            <a:r>
              <a:rPr lang="en-US" sz="1300" dirty="0">
                <a:solidFill>
                  <a:schemeClr val="tx2"/>
                </a:solidFill>
              </a:rPr>
              <a:t>A lead decides subtasks on the fly</a:t>
            </a:r>
            <a:endParaRPr lang="en-US" sz="1300" dirty="0"/>
          </a:p>
        </p:txBody>
      </p:sp>
      <p:sp>
        <p:nvSpPr>
          <p:cNvPr id="44" name="Text 42"/>
          <p:cNvSpPr txBox="1"/>
          <p:nvPr/>
        </p:nvSpPr>
        <p:spPr>
          <a:xfrm>
            <a:off x="7479792" y="4937760"/>
            <a:ext cx="1737360" cy="914400"/>
          </a:xfrm>
          <a:prstGeom prst="rect">
            <a:avLst/>
          </a:prstGeom>
          <a:noFill/>
          <a:ln/>
        </p:spPr>
        <p:txBody>
          <a:bodyPr wrap="square" lIns="0" tIns="0" rIns="0" bIns="0" rtlCol="0" anchor="t"/>
          <a:lstStyle/>
          <a:p>
            <a:pPr marL="0" indent="0">
              <a:buNone/>
            </a:pPr>
            <a:r>
              <a:rPr lang="en-US" sz="1200" i="1" dirty="0">
                <a:solidFill>
                  <a:schemeClr val="accent5"/>
                </a:solidFill>
              </a:rPr>
              <a:t>Research report, big code change</a:t>
            </a:r>
            <a:endParaRPr lang="en-US" sz="1200" dirty="0"/>
          </a:p>
        </p:txBody>
      </p:sp>
      <p:sp>
        <p:nvSpPr>
          <p:cNvPr id="45" name="card"/>
          <p:cNvSpPr/>
          <p:nvPr/>
        </p:nvSpPr>
        <p:spPr>
          <a:xfrm>
            <a:off x="9546336" y="1371600"/>
            <a:ext cx="2066544" cy="466344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6" name="node"/>
          <p:cNvSpPr/>
          <p:nvPr/>
        </p:nvSpPr>
        <p:spPr>
          <a:xfrm>
            <a:off x="9802368" y="2011680"/>
            <a:ext cx="594360" cy="457200"/>
          </a:xfrm>
          <a:prstGeom prst="roundRect">
            <a:avLst>
              <a:gd name="adj" fmla="val 10000"/>
            </a:avLst>
          </a:prstGeom>
          <a:solidFill>
            <a:schemeClr val="tx1"/>
          </a:solidFill>
          <a:ln w="12700">
            <a:solidFill>
              <a:schemeClr val="tx1"/>
            </a:solidFill>
            <a:prstDash val="solid"/>
          </a:ln>
        </p:spPr>
        <p:txBody>
          <a:bodyPr/>
          <a:lstStyle/>
          <a:p>
            <a:endParaRPr lang="en-US"/>
          </a:p>
        </p:txBody>
      </p:sp>
      <p:sp>
        <p:nvSpPr>
          <p:cNvPr id="47" name="node"/>
          <p:cNvSpPr/>
          <p:nvPr/>
        </p:nvSpPr>
        <p:spPr>
          <a:xfrm>
            <a:off x="10762488" y="2011680"/>
            <a:ext cx="594360" cy="457200"/>
          </a:xfrm>
          <a:prstGeom prst="roundRect">
            <a:avLst>
              <a:gd name="adj" fmla="val 10000"/>
            </a:avLst>
          </a:prstGeom>
          <a:solidFill>
            <a:schemeClr val="accent1"/>
          </a:solidFill>
          <a:ln w="12700">
            <a:solidFill>
              <a:schemeClr val="accent1"/>
            </a:solidFill>
            <a:prstDash val="solid"/>
          </a:ln>
        </p:spPr>
        <p:txBody>
          <a:bodyPr/>
          <a:lstStyle/>
          <a:p>
            <a:endParaRPr lang="en-US"/>
          </a:p>
        </p:txBody>
      </p:sp>
      <p:sp>
        <p:nvSpPr>
          <p:cNvPr id="48" name="arrow"/>
          <p:cNvSpPr/>
          <p:nvPr/>
        </p:nvSpPr>
        <p:spPr>
          <a:xfrm>
            <a:off x="10424160" y="2121408"/>
            <a:ext cx="310896" cy="0"/>
          </a:xfrm>
          <a:prstGeom prst="line">
            <a:avLst/>
          </a:prstGeom>
          <a:noFill/>
          <a:ln w="19050">
            <a:solidFill>
              <a:schemeClr val="accent5"/>
            </a:solidFill>
            <a:prstDash val="solid"/>
            <a:tailEnd type="triangle"/>
          </a:ln>
        </p:spPr>
        <p:txBody>
          <a:bodyPr/>
          <a:lstStyle/>
          <a:p>
            <a:endParaRPr lang="en-US"/>
          </a:p>
        </p:txBody>
      </p:sp>
      <p:sp>
        <p:nvSpPr>
          <p:cNvPr id="49" name="arrow"/>
          <p:cNvSpPr/>
          <p:nvPr/>
        </p:nvSpPr>
        <p:spPr>
          <a:xfrm>
            <a:off x="10735056" y="2359152"/>
            <a:ext cx="0" cy="0"/>
          </a:xfrm>
          <a:prstGeom prst="line">
            <a:avLst/>
          </a:prstGeom>
          <a:noFill/>
          <a:ln w="19050">
            <a:solidFill>
              <a:schemeClr val="accent5"/>
            </a:solidFill>
            <a:prstDash val="solid"/>
            <a:tailEnd type="triangle"/>
          </a:ln>
        </p:spPr>
        <p:txBody>
          <a:bodyPr/>
          <a:lstStyle/>
          <a:p>
            <a:endParaRPr lang="en-US"/>
          </a:p>
        </p:txBody>
      </p:sp>
      <p:sp>
        <p:nvSpPr>
          <p:cNvPr id="50" name="Text 48"/>
          <p:cNvSpPr txBox="1"/>
          <p:nvPr/>
        </p:nvSpPr>
        <p:spPr>
          <a:xfrm>
            <a:off x="9729216" y="3200400"/>
            <a:ext cx="1737360" cy="640080"/>
          </a:xfrm>
          <a:prstGeom prst="rect">
            <a:avLst/>
          </a:prstGeom>
          <a:noFill/>
          <a:ln/>
        </p:spPr>
        <p:txBody>
          <a:bodyPr wrap="square" lIns="0" tIns="0" rIns="0" bIns="0" rtlCol="0" anchor="t"/>
          <a:lstStyle/>
          <a:p>
            <a:pPr marL="0" indent="0">
              <a:buNone/>
            </a:pPr>
            <a:r>
              <a:rPr lang="en-US" sz="1600" b="1" dirty="0">
                <a:solidFill>
                  <a:schemeClr val="tx1"/>
                </a:solidFill>
              </a:rPr>
              <a:t>Evaluator–optimizer</a:t>
            </a:r>
            <a:endParaRPr lang="en-US" sz="1600" dirty="0"/>
          </a:p>
        </p:txBody>
      </p:sp>
      <p:sp>
        <p:nvSpPr>
          <p:cNvPr id="51" name="Text 49"/>
          <p:cNvSpPr txBox="1"/>
          <p:nvPr/>
        </p:nvSpPr>
        <p:spPr>
          <a:xfrm>
            <a:off x="9729216" y="3886200"/>
            <a:ext cx="1737360" cy="914400"/>
          </a:xfrm>
          <a:prstGeom prst="rect">
            <a:avLst/>
          </a:prstGeom>
          <a:noFill/>
          <a:ln/>
        </p:spPr>
        <p:txBody>
          <a:bodyPr wrap="square" lIns="0" tIns="0" rIns="0" bIns="0" rtlCol="0" anchor="t"/>
          <a:lstStyle/>
          <a:p>
            <a:pPr marL="0" indent="0">
              <a:buNone/>
            </a:pPr>
            <a:r>
              <a:rPr lang="en-US" sz="1300" dirty="0">
                <a:solidFill>
                  <a:schemeClr val="tx2"/>
                </a:solidFill>
              </a:rPr>
              <a:t>One writes, one critiques, loop</a:t>
            </a:r>
            <a:endParaRPr lang="en-US" sz="1300" dirty="0"/>
          </a:p>
        </p:txBody>
      </p:sp>
      <p:sp>
        <p:nvSpPr>
          <p:cNvPr id="52" name="Text 50"/>
          <p:cNvSpPr txBox="1"/>
          <p:nvPr/>
        </p:nvSpPr>
        <p:spPr>
          <a:xfrm>
            <a:off x="9729216" y="4937760"/>
            <a:ext cx="1737360" cy="914400"/>
          </a:xfrm>
          <a:prstGeom prst="rect">
            <a:avLst/>
          </a:prstGeom>
          <a:noFill/>
          <a:ln/>
        </p:spPr>
        <p:txBody>
          <a:bodyPr wrap="square" lIns="0" tIns="0" rIns="0" bIns="0" rtlCol="0" anchor="t"/>
          <a:lstStyle/>
          <a:p>
            <a:pPr marL="0" indent="0">
              <a:buNone/>
            </a:pPr>
            <a:r>
              <a:rPr lang="en-US" sz="1200" i="1" dirty="0">
                <a:solidFill>
                  <a:schemeClr val="accent5"/>
                </a:solidFill>
              </a:rPr>
              <a:t>Translation, polishing a proposal</a:t>
            </a:r>
            <a:endParaRPr lang="en-US" sz="1200" dirty="0"/>
          </a:p>
        </p:txBody>
      </p:sp>
      <p:sp>
        <p:nvSpPr>
          <p:cNvPr id="5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Multi-agent: a lead agent and parallel subagents</a:t>
            </a:r>
            <a:endParaRPr lang="en-US" sz="3200" dirty="0"/>
          </a:p>
        </p:txBody>
      </p:sp>
      <p:sp>
        <p:nvSpPr>
          <p:cNvPr id="3" name="lead"/>
          <p:cNvSpPr/>
          <p:nvPr/>
        </p:nvSpPr>
        <p:spPr>
          <a:xfrm>
            <a:off x="1920240" y="1463040"/>
            <a:ext cx="2194560" cy="731520"/>
          </a:xfrm>
          <a:prstGeom prst="roundRect">
            <a:avLst>
              <a:gd name="adj" fmla="val 10000"/>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1965960" y="1463040"/>
            <a:ext cx="2103120" cy="731520"/>
          </a:xfrm>
          <a:prstGeom prst="rect">
            <a:avLst/>
          </a:prstGeom>
          <a:noFill/>
          <a:ln/>
        </p:spPr>
        <p:txBody>
          <a:bodyPr wrap="square" lIns="0" tIns="0" rIns="0" bIns="0" rtlCol="0" anchor="ctr"/>
          <a:lstStyle/>
          <a:p>
            <a:pPr marL="0" indent="0" algn="ctr">
              <a:buNone/>
            </a:pPr>
            <a:r>
              <a:rPr lang="en-US" sz="1300" b="1" dirty="0">
                <a:solidFill>
                  <a:schemeClr val="bg1"/>
                </a:solidFill>
              </a:rPr>
              <a:t>Lead agent: plans, delegates, combines</a:t>
            </a:r>
            <a:endParaRPr lang="en-US" sz="1300" dirty="0"/>
          </a:p>
        </p:txBody>
      </p:sp>
      <p:sp>
        <p:nvSpPr>
          <p:cNvPr id="5" name="subagent"/>
          <p:cNvSpPr/>
          <p:nvPr/>
        </p:nvSpPr>
        <p:spPr>
          <a:xfrm>
            <a:off x="548640" y="2926080"/>
            <a:ext cx="1463040" cy="640080"/>
          </a:xfrm>
          <a:prstGeom prst="roundRect">
            <a:avLst>
              <a:gd name="adj" fmla="val 11429"/>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548640" y="2926080"/>
            <a:ext cx="1463040" cy="640080"/>
          </a:xfrm>
          <a:prstGeom prst="rect">
            <a:avLst/>
          </a:prstGeom>
          <a:noFill/>
          <a:ln/>
        </p:spPr>
        <p:txBody>
          <a:bodyPr wrap="square" lIns="0" tIns="0" rIns="0" bIns="0" rtlCol="0" anchor="ctr"/>
          <a:lstStyle/>
          <a:p>
            <a:pPr marL="0" indent="0" algn="ctr">
              <a:buNone/>
            </a:pPr>
            <a:r>
              <a:rPr lang="en-US" sz="1300" dirty="0">
                <a:solidFill>
                  <a:schemeClr val="bg1"/>
                </a:solidFill>
              </a:rPr>
              <a:t>Subagent A</a:t>
            </a:r>
            <a:endParaRPr lang="en-US" sz="1300" dirty="0"/>
          </a:p>
        </p:txBody>
      </p:sp>
      <p:sp>
        <p:nvSpPr>
          <p:cNvPr id="7" name="arrow"/>
          <p:cNvSpPr/>
          <p:nvPr/>
        </p:nvSpPr>
        <p:spPr>
          <a:xfrm>
            <a:off x="3017520" y="2212848"/>
            <a:ext cx="0" cy="694944"/>
          </a:xfrm>
          <a:prstGeom prst="line">
            <a:avLst/>
          </a:prstGeom>
          <a:noFill/>
          <a:ln w="19050">
            <a:solidFill>
              <a:schemeClr val="accent5"/>
            </a:solidFill>
            <a:prstDash val="solid"/>
            <a:tailEnd type="triangle"/>
          </a:ln>
        </p:spPr>
        <p:txBody>
          <a:bodyPr/>
          <a:lstStyle/>
          <a:p>
            <a:endParaRPr lang="en-US"/>
          </a:p>
        </p:txBody>
      </p:sp>
      <p:sp>
        <p:nvSpPr>
          <p:cNvPr id="8" name="subagent"/>
          <p:cNvSpPr/>
          <p:nvPr/>
        </p:nvSpPr>
        <p:spPr>
          <a:xfrm>
            <a:off x="2240280" y="2926080"/>
            <a:ext cx="1463040" cy="640080"/>
          </a:xfrm>
          <a:prstGeom prst="roundRect">
            <a:avLst>
              <a:gd name="adj" fmla="val 11429"/>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2240280" y="2926080"/>
            <a:ext cx="1463040" cy="640080"/>
          </a:xfrm>
          <a:prstGeom prst="rect">
            <a:avLst/>
          </a:prstGeom>
          <a:noFill/>
          <a:ln/>
        </p:spPr>
        <p:txBody>
          <a:bodyPr wrap="square" lIns="0" tIns="0" rIns="0" bIns="0" rtlCol="0" anchor="ctr"/>
          <a:lstStyle/>
          <a:p>
            <a:pPr marL="0" indent="0" algn="ctr">
              <a:buNone/>
            </a:pPr>
            <a:r>
              <a:rPr lang="en-US" sz="1300" dirty="0">
                <a:solidFill>
                  <a:schemeClr val="bg1"/>
                </a:solidFill>
              </a:rPr>
              <a:t>Subagent B</a:t>
            </a:r>
            <a:endParaRPr lang="en-US" sz="1300" dirty="0"/>
          </a:p>
        </p:txBody>
      </p:sp>
      <p:sp>
        <p:nvSpPr>
          <p:cNvPr id="10" name="arrow"/>
          <p:cNvSpPr/>
          <p:nvPr/>
        </p:nvSpPr>
        <p:spPr>
          <a:xfrm>
            <a:off x="3017520" y="2212848"/>
            <a:ext cx="0" cy="694944"/>
          </a:xfrm>
          <a:prstGeom prst="line">
            <a:avLst/>
          </a:prstGeom>
          <a:noFill/>
          <a:ln w="19050">
            <a:solidFill>
              <a:schemeClr val="accent5"/>
            </a:solidFill>
            <a:prstDash val="solid"/>
            <a:tailEnd type="triangle"/>
          </a:ln>
        </p:spPr>
        <p:txBody>
          <a:bodyPr/>
          <a:lstStyle/>
          <a:p>
            <a:endParaRPr lang="en-US"/>
          </a:p>
        </p:txBody>
      </p:sp>
      <p:sp>
        <p:nvSpPr>
          <p:cNvPr id="11" name="subagent"/>
          <p:cNvSpPr/>
          <p:nvPr/>
        </p:nvSpPr>
        <p:spPr>
          <a:xfrm>
            <a:off x="3931920" y="2926080"/>
            <a:ext cx="1463040" cy="640080"/>
          </a:xfrm>
          <a:prstGeom prst="roundRect">
            <a:avLst>
              <a:gd name="adj" fmla="val 11429"/>
            </a:avLst>
          </a:prstGeom>
          <a:solidFill>
            <a:schemeClr val="accent3"/>
          </a:solidFill>
          <a:ln w="12700">
            <a:solidFill>
              <a:schemeClr val="accent3"/>
            </a:solidFill>
            <a:prstDash val="solid"/>
          </a:ln>
        </p:spPr>
        <p:txBody>
          <a:bodyPr/>
          <a:lstStyle/>
          <a:p>
            <a:endParaRPr lang="en-US"/>
          </a:p>
        </p:txBody>
      </p:sp>
      <p:sp>
        <p:nvSpPr>
          <p:cNvPr id="12" name="Text 10"/>
          <p:cNvSpPr txBox="1"/>
          <p:nvPr/>
        </p:nvSpPr>
        <p:spPr>
          <a:xfrm>
            <a:off x="3931920" y="2926080"/>
            <a:ext cx="1463040" cy="640080"/>
          </a:xfrm>
          <a:prstGeom prst="rect">
            <a:avLst/>
          </a:prstGeom>
          <a:noFill/>
          <a:ln/>
        </p:spPr>
        <p:txBody>
          <a:bodyPr wrap="square" lIns="0" tIns="0" rIns="0" bIns="0" rtlCol="0" anchor="ctr"/>
          <a:lstStyle/>
          <a:p>
            <a:pPr marL="0" indent="0" algn="ctr">
              <a:buNone/>
            </a:pPr>
            <a:r>
              <a:rPr lang="en-US" sz="1300" dirty="0">
                <a:solidFill>
                  <a:schemeClr val="bg1"/>
                </a:solidFill>
              </a:rPr>
              <a:t>Subagent C</a:t>
            </a:r>
            <a:endParaRPr lang="en-US" sz="1300" dirty="0"/>
          </a:p>
        </p:txBody>
      </p:sp>
      <p:sp>
        <p:nvSpPr>
          <p:cNvPr id="13" name="arrow"/>
          <p:cNvSpPr/>
          <p:nvPr/>
        </p:nvSpPr>
        <p:spPr>
          <a:xfrm>
            <a:off x="3017520" y="2212848"/>
            <a:ext cx="1645920" cy="694944"/>
          </a:xfrm>
          <a:prstGeom prst="line">
            <a:avLst/>
          </a:prstGeom>
          <a:noFill/>
          <a:ln w="19050">
            <a:solidFill>
              <a:schemeClr val="accent5"/>
            </a:solidFill>
            <a:prstDash val="solid"/>
            <a:tailEnd type="triangle"/>
          </a:ln>
        </p:spPr>
        <p:txBody>
          <a:bodyPr/>
          <a:lstStyle/>
          <a:p>
            <a:endParaRPr lang="en-US"/>
          </a:p>
        </p:txBody>
      </p:sp>
      <p:sp>
        <p:nvSpPr>
          <p:cNvPr id="14" name="Text 12"/>
          <p:cNvSpPr txBox="1"/>
          <p:nvPr/>
        </p:nvSpPr>
        <p:spPr>
          <a:xfrm>
            <a:off x="548640" y="3703320"/>
            <a:ext cx="4937760" cy="457200"/>
          </a:xfrm>
          <a:prstGeom prst="rect">
            <a:avLst/>
          </a:prstGeom>
          <a:noFill/>
          <a:ln/>
        </p:spPr>
        <p:txBody>
          <a:bodyPr wrap="square" lIns="0" tIns="0" rIns="0" bIns="0" rtlCol="0" anchor="t"/>
          <a:lstStyle/>
          <a:p>
            <a:pPr marL="0" indent="0" algn="ctr">
              <a:buNone/>
            </a:pPr>
            <a:r>
              <a:rPr lang="en-US" sz="1200" i="1" dirty="0">
                <a:solidFill>
                  <a:schemeClr val="accent5"/>
                </a:solidFill>
              </a:rPr>
              <a:t>Each has its own context window and returns only a short summary</a:t>
            </a:r>
            <a:endParaRPr lang="en-US" sz="1200" dirty="0"/>
          </a:p>
        </p:txBody>
      </p:sp>
      <p:sp>
        <p:nvSpPr>
          <p:cNvPr id="15" name="card"/>
          <p:cNvSpPr/>
          <p:nvPr/>
        </p:nvSpPr>
        <p:spPr>
          <a:xfrm>
            <a:off x="548640" y="4297680"/>
            <a:ext cx="2377440" cy="1737360"/>
          </a:xfrm>
          <a:prstGeom prst="roundRect">
            <a:avLst>
              <a:gd name="adj" fmla="val 4211"/>
            </a:avLst>
          </a:prstGeom>
          <a:solidFill>
            <a:schemeClr val="bg1"/>
          </a:solidFill>
          <a:ln w="9525">
            <a:solidFill>
              <a:schemeClr val="accent2"/>
            </a:solidFill>
            <a:prstDash val="solid"/>
          </a:ln>
        </p:spPr>
        <p:txBody>
          <a:bodyPr/>
          <a:lstStyle/>
          <a:p>
            <a:endParaRPr lang="en-US"/>
          </a:p>
        </p:txBody>
      </p:sp>
      <p:sp>
        <p:nvSpPr>
          <p:cNvPr id="16" name="Text 14"/>
          <p:cNvSpPr txBox="1"/>
          <p:nvPr/>
        </p:nvSpPr>
        <p:spPr>
          <a:xfrm>
            <a:off x="777240" y="4434840"/>
            <a:ext cx="2011680" cy="274320"/>
          </a:xfrm>
          <a:prstGeom prst="rect">
            <a:avLst/>
          </a:prstGeom>
          <a:noFill/>
          <a:ln/>
        </p:spPr>
        <p:txBody>
          <a:bodyPr wrap="square" lIns="0" tIns="0" rIns="0" bIns="0" rtlCol="0" anchor="t"/>
          <a:lstStyle/>
          <a:p>
            <a:pPr marL="0" indent="0">
              <a:buNone/>
            </a:pPr>
            <a:r>
              <a:rPr lang="en-US" sz="1400" b="1" dirty="0">
                <a:solidFill>
                  <a:schemeClr val="accent2"/>
                </a:solidFill>
              </a:rPr>
              <a:t>Good fit</a:t>
            </a:r>
            <a:endParaRPr lang="en-US" sz="1400" dirty="0"/>
          </a:p>
        </p:txBody>
      </p:sp>
      <p:sp>
        <p:nvSpPr>
          <p:cNvPr id="17" name="Text 15"/>
          <p:cNvSpPr txBox="1"/>
          <p:nvPr/>
        </p:nvSpPr>
        <p:spPr>
          <a:xfrm>
            <a:off x="777240" y="4754880"/>
            <a:ext cx="2011680" cy="1188720"/>
          </a:xfrm>
          <a:prstGeom prst="rect">
            <a:avLst/>
          </a:prstGeom>
          <a:noFill/>
          <a:ln/>
        </p:spPr>
        <p:txBody>
          <a:bodyPr wrap="square" lIns="0" tIns="0" rIns="0" bIns="0" rtlCol="0" anchor="t"/>
          <a:lstStyle/>
          <a:p>
            <a:pPr marL="0" indent="0">
              <a:buNone/>
            </a:pPr>
            <a:r>
              <a:rPr lang="en-US" sz="1300" dirty="0">
                <a:solidFill>
                  <a:schemeClr val="tx2"/>
                </a:solidFill>
              </a:rPr>
              <a:t>Wide research, many independent parts, too much for one context</a:t>
            </a:r>
            <a:endParaRPr lang="en-US" sz="1300" dirty="0"/>
          </a:p>
        </p:txBody>
      </p:sp>
      <p:sp>
        <p:nvSpPr>
          <p:cNvPr id="18" name="card"/>
          <p:cNvSpPr/>
          <p:nvPr/>
        </p:nvSpPr>
        <p:spPr>
          <a:xfrm>
            <a:off x="3108960" y="4297680"/>
            <a:ext cx="2377440" cy="1737360"/>
          </a:xfrm>
          <a:prstGeom prst="roundRect">
            <a:avLst>
              <a:gd name="adj" fmla="val 4211"/>
            </a:avLst>
          </a:prstGeom>
          <a:solidFill>
            <a:schemeClr val="bg1"/>
          </a:solidFill>
          <a:ln w="9525">
            <a:solidFill>
              <a:schemeClr val="accent1"/>
            </a:solidFill>
            <a:prstDash val="solid"/>
          </a:ln>
        </p:spPr>
        <p:txBody>
          <a:bodyPr/>
          <a:lstStyle/>
          <a:p>
            <a:endParaRPr lang="en-US"/>
          </a:p>
        </p:txBody>
      </p:sp>
      <p:sp>
        <p:nvSpPr>
          <p:cNvPr id="19" name="Text 17"/>
          <p:cNvSpPr txBox="1"/>
          <p:nvPr/>
        </p:nvSpPr>
        <p:spPr>
          <a:xfrm>
            <a:off x="3337560" y="4434840"/>
            <a:ext cx="2011680" cy="274320"/>
          </a:xfrm>
          <a:prstGeom prst="rect">
            <a:avLst/>
          </a:prstGeom>
          <a:noFill/>
          <a:ln/>
        </p:spPr>
        <p:txBody>
          <a:bodyPr wrap="square" lIns="0" tIns="0" rIns="0" bIns="0" rtlCol="0" anchor="t"/>
          <a:lstStyle/>
          <a:p>
            <a:pPr marL="0" indent="0">
              <a:buNone/>
            </a:pPr>
            <a:r>
              <a:rPr lang="en-US" sz="1400" b="1" dirty="0">
                <a:solidFill>
                  <a:schemeClr val="accent1"/>
                </a:solidFill>
              </a:rPr>
              <a:t>Poor fit</a:t>
            </a:r>
            <a:endParaRPr lang="en-US" sz="1400" dirty="0"/>
          </a:p>
        </p:txBody>
      </p:sp>
      <p:sp>
        <p:nvSpPr>
          <p:cNvPr id="20" name="Text 18"/>
          <p:cNvSpPr txBox="1"/>
          <p:nvPr/>
        </p:nvSpPr>
        <p:spPr>
          <a:xfrm>
            <a:off x="3337560" y="4754880"/>
            <a:ext cx="2011680" cy="1188720"/>
          </a:xfrm>
          <a:prstGeom prst="rect">
            <a:avLst/>
          </a:prstGeom>
          <a:noFill/>
          <a:ln/>
        </p:spPr>
        <p:txBody>
          <a:bodyPr wrap="square" lIns="0" tIns="0" rIns="0" bIns="0" rtlCol="0" anchor="t"/>
          <a:lstStyle/>
          <a:p>
            <a:pPr marL="0" indent="0">
              <a:buNone/>
            </a:pPr>
            <a:r>
              <a:rPr lang="en-US" sz="1300" dirty="0">
                <a:solidFill>
                  <a:schemeClr val="tx2"/>
                </a:solidFill>
              </a:rPr>
              <a:t>Tightly linked steps, most coding, low-value tasks</a:t>
            </a:r>
            <a:endParaRPr lang="en-US" sz="1300" dirty="0"/>
          </a:p>
        </p:txBody>
      </p:sp>
      <p:sp>
        <p:nvSpPr>
          <p:cNvPr id="21" name="card"/>
          <p:cNvSpPr/>
          <p:nvPr/>
        </p:nvSpPr>
        <p:spPr>
          <a:xfrm>
            <a:off x="6035040" y="1371600"/>
            <a:ext cx="5577840" cy="1389888"/>
          </a:xfrm>
          <a:prstGeom prst="roundRect">
            <a:avLst>
              <a:gd name="adj" fmla="val 526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2" name="Text 20"/>
          <p:cNvSpPr txBox="1"/>
          <p:nvPr/>
        </p:nvSpPr>
        <p:spPr>
          <a:xfrm>
            <a:off x="6309360" y="1554480"/>
            <a:ext cx="2286000" cy="100584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+90%</a:t>
            </a:r>
            <a:endParaRPr lang="en-US" sz="4400" dirty="0"/>
          </a:p>
        </p:txBody>
      </p:sp>
      <p:sp>
        <p:nvSpPr>
          <p:cNvPr id="23" name="Text 21"/>
          <p:cNvSpPr txBox="1"/>
          <p:nvPr/>
        </p:nvSpPr>
        <p:spPr>
          <a:xfrm>
            <a:off x="8686800" y="1554480"/>
            <a:ext cx="2743200" cy="1005840"/>
          </a:xfrm>
          <a:prstGeom prst="rect">
            <a:avLst/>
          </a:prstGeom>
          <a:noFill/>
          <a:ln/>
        </p:spPr>
        <p:txBody>
          <a:bodyPr wrap="square" lIns="0" tIns="0" rIns="0" bIns="0" rtlCol="0" anchor="ctr"/>
          <a:lstStyle/>
          <a:p>
            <a:pPr marL="0" indent="0">
              <a:buNone/>
            </a:pPr>
            <a:r>
              <a:rPr lang="en-US" sz="1400" dirty="0">
                <a:solidFill>
                  <a:schemeClr val="tx2"/>
                </a:solidFill>
              </a:rPr>
              <a:t>better than a single agent on Anthropic’s internal research eval</a:t>
            </a:r>
            <a:endParaRPr lang="en-US" sz="1400" dirty="0"/>
          </a:p>
        </p:txBody>
      </p:sp>
      <p:sp>
        <p:nvSpPr>
          <p:cNvPr id="24" name="card"/>
          <p:cNvSpPr/>
          <p:nvPr/>
        </p:nvSpPr>
        <p:spPr>
          <a:xfrm>
            <a:off x="6035040" y="2944368"/>
            <a:ext cx="5577840" cy="1389888"/>
          </a:xfrm>
          <a:prstGeom prst="roundRect">
            <a:avLst>
              <a:gd name="adj" fmla="val 526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5" name="Text 23"/>
          <p:cNvSpPr txBox="1"/>
          <p:nvPr/>
        </p:nvSpPr>
        <p:spPr>
          <a:xfrm>
            <a:off x="6309360" y="3127248"/>
            <a:ext cx="2286000" cy="1005840"/>
          </a:xfrm>
          <a:prstGeom prst="rect">
            <a:avLst/>
          </a:prstGeom>
          <a:noFill/>
          <a:ln/>
        </p:spPr>
        <p:txBody>
          <a:bodyPr wrap="square" lIns="0" tIns="0" rIns="0" bIns="0" rtlCol="0" anchor="ctr"/>
          <a:lstStyle/>
          <a:p>
            <a:pPr marL="0" indent="0">
              <a:buNone/>
            </a:pPr>
            <a:r>
              <a:rPr lang="en-US" sz="4400" b="1" dirty="0">
                <a:solidFill>
                  <a:schemeClr val="accent1"/>
                </a:solidFill>
                <a:latin typeface="Cambria" pitchFamily="34" charset="0"/>
                <a:ea typeface="Cambria" pitchFamily="34" charset="-122"/>
                <a:cs typeface="Cambria" pitchFamily="34" charset="-120"/>
              </a:rPr>
              <a:t>15×</a:t>
            </a:r>
            <a:endParaRPr lang="en-US" sz="4400" dirty="0"/>
          </a:p>
        </p:txBody>
      </p:sp>
      <p:sp>
        <p:nvSpPr>
          <p:cNvPr id="26" name="Text 24"/>
          <p:cNvSpPr txBox="1"/>
          <p:nvPr/>
        </p:nvSpPr>
        <p:spPr>
          <a:xfrm>
            <a:off x="8686800" y="3127248"/>
            <a:ext cx="2743200" cy="1005840"/>
          </a:xfrm>
          <a:prstGeom prst="rect">
            <a:avLst/>
          </a:prstGeom>
          <a:noFill/>
          <a:ln/>
        </p:spPr>
        <p:txBody>
          <a:bodyPr wrap="square" lIns="0" tIns="0" rIns="0" bIns="0" rtlCol="0" anchor="ctr"/>
          <a:lstStyle/>
          <a:p>
            <a:pPr marL="0" indent="0">
              <a:buNone/>
            </a:pPr>
            <a:r>
              <a:rPr lang="en-US" sz="1400" dirty="0">
                <a:solidFill>
                  <a:schemeClr val="tx2"/>
                </a:solidFill>
              </a:rPr>
              <a:t>the tokens of a normal chat (single agents use about 4×)</a:t>
            </a:r>
            <a:endParaRPr lang="en-US" sz="1400" dirty="0"/>
          </a:p>
        </p:txBody>
      </p:sp>
      <p:sp>
        <p:nvSpPr>
          <p:cNvPr id="27" name="card"/>
          <p:cNvSpPr/>
          <p:nvPr/>
        </p:nvSpPr>
        <p:spPr>
          <a:xfrm>
            <a:off x="6035040" y="4517136"/>
            <a:ext cx="5577840" cy="1389888"/>
          </a:xfrm>
          <a:prstGeom prst="roundRect">
            <a:avLst>
              <a:gd name="adj" fmla="val 526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8" name="Text 26"/>
          <p:cNvSpPr txBox="1"/>
          <p:nvPr/>
        </p:nvSpPr>
        <p:spPr>
          <a:xfrm>
            <a:off x="6309360" y="4700016"/>
            <a:ext cx="2286000" cy="1005840"/>
          </a:xfrm>
          <a:prstGeom prst="rect">
            <a:avLst/>
          </a:prstGeom>
          <a:noFill/>
          <a:ln/>
        </p:spPr>
        <p:txBody>
          <a:bodyPr wrap="square" lIns="0" tIns="0" rIns="0" bIns="0" rtlCol="0" anchor="ctr"/>
          <a:lstStyle/>
          <a:p>
            <a:pPr marL="0" indent="0">
              <a:buNone/>
            </a:pPr>
            <a:r>
              <a:rPr lang="en-US" sz="4400" b="1" dirty="0">
                <a:solidFill>
                  <a:schemeClr val="accent3"/>
                </a:solidFill>
                <a:latin typeface="Cambria" pitchFamily="34" charset="0"/>
                <a:ea typeface="Cambria" pitchFamily="34" charset="-122"/>
                <a:cs typeface="Cambria" pitchFamily="34" charset="-120"/>
              </a:rPr>
              <a:t>−90%</a:t>
            </a:r>
            <a:endParaRPr lang="en-US" sz="4400" dirty="0"/>
          </a:p>
        </p:txBody>
      </p:sp>
      <p:sp>
        <p:nvSpPr>
          <p:cNvPr id="29" name="Text 27"/>
          <p:cNvSpPr txBox="1"/>
          <p:nvPr/>
        </p:nvSpPr>
        <p:spPr>
          <a:xfrm>
            <a:off x="8686800" y="4700016"/>
            <a:ext cx="2743200" cy="1005840"/>
          </a:xfrm>
          <a:prstGeom prst="rect">
            <a:avLst/>
          </a:prstGeom>
          <a:noFill/>
          <a:ln/>
        </p:spPr>
        <p:txBody>
          <a:bodyPr wrap="square" lIns="0" tIns="0" rIns="0" bIns="0" rtlCol="0" anchor="ctr"/>
          <a:lstStyle/>
          <a:p>
            <a:pPr marL="0" indent="0">
              <a:buNone/>
            </a:pPr>
            <a:r>
              <a:rPr lang="en-US" sz="1400" dirty="0">
                <a:solidFill>
                  <a:schemeClr val="tx2"/>
                </a:solidFill>
              </a:rPr>
              <a:t>up to 90% less time on complex research, by searching in parallel</a:t>
            </a:r>
            <a:endParaRPr lang="en-US" sz="14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Subagents in Claude Code: a markdown file is all it takes</a:t>
            </a:r>
            <a:endParaRPr lang="en-US" sz="3200" dirty="0"/>
          </a:p>
        </p:txBody>
      </p:sp>
      <p:sp>
        <p:nvSpPr>
          <p:cNvPr id="3" name="code panel"/>
          <p:cNvSpPr/>
          <p:nvPr/>
        </p:nvSpPr>
        <p:spPr>
          <a:xfrm>
            <a:off x="548640" y="1371600"/>
            <a:ext cx="5852160" cy="4663440"/>
          </a:xfrm>
          <a:prstGeom prst="roundRect">
            <a:avLst>
              <a:gd name="adj" fmla="val 156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77240" y="1554480"/>
            <a:ext cx="5394960" cy="4297680"/>
          </a:xfrm>
          <a:prstGeom prst="rect">
            <a:avLst/>
          </a:prstGeom>
          <a:noFill/>
          <a:ln/>
        </p:spPr>
        <p:txBody>
          <a:bodyPr wrap="square" lIns="0" tIns="0" rIns="0" bIns="0" rtlCol="0" anchor="t"/>
          <a:lstStyle/>
          <a:p>
            <a:pPr marL="0" indent="0">
              <a:buNone/>
            </a:pPr>
            <a:r>
              <a:rPr lang="en-US" sz="1300" dirty="0">
                <a:solidFill>
                  <a:srgbClr val="E3E5EC"/>
                </a:solidFill>
                <a:latin typeface="Courier New" pitchFamily="34" charset="0"/>
                <a:ea typeface="Courier New" pitchFamily="34" charset="-122"/>
                <a:cs typeface="Courier New" pitchFamily="34" charset="-120"/>
              </a:rPr>
              <a:t># .claude/agents/code-reviewer.md</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name: code-reviewer</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description: Reviews code changes for bugs,</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  security and readability. Use after edits.</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tools: Read, Glob, Grep</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model: sonnet</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effort: high</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a:t>
            </a:r>
            <a:endParaRPr lang="en-US" sz="1300" dirty="0"/>
          </a:p>
          <a:p>
            <a:pPr marL="0" indent="0">
              <a:buNone/>
            </a:pP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You are a senior code reviewer. Look at the</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changed files only. Report concrete problems</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with file:line and a suggested fix. Rank by</a:t>
            </a:r>
            <a:endParaRPr lang="en-US" sz="1300" dirty="0"/>
          </a:p>
          <a:p>
            <a:pPr marL="0" indent="0">
              <a:buNone/>
            </a:pPr>
            <a:r>
              <a:rPr lang="en-US" sz="1300" dirty="0">
                <a:solidFill>
                  <a:srgbClr val="E3E5EC"/>
                </a:solidFill>
                <a:latin typeface="Courier New" pitchFamily="34" charset="0"/>
                <a:ea typeface="Courier New" pitchFamily="34" charset="-122"/>
                <a:cs typeface="Courier New" pitchFamily="34" charset="-120"/>
              </a:rPr>
              <a:t>severity. Do not edit files.</a:t>
            </a:r>
            <a:endParaRPr lang="en-US" sz="1300" dirty="0"/>
          </a:p>
        </p:txBody>
      </p:sp>
      <p:sp>
        <p:nvSpPr>
          <p:cNvPr id="5" name="card"/>
          <p:cNvSpPr/>
          <p:nvPr/>
        </p:nvSpPr>
        <p:spPr>
          <a:xfrm>
            <a:off x="6675120" y="137160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6903720" y="1490472"/>
            <a:ext cx="4572000" cy="292608"/>
          </a:xfrm>
          <a:prstGeom prst="rect">
            <a:avLst/>
          </a:prstGeom>
          <a:noFill/>
          <a:ln/>
        </p:spPr>
        <p:txBody>
          <a:bodyPr wrap="square" lIns="0" tIns="0" rIns="0" bIns="0" rtlCol="0" anchor="t"/>
          <a:lstStyle/>
          <a:p>
            <a:pPr marL="0" indent="0">
              <a:buNone/>
            </a:pPr>
            <a:r>
              <a:rPr lang="en-US" sz="1500" b="1" dirty="0">
                <a:solidFill>
                  <a:schemeClr val="tx1"/>
                </a:solidFill>
              </a:rPr>
              <a:t>Built in</a:t>
            </a:r>
            <a:endParaRPr lang="en-US" sz="1500" dirty="0"/>
          </a:p>
        </p:txBody>
      </p:sp>
      <p:sp>
        <p:nvSpPr>
          <p:cNvPr id="7" name="Text 5"/>
          <p:cNvSpPr txBox="1"/>
          <p:nvPr/>
        </p:nvSpPr>
        <p:spPr>
          <a:xfrm>
            <a:off x="6903720" y="1801368"/>
            <a:ext cx="4572000" cy="548640"/>
          </a:xfrm>
          <a:prstGeom prst="rect">
            <a:avLst/>
          </a:prstGeom>
          <a:noFill/>
          <a:ln/>
        </p:spPr>
        <p:txBody>
          <a:bodyPr wrap="square" lIns="0" tIns="0" rIns="0" bIns="0" rtlCol="0" anchor="t"/>
          <a:lstStyle/>
          <a:p>
            <a:pPr marL="0" indent="0">
              <a:buNone/>
            </a:pPr>
            <a:r>
              <a:rPr lang="en-US" sz="1300" dirty="0">
                <a:solidFill>
                  <a:schemeClr val="tx2"/>
                </a:solidFill>
              </a:rPr>
              <a:t>Explore (read-only search), Plan (research for plan mode), general-purpose</a:t>
            </a:r>
            <a:endParaRPr lang="en-US" sz="1300" dirty="0"/>
          </a:p>
        </p:txBody>
      </p:sp>
      <p:sp>
        <p:nvSpPr>
          <p:cNvPr id="8" name="card"/>
          <p:cNvSpPr/>
          <p:nvPr/>
        </p:nvSpPr>
        <p:spPr>
          <a:xfrm>
            <a:off x="6675120" y="256032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903720" y="2679192"/>
            <a:ext cx="4572000" cy="292608"/>
          </a:xfrm>
          <a:prstGeom prst="rect">
            <a:avLst/>
          </a:prstGeom>
          <a:noFill/>
          <a:ln/>
        </p:spPr>
        <p:txBody>
          <a:bodyPr wrap="square" lIns="0" tIns="0" rIns="0" bIns="0" rtlCol="0" anchor="t"/>
          <a:lstStyle/>
          <a:p>
            <a:pPr marL="0" indent="0">
              <a:buNone/>
            </a:pPr>
            <a:r>
              <a:rPr lang="en-US" sz="1500" b="1" dirty="0">
                <a:solidFill>
                  <a:schemeClr val="tx1"/>
                </a:solidFill>
              </a:rPr>
              <a:t>Where</a:t>
            </a:r>
            <a:endParaRPr lang="en-US" sz="1500" dirty="0"/>
          </a:p>
        </p:txBody>
      </p:sp>
      <p:sp>
        <p:nvSpPr>
          <p:cNvPr id="10" name="Text 8"/>
          <p:cNvSpPr txBox="1"/>
          <p:nvPr/>
        </p:nvSpPr>
        <p:spPr>
          <a:xfrm>
            <a:off x="6903720" y="2990088"/>
            <a:ext cx="4572000" cy="548640"/>
          </a:xfrm>
          <a:prstGeom prst="rect">
            <a:avLst/>
          </a:prstGeom>
          <a:noFill/>
          <a:ln/>
        </p:spPr>
        <p:txBody>
          <a:bodyPr wrap="square" lIns="0" tIns="0" rIns="0" bIns="0" rtlCol="0" anchor="t"/>
          <a:lstStyle/>
          <a:p>
            <a:pPr marL="0" indent="0">
              <a:buNone/>
            </a:pPr>
            <a:r>
              <a:rPr lang="en-US" sz="1300" dirty="0">
                <a:solidFill>
                  <a:schemeClr val="tx2"/>
                </a:solidFill>
              </a:rPr>
              <a:t>.claude/agents/ for the project (share via git), ~/.claude/agents/ for all your projects</a:t>
            </a:r>
            <a:endParaRPr lang="en-US" sz="1300" dirty="0"/>
          </a:p>
        </p:txBody>
      </p:sp>
      <p:sp>
        <p:nvSpPr>
          <p:cNvPr id="11" name="card"/>
          <p:cNvSpPr/>
          <p:nvPr/>
        </p:nvSpPr>
        <p:spPr>
          <a:xfrm>
            <a:off x="6675120" y="374904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6903720" y="3867912"/>
            <a:ext cx="4572000" cy="292608"/>
          </a:xfrm>
          <a:prstGeom prst="rect">
            <a:avLst/>
          </a:prstGeom>
          <a:noFill/>
          <a:ln/>
        </p:spPr>
        <p:txBody>
          <a:bodyPr wrap="square" lIns="0" tIns="0" rIns="0" bIns="0" rtlCol="0" anchor="t"/>
          <a:lstStyle/>
          <a:p>
            <a:pPr marL="0" indent="0">
              <a:buNone/>
            </a:pPr>
            <a:r>
              <a:rPr lang="en-US" sz="1500" b="1" dirty="0">
                <a:solidFill>
                  <a:schemeClr val="tx1"/>
                </a:solidFill>
              </a:rPr>
              <a:t>How to call</a:t>
            </a:r>
            <a:endParaRPr lang="en-US" sz="1500" dirty="0"/>
          </a:p>
        </p:txBody>
      </p:sp>
      <p:sp>
        <p:nvSpPr>
          <p:cNvPr id="13" name="Text 11"/>
          <p:cNvSpPr txBox="1"/>
          <p:nvPr/>
        </p:nvSpPr>
        <p:spPr>
          <a:xfrm>
            <a:off x="6903720" y="4178808"/>
            <a:ext cx="4572000" cy="548640"/>
          </a:xfrm>
          <a:prstGeom prst="rect">
            <a:avLst/>
          </a:prstGeom>
          <a:noFill/>
          <a:ln/>
        </p:spPr>
        <p:txBody>
          <a:bodyPr wrap="square" lIns="0" tIns="0" rIns="0" bIns="0" rtlCol="0" anchor="t"/>
          <a:lstStyle/>
          <a:p>
            <a:pPr marL="0" indent="0">
              <a:buNone/>
            </a:pPr>
            <a:r>
              <a:rPr lang="en-US" sz="1300" dirty="0">
                <a:solidFill>
                  <a:schemeClr val="tx2"/>
                </a:solidFill>
              </a:rPr>
              <a:t>Claude picks one from its description, or ask: “Use the code-reviewer subagent on my changes”</a:t>
            </a:r>
            <a:endParaRPr lang="en-US" sz="1300" dirty="0"/>
          </a:p>
        </p:txBody>
      </p:sp>
      <p:sp>
        <p:nvSpPr>
          <p:cNvPr id="14" name="card"/>
          <p:cNvSpPr/>
          <p:nvPr/>
        </p:nvSpPr>
        <p:spPr>
          <a:xfrm>
            <a:off x="6675120" y="493776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6903720" y="5056632"/>
            <a:ext cx="4572000" cy="292608"/>
          </a:xfrm>
          <a:prstGeom prst="rect">
            <a:avLst/>
          </a:prstGeom>
          <a:noFill/>
          <a:ln/>
        </p:spPr>
        <p:txBody>
          <a:bodyPr wrap="square" lIns="0" tIns="0" rIns="0" bIns="0" rtlCol="0" anchor="t"/>
          <a:lstStyle/>
          <a:p>
            <a:pPr marL="0" indent="0">
              <a:buNone/>
            </a:pPr>
            <a:r>
              <a:rPr lang="en-US" sz="1500" b="1" dirty="0">
                <a:solidFill>
                  <a:schemeClr val="tx1"/>
                </a:solidFill>
              </a:rPr>
              <a:t>Why</a:t>
            </a:r>
            <a:endParaRPr lang="en-US" sz="1500" dirty="0"/>
          </a:p>
        </p:txBody>
      </p:sp>
      <p:sp>
        <p:nvSpPr>
          <p:cNvPr id="16" name="Text 14"/>
          <p:cNvSpPr txBox="1"/>
          <p:nvPr/>
        </p:nvSpPr>
        <p:spPr>
          <a:xfrm>
            <a:off x="6903720" y="5367528"/>
            <a:ext cx="4572000" cy="548640"/>
          </a:xfrm>
          <a:prstGeom prst="rect">
            <a:avLst/>
          </a:prstGeom>
          <a:noFill/>
          <a:ln/>
        </p:spPr>
        <p:txBody>
          <a:bodyPr wrap="square" lIns="0" tIns="0" rIns="0" bIns="0" rtlCol="0" anchor="t"/>
          <a:lstStyle/>
          <a:p>
            <a:pPr marL="0" indent="0">
              <a:buNone/>
            </a:pPr>
            <a:r>
              <a:rPr lang="en-US" sz="1300" dirty="0">
                <a:solidFill>
                  <a:schemeClr val="tx2"/>
                </a:solidFill>
              </a:rPr>
              <a:t>Own context window, limited tools, cheaper model, reusable. They still count toward usage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How to brief a subagent (or any delegated agent)</a:t>
            </a:r>
            <a:endParaRPr lang="en-US" sz="3200" dirty="0"/>
          </a:p>
        </p:txBody>
      </p:sp>
      <p:sp>
        <p:nvSpPr>
          <p:cNvPr id="3" name="card"/>
          <p:cNvSpPr/>
          <p:nvPr/>
        </p:nvSpPr>
        <p:spPr>
          <a:xfrm>
            <a:off x="548640" y="1371600"/>
            <a:ext cx="2066544" cy="228600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icon circle"/>
          <p:cNvSpPr/>
          <p:nvPr/>
        </p:nvSpPr>
        <p:spPr>
          <a:xfrm>
            <a:off x="822960" y="160020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5" name="Image 0" descr="FlagCheckered icon"/>
          <p:cNvPicPr>
            <a:picLocks noChangeAspect="1"/>
          </p:cNvPicPr>
          <p:nvPr/>
        </p:nvPicPr>
        <p:blipFill>
          <a:blip r:embed="rId3"/>
          <a:stretch>
            <a:fillRect/>
          </a:stretch>
        </p:blipFill>
        <p:spPr>
          <a:xfrm>
            <a:off x="982980" y="1760220"/>
            <a:ext cx="320040" cy="320040"/>
          </a:xfrm>
          <a:prstGeom prst="rect">
            <a:avLst/>
          </a:prstGeom>
        </p:spPr>
      </p:pic>
      <p:sp>
        <p:nvSpPr>
          <p:cNvPr id="6" name="Text 3"/>
          <p:cNvSpPr txBox="1"/>
          <p:nvPr/>
        </p:nvSpPr>
        <p:spPr>
          <a:xfrm>
            <a:off x="822960" y="2377440"/>
            <a:ext cx="1645920" cy="365760"/>
          </a:xfrm>
          <a:prstGeom prst="rect">
            <a:avLst/>
          </a:prstGeom>
          <a:noFill/>
          <a:ln/>
        </p:spPr>
        <p:txBody>
          <a:bodyPr wrap="square" lIns="0" tIns="0" rIns="0" bIns="0" rtlCol="0" anchor="t"/>
          <a:lstStyle/>
          <a:p>
            <a:pPr marL="0" indent="0">
              <a:buNone/>
            </a:pPr>
            <a:r>
              <a:rPr lang="en-US" sz="1600" b="1" dirty="0">
                <a:solidFill>
                  <a:schemeClr val="tx1"/>
                </a:solidFill>
              </a:rPr>
              <a:t>Objective</a:t>
            </a:r>
            <a:endParaRPr lang="en-US" sz="1600" dirty="0"/>
          </a:p>
        </p:txBody>
      </p:sp>
      <p:sp>
        <p:nvSpPr>
          <p:cNvPr id="7" name="Text 4"/>
          <p:cNvSpPr txBox="1"/>
          <p:nvPr/>
        </p:nvSpPr>
        <p:spPr>
          <a:xfrm>
            <a:off x="822960" y="2788920"/>
            <a:ext cx="1645920" cy="777240"/>
          </a:xfrm>
          <a:prstGeom prst="rect">
            <a:avLst/>
          </a:prstGeom>
          <a:noFill/>
          <a:ln/>
        </p:spPr>
        <p:txBody>
          <a:bodyPr wrap="square" lIns="0" tIns="0" rIns="0" bIns="0" rtlCol="0" anchor="t"/>
          <a:lstStyle/>
          <a:p>
            <a:pPr marL="0" indent="0">
              <a:buNone/>
            </a:pPr>
            <a:r>
              <a:rPr lang="en-US" sz="1300" dirty="0">
                <a:solidFill>
                  <a:schemeClr val="tx2"/>
                </a:solidFill>
              </a:rPr>
              <a:t>One clear goal and why it matters</a:t>
            </a:r>
            <a:endParaRPr lang="en-US" sz="1300" dirty="0"/>
          </a:p>
        </p:txBody>
      </p:sp>
      <p:sp>
        <p:nvSpPr>
          <p:cNvPr id="8" name="card"/>
          <p:cNvSpPr/>
          <p:nvPr/>
        </p:nvSpPr>
        <p:spPr>
          <a:xfrm>
            <a:off x="2798064" y="1371600"/>
            <a:ext cx="2066544" cy="228600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icon circle"/>
          <p:cNvSpPr/>
          <p:nvPr/>
        </p:nvSpPr>
        <p:spPr>
          <a:xfrm>
            <a:off x="3072384" y="1600200"/>
            <a:ext cx="640080" cy="640080"/>
          </a:xfrm>
          <a:prstGeom prst="ellipse">
            <a:avLst/>
          </a:prstGeom>
          <a:solidFill>
            <a:schemeClr val="accent2"/>
          </a:solidFill>
          <a:ln w="12700">
            <a:solidFill>
              <a:schemeClr val="accent2"/>
            </a:solidFill>
            <a:prstDash val="solid"/>
          </a:ln>
        </p:spPr>
        <p:txBody>
          <a:bodyPr/>
          <a:lstStyle/>
          <a:p>
            <a:endParaRPr lang="en-US"/>
          </a:p>
        </p:txBody>
      </p:sp>
      <p:pic>
        <p:nvPicPr>
          <p:cNvPr id="10" name="Image 1" descr="FileLines icon"/>
          <p:cNvPicPr>
            <a:picLocks noChangeAspect="1"/>
          </p:cNvPicPr>
          <p:nvPr/>
        </p:nvPicPr>
        <p:blipFill>
          <a:blip r:embed="rId4"/>
          <a:stretch>
            <a:fillRect/>
          </a:stretch>
        </p:blipFill>
        <p:spPr>
          <a:xfrm>
            <a:off x="3232404" y="1760220"/>
            <a:ext cx="320040" cy="320040"/>
          </a:xfrm>
          <a:prstGeom prst="rect">
            <a:avLst/>
          </a:prstGeom>
        </p:spPr>
      </p:pic>
      <p:sp>
        <p:nvSpPr>
          <p:cNvPr id="11" name="Text 7"/>
          <p:cNvSpPr txBox="1"/>
          <p:nvPr/>
        </p:nvSpPr>
        <p:spPr>
          <a:xfrm>
            <a:off x="3072384" y="2377440"/>
            <a:ext cx="1645920" cy="365760"/>
          </a:xfrm>
          <a:prstGeom prst="rect">
            <a:avLst/>
          </a:prstGeom>
          <a:noFill/>
          <a:ln/>
        </p:spPr>
        <p:txBody>
          <a:bodyPr wrap="square" lIns="0" tIns="0" rIns="0" bIns="0" rtlCol="0" anchor="t"/>
          <a:lstStyle/>
          <a:p>
            <a:pPr marL="0" indent="0">
              <a:buNone/>
            </a:pPr>
            <a:r>
              <a:rPr lang="en-US" sz="1600" b="1" dirty="0">
                <a:solidFill>
                  <a:schemeClr val="tx1"/>
                </a:solidFill>
              </a:rPr>
              <a:t>Output format</a:t>
            </a:r>
            <a:endParaRPr lang="en-US" sz="1600" dirty="0"/>
          </a:p>
        </p:txBody>
      </p:sp>
      <p:sp>
        <p:nvSpPr>
          <p:cNvPr id="12" name="Text 8"/>
          <p:cNvSpPr txBox="1"/>
          <p:nvPr/>
        </p:nvSpPr>
        <p:spPr>
          <a:xfrm>
            <a:off x="3072384" y="2788920"/>
            <a:ext cx="1645920" cy="777240"/>
          </a:xfrm>
          <a:prstGeom prst="rect">
            <a:avLst/>
          </a:prstGeom>
          <a:noFill/>
          <a:ln/>
        </p:spPr>
        <p:txBody>
          <a:bodyPr wrap="square" lIns="0" tIns="0" rIns="0" bIns="0" rtlCol="0" anchor="t"/>
          <a:lstStyle/>
          <a:p>
            <a:pPr marL="0" indent="0">
              <a:buNone/>
            </a:pPr>
            <a:r>
              <a:rPr lang="en-US" sz="1300" dirty="0">
                <a:solidFill>
                  <a:schemeClr val="tx2"/>
                </a:solidFill>
              </a:rPr>
              <a:t>Exactly what to return, and how short</a:t>
            </a:r>
            <a:endParaRPr lang="en-US" sz="1300" dirty="0"/>
          </a:p>
        </p:txBody>
      </p:sp>
      <p:sp>
        <p:nvSpPr>
          <p:cNvPr id="13" name="card"/>
          <p:cNvSpPr/>
          <p:nvPr/>
        </p:nvSpPr>
        <p:spPr>
          <a:xfrm>
            <a:off x="5047488" y="1371600"/>
            <a:ext cx="2066544" cy="228600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4" name="icon circle"/>
          <p:cNvSpPr/>
          <p:nvPr/>
        </p:nvSpPr>
        <p:spPr>
          <a:xfrm>
            <a:off x="5321808" y="1600200"/>
            <a:ext cx="640080" cy="640080"/>
          </a:xfrm>
          <a:prstGeom prst="ellipse">
            <a:avLst/>
          </a:prstGeom>
          <a:solidFill>
            <a:schemeClr val="accent3"/>
          </a:solidFill>
          <a:ln w="12700">
            <a:solidFill>
              <a:schemeClr val="accent3"/>
            </a:solidFill>
            <a:prstDash val="solid"/>
          </a:ln>
        </p:spPr>
        <p:txBody>
          <a:bodyPr/>
          <a:lstStyle/>
          <a:p>
            <a:endParaRPr lang="en-US"/>
          </a:p>
        </p:txBody>
      </p:sp>
      <p:pic>
        <p:nvPicPr>
          <p:cNvPr id="15" name="Image 2" descr="Toolbox icon"/>
          <p:cNvPicPr>
            <a:picLocks noChangeAspect="1"/>
          </p:cNvPicPr>
          <p:nvPr/>
        </p:nvPicPr>
        <p:blipFill>
          <a:blip r:embed="rId5"/>
          <a:stretch>
            <a:fillRect/>
          </a:stretch>
        </p:blipFill>
        <p:spPr>
          <a:xfrm>
            <a:off x="5481828" y="1760220"/>
            <a:ext cx="320040" cy="320040"/>
          </a:xfrm>
          <a:prstGeom prst="rect">
            <a:avLst/>
          </a:prstGeom>
        </p:spPr>
      </p:pic>
      <p:sp>
        <p:nvSpPr>
          <p:cNvPr id="16" name="Text 11"/>
          <p:cNvSpPr txBox="1"/>
          <p:nvPr/>
        </p:nvSpPr>
        <p:spPr>
          <a:xfrm>
            <a:off x="5321808" y="2377440"/>
            <a:ext cx="1645920" cy="365760"/>
          </a:xfrm>
          <a:prstGeom prst="rect">
            <a:avLst/>
          </a:prstGeom>
          <a:noFill/>
          <a:ln/>
        </p:spPr>
        <p:txBody>
          <a:bodyPr wrap="square" lIns="0" tIns="0" rIns="0" bIns="0" rtlCol="0" anchor="t"/>
          <a:lstStyle/>
          <a:p>
            <a:pPr marL="0" indent="0">
              <a:buNone/>
            </a:pPr>
            <a:r>
              <a:rPr lang="en-US" sz="1600" b="1" dirty="0">
                <a:solidFill>
                  <a:schemeClr val="tx1"/>
                </a:solidFill>
              </a:rPr>
              <a:t>Tools &amp; sources</a:t>
            </a:r>
            <a:endParaRPr lang="en-US" sz="1600" dirty="0"/>
          </a:p>
        </p:txBody>
      </p:sp>
      <p:sp>
        <p:nvSpPr>
          <p:cNvPr id="17" name="Text 12"/>
          <p:cNvSpPr txBox="1"/>
          <p:nvPr/>
        </p:nvSpPr>
        <p:spPr>
          <a:xfrm>
            <a:off x="5321808" y="2788920"/>
            <a:ext cx="1645920" cy="777240"/>
          </a:xfrm>
          <a:prstGeom prst="rect">
            <a:avLst/>
          </a:prstGeom>
          <a:noFill/>
          <a:ln/>
        </p:spPr>
        <p:txBody>
          <a:bodyPr wrap="square" lIns="0" tIns="0" rIns="0" bIns="0" rtlCol="0" anchor="t"/>
          <a:lstStyle/>
          <a:p>
            <a:pPr marL="0" indent="0">
              <a:buNone/>
            </a:pPr>
            <a:r>
              <a:rPr lang="en-US" sz="1300" dirty="0">
                <a:solidFill>
                  <a:schemeClr val="tx2"/>
                </a:solidFill>
              </a:rPr>
              <a:t>What to use, what to avoid</a:t>
            </a:r>
            <a:endParaRPr lang="en-US" sz="1300" dirty="0"/>
          </a:p>
        </p:txBody>
      </p:sp>
      <p:sp>
        <p:nvSpPr>
          <p:cNvPr id="18" name="card"/>
          <p:cNvSpPr/>
          <p:nvPr/>
        </p:nvSpPr>
        <p:spPr>
          <a:xfrm>
            <a:off x="7296912" y="1371600"/>
            <a:ext cx="2066544" cy="228600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9" name="icon circle"/>
          <p:cNvSpPr/>
          <p:nvPr/>
        </p:nvSpPr>
        <p:spPr>
          <a:xfrm>
            <a:off x="7571232" y="1600200"/>
            <a:ext cx="640080" cy="640080"/>
          </a:xfrm>
          <a:prstGeom prst="ellipse">
            <a:avLst/>
          </a:prstGeom>
          <a:solidFill>
            <a:schemeClr val="accent4"/>
          </a:solidFill>
          <a:ln w="12700">
            <a:solidFill>
              <a:schemeClr val="accent4"/>
            </a:solidFill>
            <a:prstDash val="solid"/>
          </a:ln>
        </p:spPr>
        <p:txBody>
          <a:bodyPr/>
          <a:lstStyle/>
          <a:p>
            <a:endParaRPr lang="en-US"/>
          </a:p>
        </p:txBody>
      </p:sp>
      <p:pic>
        <p:nvPicPr>
          <p:cNvPr id="20" name="Image 3" descr="BorderAll icon"/>
          <p:cNvPicPr>
            <a:picLocks noChangeAspect="1"/>
          </p:cNvPicPr>
          <p:nvPr/>
        </p:nvPicPr>
        <p:blipFill>
          <a:blip r:embed="rId6"/>
          <a:stretch>
            <a:fillRect/>
          </a:stretch>
        </p:blipFill>
        <p:spPr>
          <a:xfrm>
            <a:off x="7731252" y="1760220"/>
            <a:ext cx="320040" cy="320040"/>
          </a:xfrm>
          <a:prstGeom prst="rect">
            <a:avLst/>
          </a:prstGeom>
        </p:spPr>
      </p:pic>
      <p:sp>
        <p:nvSpPr>
          <p:cNvPr id="21" name="Text 15"/>
          <p:cNvSpPr txBox="1"/>
          <p:nvPr/>
        </p:nvSpPr>
        <p:spPr>
          <a:xfrm>
            <a:off x="7571232" y="2377440"/>
            <a:ext cx="1645920" cy="365760"/>
          </a:xfrm>
          <a:prstGeom prst="rect">
            <a:avLst/>
          </a:prstGeom>
          <a:noFill/>
          <a:ln/>
        </p:spPr>
        <p:txBody>
          <a:bodyPr wrap="square" lIns="0" tIns="0" rIns="0" bIns="0" rtlCol="0" anchor="t"/>
          <a:lstStyle/>
          <a:p>
            <a:pPr marL="0" indent="0">
              <a:buNone/>
            </a:pPr>
            <a:r>
              <a:rPr lang="en-US" sz="1600" b="1" dirty="0">
                <a:solidFill>
                  <a:schemeClr val="tx1"/>
                </a:solidFill>
              </a:rPr>
              <a:t>Boundaries</a:t>
            </a:r>
            <a:endParaRPr lang="en-US" sz="1600" dirty="0"/>
          </a:p>
        </p:txBody>
      </p:sp>
      <p:sp>
        <p:nvSpPr>
          <p:cNvPr id="22" name="Text 16"/>
          <p:cNvSpPr txBox="1"/>
          <p:nvPr/>
        </p:nvSpPr>
        <p:spPr>
          <a:xfrm>
            <a:off x="7571232" y="2788920"/>
            <a:ext cx="1645920" cy="777240"/>
          </a:xfrm>
          <a:prstGeom prst="rect">
            <a:avLst/>
          </a:prstGeom>
          <a:noFill/>
          <a:ln/>
        </p:spPr>
        <p:txBody>
          <a:bodyPr wrap="square" lIns="0" tIns="0" rIns="0" bIns="0" rtlCol="0" anchor="t"/>
          <a:lstStyle/>
          <a:p>
            <a:pPr marL="0" indent="0">
              <a:buNone/>
            </a:pPr>
            <a:r>
              <a:rPr lang="en-US" sz="1300" dirty="0">
                <a:solidFill>
                  <a:schemeClr val="tx2"/>
                </a:solidFill>
              </a:rPr>
              <a:t>What is out of scope; what others cover</a:t>
            </a:r>
            <a:endParaRPr lang="en-US" sz="1300" dirty="0"/>
          </a:p>
        </p:txBody>
      </p:sp>
      <p:sp>
        <p:nvSpPr>
          <p:cNvPr id="23" name="card"/>
          <p:cNvSpPr/>
          <p:nvPr/>
        </p:nvSpPr>
        <p:spPr>
          <a:xfrm>
            <a:off x="9546336" y="1371600"/>
            <a:ext cx="2066544" cy="2286000"/>
          </a:xfrm>
          <a:prstGeom prst="roundRect">
            <a:avLst>
              <a:gd name="adj" fmla="val 3540"/>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4" name="icon circle"/>
          <p:cNvSpPr/>
          <p:nvPr/>
        </p:nvSpPr>
        <p:spPr>
          <a:xfrm>
            <a:off x="9820656" y="1600200"/>
            <a:ext cx="640080" cy="640080"/>
          </a:xfrm>
          <a:prstGeom prst="ellipse">
            <a:avLst/>
          </a:prstGeom>
          <a:solidFill>
            <a:schemeClr val="tx1"/>
          </a:solidFill>
          <a:ln w="12700">
            <a:solidFill>
              <a:schemeClr val="tx1"/>
            </a:solidFill>
            <a:prstDash val="solid"/>
          </a:ln>
        </p:spPr>
        <p:txBody>
          <a:bodyPr/>
          <a:lstStyle/>
          <a:p>
            <a:endParaRPr lang="en-US"/>
          </a:p>
        </p:txBody>
      </p:sp>
      <p:pic>
        <p:nvPicPr>
          <p:cNvPr id="25" name="Image 4" descr="GaugeHigh icon"/>
          <p:cNvPicPr>
            <a:picLocks noChangeAspect="1"/>
          </p:cNvPicPr>
          <p:nvPr/>
        </p:nvPicPr>
        <p:blipFill>
          <a:blip r:embed="rId7"/>
          <a:stretch>
            <a:fillRect/>
          </a:stretch>
        </p:blipFill>
        <p:spPr>
          <a:xfrm>
            <a:off x="9980676" y="1760220"/>
            <a:ext cx="320040" cy="320040"/>
          </a:xfrm>
          <a:prstGeom prst="rect">
            <a:avLst/>
          </a:prstGeom>
        </p:spPr>
      </p:pic>
      <p:sp>
        <p:nvSpPr>
          <p:cNvPr id="26" name="Text 19"/>
          <p:cNvSpPr txBox="1"/>
          <p:nvPr/>
        </p:nvSpPr>
        <p:spPr>
          <a:xfrm>
            <a:off x="9820656" y="2377440"/>
            <a:ext cx="1645920" cy="365760"/>
          </a:xfrm>
          <a:prstGeom prst="rect">
            <a:avLst/>
          </a:prstGeom>
          <a:noFill/>
          <a:ln/>
        </p:spPr>
        <p:txBody>
          <a:bodyPr wrap="square" lIns="0" tIns="0" rIns="0" bIns="0" rtlCol="0" anchor="t"/>
          <a:lstStyle/>
          <a:p>
            <a:pPr marL="0" indent="0">
              <a:buNone/>
            </a:pPr>
            <a:r>
              <a:rPr lang="en-US" sz="1600" b="1" dirty="0">
                <a:solidFill>
                  <a:schemeClr val="tx1"/>
                </a:solidFill>
              </a:rPr>
              <a:t>Effort budget</a:t>
            </a:r>
            <a:endParaRPr lang="en-US" sz="1600" dirty="0"/>
          </a:p>
        </p:txBody>
      </p:sp>
      <p:sp>
        <p:nvSpPr>
          <p:cNvPr id="27" name="Text 20"/>
          <p:cNvSpPr txBox="1"/>
          <p:nvPr/>
        </p:nvSpPr>
        <p:spPr>
          <a:xfrm>
            <a:off x="9820656" y="2788920"/>
            <a:ext cx="1645920" cy="777240"/>
          </a:xfrm>
          <a:prstGeom prst="rect">
            <a:avLst/>
          </a:prstGeom>
          <a:noFill/>
          <a:ln/>
        </p:spPr>
        <p:txBody>
          <a:bodyPr wrap="square" lIns="0" tIns="0" rIns="0" bIns="0" rtlCol="0" anchor="t"/>
          <a:lstStyle/>
          <a:p>
            <a:pPr marL="0" indent="0">
              <a:buNone/>
            </a:pPr>
            <a:r>
              <a:rPr lang="en-US" sz="1300" dirty="0">
                <a:solidFill>
                  <a:schemeClr val="tx2"/>
                </a:solidFill>
              </a:rPr>
              <a:t>Simple: 3–10 tool calls. Complex: more</a:t>
            </a:r>
            <a:endParaRPr lang="en-US" sz="1300" dirty="0"/>
          </a:p>
        </p:txBody>
      </p:sp>
      <p:sp>
        <p:nvSpPr>
          <p:cNvPr id="28" name="Text 21"/>
          <p:cNvSpPr txBox="1"/>
          <p:nvPr/>
        </p:nvSpPr>
        <p:spPr>
          <a:xfrm>
            <a:off x="548640" y="3931920"/>
            <a:ext cx="18288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WEAK</a:t>
            </a:r>
            <a:endParaRPr lang="en-US" sz="1100" dirty="0"/>
          </a:p>
        </p:txBody>
      </p:sp>
      <p:sp>
        <p:nvSpPr>
          <p:cNvPr id="29" name="card"/>
          <p:cNvSpPr/>
          <p:nvPr/>
        </p:nvSpPr>
        <p:spPr>
          <a:xfrm>
            <a:off x="548640" y="4251960"/>
            <a:ext cx="3657600" cy="1783080"/>
          </a:xfrm>
          <a:prstGeom prst="roundRect">
            <a:avLst>
              <a:gd name="adj" fmla="val 4103"/>
            </a:avLst>
          </a:prstGeom>
          <a:solidFill>
            <a:schemeClr val="bg1"/>
          </a:solidFill>
          <a:ln w="9525">
            <a:solidFill>
              <a:schemeClr val="accent6"/>
            </a:solidFill>
            <a:prstDash val="solid"/>
          </a:ln>
        </p:spPr>
        <p:txBody>
          <a:bodyPr/>
          <a:lstStyle/>
          <a:p>
            <a:endParaRPr lang="en-US"/>
          </a:p>
        </p:txBody>
      </p:sp>
      <p:sp>
        <p:nvSpPr>
          <p:cNvPr id="30" name="Text 23"/>
          <p:cNvSpPr txBox="1"/>
          <p:nvPr/>
        </p:nvSpPr>
        <p:spPr>
          <a:xfrm>
            <a:off x="777240" y="4434840"/>
            <a:ext cx="3200400" cy="1371600"/>
          </a:xfrm>
          <a:prstGeom prst="rect">
            <a:avLst/>
          </a:prstGeom>
          <a:noFill/>
          <a:ln/>
        </p:spPr>
        <p:txBody>
          <a:bodyPr wrap="square" lIns="0" tIns="0" rIns="0" bIns="0" rtlCol="0" anchor="t"/>
          <a:lstStyle/>
          <a:p>
            <a:pPr marL="0" indent="0">
              <a:buNone/>
            </a:pPr>
            <a:r>
              <a:rPr lang="en-US" sz="1500" i="1" dirty="0">
                <a:solidFill>
                  <a:schemeClr val="tx1"/>
                </a:solidFill>
              </a:rPr>
              <a:t>“Research the semiconductor shortage.”</a:t>
            </a:r>
            <a:endParaRPr lang="en-US" sz="1500" dirty="0"/>
          </a:p>
        </p:txBody>
      </p:sp>
      <p:sp>
        <p:nvSpPr>
          <p:cNvPr id="31" name="Text 24"/>
          <p:cNvSpPr txBox="1"/>
          <p:nvPr/>
        </p:nvSpPr>
        <p:spPr>
          <a:xfrm>
            <a:off x="4480560" y="3931920"/>
            <a:ext cx="1828800" cy="274320"/>
          </a:xfrm>
          <a:prstGeom prst="rect">
            <a:avLst/>
          </a:prstGeom>
          <a:noFill/>
          <a:ln/>
        </p:spPr>
        <p:txBody>
          <a:bodyPr wrap="square" lIns="0" tIns="0" rIns="0" bIns="0" rtlCol="0" anchor="t"/>
          <a:lstStyle/>
          <a:p>
            <a:pPr marL="0" indent="0">
              <a:buNone/>
            </a:pPr>
            <a:r>
              <a:rPr lang="en-US" sz="1100" b="1" kern="0" spc="300" dirty="0">
                <a:solidFill>
                  <a:schemeClr val="accent2"/>
                </a:solidFill>
              </a:rPr>
              <a:t>STRONG</a:t>
            </a:r>
            <a:endParaRPr lang="en-US" sz="1100" dirty="0"/>
          </a:p>
        </p:txBody>
      </p:sp>
      <p:sp>
        <p:nvSpPr>
          <p:cNvPr id="32" name="card"/>
          <p:cNvSpPr/>
          <p:nvPr/>
        </p:nvSpPr>
        <p:spPr>
          <a:xfrm>
            <a:off x="4480560" y="4251960"/>
            <a:ext cx="7132320" cy="1783080"/>
          </a:xfrm>
          <a:prstGeom prst="roundRect">
            <a:avLst>
              <a:gd name="adj" fmla="val 4103"/>
            </a:avLst>
          </a:prstGeom>
          <a:solidFill>
            <a:schemeClr val="bg1"/>
          </a:solidFill>
          <a:ln w="9525">
            <a:solidFill>
              <a:schemeClr val="accent2"/>
            </a:solidFill>
            <a:prstDash val="solid"/>
          </a:ln>
        </p:spPr>
        <p:txBody>
          <a:bodyPr/>
          <a:lstStyle/>
          <a:p>
            <a:endParaRPr lang="en-US"/>
          </a:p>
        </p:txBody>
      </p:sp>
      <p:sp>
        <p:nvSpPr>
          <p:cNvPr id="33" name="Text 26"/>
          <p:cNvSpPr txBox="1"/>
          <p:nvPr/>
        </p:nvSpPr>
        <p:spPr>
          <a:xfrm>
            <a:off x="4709160" y="4434840"/>
            <a:ext cx="6675120" cy="1463040"/>
          </a:xfrm>
          <a:prstGeom prst="rect">
            <a:avLst/>
          </a:prstGeom>
          <a:noFill/>
          <a:ln/>
        </p:spPr>
        <p:txBody>
          <a:bodyPr wrap="square" lIns="0" tIns="0" rIns="0" bIns="0" rtlCol="0" anchor="t"/>
          <a:lstStyle/>
          <a:p>
            <a:pPr marL="0" indent="0">
              <a:buNone/>
            </a:pPr>
            <a:r>
              <a:rPr lang="en-US" sz="1400" i="1" dirty="0">
                <a:solidFill>
                  <a:schemeClr val="tx1"/>
                </a:solidFill>
              </a:rPr>
              <a:t>“Find how the 2021–23 chip shortage affected EU car makers’ output. Use industry reports and company filings, not news opinion. Another agent covers US and Asia, so skip those. Return 5 bullets with a figure and source URL each, max 150 words.”</a:t>
            </a:r>
            <a:endParaRPr lang="en-US" sz="14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365760"/>
          </a:xfrm>
          <a:prstGeom prst="rect">
            <a:avLst/>
          </a:prstGeom>
          <a:noFill/>
          <a:ln/>
        </p:spPr>
        <p:txBody>
          <a:bodyPr wrap="square" lIns="0" tIns="0" rIns="0" bIns="0" rtlCol="0"/>
          <a:lstStyle/>
          <a:p>
            <a:pPr marL="0" indent="0">
              <a:buNone/>
            </a:pPr>
            <a:r>
              <a:rPr lang="en-US" sz="1400" b="1" kern="0" spc="400" dirty="0">
                <a:solidFill>
                  <a:schemeClr val="accent1"/>
                </a:solidFill>
              </a:rPr>
              <a:t>PART 5</a:t>
            </a:r>
            <a:endParaRPr lang="en-US" sz="1400" dirty="0"/>
          </a:p>
        </p:txBody>
      </p:sp>
      <p:sp>
        <p:nvSpPr>
          <p:cNvPr id="3" name="Text 0"/>
          <p:cNvSpPr>
            <a:spLocks noGrp="1"/>
          </p:cNvSpPr>
          <p:nvPr>
            <p:ph type="title" idx="101" hasCustomPrompt="1"/>
          </p:nvPr>
        </p:nvSpPr>
        <p:spPr>
          <a:xfrm>
            <a:off x="548640" y="2423160"/>
            <a:ext cx="6583680" cy="914400"/>
          </a:xfrm>
          <a:prstGeom prst="rect">
            <a:avLst/>
          </a:prstGeom>
          <a:noFill/>
          <a:ln/>
        </p:spPr>
        <p:txBody>
          <a:bodyPr wrap="square" lIns="0" tIns="0" rIns="0" bIns="0"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Workflows &amp; plans</a:t>
            </a:r>
            <a:endParaRPr lang="en-US" sz="4000" dirty="0"/>
          </a:p>
        </p:txBody>
      </p:sp>
      <p:sp>
        <p:nvSpPr>
          <p:cNvPr id="4" name="Text 0"/>
          <p:cNvSpPr>
            <a:spLocks noGrp="1"/>
          </p:cNvSpPr>
          <p:nvPr>
            <p:ph type="body" idx="102" hasCustomPrompt="1"/>
          </p:nvPr>
        </p:nvSpPr>
        <p:spPr>
          <a:xfrm>
            <a:off x="548640" y="3474720"/>
            <a:ext cx="6217920" cy="1097280"/>
          </a:xfrm>
          <a:prstGeom prst="rect">
            <a:avLst/>
          </a:prstGeom>
          <a:noFill/>
          <a:ln/>
        </p:spPr>
        <p:txBody>
          <a:bodyPr wrap="square" lIns="0" tIns="0" rIns="0" bIns="0" rtlCol="0" anchor="t"/>
          <a:lstStyle/>
          <a:p>
            <a:pPr marL="0" indent="0">
              <a:buNone/>
            </a:pPr>
            <a:r>
              <a:rPr lang="en-US" sz="1800" dirty="0">
                <a:solidFill>
                  <a:schemeClr val="accent6"/>
                </a:solidFill>
              </a:rPr>
              <a:t>Plan before acting, write things down, and turn what works into something repeatable.</a:t>
            </a:r>
            <a:endParaRPr lang="en-US" sz="1800" dirty="0"/>
          </a:p>
        </p:txBody>
      </p:sp>
      <p:sp>
        <p:nvSpPr>
          <p:cNvPr id="5" name="token chip"/>
          <p:cNvSpPr/>
          <p:nvPr/>
        </p:nvSpPr>
        <p:spPr>
          <a:xfrm>
            <a:off x="7863840" y="1645920"/>
            <a:ext cx="1106424" cy="502920"/>
          </a:xfrm>
          <a:prstGeom prst="roundRect">
            <a:avLst>
              <a:gd name="adj" fmla="val 10909"/>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7863840" y="1645920"/>
            <a:ext cx="1106424" cy="502920"/>
          </a:xfrm>
          <a:prstGeom prst="rect">
            <a:avLst/>
          </a:prstGeom>
          <a:noFill/>
          <a:ln/>
        </p:spPr>
        <p:txBody>
          <a:bodyPr wrap="square" lIns="0" tIns="0" rIns="0" bIns="0" rtlCol="0" anchor="ctr"/>
          <a:lstStyle/>
          <a:p>
            <a:pPr marL="0" indent="0" algn="ctr">
              <a:buNone/>
            </a:pPr>
            <a:r>
              <a:rPr lang="en-US" sz="1600" dirty="0">
                <a:solidFill>
                  <a:schemeClr val="bg1"/>
                </a:solidFill>
              </a:rPr>
              <a:t>explore</a:t>
            </a:r>
            <a:endParaRPr lang="en-US" sz="1600" dirty="0"/>
          </a:p>
        </p:txBody>
      </p:sp>
      <p:sp>
        <p:nvSpPr>
          <p:cNvPr id="7" name="token chip"/>
          <p:cNvSpPr/>
          <p:nvPr/>
        </p:nvSpPr>
        <p:spPr>
          <a:xfrm>
            <a:off x="9107424" y="1645920"/>
            <a:ext cx="749808" cy="502920"/>
          </a:xfrm>
          <a:prstGeom prst="roundRect">
            <a:avLst>
              <a:gd name="adj" fmla="val 10909"/>
            </a:avLst>
          </a:prstGeom>
          <a:solidFill>
            <a:schemeClr val="accent2"/>
          </a:solidFill>
          <a:ln w="12700">
            <a:solidFill>
              <a:schemeClr val="accent2"/>
            </a:solidFill>
            <a:prstDash val="solid"/>
          </a:ln>
        </p:spPr>
        <p:txBody>
          <a:bodyPr/>
          <a:lstStyle/>
          <a:p>
            <a:endParaRPr lang="en-US"/>
          </a:p>
        </p:txBody>
      </p:sp>
      <p:sp>
        <p:nvSpPr>
          <p:cNvPr id="8" name="Text 6"/>
          <p:cNvSpPr txBox="1"/>
          <p:nvPr/>
        </p:nvSpPr>
        <p:spPr>
          <a:xfrm>
            <a:off x="9107424" y="1645920"/>
            <a:ext cx="749808" cy="502920"/>
          </a:xfrm>
          <a:prstGeom prst="rect">
            <a:avLst/>
          </a:prstGeom>
          <a:noFill/>
          <a:ln/>
        </p:spPr>
        <p:txBody>
          <a:bodyPr wrap="square" lIns="0" tIns="0" rIns="0" bIns="0" rtlCol="0" anchor="ctr"/>
          <a:lstStyle/>
          <a:p>
            <a:pPr marL="0" indent="0" algn="ctr">
              <a:buNone/>
            </a:pPr>
            <a:r>
              <a:rPr lang="en-US" sz="1600" dirty="0">
                <a:solidFill>
                  <a:schemeClr val="bg1"/>
                </a:solidFill>
              </a:rPr>
              <a:t>plan</a:t>
            </a:r>
            <a:endParaRPr lang="en-US" sz="1600" dirty="0"/>
          </a:p>
        </p:txBody>
      </p:sp>
      <p:sp>
        <p:nvSpPr>
          <p:cNvPr id="9" name="token chip"/>
          <p:cNvSpPr/>
          <p:nvPr/>
        </p:nvSpPr>
        <p:spPr>
          <a:xfrm>
            <a:off x="9994392" y="1645920"/>
            <a:ext cx="868680" cy="502920"/>
          </a:xfrm>
          <a:prstGeom prst="roundRect">
            <a:avLst>
              <a:gd name="adj" fmla="val 10909"/>
            </a:avLst>
          </a:prstGeom>
          <a:solidFill>
            <a:schemeClr val="accent3"/>
          </a:solidFill>
          <a:ln w="12700">
            <a:solidFill>
              <a:schemeClr val="accent3"/>
            </a:solidFill>
            <a:prstDash val="solid"/>
          </a:ln>
        </p:spPr>
        <p:txBody>
          <a:bodyPr/>
          <a:lstStyle/>
          <a:p>
            <a:endParaRPr lang="en-US"/>
          </a:p>
        </p:txBody>
      </p:sp>
      <p:sp>
        <p:nvSpPr>
          <p:cNvPr id="10" name="Text 8"/>
          <p:cNvSpPr txBox="1"/>
          <p:nvPr/>
        </p:nvSpPr>
        <p:spPr>
          <a:xfrm>
            <a:off x="9994392" y="1645920"/>
            <a:ext cx="868680" cy="502920"/>
          </a:xfrm>
          <a:prstGeom prst="rect">
            <a:avLst/>
          </a:prstGeom>
          <a:noFill/>
          <a:ln/>
        </p:spPr>
        <p:txBody>
          <a:bodyPr wrap="square" lIns="0" tIns="0" rIns="0" bIns="0" rtlCol="0" anchor="ctr"/>
          <a:lstStyle/>
          <a:p>
            <a:pPr marL="0" indent="0" algn="ctr">
              <a:buNone/>
            </a:pPr>
            <a:r>
              <a:rPr lang="en-US" sz="1600" dirty="0">
                <a:solidFill>
                  <a:schemeClr val="bg1"/>
                </a:solidFill>
              </a:rPr>
              <a:t>build</a:t>
            </a:r>
            <a:endParaRPr lang="en-US" sz="1600" dirty="0"/>
          </a:p>
        </p:txBody>
      </p:sp>
      <p:sp>
        <p:nvSpPr>
          <p:cNvPr id="11" name="token chip"/>
          <p:cNvSpPr/>
          <p:nvPr/>
        </p:nvSpPr>
        <p:spPr>
          <a:xfrm>
            <a:off x="8321040" y="2423160"/>
            <a:ext cx="868680" cy="502920"/>
          </a:xfrm>
          <a:prstGeom prst="roundRect">
            <a:avLst>
              <a:gd name="adj" fmla="val 10909"/>
            </a:avLst>
          </a:prstGeom>
          <a:solidFill>
            <a:schemeClr val="accent4"/>
          </a:solidFill>
          <a:ln w="12700">
            <a:solidFill>
              <a:schemeClr val="accent4"/>
            </a:solidFill>
            <a:prstDash val="solid"/>
          </a:ln>
        </p:spPr>
        <p:txBody>
          <a:bodyPr/>
          <a:lstStyle/>
          <a:p>
            <a:endParaRPr lang="en-US"/>
          </a:p>
        </p:txBody>
      </p:sp>
      <p:sp>
        <p:nvSpPr>
          <p:cNvPr id="12" name="Text 10"/>
          <p:cNvSpPr txBox="1"/>
          <p:nvPr/>
        </p:nvSpPr>
        <p:spPr>
          <a:xfrm>
            <a:off x="8321040" y="2423160"/>
            <a:ext cx="868680" cy="502920"/>
          </a:xfrm>
          <a:prstGeom prst="rect">
            <a:avLst/>
          </a:prstGeom>
          <a:noFill/>
          <a:ln/>
        </p:spPr>
        <p:txBody>
          <a:bodyPr wrap="square" lIns="0" tIns="0" rIns="0" bIns="0" rtlCol="0" anchor="ctr"/>
          <a:lstStyle/>
          <a:p>
            <a:pPr marL="0" indent="0" algn="ctr">
              <a:buNone/>
            </a:pPr>
            <a:r>
              <a:rPr lang="en-US" sz="1600" dirty="0">
                <a:solidFill>
                  <a:schemeClr val="tx1"/>
                </a:solidFill>
              </a:rPr>
              <a:t>check</a:t>
            </a:r>
            <a:endParaRPr lang="en-US" sz="1600" dirty="0"/>
          </a:p>
        </p:txBody>
      </p:sp>
      <p:sp>
        <p:nvSpPr>
          <p:cNvPr id="13" name="token chip"/>
          <p:cNvSpPr/>
          <p:nvPr/>
        </p:nvSpPr>
        <p:spPr>
          <a:xfrm>
            <a:off x="9326880" y="2423160"/>
            <a:ext cx="987552" cy="502920"/>
          </a:xfrm>
          <a:prstGeom prst="roundRect">
            <a:avLst>
              <a:gd name="adj" fmla="val 10909"/>
            </a:avLst>
          </a:prstGeom>
          <a:solidFill>
            <a:schemeClr val="accent1"/>
          </a:solidFill>
          <a:ln w="12700">
            <a:solidFill>
              <a:schemeClr val="accent1"/>
            </a:solidFill>
            <a:prstDash val="solid"/>
          </a:ln>
        </p:spPr>
        <p:txBody>
          <a:bodyPr/>
          <a:lstStyle/>
          <a:p>
            <a:endParaRPr lang="en-US"/>
          </a:p>
        </p:txBody>
      </p:sp>
      <p:sp>
        <p:nvSpPr>
          <p:cNvPr id="14" name="Text 12"/>
          <p:cNvSpPr txBox="1"/>
          <p:nvPr/>
        </p:nvSpPr>
        <p:spPr>
          <a:xfrm>
            <a:off x="9326880" y="2423160"/>
            <a:ext cx="987552" cy="502920"/>
          </a:xfrm>
          <a:prstGeom prst="rect">
            <a:avLst/>
          </a:prstGeom>
          <a:noFill/>
          <a:ln/>
        </p:spPr>
        <p:txBody>
          <a:bodyPr wrap="square" lIns="0" tIns="0" rIns="0" bIns="0" rtlCol="0" anchor="ctr"/>
          <a:lstStyle/>
          <a:p>
            <a:pPr marL="0" indent="0" algn="ctr">
              <a:buNone/>
            </a:pPr>
            <a:r>
              <a:rPr lang="en-US" sz="1600" dirty="0">
                <a:solidFill>
                  <a:schemeClr val="bg1"/>
                </a:solidFill>
              </a:rPr>
              <a:t>repeat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Explore → Plan → Build → Check: the core loop for real work</a:t>
            </a:r>
            <a:endParaRPr lang="en-US" sz="3200" dirty="0"/>
          </a:p>
        </p:txBody>
      </p:sp>
      <p:sp>
        <p:nvSpPr>
          <p:cNvPr id="3" name="card"/>
          <p:cNvSpPr/>
          <p:nvPr/>
        </p:nvSpPr>
        <p:spPr>
          <a:xfrm>
            <a:off x="548640" y="1371600"/>
            <a:ext cx="2514600" cy="2743200"/>
          </a:xfrm>
          <a:prstGeom prst="roundRect">
            <a:avLst>
              <a:gd name="adj" fmla="val 2909"/>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icon circle"/>
          <p:cNvSpPr/>
          <p:nvPr/>
        </p:nvSpPr>
        <p:spPr>
          <a:xfrm>
            <a:off x="822960" y="1645920"/>
            <a:ext cx="685800" cy="685800"/>
          </a:xfrm>
          <a:prstGeom prst="ellipse">
            <a:avLst/>
          </a:prstGeom>
          <a:solidFill>
            <a:schemeClr val="accent2"/>
          </a:solidFill>
          <a:ln w="12700">
            <a:solidFill>
              <a:schemeClr val="accent2"/>
            </a:solidFill>
            <a:prstDash val="solid"/>
          </a:ln>
        </p:spPr>
        <p:txBody>
          <a:bodyPr/>
          <a:lstStyle/>
          <a:p>
            <a:endParaRPr lang="en-US"/>
          </a:p>
        </p:txBody>
      </p:sp>
      <p:pic>
        <p:nvPicPr>
          <p:cNvPr id="5" name="Image 0" descr="MagnifyingGlass icon"/>
          <p:cNvPicPr>
            <a:picLocks noChangeAspect="1"/>
          </p:cNvPicPr>
          <p:nvPr/>
        </p:nvPicPr>
        <p:blipFill>
          <a:blip r:embed="rId3"/>
          <a:stretch>
            <a:fillRect/>
          </a:stretch>
        </p:blipFill>
        <p:spPr>
          <a:xfrm>
            <a:off x="994410" y="1817370"/>
            <a:ext cx="342900" cy="342900"/>
          </a:xfrm>
          <a:prstGeom prst="rect">
            <a:avLst/>
          </a:prstGeom>
        </p:spPr>
      </p:pic>
      <p:sp>
        <p:nvSpPr>
          <p:cNvPr id="6" name="Text 3"/>
          <p:cNvSpPr txBox="1"/>
          <p:nvPr/>
        </p:nvSpPr>
        <p:spPr>
          <a:xfrm>
            <a:off x="822960" y="2514600"/>
            <a:ext cx="2103120" cy="365760"/>
          </a:xfrm>
          <a:prstGeom prst="rect">
            <a:avLst/>
          </a:prstGeom>
          <a:noFill/>
          <a:ln/>
        </p:spPr>
        <p:txBody>
          <a:bodyPr wrap="square" lIns="0" tIns="0" rIns="0" bIns="0" rtlCol="0" anchor="t"/>
          <a:lstStyle/>
          <a:p>
            <a:pPr marL="0" indent="0">
              <a:buNone/>
            </a:pPr>
            <a:r>
              <a:rPr lang="en-US" sz="1800" b="1" dirty="0">
                <a:solidFill>
                  <a:schemeClr val="tx1"/>
                </a:solidFill>
              </a:rPr>
              <a:t>1  Explore</a:t>
            </a:r>
            <a:endParaRPr lang="en-US" sz="1800" dirty="0"/>
          </a:p>
        </p:txBody>
      </p:sp>
      <p:sp>
        <p:nvSpPr>
          <p:cNvPr id="7" name="Text 4"/>
          <p:cNvSpPr txBox="1"/>
          <p:nvPr/>
        </p:nvSpPr>
        <p:spPr>
          <a:xfrm>
            <a:off x="822960" y="2926080"/>
            <a:ext cx="2011680" cy="1097280"/>
          </a:xfrm>
          <a:prstGeom prst="rect">
            <a:avLst/>
          </a:prstGeom>
          <a:noFill/>
          <a:ln/>
        </p:spPr>
        <p:txBody>
          <a:bodyPr wrap="square" lIns="0" tIns="0" rIns="0" bIns="0" rtlCol="0" anchor="t"/>
          <a:lstStyle/>
          <a:p>
            <a:pPr marL="0" indent="0">
              <a:buNone/>
            </a:pPr>
            <a:r>
              <a:rPr lang="en-US" sz="1300" dirty="0">
                <a:solidFill>
                  <a:schemeClr val="tx2"/>
                </a:solidFill>
              </a:rPr>
              <a:t>Have Claude read the relevant files or sources first. No changes yet.</a:t>
            </a:r>
            <a:endParaRPr lang="en-US" sz="1300" dirty="0"/>
          </a:p>
        </p:txBody>
      </p:sp>
      <p:sp>
        <p:nvSpPr>
          <p:cNvPr id="8" name="arrow"/>
          <p:cNvSpPr/>
          <p:nvPr/>
        </p:nvSpPr>
        <p:spPr>
          <a:xfrm>
            <a:off x="3108960" y="2743200"/>
            <a:ext cx="228600" cy="0"/>
          </a:xfrm>
          <a:prstGeom prst="line">
            <a:avLst/>
          </a:prstGeom>
          <a:noFill/>
          <a:ln w="19050">
            <a:solidFill>
              <a:schemeClr val="accent5"/>
            </a:solidFill>
            <a:prstDash val="solid"/>
            <a:tailEnd type="triangle"/>
          </a:ln>
        </p:spPr>
        <p:txBody>
          <a:bodyPr/>
          <a:lstStyle/>
          <a:p>
            <a:endParaRPr lang="en-US"/>
          </a:p>
        </p:txBody>
      </p:sp>
      <p:sp>
        <p:nvSpPr>
          <p:cNvPr id="9" name="card"/>
          <p:cNvSpPr/>
          <p:nvPr/>
        </p:nvSpPr>
        <p:spPr>
          <a:xfrm>
            <a:off x="3383280" y="1371600"/>
            <a:ext cx="2514600" cy="2743200"/>
          </a:xfrm>
          <a:prstGeom prst="roundRect">
            <a:avLst>
              <a:gd name="adj" fmla="val 2909"/>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0" name="icon circle"/>
          <p:cNvSpPr/>
          <p:nvPr/>
        </p:nvSpPr>
        <p:spPr>
          <a:xfrm>
            <a:off x="3657600" y="1645920"/>
            <a:ext cx="685800" cy="685800"/>
          </a:xfrm>
          <a:prstGeom prst="ellipse">
            <a:avLst/>
          </a:prstGeom>
          <a:solidFill>
            <a:schemeClr val="accent3"/>
          </a:solidFill>
          <a:ln w="12700">
            <a:solidFill>
              <a:schemeClr val="accent3"/>
            </a:solidFill>
            <a:prstDash val="solid"/>
          </a:ln>
        </p:spPr>
        <p:txBody>
          <a:bodyPr/>
          <a:lstStyle/>
          <a:p>
            <a:endParaRPr lang="en-US"/>
          </a:p>
        </p:txBody>
      </p:sp>
      <p:pic>
        <p:nvPicPr>
          <p:cNvPr id="11" name="Image 1" descr="Map icon"/>
          <p:cNvPicPr>
            <a:picLocks noChangeAspect="1"/>
          </p:cNvPicPr>
          <p:nvPr/>
        </p:nvPicPr>
        <p:blipFill>
          <a:blip r:embed="rId4"/>
          <a:stretch>
            <a:fillRect/>
          </a:stretch>
        </p:blipFill>
        <p:spPr>
          <a:xfrm>
            <a:off x="3829050" y="1817370"/>
            <a:ext cx="342900" cy="342900"/>
          </a:xfrm>
          <a:prstGeom prst="rect">
            <a:avLst/>
          </a:prstGeom>
        </p:spPr>
      </p:pic>
      <p:sp>
        <p:nvSpPr>
          <p:cNvPr id="12" name="Text 8"/>
          <p:cNvSpPr txBox="1"/>
          <p:nvPr/>
        </p:nvSpPr>
        <p:spPr>
          <a:xfrm>
            <a:off x="3657600" y="2514600"/>
            <a:ext cx="2103120" cy="365760"/>
          </a:xfrm>
          <a:prstGeom prst="rect">
            <a:avLst/>
          </a:prstGeom>
          <a:noFill/>
          <a:ln/>
        </p:spPr>
        <p:txBody>
          <a:bodyPr wrap="square" lIns="0" tIns="0" rIns="0" bIns="0" rtlCol="0" anchor="t"/>
          <a:lstStyle/>
          <a:p>
            <a:pPr marL="0" indent="0">
              <a:buNone/>
            </a:pPr>
            <a:r>
              <a:rPr lang="en-US" sz="1800" b="1" dirty="0">
                <a:solidFill>
                  <a:schemeClr val="tx1"/>
                </a:solidFill>
              </a:rPr>
              <a:t>2  Plan</a:t>
            </a:r>
            <a:endParaRPr lang="en-US" sz="1800" dirty="0"/>
          </a:p>
        </p:txBody>
      </p:sp>
      <p:sp>
        <p:nvSpPr>
          <p:cNvPr id="13" name="Text 9"/>
          <p:cNvSpPr txBox="1"/>
          <p:nvPr/>
        </p:nvSpPr>
        <p:spPr>
          <a:xfrm>
            <a:off x="3657600" y="2926080"/>
            <a:ext cx="2011680" cy="1097280"/>
          </a:xfrm>
          <a:prstGeom prst="rect">
            <a:avLst/>
          </a:prstGeom>
          <a:noFill/>
          <a:ln/>
        </p:spPr>
        <p:txBody>
          <a:bodyPr wrap="square" lIns="0" tIns="0" rIns="0" bIns="0" rtlCol="0" anchor="t"/>
          <a:lstStyle/>
          <a:p>
            <a:pPr marL="0" indent="0">
              <a:buNone/>
            </a:pPr>
            <a:r>
              <a:rPr lang="en-US" sz="1300" dirty="0">
                <a:solidFill>
                  <a:schemeClr val="tx2"/>
                </a:solidFill>
              </a:rPr>
              <a:t>Plan mode (Shift+Tab): Claude researches read-only and proposes steps. You edit and approve.</a:t>
            </a:r>
            <a:endParaRPr lang="en-US" sz="1300" dirty="0"/>
          </a:p>
        </p:txBody>
      </p:sp>
      <p:sp>
        <p:nvSpPr>
          <p:cNvPr id="14" name="arrow"/>
          <p:cNvSpPr/>
          <p:nvPr/>
        </p:nvSpPr>
        <p:spPr>
          <a:xfrm>
            <a:off x="5943600" y="2743200"/>
            <a:ext cx="228600" cy="0"/>
          </a:xfrm>
          <a:prstGeom prst="line">
            <a:avLst/>
          </a:prstGeom>
          <a:noFill/>
          <a:ln w="19050">
            <a:solidFill>
              <a:schemeClr val="accent5"/>
            </a:solidFill>
            <a:prstDash val="solid"/>
            <a:tailEnd type="triangle"/>
          </a:ln>
        </p:spPr>
        <p:txBody>
          <a:bodyPr/>
          <a:lstStyle/>
          <a:p>
            <a:endParaRPr lang="en-US"/>
          </a:p>
        </p:txBody>
      </p:sp>
      <p:sp>
        <p:nvSpPr>
          <p:cNvPr id="15" name="card"/>
          <p:cNvSpPr/>
          <p:nvPr/>
        </p:nvSpPr>
        <p:spPr>
          <a:xfrm>
            <a:off x="6217920" y="1371600"/>
            <a:ext cx="2514600" cy="2743200"/>
          </a:xfrm>
          <a:prstGeom prst="roundRect">
            <a:avLst>
              <a:gd name="adj" fmla="val 2909"/>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6" name="icon circle"/>
          <p:cNvSpPr/>
          <p:nvPr/>
        </p:nvSpPr>
        <p:spPr>
          <a:xfrm>
            <a:off x="6492240" y="1645920"/>
            <a:ext cx="685800" cy="685800"/>
          </a:xfrm>
          <a:prstGeom prst="ellipse">
            <a:avLst/>
          </a:prstGeom>
          <a:solidFill>
            <a:schemeClr val="accent1"/>
          </a:solidFill>
          <a:ln w="12700">
            <a:solidFill>
              <a:schemeClr val="accent1"/>
            </a:solidFill>
            <a:prstDash val="solid"/>
          </a:ln>
        </p:spPr>
        <p:txBody>
          <a:bodyPr/>
          <a:lstStyle/>
          <a:p>
            <a:endParaRPr lang="en-US"/>
          </a:p>
        </p:txBody>
      </p:sp>
      <p:pic>
        <p:nvPicPr>
          <p:cNvPr id="17" name="Image 2" descr="Hammer icon"/>
          <p:cNvPicPr>
            <a:picLocks noChangeAspect="1"/>
          </p:cNvPicPr>
          <p:nvPr/>
        </p:nvPicPr>
        <p:blipFill>
          <a:blip r:embed="rId5"/>
          <a:stretch>
            <a:fillRect/>
          </a:stretch>
        </p:blipFill>
        <p:spPr>
          <a:xfrm>
            <a:off x="6663690" y="1817370"/>
            <a:ext cx="342900" cy="342900"/>
          </a:xfrm>
          <a:prstGeom prst="rect">
            <a:avLst/>
          </a:prstGeom>
        </p:spPr>
      </p:pic>
      <p:sp>
        <p:nvSpPr>
          <p:cNvPr id="18" name="Text 13"/>
          <p:cNvSpPr txBox="1"/>
          <p:nvPr/>
        </p:nvSpPr>
        <p:spPr>
          <a:xfrm>
            <a:off x="6492240" y="2514600"/>
            <a:ext cx="2103120" cy="365760"/>
          </a:xfrm>
          <a:prstGeom prst="rect">
            <a:avLst/>
          </a:prstGeom>
          <a:noFill/>
          <a:ln/>
        </p:spPr>
        <p:txBody>
          <a:bodyPr wrap="square" lIns="0" tIns="0" rIns="0" bIns="0" rtlCol="0" anchor="t"/>
          <a:lstStyle/>
          <a:p>
            <a:pPr marL="0" indent="0">
              <a:buNone/>
            </a:pPr>
            <a:r>
              <a:rPr lang="en-US" sz="1800" b="1" dirty="0">
                <a:solidFill>
                  <a:schemeClr val="tx1"/>
                </a:solidFill>
              </a:rPr>
              <a:t>3  Build</a:t>
            </a:r>
            <a:endParaRPr lang="en-US" sz="1800" dirty="0"/>
          </a:p>
        </p:txBody>
      </p:sp>
      <p:sp>
        <p:nvSpPr>
          <p:cNvPr id="19" name="Text 14"/>
          <p:cNvSpPr txBox="1"/>
          <p:nvPr/>
        </p:nvSpPr>
        <p:spPr>
          <a:xfrm>
            <a:off x="6492240" y="2926080"/>
            <a:ext cx="2011680" cy="1097280"/>
          </a:xfrm>
          <a:prstGeom prst="rect">
            <a:avLst/>
          </a:prstGeom>
          <a:noFill/>
          <a:ln/>
        </p:spPr>
        <p:txBody>
          <a:bodyPr wrap="square" lIns="0" tIns="0" rIns="0" bIns="0" rtlCol="0" anchor="t"/>
          <a:lstStyle/>
          <a:p>
            <a:pPr marL="0" indent="0">
              <a:buNone/>
            </a:pPr>
            <a:r>
              <a:rPr lang="en-US" sz="1300" dirty="0">
                <a:solidFill>
                  <a:schemeClr val="tx2"/>
                </a:solidFill>
              </a:rPr>
              <a:t>Carry out the plan step by step. Small, reversible changes.</a:t>
            </a:r>
            <a:endParaRPr lang="en-US" sz="1300" dirty="0"/>
          </a:p>
        </p:txBody>
      </p:sp>
      <p:sp>
        <p:nvSpPr>
          <p:cNvPr id="20" name="arrow"/>
          <p:cNvSpPr/>
          <p:nvPr/>
        </p:nvSpPr>
        <p:spPr>
          <a:xfrm>
            <a:off x="8778240" y="2743200"/>
            <a:ext cx="228600" cy="0"/>
          </a:xfrm>
          <a:prstGeom prst="line">
            <a:avLst/>
          </a:prstGeom>
          <a:noFill/>
          <a:ln w="19050">
            <a:solidFill>
              <a:schemeClr val="accent5"/>
            </a:solidFill>
            <a:prstDash val="solid"/>
            <a:tailEnd type="triangle"/>
          </a:ln>
        </p:spPr>
        <p:txBody>
          <a:bodyPr/>
          <a:lstStyle/>
          <a:p>
            <a:endParaRPr lang="en-US"/>
          </a:p>
        </p:txBody>
      </p:sp>
      <p:sp>
        <p:nvSpPr>
          <p:cNvPr id="21" name="card"/>
          <p:cNvSpPr/>
          <p:nvPr/>
        </p:nvSpPr>
        <p:spPr>
          <a:xfrm>
            <a:off x="9052560" y="1371600"/>
            <a:ext cx="2514600" cy="2743200"/>
          </a:xfrm>
          <a:prstGeom prst="roundRect">
            <a:avLst>
              <a:gd name="adj" fmla="val 2909"/>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2" name="icon circle"/>
          <p:cNvSpPr/>
          <p:nvPr/>
        </p:nvSpPr>
        <p:spPr>
          <a:xfrm>
            <a:off x="9326880" y="1645920"/>
            <a:ext cx="685800" cy="685800"/>
          </a:xfrm>
          <a:prstGeom prst="ellipse">
            <a:avLst/>
          </a:prstGeom>
          <a:solidFill>
            <a:schemeClr val="accent4"/>
          </a:solidFill>
          <a:ln w="12700">
            <a:solidFill>
              <a:schemeClr val="accent4"/>
            </a:solidFill>
            <a:prstDash val="solid"/>
          </a:ln>
        </p:spPr>
        <p:txBody>
          <a:bodyPr/>
          <a:lstStyle/>
          <a:p>
            <a:endParaRPr lang="en-US"/>
          </a:p>
        </p:txBody>
      </p:sp>
      <p:pic>
        <p:nvPicPr>
          <p:cNvPr id="23" name="Image 3" descr="CircleCheck icon"/>
          <p:cNvPicPr>
            <a:picLocks noChangeAspect="1"/>
          </p:cNvPicPr>
          <p:nvPr/>
        </p:nvPicPr>
        <p:blipFill>
          <a:blip r:embed="rId6"/>
          <a:stretch>
            <a:fillRect/>
          </a:stretch>
        </p:blipFill>
        <p:spPr>
          <a:xfrm>
            <a:off x="9498330" y="1817370"/>
            <a:ext cx="342900" cy="342900"/>
          </a:xfrm>
          <a:prstGeom prst="rect">
            <a:avLst/>
          </a:prstGeom>
        </p:spPr>
      </p:pic>
      <p:sp>
        <p:nvSpPr>
          <p:cNvPr id="24" name="Text 18"/>
          <p:cNvSpPr txBox="1"/>
          <p:nvPr/>
        </p:nvSpPr>
        <p:spPr>
          <a:xfrm>
            <a:off x="9326880" y="2514600"/>
            <a:ext cx="2103120" cy="365760"/>
          </a:xfrm>
          <a:prstGeom prst="rect">
            <a:avLst/>
          </a:prstGeom>
          <a:noFill/>
          <a:ln/>
        </p:spPr>
        <p:txBody>
          <a:bodyPr wrap="square" lIns="0" tIns="0" rIns="0" bIns="0" rtlCol="0" anchor="t"/>
          <a:lstStyle/>
          <a:p>
            <a:pPr marL="0" indent="0">
              <a:buNone/>
            </a:pPr>
            <a:r>
              <a:rPr lang="en-US" sz="1800" b="1" dirty="0">
                <a:solidFill>
                  <a:schemeClr val="tx1"/>
                </a:solidFill>
              </a:rPr>
              <a:t>4  Check</a:t>
            </a:r>
            <a:endParaRPr lang="en-US" sz="1800" dirty="0"/>
          </a:p>
        </p:txBody>
      </p:sp>
      <p:sp>
        <p:nvSpPr>
          <p:cNvPr id="25" name="Text 19"/>
          <p:cNvSpPr txBox="1"/>
          <p:nvPr/>
        </p:nvSpPr>
        <p:spPr>
          <a:xfrm>
            <a:off x="9326880" y="2926080"/>
            <a:ext cx="2011680" cy="1097280"/>
          </a:xfrm>
          <a:prstGeom prst="rect">
            <a:avLst/>
          </a:prstGeom>
          <a:noFill/>
          <a:ln/>
        </p:spPr>
        <p:txBody>
          <a:bodyPr wrap="square" lIns="0" tIns="0" rIns="0" bIns="0" rtlCol="0" anchor="t"/>
          <a:lstStyle/>
          <a:p>
            <a:pPr marL="0" indent="0">
              <a:buNone/>
            </a:pPr>
            <a:r>
              <a:rPr lang="en-US" sz="1300" dirty="0">
                <a:solidFill>
                  <a:schemeClr val="tx2"/>
                </a:solidFill>
              </a:rPr>
              <a:t>Run tests, open the file, compare to the plan. Then commit.</a:t>
            </a:r>
            <a:endParaRPr lang="en-US" sz="1300" dirty="0"/>
          </a:p>
        </p:txBody>
      </p:sp>
      <p:sp>
        <p:nvSpPr>
          <p:cNvPr id="26" name="card"/>
          <p:cNvSpPr/>
          <p:nvPr/>
        </p:nvSpPr>
        <p:spPr>
          <a:xfrm>
            <a:off x="548640" y="4389120"/>
            <a:ext cx="11064240" cy="1645920"/>
          </a:xfrm>
          <a:prstGeom prst="roundRect">
            <a:avLst>
              <a:gd name="adj" fmla="val 4444"/>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7" name="icon circle"/>
          <p:cNvSpPr/>
          <p:nvPr/>
        </p:nvSpPr>
        <p:spPr>
          <a:xfrm>
            <a:off x="822960" y="4709160"/>
            <a:ext cx="731520" cy="731520"/>
          </a:xfrm>
          <a:prstGeom prst="ellipse">
            <a:avLst/>
          </a:prstGeom>
          <a:solidFill>
            <a:schemeClr val="tx1"/>
          </a:solidFill>
          <a:ln w="12700">
            <a:solidFill>
              <a:schemeClr val="tx1"/>
            </a:solidFill>
            <a:prstDash val="solid"/>
          </a:ln>
        </p:spPr>
        <p:txBody>
          <a:bodyPr/>
          <a:lstStyle/>
          <a:p>
            <a:endParaRPr lang="en-US"/>
          </a:p>
        </p:txBody>
      </p:sp>
      <p:pic>
        <p:nvPicPr>
          <p:cNvPr id="28" name="Image 4" descr="QuoteLeft icon"/>
          <p:cNvPicPr>
            <a:picLocks noChangeAspect="1"/>
          </p:cNvPicPr>
          <p:nvPr/>
        </p:nvPicPr>
        <p:blipFill>
          <a:blip r:embed="rId7"/>
          <a:stretch>
            <a:fillRect/>
          </a:stretch>
        </p:blipFill>
        <p:spPr>
          <a:xfrm>
            <a:off x="1005840" y="4892040"/>
            <a:ext cx="365760" cy="365760"/>
          </a:xfrm>
          <a:prstGeom prst="rect">
            <a:avLst/>
          </a:prstGeom>
        </p:spPr>
      </p:pic>
      <p:sp>
        <p:nvSpPr>
          <p:cNvPr id="29" name="Text 22"/>
          <p:cNvSpPr txBox="1"/>
          <p:nvPr/>
        </p:nvSpPr>
        <p:spPr>
          <a:xfrm>
            <a:off x="1828800" y="4572000"/>
            <a:ext cx="9144000" cy="365760"/>
          </a:xfrm>
          <a:prstGeom prst="rect">
            <a:avLst/>
          </a:prstGeom>
          <a:noFill/>
          <a:ln/>
        </p:spPr>
        <p:txBody>
          <a:bodyPr wrap="square" lIns="0" tIns="0" rIns="0" bIns="0" rtlCol="0" anchor="t"/>
          <a:lstStyle/>
          <a:p>
            <a:pPr marL="0" indent="0">
              <a:buNone/>
            </a:pPr>
            <a:r>
              <a:rPr lang="en-US" sz="1600" b="1" dirty="0">
                <a:solidFill>
                  <a:schemeClr val="tx1"/>
                </a:solidFill>
              </a:rPr>
              <a:t>Why planning pays off</a:t>
            </a:r>
            <a:endParaRPr lang="en-US" sz="1600" dirty="0"/>
          </a:p>
        </p:txBody>
      </p:sp>
      <p:sp>
        <p:nvSpPr>
          <p:cNvPr id="30" name="Text 23"/>
          <p:cNvSpPr txBox="1"/>
          <p:nvPr/>
        </p:nvSpPr>
        <p:spPr>
          <a:xfrm>
            <a:off x="1828800" y="4937760"/>
            <a:ext cx="9509760" cy="1005840"/>
          </a:xfrm>
          <a:prstGeom prst="rect">
            <a:avLst/>
          </a:prstGeom>
          <a:noFill/>
          <a:ln/>
        </p:spPr>
        <p:txBody>
          <a:bodyPr wrap="square" lIns="0" tIns="0" rIns="0" bIns="0" rtlCol="0" anchor="t"/>
          <a:lstStyle/>
          <a:p>
            <a:pPr marL="0" indent="0">
              <a:buNone/>
            </a:pPr>
            <a:r>
              <a:rPr lang="en-US" sz="1400" dirty="0">
                <a:solidFill>
                  <a:schemeClr val="tx2"/>
                </a:solidFill>
              </a:rPr>
              <a:t>Fixing a wrong plan costs one message. Fixing wrong code or a wrong 20-page report costs an afternoon. For anything bigger than a quick edit, ask for the plan first: “Don’t write code yet. Propose a plan, list the files you’ll change and the risks.”</a:t>
            </a:r>
            <a:endParaRPr lang="en-US" sz="14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1"/>
                </a:solidFill>
                <a:latin typeface="Cambria" pitchFamily="34" charset="0"/>
                <a:ea typeface="Cambria" pitchFamily="34" charset="-122"/>
                <a:cs typeface="Cambria" pitchFamily="34" charset="-120"/>
              </a:rPr>
              <a:t>Explore: Claude reads first and changes nothing yet</a:t>
            </a:r>
          </a:p>
        </p:txBody>
      </p:sp>
      <p:sp>
        <p:nvSpPr>
          <p:cNvPr id="3" name="code panel"/>
          <p:cNvSpPr/>
          <p:nvPr/>
        </p:nvSpPr>
        <p:spPr>
          <a:xfrm>
            <a:off x="548640" y="1371600"/>
            <a:ext cx="5852160" cy="4602480"/>
          </a:xfrm>
          <a:prstGeom prst="roundRect">
            <a:avLst>
              <a:gd name="adj" fmla="val 156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77240" y="1554480"/>
            <a:ext cx="5394960" cy="4241800"/>
          </a:xfrm>
          <a:prstGeom prst="rect">
            <a:avLst/>
          </a:prstGeom>
          <a:noFill/>
          <a:ln/>
        </p:spPr>
        <p:txBody>
          <a:bodyPr wrap="square" lIns="0" tIns="0" rIns="0" bIns="0" rtlCol="0" anchor="t"/>
          <a:lstStyle/>
          <a:p>
            <a:pPr marL="0" indent="0">
              <a:buNone/>
            </a:pPr>
            <a:r>
              <a:rPr lang="en-US" sz="1500" dirty="0">
                <a:solidFill>
                  <a:srgbClr val="AEB3C6"/>
                </a:solidFill>
                <a:latin typeface="Courier New" pitchFamily="34" charset="0"/>
                <a:ea typeface="Courier New" pitchFamily="34" charset="-122"/>
                <a:cs typeface="Courier New" pitchFamily="34" charset="-120"/>
              </a:rPr>
              <a:t># Explore: read first, no edits yet</a:t>
            </a:r>
            <a:endParaRPr lang="en-US" sz="1500" dirty="0"/>
          </a:p>
          <a:p>
            <a:pPr marL="0" indent="0">
              <a:buNone/>
            </a:pP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Read src/billing/ and the failing test in</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tests/test_invoice.py. Don't change any</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files yet. Then tell me:</a:t>
            </a:r>
            <a:endParaRPr lang="en-US" sz="1500" dirty="0"/>
          </a:p>
          <a:p>
            <a:pPr marL="0" indent="0">
              <a:buNone/>
            </a:pP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1. How an invoice total is calculated today</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2. Which files a fix would touch</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3. Anything that looks risky or unclear</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For broad searches, keep the main</a:t>
            </a: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context clean:</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Use the Explore subagent to find every</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place that calls calculate_total().</a:t>
            </a:r>
            <a:endParaRPr lang="en-US" sz="13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Close the step with:</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Summarize what you found in five bullets.</a:t>
            </a:r>
            <a:endParaRPr lang="en-US" sz="1500" dirty="0"/>
          </a:p>
        </p:txBody>
      </p:sp>
      <p:sp>
        <p:nvSpPr>
          <p:cNvPr id="5" name="card"/>
          <p:cNvSpPr/>
          <p:nvPr/>
        </p:nvSpPr>
        <p:spPr>
          <a:xfrm>
            <a:off x="6675120" y="137160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6903720" y="1490472"/>
            <a:ext cx="4572000" cy="292608"/>
          </a:xfrm>
          <a:prstGeom prst="rect">
            <a:avLst/>
          </a:prstGeom>
          <a:noFill/>
          <a:ln/>
        </p:spPr>
        <p:txBody>
          <a:bodyPr wrap="square" lIns="0" tIns="0" rIns="0" bIns="0" rtlCol="0" anchor="t"/>
          <a:lstStyle/>
          <a:p>
            <a:pPr marL="0" indent="0">
              <a:buNone/>
            </a:pPr>
            <a:r>
              <a:rPr lang="en-US" sz="1500" b="1" dirty="0">
                <a:solidFill>
                  <a:schemeClr val="tx1"/>
                </a:solidFill>
              </a:rPr>
              <a:t>Goal</a:t>
            </a:r>
          </a:p>
        </p:txBody>
      </p:sp>
      <p:sp>
        <p:nvSpPr>
          <p:cNvPr id="7" name="Text 5"/>
          <p:cNvSpPr txBox="1"/>
          <p:nvPr/>
        </p:nvSpPr>
        <p:spPr>
          <a:xfrm>
            <a:off x="6903720" y="1801368"/>
            <a:ext cx="4572000" cy="548640"/>
          </a:xfrm>
          <a:prstGeom prst="rect">
            <a:avLst/>
          </a:prstGeom>
          <a:noFill/>
          <a:ln/>
        </p:spPr>
        <p:txBody>
          <a:bodyPr wrap="square" lIns="0" tIns="0" rIns="0" bIns="0" rtlCol="0" anchor="t"/>
          <a:lstStyle/>
          <a:p>
            <a:pPr marL="0" indent="0">
              <a:buNone/>
            </a:pPr>
            <a:r>
              <a:rPr lang="en-US" sz="1400" dirty="0">
                <a:solidFill>
                  <a:schemeClr val="tx2"/>
                </a:solidFill>
              </a:rPr>
              <a:t>Claude learns the code, data or sources before it decides anything. No edits.</a:t>
            </a:r>
          </a:p>
        </p:txBody>
      </p:sp>
      <p:sp>
        <p:nvSpPr>
          <p:cNvPr id="8" name="card"/>
          <p:cNvSpPr/>
          <p:nvPr/>
        </p:nvSpPr>
        <p:spPr>
          <a:xfrm>
            <a:off x="6675120" y="256032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903720" y="2679192"/>
            <a:ext cx="4572000" cy="292608"/>
          </a:xfrm>
          <a:prstGeom prst="rect">
            <a:avLst/>
          </a:prstGeom>
          <a:noFill/>
          <a:ln/>
        </p:spPr>
        <p:txBody>
          <a:bodyPr wrap="square" lIns="0" tIns="0" rIns="0" bIns="0" rtlCol="0" anchor="t"/>
          <a:lstStyle/>
          <a:p>
            <a:pPr marL="0" indent="0">
              <a:buNone/>
            </a:pPr>
            <a:r>
              <a:rPr lang="en-US" sz="1500" b="1" dirty="0">
                <a:solidFill>
                  <a:schemeClr val="tx1"/>
                </a:solidFill>
              </a:rPr>
              <a:t>How</a:t>
            </a:r>
          </a:p>
        </p:txBody>
      </p:sp>
      <p:sp>
        <p:nvSpPr>
          <p:cNvPr id="10" name="Text 8"/>
          <p:cNvSpPr txBox="1"/>
          <p:nvPr/>
        </p:nvSpPr>
        <p:spPr>
          <a:xfrm>
            <a:off x="6903720" y="2990088"/>
            <a:ext cx="4572000" cy="548640"/>
          </a:xfrm>
          <a:prstGeom prst="rect">
            <a:avLst/>
          </a:prstGeom>
          <a:noFill/>
          <a:ln/>
        </p:spPr>
        <p:txBody>
          <a:bodyPr wrap="square" lIns="0" tIns="0" rIns="0" bIns="0" rtlCol="0" anchor="t"/>
          <a:lstStyle/>
          <a:p>
            <a:pPr marL="0" indent="0">
              <a:buNone/>
            </a:pPr>
            <a:r>
              <a:rPr lang="en-US" sz="1400" dirty="0">
                <a:solidFill>
                  <a:schemeClr val="tx2"/>
                </a:solidFill>
              </a:rPr>
              <a:t>Point it at specific files, folders, docs or URLs. Ask for a summary back, not a solution.</a:t>
            </a:r>
          </a:p>
        </p:txBody>
      </p:sp>
      <p:sp>
        <p:nvSpPr>
          <p:cNvPr id="11" name="card"/>
          <p:cNvSpPr/>
          <p:nvPr/>
        </p:nvSpPr>
        <p:spPr>
          <a:xfrm>
            <a:off x="6675120" y="374904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6903720" y="3867912"/>
            <a:ext cx="4572000" cy="292608"/>
          </a:xfrm>
          <a:prstGeom prst="rect">
            <a:avLst/>
          </a:prstGeom>
          <a:noFill/>
          <a:ln/>
        </p:spPr>
        <p:txBody>
          <a:bodyPr wrap="square" lIns="0" tIns="0" rIns="0" bIns="0" rtlCol="0" anchor="t"/>
          <a:lstStyle/>
          <a:p>
            <a:pPr marL="0" indent="0">
              <a:buNone/>
            </a:pPr>
            <a:r>
              <a:rPr lang="en-US" sz="1500" b="1" dirty="0">
                <a:solidFill>
                  <a:schemeClr val="tx1"/>
                </a:solidFill>
              </a:rPr>
              <a:t>Good sign</a:t>
            </a:r>
          </a:p>
        </p:txBody>
      </p:sp>
      <p:sp>
        <p:nvSpPr>
          <p:cNvPr id="13" name="Text 11"/>
          <p:cNvSpPr txBox="1"/>
          <p:nvPr/>
        </p:nvSpPr>
        <p:spPr>
          <a:xfrm>
            <a:off x="6903720" y="4178808"/>
            <a:ext cx="4572000" cy="548640"/>
          </a:xfrm>
          <a:prstGeom prst="rect">
            <a:avLst/>
          </a:prstGeom>
          <a:noFill/>
          <a:ln/>
        </p:spPr>
        <p:txBody>
          <a:bodyPr wrap="square" lIns="0" tIns="0" rIns="0" bIns="0" rtlCol="0" anchor="t"/>
          <a:lstStyle/>
          <a:p>
            <a:pPr marL="0" indent="0">
              <a:buNone/>
            </a:pPr>
            <a:r>
              <a:rPr lang="en-US" sz="1400" dirty="0">
                <a:solidFill>
                  <a:schemeClr val="tx2"/>
                </a:solidFill>
              </a:rPr>
              <a:t>The summary names the right files and spots what you would have flagged yourself.</a:t>
            </a:r>
          </a:p>
        </p:txBody>
      </p:sp>
      <p:sp>
        <p:nvSpPr>
          <p:cNvPr id="14" name="card"/>
          <p:cNvSpPr/>
          <p:nvPr/>
        </p:nvSpPr>
        <p:spPr>
          <a:xfrm>
            <a:off x="6675120" y="493776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6903720" y="5056632"/>
            <a:ext cx="4572000" cy="292608"/>
          </a:xfrm>
          <a:prstGeom prst="rect">
            <a:avLst/>
          </a:prstGeom>
          <a:noFill/>
          <a:ln/>
        </p:spPr>
        <p:txBody>
          <a:bodyPr wrap="square" lIns="0" tIns="0" rIns="0" bIns="0" rtlCol="0" anchor="t"/>
          <a:lstStyle/>
          <a:p>
            <a:pPr marL="0" indent="0">
              <a:buNone/>
            </a:pPr>
            <a:r>
              <a:rPr lang="en-US" sz="1500" b="1" dirty="0">
                <a:solidFill>
                  <a:schemeClr val="tx1"/>
                </a:solidFill>
              </a:rPr>
              <a:t>Avoid</a:t>
            </a:r>
          </a:p>
        </p:txBody>
      </p:sp>
      <p:sp>
        <p:nvSpPr>
          <p:cNvPr id="16" name="Text 14"/>
          <p:cNvSpPr txBox="1"/>
          <p:nvPr/>
        </p:nvSpPr>
        <p:spPr>
          <a:xfrm>
            <a:off x="6903720" y="5367528"/>
            <a:ext cx="4572000" cy="548640"/>
          </a:xfrm>
          <a:prstGeom prst="rect">
            <a:avLst/>
          </a:prstGeom>
          <a:noFill/>
          <a:ln/>
        </p:spPr>
        <p:txBody>
          <a:bodyPr wrap="square" lIns="0" tIns="0" rIns="0" bIns="0" rtlCol="0" anchor="t"/>
          <a:lstStyle/>
          <a:p>
            <a:pPr marL="0" indent="0">
              <a:buNone/>
            </a:pPr>
            <a:r>
              <a:rPr lang="en-US" sz="1400" dirty="0">
                <a:solidFill>
                  <a:schemeClr val="tx2"/>
                </a:solidFill>
              </a:rPr>
              <a:t>Opening with “fix the bug”. Claude guesses, and the guess carries into every later step.</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30</a:t>
            </a:fld>
            <a:endParaRPr lang="en-US"/>
          </a:p>
        </p:txBody>
      </p:sp>
      <p:sp>
        <p:nvSpPr>
          <p:cNvPr id="17" name="Explore note">
            <a:extLst>
              <a:ext uri="{FF2B5EF4-FFF2-40B4-BE49-F238E27FC236}">
                <a16:creationId xmlns:a16="http://schemas.microsoft.com/office/drawing/2014/main" id="{980FA6E2-35C9-443F-ABD8-9C5DD971D9A0}"/>
              </a:ext>
            </a:extLst>
          </p:cNvPr>
          <p:cNvSpPr txBox="1"/>
          <p:nvPr/>
        </p:nvSpPr>
        <p:spPr>
          <a:xfrm>
            <a:off x="546100" y="6096000"/>
            <a:ext cx="11061700" cy="254000"/>
          </a:xfrm>
          <a:prstGeom prst="rect">
            <a:avLst/>
          </a:prstGeom>
          <a:noFill/>
        </p:spPr>
        <p:txBody>
          <a:bodyPr vertOverflow="overflow" vert="horz" wrap="square" lIns="0" tIns="0" rIns="0" bIns="0" rtlCol="0" anchor="ctr" anchorCtr="0">
            <a:noAutofit/>
          </a:bodyPr>
          <a:lstStyle/>
          <a:p>
            <a:pPr algn="l"/>
            <a:r>
              <a:rPr lang="en-US" sz="1200" i="1">
                <a:solidFill>
                  <a:srgbClr val="5A6075"/>
                </a:solidFill>
                <a:latin typeface="Calibri"/>
                <a:ea typeface="Calibri"/>
                <a:cs typeface="Calibri"/>
              </a:rPr>
              <a:t>Note: Explore is a prompt you type in the Claude chat, not a file. Lines starting with # are labels for this slide; leave them out when you paste.</a:t>
            </a:r>
          </a:p>
        </p:txBody>
      </p:sp>
    </p:spTree>
    <p:extLst>
      <p:ext uri="{BB962C8B-B14F-4D97-AF65-F5344CB8AC3E}">
        <p14:creationId xmlns:p14="http://schemas.microsoft.com/office/powerpoint/2010/main" val="1598797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1"/>
                </a:solidFill>
                <a:latin typeface="Cambria" pitchFamily="34" charset="0"/>
                <a:ea typeface="Cambria" pitchFamily="34" charset="-122"/>
                <a:cs typeface="Cambria" pitchFamily="34" charset="-120"/>
              </a:rPr>
              <a:t>Plan: agree the steps in writing before any change</a:t>
            </a:r>
          </a:p>
        </p:txBody>
      </p:sp>
      <p:sp>
        <p:nvSpPr>
          <p:cNvPr id="3" name="code panel"/>
          <p:cNvSpPr/>
          <p:nvPr/>
        </p:nvSpPr>
        <p:spPr>
          <a:xfrm>
            <a:off x="548640" y="1371600"/>
            <a:ext cx="5852160" cy="4602480"/>
          </a:xfrm>
          <a:prstGeom prst="roundRect">
            <a:avLst>
              <a:gd name="adj" fmla="val 156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77240" y="1554480"/>
            <a:ext cx="5394960" cy="4241800"/>
          </a:xfrm>
          <a:prstGeom prst="rect">
            <a:avLst/>
          </a:prstGeom>
          <a:noFill/>
          <a:ln/>
        </p:spPr>
        <p:txBody>
          <a:bodyPr wrap="square" lIns="0" tIns="0" rIns="0" bIns="0" rtlCol="0" anchor="t"/>
          <a:lstStyle/>
          <a:p>
            <a:pPr marL="0" indent="0">
              <a:buNone/>
            </a:pPr>
            <a:r>
              <a:rPr lang="en-US" sz="1500" dirty="0">
                <a:solidFill>
                  <a:srgbClr val="AEB3C6"/>
                </a:solidFill>
                <a:latin typeface="Courier New" pitchFamily="34" charset="0"/>
                <a:ea typeface="Courier New" pitchFamily="34" charset="-122"/>
                <a:cs typeface="Courier New" pitchFamily="34" charset="-120"/>
              </a:rPr>
              <a:t># Plan mode: press Shift+Tab until it</a:t>
            </a: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shows plan mode, then ask:</a:t>
            </a:r>
            <a:endParaRPr lang="en-US" sz="1500" dirty="0"/>
          </a:p>
          <a:p>
            <a:pPr marL="0" indent="0">
              <a:buNone/>
            </a:pP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Plan how to add tax-exempt customers</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to invoicing. Include:</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Files to change and why</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Steps in order, each small enough to test</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How we'll know it works (tests to add)</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Questions you need me to answer</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Then reply to correct it:</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Drop step 4, we'll do that later. Use</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the existing Customer table, no new one.</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When it's right:</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Save the plan to plan.md, then do step 1.</a:t>
            </a:r>
            <a:endParaRPr lang="en-US" sz="1500" dirty="0"/>
          </a:p>
        </p:txBody>
      </p:sp>
      <p:sp>
        <p:nvSpPr>
          <p:cNvPr id="5" name="card"/>
          <p:cNvSpPr/>
          <p:nvPr/>
        </p:nvSpPr>
        <p:spPr>
          <a:xfrm>
            <a:off x="6675120" y="137160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6903720" y="1490472"/>
            <a:ext cx="4572000" cy="292608"/>
          </a:xfrm>
          <a:prstGeom prst="rect">
            <a:avLst/>
          </a:prstGeom>
          <a:noFill/>
          <a:ln/>
        </p:spPr>
        <p:txBody>
          <a:bodyPr wrap="square" lIns="0" tIns="0" rIns="0" bIns="0" rtlCol="0" anchor="t"/>
          <a:lstStyle/>
          <a:p>
            <a:pPr marL="0" indent="0">
              <a:buNone/>
            </a:pPr>
            <a:r>
              <a:rPr lang="en-US" sz="1500" b="1" dirty="0">
                <a:solidFill>
                  <a:schemeClr val="tx1"/>
                </a:solidFill>
              </a:rPr>
              <a:t>Goal</a:t>
            </a:r>
          </a:p>
        </p:txBody>
      </p:sp>
      <p:sp>
        <p:nvSpPr>
          <p:cNvPr id="7" name="Text 5"/>
          <p:cNvSpPr txBox="1"/>
          <p:nvPr/>
        </p:nvSpPr>
        <p:spPr>
          <a:xfrm>
            <a:off x="6903720" y="1801368"/>
            <a:ext cx="4572000" cy="548640"/>
          </a:xfrm>
          <a:prstGeom prst="rect">
            <a:avLst/>
          </a:prstGeom>
          <a:noFill/>
          <a:ln/>
        </p:spPr>
        <p:txBody>
          <a:bodyPr wrap="square" lIns="0" tIns="0" rIns="0" bIns="0" rtlCol="0" anchor="t"/>
          <a:lstStyle/>
          <a:p>
            <a:pPr marL="0" indent="0">
              <a:buNone/>
            </a:pPr>
            <a:r>
              <a:rPr lang="en-US" sz="1400" dirty="0">
                <a:solidFill>
                  <a:schemeClr val="tx2"/>
                </a:solidFill>
              </a:rPr>
              <a:t>A short written plan you can read in a minute and correct in one message.</a:t>
            </a:r>
          </a:p>
        </p:txBody>
      </p:sp>
      <p:sp>
        <p:nvSpPr>
          <p:cNvPr id="8" name="card"/>
          <p:cNvSpPr/>
          <p:nvPr/>
        </p:nvSpPr>
        <p:spPr>
          <a:xfrm>
            <a:off x="6675120" y="256032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903720" y="2679192"/>
            <a:ext cx="4572000" cy="292608"/>
          </a:xfrm>
          <a:prstGeom prst="rect">
            <a:avLst/>
          </a:prstGeom>
          <a:noFill/>
          <a:ln/>
        </p:spPr>
        <p:txBody>
          <a:bodyPr wrap="square" lIns="0" tIns="0" rIns="0" bIns="0" rtlCol="0" anchor="t"/>
          <a:lstStyle/>
          <a:p>
            <a:pPr marL="0" indent="0">
              <a:buNone/>
            </a:pPr>
            <a:r>
              <a:rPr lang="en-US" sz="1500" b="1" dirty="0">
                <a:solidFill>
                  <a:schemeClr val="tx1"/>
                </a:solidFill>
              </a:rPr>
              <a:t>How</a:t>
            </a:r>
          </a:p>
        </p:txBody>
      </p:sp>
      <p:sp>
        <p:nvSpPr>
          <p:cNvPr id="10" name="Text 8"/>
          <p:cNvSpPr txBox="1"/>
          <p:nvPr/>
        </p:nvSpPr>
        <p:spPr>
          <a:xfrm>
            <a:off x="6903720" y="2990088"/>
            <a:ext cx="4572000" cy="548640"/>
          </a:xfrm>
          <a:prstGeom prst="rect">
            <a:avLst/>
          </a:prstGeom>
          <a:noFill/>
          <a:ln/>
        </p:spPr>
        <p:txBody>
          <a:bodyPr wrap="square" lIns="0" tIns="0" rIns="0" bIns="0" rtlCol="0" anchor="t"/>
          <a:lstStyle/>
          <a:p>
            <a:pPr marL="0" indent="0">
              <a:buNone/>
            </a:pPr>
            <a:r>
              <a:rPr lang="en-US" sz="1400" dirty="0">
                <a:solidFill>
                  <a:schemeClr val="tx2"/>
                </a:solidFill>
              </a:rPr>
              <a:t>Plan mode keeps Claude read-only. Answer its questions, cut scope, then approve.</a:t>
            </a:r>
          </a:p>
        </p:txBody>
      </p:sp>
      <p:sp>
        <p:nvSpPr>
          <p:cNvPr id="11" name="card"/>
          <p:cNvSpPr/>
          <p:nvPr/>
        </p:nvSpPr>
        <p:spPr>
          <a:xfrm>
            <a:off x="6675120" y="374904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6903720" y="3867912"/>
            <a:ext cx="4572000" cy="292608"/>
          </a:xfrm>
          <a:prstGeom prst="rect">
            <a:avLst/>
          </a:prstGeom>
          <a:noFill/>
          <a:ln/>
        </p:spPr>
        <p:txBody>
          <a:bodyPr wrap="square" lIns="0" tIns="0" rIns="0" bIns="0" rtlCol="0" anchor="t"/>
          <a:lstStyle/>
          <a:p>
            <a:pPr marL="0" indent="0">
              <a:buNone/>
            </a:pPr>
            <a:r>
              <a:rPr lang="en-US" sz="1500" b="1" dirty="0">
                <a:solidFill>
                  <a:schemeClr val="tx1"/>
                </a:solidFill>
              </a:rPr>
              <a:t>Good sign</a:t>
            </a:r>
          </a:p>
        </p:txBody>
      </p:sp>
      <p:sp>
        <p:nvSpPr>
          <p:cNvPr id="13" name="Text 11"/>
          <p:cNvSpPr txBox="1"/>
          <p:nvPr/>
        </p:nvSpPr>
        <p:spPr>
          <a:xfrm>
            <a:off x="6903720" y="4178808"/>
            <a:ext cx="4572000" cy="548640"/>
          </a:xfrm>
          <a:prstGeom prst="rect">
            <a:avLst/>
          </a:prstGeom>
          <a:noFill/>
          <a:ln/>
        </p:spPr>
        <p:txBody>
          <a:bodyPr wrap="square" lIns="0" tIns="0" rIns="0" bIns="0" rtlCol="0" anchor="t"/>
          <a:lstStyle/>
          <a:p>
            <a:pPr marL="0" indent="0">
              <a:buNone/>
            </a:pPr>
            <a:r>
              <a:rPr lang="en-US" sz="1400" dirty="0">
                <a:solidFill>
                  <a:schemeClr val="tx2"/>
                </a:solidFill>
              </a:rPr>
              <a:t>Each step is small and testable, in an order that makes sense to you.</a:t>
            </a:r>
          </a:p>
        </p:txBody>
      </p:sp>
      <p:sp>
        <p:nvSpPr>
          <p:cNvPr id="14" name="card"/>
          <p:cNvSpPr/>
          <p:nvPr/>
        </p:nvSpPr>
        <p:spPr>
          <a:xfrm>
            <a:off x="6675120" y="493776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6903720" y="5056632"/>
            <a:ext cx="4572000" cy="292608"/>
          </a:xfrm>
          <a:prstGeom prst="rect">
            <a:avLst/>
          </a:prstGeom>
          <a:noFill/>
          <a:ln/>
        </p:spPr>
        <p:txBody>
          <a:bodyPr wrap="square" lIns="0" tIns="0" rIns="0" bIns="0" rtlCol="0" anchor="t"/>
          <a:lstStyle/>
          <a:p>
            <a:pPr marL="0" indent="0">
              <a:buNone/>
            </a:pPr>
            <a:r>
              <a:rPr lang="en-US" sz="1500" b="1" dirty="0">
                <a:solidFill>
                  <a:schemeClr val="tx1"/>
                </a:solidFill>
              </a:rPr>
              <a:t>Avoid</a:t>
            </a:r>
          </a:p>
        </p:txBody>
      </p:sp>
      <p:sp>
        <p:nvSpPr>
          <p:cNvPr id="16" name="Text 14"/>
          <p:cNvSpPr txBox="1"/>
          <p:nvPr/>
        </p:nvSpPr>
        <p:spPr>
          <a:xfrm>
            <a:off x="6903720" y="5367528"/>
            <a:ext cx="4572000" cy="548640"/>
          </a:xfrm>
          <a:prstGeom prst="rect">
            <a:avLst/>
          </a:prstGeom>
          <a:noFill/>
          <a:ln/>
        </p:spPr>
        <p:txBody>
          <a:bodyPr wrap="square" lIns="0" tIns="0" rIns="0" bIns="0" rtlCol="0" anchor="t"/>
          <a:lstStyle/>
          <a:p>
            <a:pPr marL="0" indent="0">
              <a:buNone/>
            </a:pPr>
            <a:r>
              <a:rPr lang="en-US" sz="1400" dirty="0">
                <a:solidFill>
                  <a:schemeClr val="tx2"/>
                </a:solidFill>
              </a:rPr>
              <a:t>Approving a plan you only skimmed. A vague plan produces vague work.</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31</a:t>
            </a:fld>
            <a:endParaRPr lang="en-US"/>
          </a:p>
        </p:txBody>
      </p:sp>
      <p:sp>
        <p:nvSpPr>
          <p:cNvPr id="17" name="Step note">
            <a:extLst>
              <a:ext uri="{FF2B5EF4-FFF2-40B4-BE49-F238E27FC236}">
                <a16:creationId xmlns:a16="http://schemas.microsoft.com/office/drawing/2014/main" id="{CB47D2D0-57EE-4939-81B6-E15F91782573}"/>
              </a:ext>
            </a:extLst>
          </p:cNvPr>
          <p:cNvSpPr txBox="1"/>
          <p:nvPr/>
        </p:nvSpPr>
        <p:spPr>
          <a:xfrm>
            <a:off x="546100" y="6096000"/>
            <a:ext cx="11061700" cy="254000"/>
          </a:xfrm>
          <a:prstGeom prst="rect">
            <a:avLst/>
          </a:prstGeom>
          <a:noFill/>
        </p:spPr>
        <p:txBody>
          <a:bodyPr vertOverflow="overflow" vert="horz" wrap="square" lIns="0" tIns="0" rIns="0" bIns="0" rtlCol="0" anchor="ctr" anchorCtr="0">
            <a:noAutofit/>
          </a:bodyPr>
          <a:lstStyle/>
          <a:p>
            <a:pPr algn="l"/>
            <a:r>
              <a:rPr lang="en-US" sz="1200" i="1">
                <a:solidFill>
                  <a:srgbClr val="5A6075"/>
                </a:solidFill>
                <a:latin typeface="Calibri"/>
                <a:ea typeface="Calibri"/>
                <a:cs typeface="Calibri"/>
              </a:rPr>
              <a:t>Note: Plan is a prompt you type in the Claude chat, not a file. Lines starting with # are labels; leave them out. plan.md is where Claude saves the plan.</a:t>
            </a:r>
          </a:p>
        </p:txBody>
      </p:sp>
    </p:spTree>
    <p:extLst>
      <p:ext uri="{BB962C8B-B14F-4D97-AF65-F5344CB8AC3E}">
        <p14:creationId xmlns:p14="http://schemas.microsoft.com/office/powerpoint/2010/main" val="3317611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1"/>
                </a:solidFill>
                <a:latin typeface="Cambria" pitchFamily="34" charset="0"/>
                <a:ea typeface="Cambria" pitchFamily="34" charset="-122"/>
                <a:cs typeface="Cambria" pitchFamily="34" charset="-120"/>
              </a:rPr>
              <a:t>Build: one step at a time, with a checkpoint after each</a:t>
            </a:r>
          </a:p>
        </p:txBody>
      </p:sp>
      <p:sp>
        <p:nvSpPr>
          <p:cNvPr id="3" name="code panel"/>
          <p:cNvSpPr/>
          <p:nvPr/>
        </p:nvSpPr>
        <p:spPr>
          <a:xfrm>
            <a:off x="548640" y="1371600"/>
            <a:ext cx="5852160" cy="4602480"/>
          </a:xfrm>
          <a:prstGeom prst="roundRect">
            <a:avLst>
              <a:gd name="adj" fmla="val 156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77240" y="1554480"/>
            <a:ext cx="5394960" cy="4241800"/>
          </a:xfrm>
          <a:prstGeom prst="rect">
            <a:avLst/>
          </a:prstGeom>
          <a:noFill/>
          <a:ln/>
        </p:spPr>
        <p:txBody>
          <a:bodyPr wrap="square" lIns="0" tIns="0" rIns="0" bIns="0" rtlCol="0" anchor="t"/>
          <a:lstStyle/>
          <a:p>
            <a:pPr marL="0" indent="0">
              <a:buNone/>
            </a:pPr>
            <a:r>
              <a:rPr lang="en-US" sz="1500" dirty="0">
                <a:solidFill>
                  <a:srgbClr val="AEB3C6"/>
                </a:solidFill>
                <a:latin typeface="Courier New" pitchFamily="34" charset="0"/>
                <a:ea typeface="Courier New" pitchFamily="34" charset="-122"/>
                <a:cs typeface="Courier New" pitchFamily="34" charset="-120"/>
              </a:rPr>
              <a:t># Work one step at a time</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Do step 1 of plan.md only. Run the tests</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when you're done, then stop and show me</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the diff.</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Step looks right:</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Commit with a clear message, update</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progress.txt, then do step 2.</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Going the wrong way? Press Esc, then:</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Stop. Keep the old function name;</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other services call it. Redo step 2.</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Long task, fresh session:</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Read plan.md and progress.txt and</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continue from the next open step.</a:t>
            </a:r>
            <a:endParaRPr lang="en-US" sz="1500" dirty="0"/>
          </a:p>
        </p:txBody>
      </p:sp>
      <p:sp>
        <p:nvSpPr>
          <p:cNvPr id="5" name="card"/>
          <p:cNvSpPr/>
          <p:nvPr/>
        </p:nvSpPr>
        <p:spPr>
          <a:xfrm>
            <a:off x="6675120" y="137160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6903720" y="1490472"/>
            <a:ext cx="4572000" cy="292608"/>
          </a:xfrm>
          <a:prstGeom prst="rect">
            <a:avLst/>
          </a:prstGeom>
          <a:noFill/>
          <a:ln/>
        </p:spPr>
        <p:txBody>
          <a:bodyPr wrap="square" lIns="0" tIns="0" rIns="0" bIns="0" rtlCol="0" anchor="t"/>
          <a:lstStyle/>
          <a:p>
            <a:pPr marL="0" indent="0">
              <a:buNone/>
            </a:pPr>
            <a:r>
              <a:rPr lang="en-US" sz="1500" b="1" dirty="0">
                <a:solidFill>
                  <a:schemeClr val="tx1"/>
                </a:solidFill>
              </a:rPr>
              <a:t>Goal</a:t>
            </a:r>
          </a:p>
        </p:txBody>
      </p:sp>
      <p:sp>
        <p:nvSpPr>
          <p:cNvPr id="7" name="Text 5"/>
          <p:cNvSpPr txBox="1"/>
          <p:nvPr/>
        </p:nvSpPr>
        <p:spPr>
          <a:xfrm>
            <a:off x="6903720" y="1801368"/>
            <a:ext cx="4572000" cy="548640"/>
          </a:xfrm>
          <a:prstGeom prst="rect">
            <a:avLst/>
          </a:prstGeom>
          <a:noFill/>
          <a:ln/>
        </p:spPr>
        <p:txBody>
          <a:bodyPr wrap="square" lIns="0" tIns="0" rIns="0" bIns="0" rtlCol="0" anchor="t"/>
          <a:lstStyle/>
          <a:p>
            <a:pPr marL="0" indent="0">
              <a:buNone/>
            </a:pPr>
            <a:r>
              <a:rPr lang="en-US" sz="1400" dirty="0">
                <a:solidFill>
                  <a:schemeClr val="tx2"/>
                </a:solidFill>
              </a:rPr>
              <a:t>Turn the plan into working changes while you keep control of the direction.</a:t>
            </a:r>
          </a:p>
        </p:txBody>
      </p:sp>
      <p:sp>
        <p:nvSpPr>
          <p:cNvPr id="8" name="card"/>
          <p:cNvSpPr/>
          <p:nvPr/>
        </p:nvSpPr>
        <p:spPr>
          <a:xfrm>
            <a:off x="6675120" y="256032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903720" y="2679192"/>
            <a:ext cx="4572000" cy="292608"/>
          </a:xfrm>
          <a:prstGeom prst="rect">
            <a:avLst/>
          </a:prstGeom>
          <a:noFill/>
          <a:ln/>
        </p:spPr>
        <p:txBody>
          <a:bodyPr wrap="square" lIns="0" tIns="0" rIns="0" bIns="0" rtlCol="0" anchor="t"/>
          <a:lstStyle/>
          <a:p>
            <a:pPr marL="0" indent="0">
              <a:buNone/>
            </a:pPr>
            <a:r>
              <a:rPr lang="en-US" sz="1500" b="1" dirty="0">
                <a:solidFill>
                  <a:schemeClr val="tx1"/>
                </a:solidFill>
              </a:rPr>
              <a:t>How</a:t>
            </a:r>
          </a:p>
        </p:txBody>
      </p:sp>
      <p:sp>
        <p:nvSpPr>
          <p:cNvPr id="10" name="Text 8"/>
          <p:cNvSpPr txBox="1"/>
          <p:nvPr/>
        </p:nvSpPr>
        <p:spPr>
          <a:xfrm>
            <a:off x="6903720" y="2990088"/>
            <a:ext cx="4572000" cy="548640"/>
          </a:xfrm>
          <a:prstGeom prst="rect">
            <a:avLst/>
          </a:prstGeom>
          <a:noFill/>
          <a:ln/>
        </p:spPr>
        <p:txBody>
          <a:bodyPr wrap="square" lIns="0" tIns="0" rIns="0" bIns="0" rtlCol="0" anchor="t"/>
          <a:lstStyle/>
          <a:p>
            <a:pPr marL="0" indent="0">
              <a:buNone/>
            </a:pPr>
            <a:r>
              <a:rPr lang="en-US" sz="1400" dirty="0">
                <a:solidFill>
                  <a:schemeClr val="tx2"/>
                </a:solidFill>
              </a:rPr>
              <a:t>Small steps, a commit after each, and progress.txt updated so a new session can resume.</a:t>
            </a:r>
          </a:p>
        </p:txBody>
      </p:sp>
      <p:sp>
        <p:nvSpPr>
          <p:cNvPr id="11" name="card"/>
          <p:cNvSpPr/>
          <p:nvPr/>
        </p:nvSpPr>
        <p:spPr>
          <a:xfrm>
            <a:off x="6675120" y="374904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6903720" y="3867912"/>
            <a:ext cx="4572000" cy="292608"/>
          </a:xfrm>
          <a:prstGeom prst="rect">
            <a:avLst/>
          </a:prstGeom>
          <a:noFill/>
          <a:ln/>
        </p:spPr>
        <p:txBody>
          <a:bodyPr wrap="square" lIns="0" tIns="0" rIns="0" bIns="0" rtlCol="0" anchor="t"/>
          <a:lstStyle/>
          <a:p>
            <a:pPr marL="0" indent="0">
              <a:buNone/>
            </a:pPr>
            <a:r>
              <a:rPr lang="en-US" sz="1500" b="1" dirty="0">
                <a:solidFill>
                  <a:schemeClr val="tx1"/>
                </a:solidFill>
              </a:rPr>
              <a:t>Good sign</a:t>
            </a:r>
          </a:p>
        </p:txBody>
      </p:sp>
      <p:sp>
        <p:nvSpPr>
          <p:cNvPr id="13" name="Text 11"/>
          <p:cNvSpPr txBox="1"/>
          <p:nvPr/>
        </p:nvSpPr>
        <p:spPr>
          <a:xfrm>
            <a:off x="6903720" y="4178808"/>
            <a:ext cx="4572000" cy="548640"/>
          </a:xfrm>
          <a:prstGeom prst="rect">
            <a:avLst/>
          </a:prstGeom>
          <a:noFill/>
          <a:ln/>
        </p:spPr>
        <p:txBody>
          <a:bodyPr wrap="square" lIns="0" tIns="0" rIns="0" bIns="0" rtlCol="0" anchor="t"/>
          <a:lstStyle/>
          <a:p>
            <a:pPr marL="0" indent="0">
              <a:buNone/>
            </a:pPr>
            <a:r>
              <a:rPr lang="en-US" sz="1400" dirty="0">
                <a:solidFill>
                  <a:schemeClr val="tx2"/>
                </a:solidFill>
              </a:rPr>
              <a:t>Each diff is small enough to read, and tests pass before the next step starts.</a:t>
            </a:r>
          </a:p>
        </p:txBody>
      </p:sp>
      <p:sp>
        <p:nvSpPr>
          <p:cNvPr id="14" name="card"/>
          <p:cNvSpPr/>
          <p:nvPr/>
        </p:nvSpPr>
        <p:spPr>
          <a:xfrm>
            <a:off x="6675120" y="493776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6903720" y="5056632"/>
            <a:ext cx="4572000" cy="292608"/>
          </a:xfrm>
          <a:prstGeom prst="rect">
            <a:avLst/>
          </a:prstGeom>
          <a:noFill/>
          <a:ln/>
        </p:spPr>
        <p:txBody>
          <a:bodyPr wrap="square" lIns="0" tIns="0" rIns="0" bIns="0" rtlCol="0" anchor="t"/>
          <a:lstStyle/>
          <a:p>
            <a:pPr marL="0" indent="0">
              <a:buNone/>
            </a:pPr>
            <a:r>
              <a:rPr lang="en-US" sz="1500" b="1" dirty="0">
                <a:solidFill>
                  <a:schemeClr val="tx1"/>
                </a:solidFill>
              </a:rPr>
              <a:t>Avoid</a:t>
            </a:r>
          </a:p>
        </p:txBody>
      </p:sp>
      <p:sp>
        <p:nvSpPr>
          <p:cNvPr id="16" name="Text 14"/>
          <p:cNvSpPr txBox="1"/>
          <p:nvPr/>
        </p:nvSpPr>
        <p:spPr>
          <a:xfrm>
            <a:off x="6903720" y="5367528"/>
            <a:ext cx="4572000" cy="548640"/>
          </a:xfrm>
          <a:prstGeom prst="rect">
            <a:avLst/>
          </a:prstGeom>
          <a:noFill/>
          <a:ln/>
        </p:spPr>
        <p:txBody>
          <a:bodyPr wrap="square" lIns="0" tIns="0" rIns="0" bIns="0" rtlCol="0" anchor="t"/>
          <a:lstStyle/>
          <a:p>
            <a:pPr marL="0" indent="0">
              <a:buNone/>
            </a:pPr>
            <a:r>
              <a:rPr lang="en-US" sz="1400" dirty="0">
                <a:solidFill>
                  <a:schemeClr val="tx2"/>
                </a:solidFill>
              </a:rPr>
              <a:t>“Do the whole plan” on large work. When it goes wrong, you can't see where.</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32</a:t>
            </a:fld>
            <a:endParaRPr lang="en-US"/>
          </a:p>
        </p:txBody>
      </p:sp>
      <p:sp>
        <p:nvSpPr>
          <p:cNvPr id="17" name="Step note">
            <a:extLst>
              <a:ext uri="{FF2B5EF4-FFF2-40B4-BE49-F238E27FC236}">
                <a16:creationId xmlns:a16="http://schemas.microsoft.com/office/drawing/2014/main" id="{90458F20-F299-4648-92F6-1217D3E5CA15}"/>
              </a:ext>
            </a:extLst>
          </p:cNvPr>
          <p:cNvSpPr txBox="1"/>
          <p:nvPr/>
        </p:nvSpPr>
        <p:spPr>
          <a:xfrm>
            <a:off x="546100" y="6096000"/>
            <a:ext cx="11061700" cy="254000"/>
          </a:xfrm>
          <a:prstGeom prst="rect">
            <a:avLst/>
          </a:prstGeom>
          <a:noFill/>
        </p:spPr>
        <p:txBody>
          <a:bodyPr vertOverflow="overflow" vert="horz" wrap="square" lIns="0" tIns="0" rIns="0" bIns="0" rtlCol="0" anchor="ctr" anchorCtr="0">
            <a:noAutofit/>
          </a:bodyPr>
          <a:lstStyle/>
          <a:p>
            <a:pPr algn="l"/>
            <a:r>
              <a:rPr lang="en-US" sz="1200" i="1" dirty="0">
                <a:solidFill>
                  <a:srgbClr val="5A6075"/>
                </a:solidFill>
                <a:latin typeface="Calibri"/>
                <a:ea typeface="Calibri"/>
                <a:cs typeface="Calibri"/>
              </a:rPr>
              <a:t>Note: Build is a series of prompts you type in the chat. Lines starting with # are labels; leave them out. plan.md and progress.txt are files in your project.</a:t>
            </a:r>
          </a:p>
        </p:txBody>
      </p:sp>
    </p:spTree>
    <p:extLst>
      <p:ext uri="{BB962C8B-B14F-4D97-AF65-F5344CB8AC3E}">
        <p14:creationId xmlns:p14="http://schemas.microsoft.com/office/powerpoint/2010/main" val="1865132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1"/>
                </a:solidFill>
                <a:latin typeface="Cambria" pitchFamily="34" charset="0"/>
                <a:ea typeface="Cambria" pitchFamily="34" charset="-122"/>
                <a:cs typeface="Cambria" pitchFamily="34" charset="-120"/>
              </a:rPr>
              <a:t>Check: prove the work is done before you accept it</a:t>
            </a:r>
          </a:p>
        </p:txBody>
      </p:sp>
      <p:sp>
        <p:nvSpPr>
          <p:cNvPr id="3" name="code panel"/>
          <p:cNvSpPr/>
          <p:nvPr/>
        </p:nvSpPr>
        <p:spPr>
          <a:xfrm>
            <a:off x="548640" y="1371600"/>
            <a:ext cx="5852160" cy="4602480"/>
          </a:xfrm>
          <a:prstGeom prst="roundRect">
            <a:avLst>
              <a:gd name="adj" fmla="val 156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77240" y="1554480"/>
            <a:ext cx="5394960" cy="4241800"/>
          </a:xfrm>
          <a:prstGeom prst="rect">
            <a:avLst/>
          </a:prstGeom>
          <a:noFill/>
          <a:ln/>
        </p:spPr>
        <p:txBody>
          <a:bodyPr wrap="square" lIns="0" tIns="0" rIns="0" bIns="0" rtlCol="0" anchor="t"/>
          <a:lstStyle/>
          <a:p>
            <a:pPr marL="0" indent="0">
              <a:buNone/>
            </a:pPr>
            <a:r>
              <a:rPr lang="en-US" sz="1500" dirty="0">
                <a:solidFill>
                  <a:srgbClr val="AEB3C6"/>
                </a:solidFill>
                <a:latin typeface="Courier New" pitchFamily="34" charset="0"/>
                <a:ea typeface="Courier New" pitchFamily="34" charset="-122"/>
                <a:cs typeface="Courier New" pitchFamily="34" charset="-120"/>
              </a:rPr>
              <a:t># Verify against the plan</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Run the full test suite and the linter.</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Then compare the result with plan.md and</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list anything missing or changed.</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Second opinion, fresh context</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Use the code-reviewer subagent on this</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branch. Report bugs, security issues and</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untested paths. Don't fix anything yet.</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Ask about gaps</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What did you not verify? List anything</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you assumed rather than checked.</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Then ship</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Fix the review items, rerun the tests,</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and commit.</a:t>
            </a:r>
            <a:endParaRPr lang="en-US" sz="1500" dirty="0"/>
          </a:p>
        </p:txBody>
      </p:sp>
      <p:sp>
        <p:nvSpPr>
          <p:cNvPr id="5" name="card"/>
          <p:cNvSpPr/>
          <p:nvPr/>
        </p:nvSpPr>
        <p:spPr>
          <a:xfrm>
            <a:off x="6675120" y="137160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6903720" y="1490472"/>
            <a:ext cx="4572000" cy="292608"/>
          </a:xfrm>
          <a:prstGeom prst="rect">
            <a:avLst/>
          </a:prstGeom>
          <a:noFill/>
          <a:ln/>
        </p:spPr>
        <p:txBody>
          <a:bodyPr wrap="square" lIns="0" tIns="0" rIns="0" bIns="0" rtlCol="0" anchor="t"/>
          <a:lstStyle/>
          <a:p>
            <a:pPr marL="0" indent="0">
              <a:buNone/>
            </a:pPr>
            <a:r>
              <a:rPr lang="en-US" sz="1500" b="1" dirty="0">
                <a:solidFill>
                  <a:schemeClr val="tx1"/>
                </a:solidFill>
              </a:rPr>
              <a:t>Goal</a:t>
            </a:r>
          </a:p>
        </p:txBody>
      </p:sp>
      <p:sp>
        <p:nvSpPr>
          <p:cNvPr id="7" name="Text 5"/>
          <p:cNvSpPr txBox="1"/>
          <p:nvPr/>
        </p:nvSpPr>
        <p:spPr>
          <a:xfrm>
            <a:off x="6903720" y="1801368"/>
            <a:ext cx="4572000" cy="548640"/>
          </a:xfrm>
          <a:prstGeom prst="rect">
            <a:avLst/>
          </a:prstGeom>
          <a:noFill/>
          <a:ln/>
        </p:spPr>
        <p:txBody>
          <a:bodyPr wrap="square" lIns="0" tIns="0" rIns="0" bIns="0" rtlCol="0" anchor="t"/>
          <a:lstStyle/>
          <a:p>
            <a:pPr marL="0" indent="0">
              <a:buNone/>
            </a:pPr>
            <a:r>
              <a:rPr lang="en-US" sz="1400" dirty="0">
                <a:solidFill>
                  <a:schemeClr val="tx2"/>
                </a:solidFill>
              </a:rPr>
              <a:t>Evidence that it works: tests pass, the result matches the plan, nothing extra changed.</a:t>
            </a:r>
          </a:p>
        </p:txBody>
      </p:sp>
      <p:sp>
        <p:nvSpPr>
          <p:cNvPr id="8" name="card"/>
          <p:cNvSpPr/>
          <p:nvPr/>
        </p:nvSpPr>
        <p:spPr>
          <a:xfrm>
            <a:off x="6675120" y="256032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903720" y="2679192"/>
            <a:ext cx="4572000" cy="292608"/>
          </a:xfrm>
          <a:prstGeom prst="rect">
            <a:avLst/>
          </a:prstGeom>
          <a:noFill/>
          <a:ln/>
        </p:spPr>
        <p:txBody>
          <a:bodyPr wrap="square" lIns="0" tIns="0" rIns="0" bIns="0" rtlCol="0" anchor="t"/>
          <a:lstStyle/>
          <a:p>
            <a:pPr marL="0" indent="0">
              <a:buNone/>
            </a:pPr>
            <a:r>
              <a:rPr lang="en-US" sz="1500" b="1" dirty="0">
                <a:solidFill>
                  <a:schemeClr val="tx1"/>
                </a:solidFill>
              </a:rPr>
              <a:t>How</a:t>
            </a:r>
          </a:p>
        </p:txBody>
      </p:sp>
      <p:sp>
        <p:nvSpPr>
          <p:cNvPr id="10" name="Text 8"/>
          <p:cNvSpPr txBox="1"/>
          <p:nvPr/>
        </p:nvSpPr>
        <p:spPr>
          <a:xfrm>
            <a:off x="6903720" y="2990088"/>
            <a:ext cx="4572000" cy="548640"/>
          </a:xfrm>
          <a:prstGeom prst="rect">
            <a:avLst/>
          </a:prstGeom>
          <a:noFill/>
          <a:ln/>
        </p:spPr>
        <p:txBody>
          <a:bodyPr wrap="square" lIns="0" tIns="0" rIns="0" bIns="0" rtlCol="0" anchor="t"/>
          <a:lstStyle/>
          <a:p>
            <a:pPr marL="0" indent="0">
              <a:buNone/>
            </a:pPr>
            <a:r>
              <a:rPr lang="en-US" sz="1400" dirty="0">
                <a:solidFill>
                  <a:schemeClr val="tx2"/>
                </a:solidFill>
              </a:rPr>
              <a:t>Run the tests, open the result yourself, and have a fresh subagent review it.</a:t>
            </a:r>
          </a:p>
        </p:txBody>
      </p:sp>
      <p:sp>
        <p:nvSpPr>
          <p:cNvPr id="11" name="card"/>
          <p:cNvSpPr/>
          <p:nvPr/>
        </p:nvSpPr>
        <p:spPr>
          <a:xfrm>
            <a:off x="6675120" y="374904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6903720" y="3867912"/>
            <a:ext cx="4572000" cy="292608"/>
          </a:xfrm>
          <a:prstGeom prst="rect">
            <a:avLst/>
          </a:prstGeom>
          <a:noFill/>
          <a:ln/>
        </p:spPr>
        <p:txBody>
          <a:bodyPr wrap="square" lIns="0" tIns="0" rIns="0" bIns="0" rtlCol="0" anchor="t"/>
          <a:lstStyle/>
          <a:p>
            <a:pPr marL="0" indent="0">
              <a:buNone/>
            </a:pPr>
            <a:r>
              <a:rPr lang="en-US" sz="1500" b="1" dirty="0">
                <a:solidFill>
                  <a:schemeClr val="tx1"/>
                </a:solidFill>
              </a:rPr>
              <a:t>Good sign</a:t>
            </a:r>
          </a:p>
        </p:txBody>
      </p:sp>
      <p:sp>
        <p:nvSpPr>
          <p:cNvPr id="13" name="Text 11"/>
          <p:cNvSpPr txBox="1"/>
          <p:nvPr/>
        </p:nvSpPr>
        <p:spPr>
          <a:xfrm>
            <a:off x="6903720" y="4178808"/>
            <a:ext cx="4572000" cy="548640"/>
          </a:xfrm>
          <a:prstGeom prst="rect">
            <a:avLst/>
          </a:prstGeom>
          <a:noFill/>
          <a:ln/>
        </p:spPr>
        <p:txBody>
          <a:bodyPr wrap="square" lIns="0" tIns="0" rIns="0" bIns="0" rtlCol="0" anchor="t"/>
          <a:lstStyle/>
          <a:p>
            <a:pPr marL="0" indent="0">
              <a:buNone/>
            </a:pPr>
            <a:r>
              <a:rPr lang="en-US" sz="1400" dirty="0">
                <a:solidFill>
                  <a:schemeClr val="tx2"/>
                </a:solidFill>
              </a:rPr>
              <a:t>Claude lists what it could not verify instead of just saying “done”.</a:t>
            </a:r>
          </a:p>
        </p:txBody>
      </p:sp>
      <p:sp>
        <p:nvSpPr>
          <p:cNvPr id="14" name="card"/>
          <p:cNvSpPr/>
          <p:nvPr/>
        </p:nvSpPr>
        <p:spPr>
          <a:xfrm>
            <a:off x="6675120" y="493776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6903720" y="5056632"/>
            <a:ext cx="4572000" cy="292608"/>
          </a:xfrm>
          <a:prstGeom prst="rect">
            <a:avLst/>
          </a:prstGeom>
          <a:noFill/>
          <a:ln/>
        </p:spPr>
        <p:txBody>
          <a:bodyPr wrap="square" lIns="0" tIns="0" rIns="0" bIns="0" rtlCol="0" anchor="t"/>
          <a:lstStyle/>
          <a:p>
            <a:pPr marL="0" indent="0">
              <a:buNone/>
            </a:pPr>
            <a:r>
              <a:rPr lang="en-US" sz="1500" b="1" dirty="0">
                <a:solidFill>
                  <a:schemeClr val="tx1"/>
                </a:solidFill>
              </a:rPr>
              <a:t>Avoid</a:t>
            </a:r>
          </a:p>
        </p:txBody>
      </p:sp>
      <p:sp>
        <p:nvSpPr>
          <p:cNvPr id="16" name="Text 14"/>
          <p:cNvSpPr txBox="1"/>
          <p:nvPr/>
        </p:nvSpPr>
        <p:spPr>
          <a:xfrm>
            <a:off x="6903720" y="5367528"/>
            <a:ext cx="4572000" cy="548640"/>
          </a:xfrm>
          <a:prstGeom prst="rect">
            <a:avLst/>
          </a:prstGeom>
          <a:noFill/>
          <a:ln/>
        </p:spPr>
        <p:txBody>
          <a:bodyPr wrap="square" lIns="0" tIns="0" rIns="0" bIns="0" rtlCol="0" anchor="t"/>
          <a:lstStyle/>
          <a:p>
            <a:pPr marL="0" indent="0">
              <a:buNone/>
            </a:pPr>
            <a:r>
              <a:rPr lang="en-US" sz="1400" dirty="0">
                <a:solidFill>
                  <a:schemeClr val="tx2"/>
                </a:solidFill>
              </a:rPr>
              <a:t>Trusting “all tests pass” without seeing the run, or letting Claude edit tests to pass.</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33</a:t>
            </a:fld>
            <a:endParaRPr lang="en-US"/>
          </a:p>
        </p:txBody>
      </p:sp>
      <p:sp>
        <p:nvSpPr>
          <p:cNvPr id="17" name="Step note">
            <a:extLst>
              <a:ext uri="{FF2B5EF4-FFF2-40B4-BE49-F238E27FC236}">
                <a16:creationId xmlns:a16="http://schemas.microsoft.com/office/drawing/2014/main" id="{ACA97233-856F-449D-B0A5-B6157D2325F7}"/>
              </a:ext>
            </a:extLst>
          </p:cNvPr>
          <p:cNvSpPr txBox="1"/>
          <p:nvPr/>
        </p:nvSpPr>
        <p:spPr>
          <a:xfrm>
            <a:off x="546100" y="6096000"/>
            <a:ext cx="11061700" cy="254000"/>
          </a:xfrm>
          <a:prstGeom prst="rect">
            <a:avLst/>
          </a:prstGeom>
          <a:noFill/>
        </p:spPr>
        <p:txBody>
          <a:bodyPr vertOverflow="overflow" vert="horz" wrap="square" lIns="0" tIns="0" rIns="0" bIns="0" rtlCol="0" anchor="ctr" anchorCtr="0">
            <a:noAutofit/>
          </a:bodyPr>
          <a:lstStyle/>
          <a:p>
            <a:pPr algn="l"/>
            <a:r>
              <a:rPr lang="en-US" sz="1200" i="1">
                <a:solidFill>
                  <a:srgbClr val="5A6075"/>
                </a:solidFill>
                <a:latin typeface="Calibri"/>
                <a:ea typeface="Calibri"/>
                <a:cs typeface="Calibri"/>
              </a:rPr>
              <a:t>Note: Check is a prompt you type in the chat. Lines starting with # are labels; leave them out. code-reviewer is a subagent file in .claude/agents/ (slide 26).</a:t>
            </a:r>
          </a:p>
        </p:txBody>
      </p:sp>
    </p:spTree>
    <p:extLst>
      <p:ext uri="{BB962C8B-B14F-4D97-AF65-F5344CB8AC3E}">
        <p14:creationId xmlns:p14="http://schemas.microsoft.com/office/powerpoint/2010/main" val="2627344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1"/>
                </a:solidFill>
                <a:latin typeface="Cambria" pitchFamily="34" charset="0"/>
                <a:ea typeface="Cambria" pitchFamily="34" charset="-122"/>
                <a:cs typeface="Cambria" pitchFamily="34" charset="-120"/>
              </a:rPr>
              <a:t>One prompt for all four steps, two stops when it's risky</a:t>
            </a:r>
          </a:p>
        </p:txBody>
      </p:sp>
      <p:sp>
        <p:nvSpPr>
          <p:cNvPr id="3" name="code panel"/>
          <p:cNvSpPr/>
          <p:nvPr/>
        </p:nvSpPr>
        <p:spPr>
          <a:xfrm>
            <a:off x="548640" y="1371600"/>
            <a:ext cx="5852160" cy="4602480"/>
          </a:xfrm>
          <a:prstGeom prst="roundRect">
            <a:avLst>
              <a:gd name="adj" fmla="val 156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77240" y="1554480"/>
            <a:ext cx="5394960" cy="4241800"/>
          </a:xfrm>
          <a:prstGeom prst="rect">
            <a:avLst/>
          </a:prstGeom>
          <a:noFill/>
          <a:ln/>
        </p:spPr>
        <p:txBody>
          <a:bodyPr wrap="square" lIns="0" tIns="0" rIns="0" bIns="0" rtlCol="0" anchor="t"/>
          <a:lstStyle/>
          <a:p>
            <a:pPr marL="0" indent="0">
              <a:buNone/>
            </a:pPr>
            <a:r>
              <a:rPr lang="en-US" sz="1500" dirty="0">
                <a:solidFill>
                  <a:srgbClr val="AEB3C6"/>
                </a:solidFill>
                <a:latin typeface="Courier New" pitchFamily="34" charset="0"/>
                <a:ea typeface="Courier New" pitchFamily="34" charset="-122"/>
                <a:cs typeface="Courier New" pitchFamily="34" charset="-120"/>
              </a:rPr>
              <a:t># One prompt, two checkpoints</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Add tax-exempt customers to invoicing.</a:t>
            </a:r>
            <a:endParaRPr lang="en-US" sz="1500" dirty="0"/>
          </a:p>
          <a:p>
            <a:pPr marL="0" indent="0">
              <a:buNone/>
            </a:pP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1. Explore src/billing/ and tests/.</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Don't edit anything.</a:t>
            </a:r>
            <a:endParaRPr lang="en-US" sz="1500" dirty="0"/>
          </a:p>
          <a:p>
            <a:pPr marL="0" indent="0">
              <a:buNone/>
            </a:pP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2. Write the plan to plan.md.</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STOP and wait for my OK.</a:t>
            </a:r>
            <a:endParaRPr lang="en-US" sz="1500" dirty="0"/>
          </a:p>
          <a:p>
            <a:pPr marL="0" indent="0">
              <a:buNone/>
            </a:pP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3. Build one step at a time. Run the</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tests after each, log progress.txt.</a:t>
            </a:r>
            <a:endParaRPr lang="en-US" sz="1500" dirty="0"/>
          </a:p>
          <a:p>
            <a:pPr marL="0" indent="0">
              <a:buNone/>
            </a:pP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4. Run all tests and the linter, then</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use the code-reviewer subagent.</a:t>
            </a:r>
            <a:endParaRPr lang="en-US" sz="1500" dirty="0"/>
          </a:p>
          <a:p>
            <a:pPr marL="0" indent="0">
              <a:buNone/>
            </a:pP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5. Report what passed and what you</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couldn't verify.</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STOP: don't commit until I confirm.</a:t>
            </a:r>
            <a:endParaRPr lang="en-US" sz="1500" dirty="0"/>
          </a:p>
        </p:txBody>
      </p:sp>
      <p:sp>
        <p:nvSpPr>
          <p:cNvPr id="5" name="card"/>
          <p:cNvSpPr/>
          <p:nvPr/>
        </p:nvSpPr>
        <p:spPr>
          <a:xfrm>
            <a:off x="6675120" y="137160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6903720" y="1490472"/>
            <a:ext cx="4572000" cy="292608"/>
          </a:xfrm>
          <a:prstGeom prst="rect">
            <a:avLst/>
          </a:prstGeom>
          <a:noFill/>
          <a:ln/>
        </p:spPr>
        <p:txBody>
          <a:bodyPr wrap="square" lIns="0" tIns="0" rIns="0" bIns="0" rtlCol="0" anchor="t"/>
          <a:lstStyle/>
          <a:p>
            <a:pPr marL="0" indent="0">
              <a:buNone/>
            </a:pPr>
            <a:r>
              <a:rPr lang="en-US" sz="1500" b="1" dirty="0">
                <a:solidFill>
                  <a:schemeClr val="tx1"/>
                </a:solidFill>
              </a:rPr>
              <a:t>One prompt is enough</a:t>
            </a:r>
          </a:p>
        </p:txBody>
      </p:sp>
      <p:sp>
        <p:nvSpPr>
          <p:cNvPr id="7" name="Text 5"/>
          <p:cNvSpPr txBox="1"/>
          <p:nvPr/>
        </p:nvSpPr>
        <p:spPr>
          <a:xfrm>
            <a:off x="6903720" y="1801368"/>
            <a:ext cx="4572000" cy="548640"/>
          </a:xfrm>
          <a:prstGeom prst="rect">
            <a:avLst/>
          </a:prstGeom>
          <a:noFill/>
          <a:ln/>
        </p:spPr>
        <p:txBody>
          <a:bodyPr wrap="square" lIns="0" tIns="0" rIns="0" bIns="0" rtlCol="0" anchor="t"/>
          <a:lstStyle/>
          <a:p>
            <a:pPr marL="0" indent="0">
              <a:buNone/>
            </a:pPr>
            <a:r>
              <a:rPr lang="en-US" sz="1400" dirty="0">
                <a:solidFill>
                  <a:schemeClr val="tx2"/>
                </a:solidFill>
              </a:rPr>
              <a:t>Small, clear task with good tests, on a branch. Delete both STOP lines.</a:t>
            </a:r>
          </a:p>
        </p:txBody>
      </p:sp>
      <p:sp>
        <p:nvSpPr>
          <p:cNvPr id="8" name="card"/>
          <p:cNvSpPr/>
          <p:nvPr/>
        </p:nvSpPr>
        <p:spPr>
          <a:xfrm>
            <a:off x="6675120" y="256032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903720" y="2679192"/>
            <a:ext cx="4572000" cy="292608"/>
          </a:xfrm>
          <a:prstGeom prst="rect">
            <a:avLst/>
          </a:prstGeom>
          <a:noFill/>
          <a:ln/>
        </p:spPr>
        <p:txBody>
          <a:bodyPr wrap="square" lIns="0" tIns="0" rIns="0" bIns="0" rtlCol="0" anchor="t"/>
          <a:lstStyle/>
          <a:p>
            <a:pPr marL="0" indent="0">
              <a:buNone/>
            </a:pPr>
            <a:r>
              <a:rPr lang="en-US" sz="1500" b="1" dirty="0">
                <a:solidFill>
                  <a:schemeClr val="tx1"/>
                </a:solidFill>
              </a:rPr>
              <a:t>Keep the checkpoints</a:t>
            </a:r>
          </a:p>
        </p:txBody>
      </p:sp>
      <p:sp>
        <p:nvSpPr>
          <p:cNvPr id="10" name="Text 8"/>
          <p:cNvSpPr txBox="1"/>
          <p:nvPr/>
        </p:nvSpPr>
        <p:spPr>
          <a:xfrm>
            <a:off x="6903720" y="2990088"/>
            <a:ext cx="4572000" cy="548640"/>
          </a:xfrm>
          <a:prstGeom prst="rect">
            <a:avLst/>
          </a:prstGeom>
          <a:noFill/>
          <a:ln/>
        </p:spPr>
        <p:txBody>
          <a:bodyPr wrap="square" lIns="0" tIns="0" rIns="0" bIns="0" rtlCol="0" anchor="t"/>
          <a:lstStyle/>
          <a:p>
            <a:pPr marL="0" indent="0">
              <a:buNone/>
            </a:pPr>
            <a:r>
              <a:rPr lang="en-US" sz="1400" dirty="0">
                <a:solidFill>
                  <a:schemeClr val="tx2"/>
                </a:solidFill>
              </a:rPr>
              <a:t>Unclear requirements, no tests, or code that touches money, security or shared services.</a:t>
            </a:r>
          </a:p>
        </p:txBody>
      </p:sp>
      <p:sp>
        <p:nvSpPr>
          <p:cNvPr id="11" name="card"/>
          <p:cNvSpPr/>
          <p:nvPr/>
        </p:nvSpPr>
        <p:spPr>
          <a:xfrm>
            <a:off x="6675120" y="374904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6903720" y="3867912"/>
            <a:ext cx="4572000" cy="292608"/>
          </a:xfrm>
          <a:prstGeom prst="rect">
            <a:avLst/>
          </a:prstGeom>
          <a:noFill/>
          <a:ln/>
        </p:spPr>
        <p:txBody>
          <a:bodyPr wrap="square" lIns="0" tIns="0" rIns="0" bIns="0" rtlCol="0" anchor="t"/>
          <a:lstStyle/>
          <a:p>
            <a:pPr marL="0" indent="0">
              <a:buNone/>
            </a:pPr>
            <a:r>
              <a:rPr lang="en-US" sz="1500" b="1" dirty="0">
                <a:solidFill>
                  <a:schemeClr val="tx1"/>
                </a:solidFill>
              </a:rPr>
              <a:t>Why these two stops</a:t>
            </a:r>
          </a:p>
        </p:txBody>
      </p:sp>
      <p:sp>
        <p:nvSpPr>
          <p:cNvPr id="13" name="Text 11"/>
          <p:cNvSpPr txBox="1"/>
          <p:nvPr/>
        </p:nvSpPr>
        <p:spPr>
          <a:xfrm>
            <a:off x="6903720" y="4178808"/>
            <a:ext cx="4572000" cy="548640"/>
          </a:xfrm>
          <a:prstGeom prst="rect">
            <a:avLst/>
          </a:prstGeom>
          <a:noFill/>
          <a:ln/>
        </p:spPr>
        <p:txBody>
          <a:bodyPr wrap="square" lIns="0" tIns="0" rIns="0" bIns="0" rtlCol="0" anchor="t"/>
          <a:lstStyle/>
          <a:p>
            <a:pPr marL="0" indent="0">
              <a:buNone/>
            </a:pPr>
            <a:r>
              <a:rPr lang="en-US" sz="1400" dirty="0">
                <a:solidFill>
                  <a:schemeClr val="tx2"/>
                </a:solidFill>
              </a:rPr>
              <a:t>Reading the plan takes a minute and catches most wrong turns. Reading the diff catches the rest before it ships.</a:t>
            </a:r>
          </a:p>
        </p:txBody>
      </p:sp>
      <p:sp>
        <p:nvSpPr>
          <p:cNvPr id="14" name="card"/>
          <p:cNvSpPr/>
          <p:nvPr/>
        </p:nvSpPr>
        <p:spPr>
          <a:xfrm>
            <a:off x="6675120" y="493776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6903720" y="5056632"/>
            <a:ext cx="4572000" cy="292608"/>
          </a:xfrm>
          <a:prstGeom prst="rect">
            <a:avLst/>
          </a:prstGeom>
          <a:noFill/>
          <a:ln/>
        </p:spPr>
        <p:txBody>
          <a:bodyPr wrap="square" lIns="0" tIns="0" rIns="0" bIns="0" rtlCol="0" anchor="t"/>
          <a:lstStyle/>
          <a:p>
            <a:pPr marL="0" indent="0">
              <a:buNone/>
            </a:pPr>
            <a:r>
              <a:rPr lang="en-US" sz="1500" b="1" dirty="0">
                <a:solidFill>
                  <a:schemeClr val="tx1"/>
                </a:solidFill>
              </a:rPr>
              <a:t>Fully hands-off</a:t>
            </a:r>
          </a:p>
        </p:txBody>
      </p:sp>
      <p:sp>
        <p:nvSpPr>
          <p:cNvPr id="16" name="Text 14"/>
          <p:cNvSpPr txBox="1"/>
          <p:nvPr/>
        </p:nvSpPr>
        <p:spPr>
          <a:xfrm>
            <a:off x="6903720" y="5367528"/>
            <a:ext cx="4572000" cy="548640"/>
          </a:xfrm>
          <a:prstGeom prst="rect">
            <a:avLst/>
          </a:prstGeom>
          <a:noFill/>
          <a:ln/>
        </p:spPr>
        <p:txBody>
          <a:bodyPr wrap="square" lIns="0" tIns="0" rIns="0" bIns="0" rtlCol="0" anchor="t"/>
          <a:lstStyle/>
          <a:p>
            <a:pPr marL="0" indent="0">
              <a:buNone/>
            </a:pPr>
            <a:r>
              <a:rPr lang="en-US" sz="1400" dirty="0">
                <a:solidFill>
                  <a:schemeClr val="tx2"/>
                </a:solidFill>
              </a:rPr>
              <a:t>Tests and a subagent review are the gate. Claude works on a branch; a person approves the pull request.</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34</a:t>
            </a:fld>
            <a:endParaRPr lang="en-US"/>
          </a:p>
        </p:txBody>
      </p:sp>
      <p:sp>
        <p:nvSpPr>
          <p:cNvPr id="17" name="Step note">
            <a:extLst>
              <a:ext uri="{FF2B5EF4-FFF2-40B4-BE49-F238E27FC236}">
                <a16:creationId xmlns:a16="http://schemas.microsoft.com/office/drawing/2014/main" id="{ACA97233-856F-449D-B0A5-B6157D2325F7}"/>
              </a:ext>
            </a:extLst>
          </p:cNvPr>
          <p:cNvSpPr txBox="1"/>
          <p:nvPr/>
        </p:nvSpPr>
        <p:spPr>
          <a:xfrm>
            <a:off x="546100" y="6096000"/>
            <a:ext cx="11061700" cy="254000"/>
          </a:xfrm>
          <a:prstGeom prst="rect">
            <a:avLst/>
          </a:prstGeom>
          <a:noFill/>
        </p:spPr>
        <p:txBody>
          <a:bodyPr vertOverflow="overflow" vert="horz" wrap="square" lIns="0" tIns="0" rIns="0" bIns="0" rtlCol="0" anchor="ctr" anchorCtr="0">
            <a:noAutofit/>
          </a:bodyPr>
          <a:lstStyle/>
          <a:p>
            <a:pPr algn="l"/>
            <a:r>
              <a:rPr lang="en-US" sz="1200" i="1">
                <a:solidFill>
                  <a:srgbClr val="5A6075"/>
                </a:solidFill>
                <a:latin typeface="Calibri"/>
                <a:ea typeface="Calibri"/>
                <a:cs typeface="Calibri"/>
              </a:rPr>
              <a:t>Note: type this once in the Claude chat. Claude pauses at each STOP until you reply; lines starting with # are labels.</a:t>
            </a:r>
          </a:p>
        </p:txBody>
      </p:sp>
    </p:spTree>
    <p:extLst>
      <p:ext uri="{BB962C8B-B14F-4D97-AF65-F5344CB8AC3E}">
        <p14:creationId xmlns:p14="http://schemas.microsoft.com/office/powerpoint/2010/main" val="3853813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Turn what works into building blocks you can reuse</a:t>
            </a:r>
            <a:endParaRPr lang="en-US" sz="3200" dirty="0"/>
          </a:p>
        </p:txBody>
      </p:sp>
      <p:sp>
        <p:nvSpPr>
          <p:cNvPr id="3" name="card"/>
          <p:cNvSpPr/>
          <p:nvPr/>
        </p:nvSpPr>
        <p:spPr>
          <a:xfrm>
            <a:off x="548640" y="137160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icon circle"/>
          <p:cNvSpPr/>
          <p:nvPr/>
        </p:nvSpPr>
        <p:spPr>
          <a:xfrm>
            <a:off x="822960" y="1645920"/>
            <a:ext cx="640080" cy="640080"/>
          </a:xfrm>
          <a:prstGeom prst="ellipse">
            <a:avLst/>
          </a:prstGeom>
          <a:solidFill>
            <a:schemeClr val="accent1"/>
          </a:solidFill>
          <a:ln w="12700">
            <a:solidFill>
              <a:schemeClr val="accent1"/>
            </a:solidFill>
            <a:prstDash val="solid"/>
          </a:ln>
        </p:spPr>
        <p:txBody>
          <a:bodyPr/>
          <a:lstStyle/>
          <a:p>
            <a:endParaRPr lang="en-US"/>
          </a:p>
        </p:txBody>
      </p:sp>
      <p:pic>
        <p:nvPicPr>
          <p:cNvPr id="5" name="Image 0" descr="FileLines icon"/>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71907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CLAUDE.md</a:t>
            </a:r>
            <a:endParaRPr lang="en-US" sz="1800" dirty="0"/>
          </a:p>
        </p:txBody>
      </p:sp>
      <p:sp>
        <p:nvSpPr>
          <p:cNvPr id="7" name="Text 4"/>
          <p:cNvSpPr txBox="1"/>
          <p:nvPr/>
        </p:nvSpPr>
        <p:spPr>
          <a:xfrm>
            <a:off x="822960" y="2423160"/>
            <a:ext cx="3017520" cy="1051560"/>
          </a:xfrm>
          <a:prstGeom prst="rect">
            <a:avLst/>
          </a:prstGeom>
          <a:noFill/>
          <a:ln/>
        </p:spPr>
        <p:txBody>
          <a:bodyPr wrap="square" lIns="0" tIns="0" rIns="0" bIns="0" rtlCol="0" anchor="t"/>
          <a:lstStyle/>
          <a:p>
            <a:pPr marL="0" indent="0">
              <a:buNone/>
            </a:pPr>
            <a:r>
              <a:rPr lang="en-US" sz="1400" dirty="0">
                <a:solidFill>
                  <a:schemeClr val="tx2"/>
                </a:solidFill>
              </a:rPr>
              <a:t>Project memory: commands, style, gotchas. Loaded every session.</a:t>
            </a:r>
            <a:endParaRPr lang="en-US" sz="1400" dirty="0"/>
          </a:p>
        </p:txBody>
      </p:sp>
      <p:sp>
        <p:nvSpPr>
          <p:cNvPr id="8" name="card"/>
          <p:cNvSpPr/>
          <p:nvPr/>
        </p:nvSpPr>
        <p:spPr>
          <a:xfrm>
            <a:off x="4279392" y="137160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icon circle"/>
          <p:cNvSpPr/>
          <p:nvPr/>
        </p:nvSpPr>
        <p:spPr>
          <a:xfrm>
            <a:off x="4553712" y="1645920"/>
            <a:ext cx="640080" cy="640080"/>
          </a:xfrm>
          <a:prstGeom prst="ellipse">
            <a:avLst/>
          </a:prstGeom>
          <a:solidFill>
            <a:schemeClr val="accent2"/>
          </a:solidFill>
          <a:ln w="12700">
            <a:solidFill>
              <a:schemeClr val="accent2"/>
            </a:solidFill>
            <a:prstDash val="solid"/>
          </a:ln>
        </p:spPr>
        <p:txBody>
          <a:bodyPr/>
          <a:lstStyle/>
          <a:p>
            <a:endParaRPr lang="en-US"/>
          </a:p>
        </p:txBody>
      </p:sp>
      <p:pic>
        <p:nvPicPr>
          <p:cNvPr id="10" name="Image 1" descr="Book icon"/>
          <p:cNvPicPr>
            <a:picLocks noChangeAspect="1"/>
          </p:cNvPicPr>
          <p:nvPr/>
        </p:nvPicPr>
        <p:blipFill>
          <a:blip r:embed="rId4"/>
          <a:stretch>
            <a:fillRect/>
          </a:stretch>
        </p:blipFill>
        <p:spPr>
          <a:xfrm>
            <a:off x="4713732" y="1805940"/>
            <a:ext cx="320040" cy="320040"/>
          </a:xfrm>
          <a:prstGeom prst="rect">
            <a:avLst/>
          </a:prstGeom>
        </p:spPr>
      </p:pic>
      <p:sp>
        <p:nvSpPr>
          <p:cNvPr id="11" name="Text 7"/>
          <p:cNvSpPr txBox="1"/>
          <p:nvPr/>
        </p:nvSpPr>
        <p:spPr>
          <a:xfrm>
            <a:off x="5376672" y="171907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Skills</a:t>
            </a:r>
            <a:endParaRPr lang="en-US" sz="1800" dirty="0"/>
          </a:p>
        </p:txBody>
      </p:sp>
      <p:sp>
        <p:nvSpPr>
          <p:cNvPr id="12" name="Text 8"/>
          <p:cNvSpPr txBox="1"/>
          <p:nvPr/>
        </p:nvSpPr>
        <p:spPr>
          <a:xfrm>
            <a:off x="4553712" y="2423160"/>
            <a:ext cx="3017520" cy="1051560"/>
          </a:xfrm>
          <a:prstGeom prst="rect">
            <a:avLst/>
          </a:prstGeom>
          <a:noFill/>
          <a:ln/>
        </p:spPr>
        <p:txBody>
          <a:bodyPr wrap="square" lIns="0" tIns="0" rIns="0" bIns="0" rtlCol="0" anchor="t"/>
          <a:lstStyle/>
          <a:p>
            <a:pPr marL="0" indent="0">
              <a:buNone/>
            </a:pPr>
            <a:r>
              <a:rPr lang="en-US" sz="1400" dirty="0">
                <a:solidFill>
                  <a:schemeClr val="tx2"/>
                </a:solidFill>
              </a:rPr>
              <a:t>SKILL.md + scripts for a task you repeat (reports, decks, reviews). Loaded on demand.</a:t>
            </a:r>
            <a:endParaRPr lang="en-US" sz="1400" dirty="0"/>
          </a:p>
        </p:txBody>
      </p:sp>
      <p:sp>
        <p:nvSpPr>
          <p:cNvPr id="13" name="card"/>
          <p:cNvSpPr/>
          <p:nvPr/>
        </p:nvSpPr>
        <p:spPr>
          <a:xfrm>
            <a:off x="8010144" y="137160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4" name="icon circle"/>
          <p:cNvSpPr/>
          <p:nvPr/>
        </p:nvSpPr>
        <p:spPr>
          <a:xfrm>
            <a:off x="8284464" y="1645920"/>
            <a:ext cx="640080" cy="640080"/>
          </a:xfrm>
          <a:prstGeom prst="ellipse">
            <a:avLst/>
          </a:prstGeom>
          <a:solidFill>
            <a:schemeClr val="accent3"/>
          </a:solidFill>
          <a:ln w="12700">
            <a:solidFill>
              <a:schemeClr val="accent3"/>
            </a:solidFill>
            <a:prstDash val="solid"/>
          </a:ln>
        </p:spPr>
        <p:txBody>
          <a:bodyPr/>
          <a:lstStyle/>
          <a:p>
            <a:endParaRPr lang="en-US"/>
          </a:p>
        </p:txBody>
      </p:sp>
      <p:pic>
        <p:nvPicPr>
          <p:cNvPr id="15" name="Image 2" descr="UserGear icon"/>
          <p:cNvPicPr>
            <a:picLocks noChangeAspect="1"/>
          </p:cNvPicPr>
          <p:nvPr/>
        </p:nvPicPr>
        <p:blipFill>
          <a:blip r:embed="rId5"/>
          <a:stretch>
            <a:fillRect/>
          </a:stretch>
        </p:blipFill>
        <p:spPr>
          <a:xfrm>
            <a:off x="8444484" y="1805940"/>
            <a:ext cx="320040" cy="320040"/>
          </a:xfrm>
          <a:prstGeom prst="rect">
            <a:avLst/>
          </a:prstGeom>
        </p:spPr>
      </p:pic>
      <p:sp>
        <p:nvSpPr>
          <p:cNvPr id="16" name="Text 11"/>
          <p:cNvSpPr txBox="1"/>
          <p:nvPr/>
        </p:nvSpPr>
        <p:spPr>
          <a:xfrm>
            <a:off x="9107424" y="171907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Subagents</a:t>
            </a:r>
            <a:endParaRPr lang="en-US" sz="1800" dirty="0"/>
          </a:p>
        </p:txBody>
      </p:sp>
      <p:sp>
        <p:nvSpPr>
          <p:cNvPr id="17" name="Text 12"/>
          <p:cNvSpPr txBox="1"/>
          <p:nvPr/>
        </p:nvSpPr>
        <p:spPr>
          <a:xfrm>
            <a:off x="8284464" y="2423160"/>
            <a:ext cx="3017520" cy="1051560"/>
          </a:xfrm>
          <a:prstGeom prst="rect">
            <a:avLst/>
          </a:prstGeom>
          <a:noFill/>
          <a:ln/>
        </p:spPr>
        <p:txBody>
          <a:bodyPr wrap="square" lIns="0" tIns="0" rIns="0" bIns="0" rtlCol="0" anchor="t"/>
          <a:lstStyle/>
          <a:p>
            <a:pPr marL="0" indent="0">
              <a:buNone/>
            </a:pPr>
            <a:r>
              <a:rPr lang="en-US" sz="1400" dirty="0">
                <a:solidFill>
                  <a:schemeClr val="tx2"/>
                </a:solidFill>
              </a:rPr>
              <a:t>Specialists with their own prompt, tools and model.</a:t>
            </a:r>
            <a:endParaRPr lang="en-US" sz="1400" dirty="0"/>
          </a:p>
        </p:txBody>
      </p:sp>
      <p:sp>
        <p:nvSpPr>
          <p:cNvPr id="18" name="card"/>
          <p:cNvSpPr/>
          <p:nvPr/>
        </p:nvSpPr>
        <p:spPr>
          <a:xfrm>
            <a:off x="548640" y="379476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9" name="icon circle"/>
          <p:cNvSpPr/>
          <p:nvPr/>
        </p:nvSpPr>
        <p:spPr>
          <a:xfrm>
            <a:off x="822960" y="4069080"/>
            <a:ext cx="640080" cy="640080"/>
          </a:xfrm>
          <a:prstGeom prst="ellipse">
            <a:avLst/>
          </a:prstGeom>
          <a:solidFill>
            <a:schemeClr val="accent4"/>
          </a:solidFill>
          <a:ln w="12700">
            <a:solidFill>
              <a:schemeClr val="accent4"/>
            </a:solidFill>
            <a:prstDash val="solid"/>
          </a:ln>
        </p:spPr>
        <p:txBody>
          <a:bodyPr/>
          <a:lstStyle/>
          <a:p>
            <a:endParaRPr lang="en-US"/>
          </a:p>
        </p:txBody>
      </p:sp>
      <p:pic>
        <p:nvPicPr>
          <p:cNvPr id="20" name="Image 3" descr="Bolt icon"/>
          <p:cNvPicPr>
            <a:picLocks noChangeAspect="1"/>
          </p:cNvPicPr>
          <p:nvPr/>
        </p:nvPicPr>
        <p:blipFill>
          <a:blip r:embed="rId6"/>
          <a:stretch>
            <a:fillRect/>
          </a:stretch>
        </p:blipFill>
        <p:spPr>
          <a:xfrm>
            <a:off x="982980" y="4229100"/>
            <a:ext cx="320040" cy="320040"/>
          </a:xfrm>
          <a:prstGeom prst="rect">
            <a:avLst/>
          </a:prstGeom>
        </p:spPr>
      </p:pic>
      <p:sp>
        <p:nvSpPr>
          <p:cNvPr id="21" name="Text 15"/>
          <p:cNvSpPr txBox="1"/>
          <p:nvPr/>
        </p:nvSpPr>
        <p:spPr>
          <a:xfrm>
            <a:off x="1645920" y="414223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Hooks</a:t>
            </a:r>
            <a:endParaRPr lang="en-US" sz="1800" dirty="0"/>
          </a:p>
        </p:txBody>
      </p:sp>
      <p:sp>
        <p:nvSpPr>
          <p:cNvPr id="22" name="Text 16"/>
          <p:cNvSpPr txBox="1"/>
          <p:nvPr/>
        </p:nvSpPr>
        <p:spPr>
          <a:xfrm>
            <a:off x="822960" y="4846320"/>
            <a:ext cx="3017520" cy="1051560"/>
          </a:xfrm>
          <a:prstGeom prst="rect">
            <a:avLst/>
          </a:prstGeom>
          <a:noFill/>
          <a:ln/>
        </p:spPr>
        <p:txBody>
          <a:bodyPr wrap="square" lIns="0" tIns="0" rIns="0" bIns="0" rtlCol="0" anchor="t"/>
          <a:lstStyle/>
          <a:p>
            <a:pPr marL="0" indent="0">
              <a:buNone/>
            </a:pPr>
            <a:r>
              <a:rPr lang="en-US" sz="1400" dirty="0">
                <a:solidFill>
                  <a:schemeClr val="tx2"/>
                </a:solidFill>
              </a:rPr>
              <a:t>Shell commands that always run on events, like format after edit or block rm -rf. Rules, not suggestions.</a:t>
            </a:r>
            <a:endParaRPr lang="en-US" sz="1400" dirty="0"/>
          </a:p>
        </p:txBody>
      </p:sp>
      <p:sp>
        <p:nvSpPr>
          <p:cNvPr id="23" name="card"/>
          <p:cNvSpPr/>
          <p:nvPr/>
        </p:nvSpPr>
        <p:spPr>
          <a:xfrm>
            <a:off x="4279392" y="379476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4" name="icon circle"/>
          <p:cNvSpPr/>
          <p:nvPr/>
        </p:nvSpPr>
        <p:spPr>
          <a:xfrm>
            <a:off x="4553712" y="4069080"/>
            <a:ext cx="640080" cy="640080"/>
          </a:xfrm>
          <a:prstGeom prst="ellipse">
            <a:avLst/>
          </a:prstGeom>
          <a:solidFill>
            <a:schemeClr val="tx1"/>
          </a:solidFill>
          <a:ln w="12700">
            <a:solidFill>
              <a:schemeClr val="tx1"/>
            </a:solidFill>
            <a:prstDash val="solid"/>
          </a:ln>
        </p:spPr>
        <p:txBody>
          <a:bodyPr/>
          <a:lstStyle/>
          <a:p>
            <a:endParaRPr lang="en-US"/>
          </a:p>
        </p:txBody>
      </p:sp>
      <p:pic>
        <p:nvPicPr>
          <p:cNvPr id="25" name="Image 4" descr="Plug icon"/>
          <p:cNvPicPr>
            <a:picLocks noChangeAspect="1"/>
          </p:cNvPicPr>
          <p:nvPr/>
        </p:nvPicPr>
        <p:blipFill>
          <a:blip r:embed="rId7"/>
          <a:stretch>
            <a:fillRect/>
          </a:stretch>
        </p:blipFill>
        <p:spPr>
          <a:xfrm>
            <a:off x="4713732" y="4229100"/>
            <a:ext cx="320040" cy="320040"/>
          </a:xfrm>
          <a:prstGeom prst="rect">
            <a:avLst/>
          </a:prstGeom>
        </p:spPr>
      </p:pic>
      <p:sp>
        <p:nvSpPr>
          <p:cNvPr id="26" name="Text 19"/>
          <p:cNvSpPr txBox="1"/>
          <p:nvPr/>
        </p:nvSpPr>
        <p:spPr>
          <a:xfrm>
            <a:off x="5376672" y="414223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MCP</a:t>
            </a:r>
            <a:endParaRPr lang="en-US" sz="1800" dirty="0"/>
          </a:p>
        </p:txBody>
      </p:sp>
      <p:sp>
        <p:nvSpPr>
          <p:cNvPr id="27" name="Text 20"/>
          <p:cNvSpPr txBox="1"/>
          <p:nvPr/>
        </p:nvSpPr>
        <p:spPr>
          <a:xfrm>
            <a:off x="4553712" y="4846320"/>
            <a:ext cx="3017520" cy="1051560"/>
          </a:xfrm>
          <a:prstGeom prst="rect">
            <a:avLst/>
          </a:prstGeom>
          <a:noFill/>
          <a:ln/>
        </p:spPr>
        <p:txBody>
          <a:bodyPr wrap="square" lIns="0" tIns="0" rIns="0" bIns="0" rtlCol="0" anchor="t"/>
          <a:lstStyle/>
          <a:p>
            <a:pPr marL="0" indent="0">
              <a:buNone/>
            </a:pPr>
            <a:r>
              <a:rPr lang="en-US" sz="1400" dirty="0">
                <a:solidFill>
                  <a:schemeClr val="tx2"/>
                </a:solidFill>
              </a:rPr>
              <a:t>Connect GitHub, Slack, Drive, databases once; every session can use them.</a:t>
            </a:r>
            <a:endParaRPr lang="en-US" sz="1400" dirty="0"/>
          </a:p>
        </p:txBody>
      </p:sp>
      <p:sp>
        <p:nvSpPr>
          <p:cNvPr id="28" name="card"/>
          <p:cNvSpPr/>
          <p:nvPr/>
        </p:nvSpPr>
        <p:spPr>
          <a:xfrm>
            <a:off x="8010144" y="3794760"/>
            <a:ext cx="3529584" cy="2194560"/>
          </a:xfrm>
          <a:prstGeom prst="roundRect">
            <a:avLst>
              <a:gd name="adj" fmla="val 333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9" name="icon circle"/>
          <p:cNvSpPr/>
          <p:nvPr/>
        </p:nvSpPr>
        <p:spPr>
          <a:xfrm>
            <a:off x="8284464" y="4069080"/>
            <a:ext cx="640080" cy="640080"/>
          </a:xfrm>
          <a:prstGeom prst="ellipse">
            <a:avLst/>
          </a:prstGeom>
          <a:solidFill>
            <a:schemeClr val="tx2"/>
          </a:solidFill>
          <a:ln w="12700">
            <a:solidFill>
              <a:schemeClr val="tx2"/>
            </a:solidFill>
            <a:prstDash val="solid"/>
          </a:ln>
        </p:spPr>
        <p:txBody>
          <a:bodyPr/>
          <a:lstStyle/>
          <a:p>
            <a:endParaRPr lang="en-US"/>
          </a:p>
        </p:txBody>
      </p:sp>
      <p:pic>
        <p:nvPicPr>
          <p:cNvPr id="30" name="Image 5" descr="Clock icon"/>
          <p:cNvPicPr>
            <a:picLocks noChangeAspect="1"/>
          </p:cNvPicPr>
          <p:nvPr/>
        </p:nvPicPr>
        <p:blipFill>
          <a:blip r:embed="rId8"/>
          <a:stretch>
            <a:fillRect/>
          </a:stretch>
        </p:blipFill>
        <p:spPr>
          <a:xfrm>
            <a:off x="8444484" y="4229100"/>
            <a:ext cx="320040" cy="320040"/>
          </a:xfrm>
          <a:prstGeom prst="rect">
            <a:avLst/>
          </a:prstGeom>
        </p:spPr>
      </p:pic>
      <p:sp>
        <p:nvSpPr>
          <p:cNvPr id="31" name="Text 23"/>
          <p:cNvSpPr txBox="1"/>
          <p:nvPr/>
        </p:nvSpPr>
        <p:spPr>
          <a:xfrm>
            <a:off x="9107424" y="4142232"/>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Headless &amp; scheduled</a:t>
            </a:r>
            <a:endParaRPr lang="en-US" sz="1800" dirty="0"/>
          </a:p>
        </p:txBody>
      </p:sp>
      <p:sp>
        <p:nvSpPr>
          <p:cNvPr id="32" name="Text 24"/>
          <p:cNvSpPr txBox="1"/>
          <p:nvPr/>
        </p:nvSpPr>
        <p:spPr>
          <a:xfrm>
            <a:off x="8284464" y="4846320"/>
            <a:ext cx="3017520" cy="1051560"/>
          </a:xfrm>
          <a:prstGeom prst="rect">
            <a:avLst/>
          </a:prstGeom>
          <a:noFill/>
          <a:ln/>
        </p:spPr>
        <p:txBody>
          <a:bodyPr wrap="square" lIns="0" tIns="0" rIns="0" bIns="0" rtlCol="0" anchor="t"/>
          <a:lstStyle/>
          <a:p>
            <a:pPr marL="0" indent="0">
              <a:buNone/>
            </a:pPr>
            <a:r>
              <a:rPr lang="en-US" sz="1400" dirty="0">
                <a:solidFill>
                  <a:schemeClr val="tx2"/>
                </a:solidFill>
              </a:rPr>
              <a:t>claude -p in scripts and CI, the Agent SDK in your app, scheduled tasks for routines.</a:t>
            </a:r>
            <a:endParaRPr lang="en-US" sz="14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buNone/>
            </a:pPr>
            <a:r>
              <a:rPr lang="en-US" sz="3200" b="1" dirty="0">
                <a:solidFill>
                  <a:schemeClr val="tx1"/>
                </a:solidFill>
                <a:latin typeface="Cambria" pitchFamily="34" charset="0"/>
                <a:ea typeface="Cambria" pitchFamily="34" charset="-122"/>
                <a:cs typeface="Cambria" pitchFamily="34" charset="-120"/>
              </a:rPr>
              <a:t>Make a skill: one folder with a SKILL.md file</a:t>
            </a:r>
          </a:p>
        </p:txBody>
      </p:sp>
      <p:sp>
        <p:nvSpPr>
          <p:cNvPr id="3" name="code panel"/>
          <p:cNvSpPr/>
          <p:nvPr/>
        </p:nvSpPr>
        <p:spPr>
          <a:xfrm>
            <a:off x="548640" y="1371600"/>
            <a:ext cx="5852160" cy="4663440"/>
          </a:xfrm>
          <a:prstGeom prst="roundRect">
            <a:avLst>
              <a:gd name="adj" fmla="val 156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77240" y="1554480"/>
            <a:ext cx="5394960" cy="4297680"/>
          </a:xfrm>
          <a:prstGeom prst="rect">
            <a:avLst/>
          </a:prstGeom>
          <a:noFill/>
          <a:ln/>
        </p:spPr>
        <p:txBody>
          <a:bodyPr wrap="square" lIns="0" tIns="0" rIns="0" bIns="0" rtlCol="0" anchor="t"/>
          <a:lstStyle/>
          <a:p>
            <a:pPr marL="0" indent="0">
              <a:buNone/>
            </a:pPr>
            <a:r>
              <a:rPr lang="en-US" sz="1500" dirty="0">
                <a:solidFill>
                  <a:srgbClr val="AEB3C6"/>
                </a:solidFill>
                <a:latin typeface="Courier New" pitchFamily="34" charset="0"/>
                <a:ea typeface="Courier New" pitchFamily="34" charset="-122"/>
                <a:cs typeface="Courier New" pitchFamily="34" charset="-120"/>
              </a:rPr>
              <a:t># .claude/skills/weekly-brief/SKILL.md</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name: weekly-brief</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description: Builds the weekly competitor</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brief. Use when asked for the weekly</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brief or a competitor update.</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Weekly competitor brief</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1. Run scripts/fetch_news.py for each</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   company in competitors.csv</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2. Summarize launches, pricing, hiring</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3. Fill template.docx, one page max</a:t>
            </a:r>
            <a:endParaRPr lang="en-US" sz="1500" dirty="0"/>
          </a:p>
          <a:p>
            <a:pPr marL="0" indent="0">
              <a:buNone/>
            </a:pPr>
            <a:r>
              <a:rPr lang="en-US" sz="1500" dirty="0">
                <a:solidFill>
                  <a:srgbClr val="E3E5EC"/>
                </a:solidFill>
                <a:latin typeface="Courier New" pitchFamily="34" charset="0"/>
                <a:ea typeface="Courier New" pitchFamily="34" charset="-122"/>
                <a:cs typeface="Courier New" pitchFamily="34" charset="-120"/>
              </a:rPr>
              <a:t>4. Flag anything you could not verify</a:t>
            </a:r>
            <a:endParaRPr lang="en-US" sz="1500" dirty="0"/>
          </a:p>
          <a:p>
            <a:pPr marL="0" indent="0">
              <a:buNone/>
            </a:pP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Same folder: scripts/, template.docx,</a:t>
            </a:r>
            <a:endParaRPr lang="en-US" sz="1500" dirty="0"/>
          </a:p>
          <a:p>
            <a:pPr marL="0" indent="0">
              <a:buNone/>
            </a:pPr>
            <a:r>
              <a:rPr lang="en-US" sz="1500" dirty="0">
                <a:solidFill>
                  <a:srgbClr val="AEB3C6"/>
                </a:solidFill>
                <a:latin typeface="Courier New" pitchFamily="34" charset="0"/>
                <a:ea typeface="Courier New" pitchFamily="34" charset="-122"/>
                <a:cs typeface="Courier New" pitchFamily="34" charset="-120"/>
              </a:rPr>
              <a:t># competitors.csv</a:t>
            </a:r>
            <a:endParaRPr lang="en-US" sz="1500" dirty="0"/>
          </a:p>
        </p:txBody>
      </p:sp>
      <p:sp>
        <p:nvSpPr>
          <p:cNvPr id="5" name="card"/>
          <p:cNvSpPr/>
          <p:nvPr/>
        </p:nvSpPr>
        <p:spPr>
          <a:xfrm>
            <a:off x="6675120" y="137160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6903720" y="1490472"/>
            <a:ext cx="4572000" cy="292608"/>
          </a:xfrm>
          <a:prstGeom prst="rect">
            <a:avLst/>
          </a:prstGeom>
          <a:noFill/>
          <a:ln/>
        </p:spPr>
        <p:txBody>
          <a:bodyPr wrap="square" lIns="0" tIns="0" rIns="0" bIns="0" rtlCol="0" anchor="t"/>
          <a:lstStyle/>
          <a:p>
            <a:pPr marL="0" indent="0">
              <a:buNone/>
            </a:pPr>
            <a:r>
              <a:rPr lang="en-US" sz="1500" b="1" dirty="0">
                <a:solidFill>
                  <a:schemeClr val="tx1"/>
                </a:solidFill>
              </a:rPr>
              <a:t>1  Create the folder</a:t>
            </a:r>
          </a:p>
        </p:txBody>
      </p:sp>
      <p:sp>
        <p:nvSpPr>
          <p:cNvPr id="7" name="Text 5"/>
          <p:cNvSpPr txBox="1"/>
          <p:nvPr/>
        </p:nvSpPr>
        <p:spPr>
          <a:xfrm>
            <a:off x="6903720" y="1801368"/>
            <a:ext cx="4572000" cy="548640"/>
          </a:xfrm>
          <a:prstGeom prst="rect">
            <a:avLst/>
          </a:prstGeom>
          <a:noFill/>
          <a:ln/>
        </p:spPr>
        <p:txBody>
          <a:bodyPr wrap="square" lIns="0" tIns="0" rIns="0" bIns="0" rtlCol="0" anchor="t"/>
          <a:lstStyle/>
          <a:p>
            <a:pPr marL="0" indent="0">
              <a:buNone/>
            </a:pPr>
            <a:r>
              <a:rPr lang="en-US" sz="1400" dirty="0">
                <a:solidFill>
                  <a:schemeClr val="tx2"/>
                </a:solidFill>
              </a:rPr>
              <a:t>.claude/skills/&lt;name&gt;/ in a project, or ~/.claude/skills/ for all projects. In the Claude apps, upload it as a zip.</a:t>
            </a:r>
          </a:p>
        </p:txBody>
      </p:sp>
      <p:sp>
        <p:nvSpPr>
          <p:cNvPr id="8" name="card"/>
          <p:cNvSpPr/>
          <p:nvPr/>
        </p:nvSpPr>
        <p:spPr>
          <a:xfrm>
            <a:off x="6675120" y="256032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903720" y="2679192"/>
            <a:ext cx="4572000" cy="292608"/>
          </a:xfrm>
          <a:prstGeom prst="rect">
            <a:avLst/>
          </a:prstGeom>
          <a:noFill/>
          <a:ln/>
        </p:spPr>
        <p:txBody>
          <a:bodyPr wrap="square" lIns="0" tIns="0" rIns="0" bIns="0" rtlCol="0" anchor="t"/>
          <a:lstStyle/>
          <a:p>
            <a:pPr marL="0" indent="0">
              <a:buNone/>
            </a:pPr>
            <a:r>
              <a:rPr lang="en-US" sz="1500" b="1" dirty="0">
                <a:solidFill>
                  <a:schemeClr val="tx1"/>
                </a:solidFill>
              </a:rPr>
              <a:t>2  Write SKILL.md</a:t>
            </a:r>
          </a:p>
        </p:txBody>
      </p:sp>
      <p:sp>
        <p:nvSpPr>
          <p:cNvPr id="10" name="Text 8"/>
          <p:cNvSpPr txBox="1"/>
          <p:nvPr/>
        </p:nvSpPr>
        <p:spPr>
          <a:xfrm>
            <a:off x="6903720" y="2990088"/>
            <a:ext cx="4572000" cy="548640"/>
          </a:xfrm>
          <a:prstGeom prst="rect">
            <a:avLst/>
          </a:prstGeom>
          <a:noFill/>
          <a:ln/>
        </p:spPr>
        <p:txBody>
          <a:bodyPr wrap="square" lIns="0" tIns="0" rIns="0" bIns="0" rtlCol="0" anchor="t"/>
          <a:lstStyle/>
          <a:p>
            <a:pPr marL="0" indent="0">
              <a:buNone/>
            </a:pPr>
            <a:r>
              <a:rPr lang="en-US" sz="1400" dirty="0">
                <a:solidFill>
                  <a:schemeClr val="tx2"/>
                </a:solidFill>
              </a:rPr>
              <a:t>A name and a description that says when to use it. Claude reads only these until a task matches.</a:t>
            </a:r>
          </a:p>
        </p:txBody>
      </p:sp>
      <p:sp>
        <p:nvSpPr>
          <p:cNvPr id="11" name="card"/>
          <p:cNvSpPr/>
          <p:nvPr/>
        </p:nvSpPr>
        <p:spPr>
          <a:xfrm>
            <a:off x="6675120" y="374904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6903720" y="3867912"/>
            <a:ext cx="4572000" cy="292608"/>
          </a:xfrm>
          <a:prstGeom prst="rect">
            <a:avLst/>
          </a:prstGeom>
          <a:noFill/>
          <a:ln/>
        </p:spPr>
        <p:txBody>
          <a:bodyPr wrap="square" lIns="0" tIns="0" rIns="0" bIns="0" rtlCol="0" anchor="t"/>
          <a:lstStyle/>
          <a:p>
            <a:pPr marL="0" indent="0">
              <a:buNone/>
            </a:pPr>
            <a:r>
              <a:rPr lang="en-US" sz="1500" b="1" dirty="0">
                <a:solidFill>
                  <a:schemeClr val="tx1"/>
                </a:solidFill>
              </a:rPr>
              <a:t>3  Add scripts and files</a:t>
            </a:r>
          </a:p>
        </p:txBody>
      </p:sp>
      <p:sp>
        <p:nvSpPr>
          <p:cNvPr id="13" name="Text 11"/>
          <p:cNvSpPr txBox="1"/>
          <p:nvPr/>
        </p:nvSpPr>
        <p:spPr>
          <a:xfrm>
            <a:off x="6903720" y="4178808"/>
            <a:ext cx="4572000" cy="548640"/>
          </a:xfrm>
          <a:prstGeom prst="rect">
            <a:avLst/>
          </a:prstGeom>
          <a:noFill/>
          <a:ln/>
        </p:spPr>
        <p:txBody>
          <a:bodyPr wrap="square" lIns="0" tIns="0" rIns="0" bIns="0" rtlCol="0" anchor="t"/>
          <a:lstStyle/>
          <a:p>
            <a:pPr marL="0" indent="0">
              <a:buNone/>
            </a:pPr>
            <a:r>
              <a:rPr lang="en-US" sz="1400" dirty="0">
                <a:solidFill>
                  <a:schemeClr val="tx2"/>
                </a:solidFill>
              </a:rPr>
              <a:t>Templates, examples and scripts the steps call. Claude opens them only when needed.</a:t>
            </a:r>
          </a:p>
        </p:txBody>
      </p:sp>
      <p:sp>
        <p:nvSpPr>
          <p:cNvPr id="14" name="card"/>
          <p:cNvSpPr/>
          <p:nvPr/>
        </p:nvSpPr>
        <p:spPr>
          <a:xfrm>
            <a:off x="6675120" y="4937760"/>
            <a:ext cx="4937760" cy="1024128"/>
          </a:xfrm>
          <a:prstGeom prst="roundRect">
            <a:avLst>
              <a:gd name="adj" fmla="val 714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6903720" y="5056632"/>
            <a:ext cx="4572000" cy="292608"/>
          </a:xfrm>
          <a:prstGeom prst="rect">
            <a:avLst/>
          </a:prstGeom>
          <a:noFill/>
          <a:ln/>
        </p:spPr>
        <p:txBody>
          <a:bodyPr wrap="square" lIns="0" tIns="0" rIns="0" bIns="0" rtlCol="0" anchor="t"/>
          <a:lstStyle/>
          <a:p>
            <a:pPr marL="0" indent="0">
              <a:buNone/>
            </a:pPr>
            <a:r>
              <a:rPr lang="en-US" sz="1500" b="1" dirty="0">
                <a:solidFill>
                  <a:schemeClr val="tx1"/>
                </a:solidFill>
              </a:rPr>
              <a:t>4  Test and refine</a:t>
            </a:r>
          </a:p>
        </p:txBody>
      </p:sp>
      <p:sp>
        <p:nvSpPr>
          <p:cNvPr id="16" name="Text 14"/>
          <p:cNvSpPr txBox="1"/>
          <p:nvPr/>
        </p:nvSpPr>
        <p:spPr>
          <a:xfrm>
            <a:off x="6903720" y="5367528"/>
            <a:ext cx="4572000" cy="548640"/>
          </a:xfrm>
          <a:prstGeom prst="rect">
            <a:avLst/>
          </a:prstGeom>
          <a:noFill/>
          <a:ln/>
        </p:spPr>
        <p:txBody>
          <a:bodyPr wrap="square" lIns="0" tIns="0" rIns="0" bIns="0" rtlCol="0" anchor="t"/>
          <a:lstStyle/>
          <a:p>
            <a:pPr marL="0" indent="0">
              <a:buNone/>
            </a:pPr>
            <a:r>
              <a:rPr lang="en-US" sz="1400" dirty="0">
                <a:solidFill>
                  <a:schemeClr val="tx2"/>
                </a:solidFill>
              </a:rPr>
              <a:t>Ask for the task in plain words and check the skill triggers. The skill-creator skill can draft and test one.</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36</a:t>
            </a:fld>
            <a:endParaRPr lang="en-US"/>
          </a:p>
        </p:txBody>
      </p:sp>
    </p:spTree>
    <p:extLst>
      <p:ext uri="{BB962C8B-B14F-4D97-AF65-F5344CB8AC3E}">
        <p14:creationId xmlns:p14="http://schemas.microsoft.com/office/powerpoint/2010/main" val="25519500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Long-running work: keep state in files</a:t>
            </a:r>
            <a:endParaRPr lang="en-US" sz="3200" dirty="0"/>
          </a:p>
        </p:txBody>
      </p:sp>
      <p:sp>
        <p:nvSpPr>
          <p:cNvPr id="3" name="file chip"/>
          <p:cNvSpPr/>
          <p:nvPr/>
        </p:nvSpPr>
        <p:spPr>
          <a:xfrm>
            <a:off x="548640" y="1371600"/>
            <a:ext cx="2103120" cy="777240"/>
          </a:xfrm>
          <a:prstGeom prst="roundRect">
            <a:avLst>
              <a:gd name="adj" fmla="val 705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548640" y="1371600"/>
            <a:ext cx="2103120" cy="77724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plan.md</a:t>
            </a:r>
            <a:endParaRPr lang="en-US" sz="1500" dirty="0"/>
          </a:p>
        </p:txBody>
      </p:sp>
      <p:sp>
        <p:nvSpPr>
          <p:cNvPr id="5" name="Text 3"/>
          <p:cNvSpPr txBox="1"/>
          <p:nvPr/>
        </p:nvSpPr>
        <p:spPr>
          <a:xfrm>
            <a:off x="2834640" y="1371600"/>
            <a:ext cx="3017520" cy="777240"/>
          </a:xfrm>
          <a:prstGeom prst="rect">
            <a:avLst/>
          </a:prstGeom>
          <a:noFill/>
          <a:ln/>
        </p:spPr>
        <p:txBody>
          <a:bodyPr wrap="square" lIns="0" tIns="0" rIns="0" bIns="0" rtlCol="0" anchor="ctr"/>
          <a:lstStyle/>
          <a:p>
            <a:pPr marL="0" indent="0">
              <a:buNone/>
            </a:pPr>
            <a:r>
              <a:rPr lang="en-US" sz="1400" dirty="0">
                <a:solidFill>
                  <a:schemeClr val="tx2"/>
                </a:solidFill>
              </a:rPr>
              <a:t>The agreed plan and current step</a:t>
            </a:r>
            <a:endParaRPr lang="en-US" sz="1400" dirty="0"/>
          </a:p>
        </p:txBody>
      </p:sp>
      <p:sp>
        <p:nvSpPr>
          <p:cNvPr id="6" name="file chip"/>
          <p:cNvSpPr/>
          <p:nvPr/>
        </p:nvSpPr>
        <p:spPr>
          <a:xfrm>
            <a:off x="548640" y="2331720"/>
            <a:ext cx="2103120" cy="777240"/>
          </a:xfrm>
          <a:prstGeom prst="roundRect">
            <a:avLst>
              <a:gd name="adj" fmla="val 7059"/>
            </a:avLst>
          </a:prstGeom>
          <a:solidFill>
            <a:schemeClr val="tx1"/>
          </a:solidFill>
          <a:ln w="12700">
            <a:solidFill>
              <a:schemeClr val="tx1"/>
            </a:solidFill>
            <a:prstDash val="solid"/>
          </a:ln>
        </p:spPr>
        <p:txBody>
          <a:bodyPr/>
          <a:lstStyle/>
          <a:p>
            <a:endParaRPr lang="en-US"/>
          </a:p>
        </p:txBody>
      </p:sp>
      <p:sp>
        <p:nvSpPr>
          <p:cNvPr id="7" name="Text 5"/>
          <p:cNvSpPr txBox="1"/>
          <p:nvPr/>
        </p:nvSpPr>
        <p:spPr>
          <a:xfrm>
            <a:off x="548640" y="2331720"/>
            <a:ext cx="2103120" cy="77724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progress.txt</a:t>
            </a:r>
            <a:endParaRPr lang="en-US" sz="1500" dirty="0"/>
          </a:p>
        </p:txBody>
      </p:sp>
      <p:sp>
        <p:nvSpPr>
          <p:cNvPr id="8" name="Text 6"/>
          <p:cNvSpPr txBox="1"/>
          <p:nvPr/>
        </p:nvSpPr>
        <p:spPr>
          <a:xfrm>
            <a:off x="2834640" y="2331720"/>
            <a:ext cx="3017520" cy="777240"/>
          </a:xfrm>
          <a:prstGeom prst="rect">
            <a:avLst/>
          </a:prstGeom>
          <a:noFill/>
          <a:ln/>
        </p:spPr>
        <p:txBody>
          <a:bodyPr wrap="square" lIns="0" tIns="0" rIns="0" bIns="0" rtlCol="0" anchor="ctr"/>
          <a:lstStyle/>
          <a:p>
            <a:pPr marL="0" indent="0">
              <a:buNone/>
            </a:pPr>
            <a:r>
              <a:rPr lang="en-US" sz="1400" dirty="0">
                <a:solidFill>
                  <a:schemeClr val="tx2"/>
                </a:solidFill>
              </a:rPr>
              <a:t>What’s done, what’s next, open questions</a:t>
            </a:r>
            <a:endParaRPr lang="en-US" sz="1400" dirty="0"/>
          </a:p>
        </p:txBody>
      </p:sp>
      <p:sp>
        <p:nvSpPr>
          <p:cNvPr id="9" name="file chip"/>
          <p:cNvSpPr/>
          <p:nvPr/>
        </p:nvSpPr>
        <p:spPr>
          <a:xfrm>
            <a:off x="548640" y="3291840"/>
            <a:ext cx="2103120" cy="777240"/>
          </a:xfrm>
          <a:prstGeom prst="roundRect">
            <a:avLst>
              <a:gd name="adj" fmla="val 7059"/>
            </a:avLst>
          </a:prstGeom>
          <a:solidFill>
            <a:schemeClr val="tx1"/>
          </a:solidFill>
          <a:ln w="12700">
            <a:solidFill>
              <a:schemeClr val="tx1"/>
            </a:solidFill>
            <a:prstDash val="solid"/>
          </a:ln>
        </p:spPr>
        <p:txBody>
          <a:bodyPr/>
          <a:lstStyle/>
          <a:p>
            <a:endParaRPr lang="en-US"/>
          </a:p>
        </p:txBody>
      </p:sp>
      <p:sp>
        <p:nvSpPr>
          <p:cNvPr id="10" name="Text 8"/>
          <p:cNvSpPr txBox="1"/>
          <p:nvPr/>
        </p:nvSpPr>
        <p:spPr>
          <a:xfrm>
            <a:off x="548640" y="3291840"/>
            <a:ext cx="2103120" cy="77724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tests.json</a:t>
            </a:r>
            <a:endParaRPr lang="en-US" sz="1500" dirty="0"/>
          </a:p>
        </p:txBody>
      </p:sp>
      <p:sp>
        <p:nvSpPr>
          <p:cNvPr id="11" name="Text 9"/>
          <p:cNvSpPr txBox="1"/>
          <p:nvPr/>
        </p:nvSpPr>
        <p:spPr>
          <a:xfrm>
            <a:off x="2834640" y="3291840"/>
            <a:ext cx="3017520" cy="777240"/>
          </a:xfrm>
          <a:prstGeom prst="rect">
            <a:avLst/>
          </a:prstGeom>
          <a:noFill/>
          <a:ln/>
        </p:spPr>
        <p:txBody>
          <a:bodyPr wrap="square" lIns="0" tIns="0" rIns="0" bIns="0" rtlCol="0" anchor="ctr"/>
          <a:lstStyle/>
          <a:p>
            <a:pPr marL="0" indent="0">
              <a:buNone/>
            </a:pPr>
            <a:r>
              <a:rPr lang="en-US" sz="1400" dirty="0">
                <a:solidFill>
                  <a:schemeClr val="tx2"/>
                </a:solidFill>
              </a:rPr>
              <a:t>What “done” means, checked by running it</a:t>
            </a:r>
            <a:endParaRPr lang="en-US" sz="1400" dirty="0"/>
          </a:p>
        </p:txBody>
      </p:sp>
      <p:sp>
        <p:nvSpPr>
          <p:cNvPr id="12" name="file chip"/>
          <p:cNvSpPr/>
          <p:nvPr/>
        </p:nvSpPr>
        <p:spPr>
          <a:xfrm>
            <a:off x="548640" y="4251960"/>
            <a:ext cx="2103120" cy="777240"/>
          </a:xfrm>
          <a:prstGeom prst="roundRect">
            <a:avLst>
              <a:gd name="adj" fmla="val 7059"/>
            </a:avLst>
          </a:prstGeom>
          <a:solidFill>
            <a:schemeClr val="tx1"/>
          </a:solidFill>
          <a:ln w="12700">
            <a:solidFill>
              <a:schemeClr val="tx1"/>
            </a:solidFill>
            <a:prstDash val="solid"/>
          </a:ln>
        </p:spPr>
        <p:txBody>
          <a:bodyPr/>
          <a:lstStyle/>
          <a:p>
            <a:endParaRPr lang="en-US"/>
          </a:p>
        </p:txBody>
      </p:sp>
      <p:sp>
        <p:nvSpPr>
          <p:cNvPr id="13" name="Text 11"/>
          <p:cNvSpPr txBox="1"/>
          <p:nvPr/>
        </p:nvSpPr>
        <p:spPr>
          <a:xfrm>
            <a:off x="548640" y="4251960"/>
            <a:ext cx="2103120" cy="777240"/>
          </a:xfrm>
          <a:prstGeom prst="rect">
            <a:avLst/>
          </a:prstGeom>
          <a:noFill/>
          <a:ln/>
        </p:spPr>
        <p:txBody>
          <a:bodyPr wrap="square" lIns="0" tIns="0" rIns="0" bIns="0" rtlCol="0" anchor="ctr"/>
          <a:lstStyle/>
          <a:p>
            <a:pPr marL="0" indent="0" algn="ctr">
              <a:buNone/>
            </a:pPr>
            <a:r>
              <a:rPr lang="en-US" sz="1500" b="1" dirty="0">
                <a:solidFill>
                  <a:schemeClr val="bg1"/>
                </a:solidFill>
                <a:latin typeface="Courier New" pitchFamily="34" charset="0"/>
                <a:ea typeface="Courier New" pitchFamily="34" charset="-122"/>
                <a:cs typeface="Courier New" pitchFamily="34" charset="-120"/>
              </a:rPr>
              <a:t>git commits</a:t>
            </a:r>
            <a:endParaRPr lang="en-US" sz="1500" dirty="0"/>
          </a:p>
        </p:txBody>
      </p:sp>
      <p:sp>
        <p:nvSpPr>
          <p:cNvPr id="14" name="Text 12"/>
          <p:cNvSpPr txBox="1"/>
          <p:nvPr/>
        </p:nvSpPr>
        <p:spPr>
          <a:xfrm>
            <a:off x="2834640" y="4251960"/>
            <a:ext cx="3017520" cy="777240"/>
          </a:xfrm>
          <a:prstGeom prst="rect">
            <a:avLst/>
          </a:prstGeom>
          <a:noFill/>
          <a:ln/>
        </p:spPr>
        <p:txBody>
          <a:bodyPr wrap="square" lIns="0" tIns="0" rIns="0" bIns="0" rtlCol="0" anchor="ctr"/>
          <a:lstStyle/>
          <a:p>
            <a:pPr marL="0" indent="0">
              <a:buNone/>
            </a:pPr>
            <a:r>
              <a:rPr lang="en-US" sz="1400" dirty="0">
                <a:solidFill>
                  <a:schemeClr val="tx2"/>
                </a:solidFill>
              </a:rPr>
              <a:t>Checkpoints you can roll back to</a:t>
            </a:r>
            <a:endParaRPr lang="en-US" sz="1400" dirty="0"/>
          </a:p>
        </p:txBody>
      </p:sp>
      <p:sp>
        <p:nvSpPr>
          <p:cNvPr id="15" name="Text 13"/>
          <p:cNvSpPr txBox="1"/>
          <p:nvPr/>
        </p:nvSpPr>
        <p:spPr>
          <a:xfrm>
            <a:off x="548640" y="5303520"/>
            <a:ext cx="5303520" cy="731520"/>
          </a:xfrm>
          <a:prstGeom prst="rect">
            <a:avLst/>
          </a:prstGeom>
          <a:noFill/>
          <a:ln/>
        </p:spPr>
        <p:txBody>
          <a:bodyPr wrap="square" lIns="0" tIns="0" rIns="0" bIns="0" rtlCol="0" anchor="t"/>
          <a:lstStyle/>
          <a:p>
            <a:pPr marL="0" indent="0">
              <a:buNone/>
            </a:pPr>
            <a:r>
              <a:rPr lang="en-US" sz="1300" i="1" dirty="0">
                <a:solidFill>
                  <a:schemeClr val="accent5"/>
                </a:solidFill>
              </a:rPr>
              <a:t>A fresh session can read these and carry on, even after the context window has been cleared or compacted.</a:t>
            </a:r>
            <a:endParaRPr lang="en-US" sz="1300" dirty="0"/>
          </a:p>
        </p:txBody>
      </p:sp>
      <p:sp>
        <p:nvSpPr>
          <p:cNvPr id="16" name="card"/>
          <p:cNvSpPr/>
          <p:nvPr/>
        </p:nvSpPr>
        <p:spPr>
          <a:xfrm>
            <a:off x="6309360" y="1371600"/>
            <a:ext cx="5303520" cy="2194560"/>
          </a:xfrm>
          <a:prstGeom prst="roundRect">
            <a:avLst>
              <a:gd name="adj" fmla="val 3333"/>
            </a:avLst>
          </a:prstGeom>
          <a:solidFill>
            <a:schemeClr val="bg1"/>
          </a:solidFill>
          <a:ln w="9525">
            <a:solidFill>
              <a:schemeClr val="accent2"/>
            </a:solidFill>
            <a:prstDash val="solid"/>
          </a:ln>
        </p:spPr>
        <p:txBody>
          <a:bodyPr/>
          <a:lstStyle/>
          <a:p>
            <a:endParaRPr lang="en-US"/>
          </a:p>
        </p:txBody>
      </p:sp>
      <p:sp>
        <p:nvSpPr>
          <p:cNvPr id="17" name="icon circle"/>
          <p:cNvSpPr/>
          <p:nvPr/>
        </p:nvSpPr>
        <p:spPr>
          <a:xfrm>
            <a:off x="6537960" y="1600200"/>
            <a:ext cx="548640" cy="548640"/>
          </a:xfrm>
          <a:prstGeom prst="ellipse">
            <a:avLst/>
          </a:prstGeom>
          <a:solidFill>
            <a:schemeClr val="accent2"/>
          </a:solidFill>
          <a:ln w="12700">
            <a:solidFill>
              <a:schemeClr val="accent2"/>
            </a:solidFill>
            <a:prstDash val="solid"/>
          </a:ln>
        </p:spPr>
        <p:txBody>
          <a:bodyPr/>
          <a:lstStyle/>
          <a:p>
            <a:endParaRPr lang="en-US"/>
          </a:p>
        </p:txBody>
      </p:sp>
      <p:pic>
        <p:nvPicPr>
          <p:cNvPr id="18" name="Image 0" descr="Check icon"/>
          <p:cNvPicPr>
            <a:picLocks noChangeAspect="1"/>
          </p:cNvPicPr>
          <p:nvPr/>
        </p:nvPicPr>
        <p:blipFill>
          <a:blip r:embed="rId3"/>
          <a:stretch>
            <a:fillRect/>
          </a:stretch>
        </p:blipFill>
        <p:spPr>
          <a:xfrm>
            <a:off x="6675120" y="1737360"/>
            <a:ext cx="274320" cy="274320"/>
          </a:xfrm>
          <a:prstGeom prst="rect">
            <a:avLst/>
          </a:prstGeom>
        </p:spPr>
      </p:pic>
      <p:sp>
        <p:nvSpPr>
          <p:cNvPr id="19" name="Text 16"/>
          <p:cNvSpPr txBox="1"/>
          <p:nvPr/>
        </p:nvSpPr>
        <p:spPr>
          <a:xfrm>
            <a:off x="7269480" y="1645920"/>
            <a:ext cx="4114800" cy="411480"/>
          </a:xfrm>
          <a:prstGeom prst="rect">
            <a:avLst/>
          </a:prstGeom>
          <a:noFill/>
          <a:ln/>
        </p:spPr>
        <p:txBody>
          <a:bodyPr wrap="square" lIns="0" tIns="0" rIns="0" bIns="0" rtlCol="0" anchor="ctr"/>
          <a:lstStyle/>
          <a:p>
            <a:pPr marL="0" indent="0">
              <a:buNone/>
            </a:pPr>
            <a:r>
              <a:rPr lang="en-US" sz="1600" b="1" dirty="0">
                <a:solidFill>
                  <a:schemeClr val="tx1"/>
                </a:solidFill>
              </a:rPr>
              <a:t>Let Claude do freely</a:t>
            </a:r>
            <a:endParaRPr lang="en-US" sz="1600" dirty="0"/>
          </a:p>
        </p:txBody>
      </p:sp>
      <p:sp>
        <p:nvSpPr>
          <p:cNvPr id="20" name="Text 17"/>
          <p:cNvSpPr txBox="1"/>
          <p:nvPr/>
        </p:nvSpPr>
        <p:spPr>
          <a:xfrm>
            <a:off x="6583680" y="2286000"/>
            <a:ext cx="48463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Read files, search, run tests</a:t>
            </a:r>
            <a:endParaRPr lang="en-US" sz="1400" dirty="0"/>
          </a:p>
          <a:p>
            <a:pPr marL="342900" indent="-342900">
              <a:spcAft>
                <a:spcPts val="600"/>
              </a:spcAft>
              <a:buSzPct val="100000"/>
              <a:buChar char="•"/>
            </a:pPr>
            <a:r>
              <a:rPr lang="en-US" sz="1400" dirty="0">
                <a:solidFill>
                  <a:schemeClr val="tx2"/>
                </a:solidFill>
              </a:rPr>
              <a:t>Edit local files under git</a:t>
            </a:r>
            <a:endParaRPr lang="en-US" sz="1400" dirty="0"/>
          </a:p>
          <a:p>
            <a:pPr marL="342900" indent="-342900">
              <a:spcAft>
                <a:spcPts val="600"/>
              </a:spcAft>
              <a:buSzPct val="100000"/>
              <a:buChar char="•"/>
            </a:pPr>
            <a:r>
              <a:rPr lang="en-US" sz="1400" dirty="0">
                <a:solidFill>
                  <a:schemeClr val="tx2"/>
                </a:solidFill>
              </a:rPr>
              <a:t>Draft documents and messages</a:t>
            </a:r>
            <a:endParaRPr lang="en-US" sz="1400" dirty="0"/>
          </a:p>
        </p:txBody>
      </p:sp>
      <p:sp>
        <p:nvSpPr>
          <p:cNvPr id="21" name="card"/>
          <p:cNvSpPr/>
          <p:nvPr/>
        </p:nvSpPr>
        <p:spPr>
          <a:xfrm>
            <a:off x="6309360" y="3840480"/>
            <a:ext cx="5303520" cy="2194560"/>
          </a:xfrm>
          <a:prstGeom prst="roundRect">
            <a:avLst>
              <a:gd name="adj" fmla="val 3333"/>
            </a:avLst>
          </a:prstGeom>
          <a:solidFill>
            <a:schemeClr val="bg1"/>
          </a:solidFill>
          <a:ln w="9525">
            <a:solidFill>
              <a:schemeClr val="accent1"/>
            </a:solidFill>
            <a:prstDash val="solid"/>
          </a:ln>
        </p:spPr>
        <p:txBody>
          <a:bodyPr/>
          <a:lstStyle/>
          <a:p>
            <a:endParaRPr lang="en-US"/>
          </a:p>
        </p:txBody>
      </p:sp>
      <p:sp>
        <p:nvSpPr>
          <p:cNvPr id="22" name="icon circle"/>
          <p:cNvSpPr/>
          <p:nvPr/>
        </p:nvSpPr>
        <p:spPr>
          <a:xfrm>
            <a:off x="6537960" y="4069080"/>
            <a:ext cx="548640" cy="548640"/>
          </a:xfrm>
          <a:prstGeom prst="ellipse">
            <a:avLst/>
          </a:prstGeom>
          <a:solidFill>
            <a:schemeClr val="accent1"/>
          </a:solidFill>
          <a:ln w="12700">
            <a:solidFill>
              <a:schemeClr val="accent1"/>
            </a:solidFill>
            <a:prstDash val="solid"/>
          </a:ln>
        </p:spPr>
        <p:txBody>
          <a:bodyPr/>
          <a:lstStyle/>
          <a:p>
            <a:endParaRPr lang="en-US"/>
          </a:p>
        </p:txBody>
      </p:sp>
      <p:pic>
        <p:nvPicPr>
          <p:cNvPr id="23" name="Image 1" descr="Hand icon"/>
          <p:cNvPicPr>
            <a:picLocks noChangeAspect="1"/>
          </p:cNvPicPr>
          <p:nvPr/>
        </p:nvPicPr>
        <p:blipFill>
          <a:blip r:embed="rId4"/>
          <a:stretch>
            <a:fillRect/>
          </a:stretch>
        </p:blipFill>
        <p:spPr>
          <a:xfrm>
            <a:off x="6675120" y="4206240"/>
            <a:ext cx="274320" cy="274320"/>
          </a:xfrm>
          <a:prstGeom prst="rect">
            <a:avLst/>
          </a:prstGeom>
        </p:spPr>
      </p:pic>
      <p:sp>
        <p:nvSpPr>
          <p:cNvPr id="24" name="Text 20"/>
          <p:cNvSpPr txBox="1"/>
          <p:nvPr/>
        </p:nvSpPr>
        <p:spPr>
          <a:xfrm>
            <a:off x="7269480" y="4114800"/>
            <a:ext cx="4114800" cy="411480"/>
          </a:xfrm>
          <a:prstGeom prst="rect">
            <a:avLst/>
          </a:prstGeom>
          <a:noFill/>
          <a:ln/>
        </p:spPr>
        <p:txBody>
          <a:bodyPr wrap="square" lIns="0" tIns="0" rIns="0" bIns="0" rtlCol="0" anchor="ctr"/>
          <a:lstStyle/>
          <a:p>
            <a:pPr marL="0" indent="0">
              <a:buNone/>
            </a:pPr>
            <a:r>
              <a:rPr lang="en-US" sz="1600" b="1" dirty="0">
                <a:solidFill>
                  <a:schemeClr val="tx1"/>
                </a:solidFill>
              </a:rPr>
              <a:t>Ask before</a:t>
            </a:r>
            <a:endParaRPr lang="en-US" sz="1600" dirty="0"/>
          </a:p>
        </p:txBody>
      </p:sp>
      <p:sp>
        <p:nvSpPr>
          <p:cNvPr id="25" name="Text 21"/>
          <p:cNvSpPr txBox="1"/>
          <p:nvPr/>
        </p:nvSpPr>
        <p:spPr>
          <a:xfrm>
            <a:off x="6583680" y="4754880"/>
            <a:ext cx="48463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Deleting, force-pushing, rm -rf</a:t>
            </a:r>
            <a:endParaRPr lang="en-US" sz="1400" dirty="0"/>
          </a:p>
          <a:p>
            <a:pPr marL="342900" indent="-342900">
              <a:spcAft>
                <a:spcPts val="600"/>
              </a:spcAft>
              <a:buSzPct val="100000"/>
              <a:buChar char="•"/>
            </a:pPr>
            <a:r>
              <a:rPr lang="en-US" sz="1400" dirty="0">
                <a:solidFill>
                  <a:schemeClr val="tx2"/>
                </a:solidFill>
              </a:rPr>
              <a:t>Sending, posting, paying, emailing</a:t>
            </a:r>
            <a:endParaRPr lang="en-US" sz="1400" dirty="0"/>
          </a:p>
          <a:p>
            <a:pPr marL="342900" indent="-342900">
              <a:spcAft>
                <a:spcPts val="600"/>
              </a:spcAft>
              <a:buSzPct val="100000"/>
              <a:buChar char="•"/>
            </a:pPr>
            <a:r>
              <a:rPr lang="en-US" sz="1400" dirty="0">
                <a:solidFill>
                  <a:schemeClr val="tx2"/>
                </a:solidFill>
              </a:rPr>
              <a:t>Anything that touches shared systems</a:t>
            </a:r>
            <a:endParaRPr lang="en-US" sz="14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Worked example: a weekly competitor brief that runs itself</a:t>
            </a:r>
            <a:endParaRPr lang="en-US" sz="3200" dirty="0"/>
          </a:p>
        </p:txBody>
      </p:sp>
      <p:sp>
        <p:nvSpPr>
          <p:cNvPr id="3" name="step"/>
          <p:cNvSpPr/>
          <p:nvPr/>
        </p:nvSpPr>
        <p:spPr>
          <a:xfrm>
            <a:off x="1234440" y="146304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4" name="Text 2"/>
          <p:cNvSpPr txBox="1"/>
          <p:nvPr/>
        </p:nvSpPr>
        <p:spPr>
          <a:xfrm>
            <a:off x="1234440" y="146304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arrow"/>
          <p:cNvSpPr/>
          <p:nvPr/>
        </p:nvSpPr>
        <p:spPr>
          <a:xfrm>
            <a:off x="1920240" y="1783080"/>
            <a:ext cx="1508760" cy="0"/>
          </a:xfrm>
          <a:prstGeom prst="line">
            <a:avLst/>
          </a:prstGeom>
          <a:noFill/>
          <a:ln w="19050">
            <a:solidFill>
              <a:schemeClr val="accent5"/>
            </a:solidFill>
            <a:prstDash val="solid"/>
            <a:tailEnd type="triangle"/>
          </a:ln>
        </p:spPr>
        <p:txBody>
          <a:bodyPr/>
          <a:lstStyle/>
          <a:p>
            <a:endParaRPr lang="en-US"/>
          </a:p>
        </p:txBody>
      </p:sp>
      <p:sp>
        <p:nvSpPr>
          <p:cNvPr id="6" name="Text 4"/>
          <p:cNvSpPr txBox="1"/>
          <p:nvPr/>
        </p:nvSpPr>
        <p:spPr>
          <a:xfrm>
            <a:off x="594360" y="2286000"/>
            <a:ext cx="1920240" cy="365760"/>
          </a:xfrm>
          <a:prstGeom prst="rect">
            <a:avLst/>
          </a:prstGeom>
          <a:noFill/>
          <a:ln/>
        </p:spPr>
        <p:txBody>
          <a:bodyPr wrap="square" lIns="0" tIns="0" rIns="0" bIns="0" rtlCol="0" anchor="t"/>
          <a:lstStyle/>
          <a:p>
            <a:pPr marL="0" indent="0" algn="ctr">
              <a:buNone/>
            </a:pPr>
            <a:r>
              <a:rPr lang="en-US" sz="1600" b="1" dirty="0">
                <a:solidFill>
                  <a:schemeClr val="tx1"/>
                </a:solidFill>
              </a:rPr>
              <a:t>Skill</a:t>
            </a:r>
            <a:endParaRPr lang="en-US" sz="1600" dirty="0"/>
          </a:p>
        </p:txBody>
      </p:sp>
      <p:sp>
        <p:nvSpPr>
          <p:cNvPr id="7" name="Text 5"/>
          <p:cNvSpPr txBox="1"/>
          <p:nvPr/>
        </p:nvSpPr>
        <p:spPr>
          <a:xfrm>
            <a:off x="640080" y="2697480"/>
            <a:ext cx="1828800" cy="914400"/>
          </a:xfrm>
          <a:prstGeom prst="rect">
            <a:avLst/>
          </a:prstGeom>
          <a:noFill/>
          <a:ln/>
        </p:spPr>
        <p:txBody>
          <a:bodyPr wrap="square" lIns="0" tIns="0" rIns="0" bIns="0" rtlCol="0" anchor="t"/>
          <a:lstStyle/>
          <a:p>
            <a:pPr marL="0" indent="0" algn="ctr">
              <a:buNone/>
            </a:pPr>
            <a:r>
              <a:rPr lang="en-US" sz="1300" dirty="0">
                <a:solidFill>
                  <a:schemeClr val="tx2"/>
                </a:solidFill>
              </a:rPr>
              <a:t>competitor-brief/SKILL.md: sources, format, tone</a:t>
            </a:r>
            <a:endParaRPr lang="en-US" sz="1300" dirty="0"/>
          </a:p>
        </p:txBody>
      </p:sp>
      <p:sp>
        <p:nvSpPr>
          <p:cNvPr id="8" name="step"/>
          <p:cNvSpPr/>
          <p:nvPr/>
        </p:nvSpPr>
        <p:spPr>
          <a:xfrm>
            <a:off x="3483864" y="1463040"/>
            <a:ext cx="640080" cy="640080"/>
          </a:xfrm>
          <a:prstGeom prst="ellipse">
            <a:avLst/>
          </a:prstGeom>
          <a:solidFill>
            <a:schemeClr val="accent3"/>
          </a:solidFill>
          <a:ln w="12700">
            <a:solidFill>
              <a:schemeClr val="accent3"/>
            </a:solidFill>
            <a:prstDash val="solid"/>
          </a:ln>
        </p:spPr>
        <p:txBody>
          <a:bodyPr/>
          <a:lstStyle/>
          <a:p>
            <a:endParaRPr lang="en-US"/>
          </a:p>
        </p:txBody>
      </p:sp>
      <p:sp>
        <p:nvSpPr>
          <p:cNvPr id="9" name="Text 7"/>
          <p:cNvSpPr txBox="1"/>
          <p:nvPr/>
        </p:nvSpPr>
        <p:spPr>
          <a:xfrm>
            <a:off x="3483864" y="146304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arrow"/>
          <p:cNvSpPr/>
          <p:nvPr/>
        </p:nvSpPr>
        <p:spPr>
          <a:xfrm>
            <a:off x="4169664" y="1783080"/>
            <a:ext cx="1508760" cy="0"/>
          </a:xfrm>
          <a:prstGeom prst="line">
            <a:avLst/>
          </a:prstGeom>
          <a:noFill/>
          <a:ln w="19050">
            <a:solidFill>
              <a:schemeClr val="accent5"/>
            </a:solidFill>
            <a:prstDash val="solid"/>
            <a:tailEnd type="triangle"/>
          </a:ln>
        </p:spPr>
        <p:txBody>
          <a:bodyPr/>
          <a:lstStyle/>
          <a:p>
            <a:endParaRPr lang="en-US"/>
          </a:p>
        </p:txBody>
      </p:sp>
      <p:sp>
        <p:nvSpPr>
          <p:cNvPr id="11" name="Text 9"/>
          <p:cNvSpPr txBox="1"/>
          <p:nvPr/>
        </p:nvSpPr>
        <p:spPr>
          <a:xfrm>
            <a:off x="2843784" y="2286000"/>
            <a:ext cx="1920240" cy="365760"/>
          </a:xfrm>
          <a:prstGeom prst="rect">
            <a:avLst/>
          </a:prstGeom>
          <a:noFill/>
          <a:ln/>
        </p:spPr>
        <p:txBody>
          <a:bodyPr wrap="square" lIns="0" tIns="0" rIns="0" bIns="0" rtlCol="0" anchor="t"/>
          <a:lstStyle/>
          <a:p>
            <a:pPr marL="0" indent="0" algn="ctr">
              <a:buNone/>
            </a:pPr>
            <a:r>
              <a:rPr lang="en-US" sz="1600" b="1" dirty="0">
                <a:solidFill>
                  <a:schemeClr val="tx1"/>
                </a:solidFill>
              </a:rPr>
              <a:t>Plan</a:t>
            </a:r>
            <a:endParaRPr lang="en-US" sz="1600" dirty="0"/>
          </a:p>
        </p:txBody>
      </p:sp>
      <p:sp>
        <p:nvSpPr>
          <p:cNvPr id="12" name="Text 10"/>
          <p:cNvSpPr txBox="1"/>
          <p:nvPr/>
        </p:nvSpPr>
        <p:spPr>
          <a:xfrm>
            <a:off x="2889504" y="2697480"/>
            <a:ext cx="1828800" cy="914400"/>
          </a:xfrm>
          <a:prstGeom prst="rect">
            <a:avLst/>
          </a:prstGeom>
          <a:noFill/>
          <a:ln/>
        </p:spPr>
        <p:txBody>
          <a:bodyPr wrap="square" lIns="0" tIns="0" rIns="0" bIns="0" rtlCol="0" anchor="t"/>
          <a:lstStyle/>
          <a:p>
            <a:pPr marL="0" indent="0" algn="ctr">
              <a:buNone/>
            </a:pPr>
            <a:r>
              <a:rPr lang="en-US" sz="1300" dirty="0">
                <a:solidFill>
                  <a:schemeClr val="tx2"/>
                </a:solidFill>
              </a:rPr>
              <a:t>Lead agent picks 5 competitors to cover this week</a:t>
            </a:r>
            <a:endParaRPr lang="en-US" sz="1300" dirty="0"/>
          </a:p>
        </p:txBody>
      </p:sp>
      <p:sp>
        <p:nvSpPr>
          <p:cNvPr id="13" name="step"/>
          <p:cNvSpPr/>
          <p:nvPr/>
        </p:nvSpPr>
        <p:spPr>
          <a:xfrm>
            <a:off x="5733288" y="146304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4" name="Text 12"/>
          <p:cNvSpPr txBox="1"/>
          <p:nvPr/>
        </p:nvSpPr>
        <p:spPr>
          <a:xfrm>
            <a:off x="5733288" y="146304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arrow"/>
          <p:cNvSpPr/>
          <p:nvPr/>
        </p:nvSpPr>
        <p:spPr>
          <a:xfrm>
            <a:off x="6419088" y="1783080"/>
            <a:ext cx="1508760" cy="0"/>
          </a:xfrm>
          <a:prstGeom prst="line">
            <a:avLst/>
          </a:prstGeom>
          <a:noFill/>
          <a:ln w="19050">
            <a:solidFill>
              <a:schemeClr val="accent5"/>
            </a:solidFill>
            <a:prstDash val="solid"/>
            <a:tailEnd type="triangle"/>
          </a:ln>
        </p:spPr>
        <p:txBody>
          <a:bodyPr/>
          <a:lstStyle/>
          <a:p>
            <a:endParaRPr lang="en-US"/>
          </a:p>
        </p:txBody>
      </p:sp>
      <p:sp>
        <p:nvSpPr>
          <p:cNvPr id="16" name="Text 14"/>
          <p:cNvSpPr txBox="1"/>
          <p:nvPr/>
        </p:nvSpPr>
        <p:spPr>
          <a:xfrm>
            <a:off x="5093208" y="2286000"/>
            <a:ext cx="1920240" cy="365760"/>
          </a:xfrm>
          <a:prstGeom prst="rect">
            <a:avLst/>
          </a:prstGeom>
          <a:noFill/>
          <a:ln/>
        </p:spPr>
        <p:txBody>
          <a:bodyPr wrap="square" lIns="0" tIns="0" rIns="0" bIns="0" rtlCol="0" anchor="t"/>
          <a:lstStyle/>
          <a:p>
            <a:pPr marL="0" indent="0" algn="ctr">
              <a:buNone/>
            </a:pPr>
            <a:r>
              <a:rPr lang="en-US" sz="1600" b="1" dirty="0">
                <a:solidFill>
                  <a:schemeClr val="tx1"/>
                </a:solidFill>
              </a:rPr>
              <a:t>Parallel subagents</a:t>
            </a:r>
            <a:endParaRPr lang="en-US" sz="1600" dirty="0"/>
          </a:p>
        </p:txBody>
      </p:sp>
      <p:sp>
        <p:nvSpPr>
          <p:cNvPr id="17" name="Text 15"/>
          <p:cNvSpPr txBox="1"/>
          <p:nvPr/>
        </p:nvSpPr>
        <p:spPr>
          <a:xfrm>
            <a:off x="5138928" y="2697480"/>
            <a:ext cx="1828800" cy="914400"/>
          </a:xfrm>
          <a:prstGeom prst="rect">
            <a:avLst/>
          </a:prstGeom>
          <a:noFill/>
          <a:ln/>
        </p:spPr>
        <p:txBody>
          <a:bodyPr wrap="square" lIns="0" tIns="0" rIns="0" bIns="0" rtlCol="0" anchor="t"/>
          <a:lstStyle/>
          <a:p>
            <a:pPr marL="0" indent="0" algn="ctr">
              <a:buNone/>
            </a:pPr>
            <a:r>
              <a:rPr lang="en-US" sz="1300" dirty="0">
                <a:solidFill>
                  <a:schemeClr val="tx2"/>
                </a:solidFill>
              </a:rPr>
              <a:t>One per competitor: news, pricing, releases</a:t>
            </a:r>
            <a:endParaRPr lang="en-US" sz="1300" dirty="0"/>
          </a:p>
        </p:txBody>
      </p:sp>
      <p:sp>
        <p:nvSpPr>
          <p:cNvPr id="18" name="step"/>
          <p:cNvSpPr/>
          <p:nvPr/>
        </p:nvSpPr>
        <p:spPr>
          <a:xfrm>
            <a:off x="7982712" y="1463040"/>
            <a:ext cx="640080" cy="640080"/>
          </a:xfrm>
          <a:prstGeom prst="ellipse">
            <a:avLst/>
          </a:prstGeom>
          <a:solidFill>
            <a:schemeClr val="accent4"/>
          </a:solidFill>
          <a:ln w="12700">
            <a:solidFill>
              <a:schemeClr val="accent4"/>
            </a:solidFill>
            <a:prstDash val="solid"/>
          </a:ln>
        </p:spPr>
        <p:txBody>
          <a:bodyPr/>
          <a:lstStyle/>
          <a:p>
            <a:endParaRPr lang="en-US"/>
          </a:p>
        </p:txBody>
      </p:sp>
      <p:sp>
        <p:nvSpPr>
          <p:cNvPr id="19" name="Text 17"/>
          <p:cNvSpPr txBox="1"/>
          <p:nvPr/>
        </p:nvSpPr>
        <p:spPr>
          <a:xfrm>
            <a:off x="7982712" y="1463040"/>
            <a:ext cx="640080" cy="64008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20" name="arrow"/>
          <p:cNvSpPr/>
          <p:nvPr/>
        </p:nvSpPr>
        <p:spPr>
          <a:xfrm>
            <a:off x="8668512" y="1783080"/>
            <a:ext cx="1508760" cy="0"/>
          </a:xfrm>
          <a:prstGeom prst="line">
            <a:avLst/>
          </a:prstGeom>
          <a:noFill/>
          <a:ln w="19050">
            <a:solidFill>
              <a:schemeClr val="accent5"/>
            </a:solidFill>
            <a:prstDash val="solid"/>
            <a:tailEnd type="triangle"/>
          </a:ln>
        </p:spPr>
        <p:txBody>
          <a:bodyPr/>
          <a:lstStyle/>
          <a:p>
            <a:endParaRPr lang="en-US"/>
          </a:p>
        </p:txBody>
      </p:sp>
      <p:sp>
        <p:nvSpPr>
          <p:cNvPr id="21" name="Text 19"/>
          <p:cNvSpPr txBox="1"/>
          <p:nvPr/>
        </p:nvSpPr>
        <p:spPr>
          <a:xfrm>
            <a:off x="7342632" y="2286000"/>
            <a:ext cx="1920240" cy="365760"/>
          </a:xfrm>
          <a:prstGeom prst="rect">
            <a:avLst/>
          </a:prstGeom>
          <a:noFill/>
          <a:ln/>
        </p:spPr>
        <p:txBody>
          <a:bodyPr wrap="square" lIns="0" tIns="0" rIns="0" bIns="0" rtlCol="0" anchor="t"/>
          <a:lstStyle/>
          <a:p>
            <a:pPr marL="0" indent="0" algn="ctr">
              <a:buNone/>
            </a:pPr>
            <a:r>
              <a:rPr lang="en-US" sz="1600" b="1" dirty="0">
                <a:solidFill>
                  <a:schemeClr val="tx1"/>
                </a:solidFill>
              </a:rPr>
              <a:t>Evaluator</a:t>
            </a:r>
            <a:endParaRPr lang="en-US" sz="1600" dirty="0"/>
          </a:p>
        </p:txBody>
      </p:sp>
      <p:sp>
        <p:nvSpPr>
          <p:cNvPr id="22" name="Text 20"/>
          <p:cNvSpPr txBox="1"/>
          <p:nvPr/>
        </p:nvSpPr>
        <p:spPr>
          <a:xfrm>
            <a:off x="7388352" y="2697480"/>
            <a:ext cx="1828800" cy="914400"/>
          </a:xfrm>
          <a:prstGeom prst="rect">
            <a:avLst/>
          </a:prstGeom>
          <a:noFill/>
          <a:ln/>
        </p:spPr>
        <p:txBody>
          <a:bodyPr wrap="square" lIns="0" tIns="0" rIns="0" bIns="0" rtlCol="0" anchor="t"/>
          <a:lstStyle/>
          <a:p>
            <a:pPr marL="0" indent="0" algn="ctr">
              <a:buNone/>
            </a:pPr>
            <a:r>
              <a:rPr lang="en-US" sz="1300" dirty="0">
                <a:solidFill>
                  <a:schemeClr val="tx2"/>
                </a:solidFill>
              </a:rPr>
              <a:t>Checks every claim has a source; sends gaps back</a:t>
            </a:r>
            <a:endParaRPr lang="en-US" sz="1300" dirty="0"/>
          </a:p>
        </p:txBody>
      </p:sp>
      <p:sp>
        <p:nvSpPr>
          <p:cNvPr id="23" name="step"/>
          <p:cNvSpPr/>
          <p:nvPr/>
        </p:nvSpPr>
        <p:spPr>
          <a:xfrm>
            <a:off x="10232136" y="1463040"/>
            <a:ext cx="640080" cy="640080"/>
          </a:xfrm>
          <a:prstGeom prst="ellipse">
            <a:avLst/>
          </a:prstGeom>
          <a:solidFill>
            <a:schemeClr val="tx1"/>
          </a:solidFill>
          <a:ln w="12700">
            <a:solidFill>
              <a:schemeClr val="tx1"/>
            </a:solidFill>
            <a:prstDash val="solid"/>
          </a:ln>
        </p:spPr>
        <p:txBody>
          <a:bodyPr/>
          <a:lstStyle/>
          <a:p>
            <a:endParaRPr lang="en-US"/>
          </a:p>
        </p:txBody>
      </p:sp>
      <p:sp>
        <p:nvSpPr>
          <p:cNvPr id="24" name="Text 22"/>
          <p:cNvSpPr txBox="1"/>
          <p:nvPr/>
        </p:nvSpPr>
        <p:spPr>
          <a:xfrm>
            <a:off x="10232136" y="146304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5" name="Text 23"/>
          <p:cNvSpPr txBox="1"/>
          <p:nvPr/>
        </p:nvSpPr>
        <p:spPr>
          <a:xfrm>
            <a:off x="9592056" y="2286000"/>
            <a:ext cx="1920240" cy="365760"/>
          </a:xfrm>
          <a:prstGeom prst="rect">
            <a:avLst/>
          </a:prstGeom>
          <a:noFill/>
          <a:ln/>
        </p:spPr>
        <p:txBody>
          <a:bodyPr wrap="square" lIns="0" tIns="0" rIns="0" bIns="0" rtlCol="0" anchor="t"/>
          <a:lstStyle/>
          <a:p>
            <a:pPr marL="0" indent="0" algn="ctr">
              <a:buNone/>
            </a:pPr>
            <a:r>
              <a:rPr lang="en-US" sz="1600" b="1" dirty="0">
                <a:solidFill>
                  <a:schemeClr val="tx1"/>
                </a:solidFill>
              </a:rPr>
              <a:t>Deliver</a:t>
            </a:r>
            <a:endParaRPr lang="en-US" sz="1600" dirty="0"/>
          </a:p>
        </p:txBody>
      </p:sp>
      <p:sp>
        <p:nvSpPr>
          <p:cNvPr id="26" name="Text 24"/>
          <p:cNvSpPr txBox="1"/>
          <p:nvPr/>
        </p:nvSpPr>
        <p:spPr>
          <a:xfrm>
            <a:off x="9637776" y="2697480"/>
            <a:ext cx="1828800" cy="914400"/>
          </a:xfrm>
          <a:prstGeom prst="rect">
            <a:avLst/>
          </a:prstGeom>
          <a:noFill/>
          <a:ln/>
        </p:spPr>
        <p:txBody>
          <a:bodyPr wrap="square" lIns="0" tIns="0" rIns="0" bIns="0" rtlCol="0" anchor="t"/>
          <a:lstStyle/>
          <a:p>
            <a:pPr marL="0" indent="0" algn="ctr">
              <a:buNone/>
            </a:pPr>
            <a:r>
              <a:rPr lang="en-US" sz="1300" dirty="0">
                <a:solidFill>
                  <a:schemeClr val="tx2"/>
                </a:solidFill>
              </a:rPr>
              <a:t>Doc saved, summary posted to Slack via MCP</a:t>
            </a:r>
            <a:endParaRPr lang="en-US" sz="1300" dirty="0"/>
          </a:p>
        </p:txBody>
      </p:sp>
      <p:sp>
        <p:nvSpPr>
          <p:cNvPr id="27" name="Text 25"/>
          <p:cNvSpPr txBox="1"/>
          <p:nvPr/>
        </p:nvSpPr>
        <p:spPr>
          <a:xfrm>
            <a:off x="548640" y="3931920"/>
            <a:ext cx="3657600" cy="320040"/>
          </a:xfrm>
          <a:prstGeom prst="rect">
            <a:avLst/>
          </a:prstGeom>
          <a:noFill/>
          <a:ln/>
        </p:spPr>
        <p:txBody>
          <a:bodyPr wrap="square" lIns="0" tIns="0" rIns="0" bIns="0" rtlCol="0" anchor="t"/>
          <a:lstStyle/>
          <a:p>
            <a:pPr marL="0" indent="0">
              <a:buNone/>
            </a:pPr>
            <a:r>
              <a:rPr lang="en-US" sz="1600" b="1" dirty="0">
                <a:solidFill>
                  <a:schemeClr val="tx1"/>
                </a:solidFill>
              </a:rPr>
              <a:t>Patterns used</a:t>
            </a:r>
            <a:endParaRPr lang="en-US" sz="1600" dirty="0"/>
          </a:p>
        </p:txBody>
      </p:sp>
      <p:sp>
        <p:nvSpPr>
          <p:cNvPr id="28" name="token chip"/>
          <p:cNvSpPr/>
          <p:nvPr/>
        </p:nvSpPr>
        <p:spPr>
          <a:xfrm>
            <a:off x="548640" y="4389120"/>
            <a:ext cx="681228" cy="411480"/>
          </a:xfrm>
          <a:prstGeom prst="roundRect">
            <a:avLst>
              <a:gd name="adj" fmla="val 13333"/>
            </a:avLst>
          </a:prstGeom>
          <a:solidFill>
            <a:schemeClr val="accent1"/>
          </a:solidFill>
          <a:ln w="12700">
            <a:solidFill>
              <a:schemeClr val="accent1"/>
            </a:solidFill>
            <a:prstDash val="solid"/>
          </a:ln>
        </p:spPr>
        <p:txBody>
          <a:bodyPr/>
          <a:lstStyle/>
          <a:p>
            <a:endParaRPr lang="en-US"/>
          </a:p>
        </p:txBody>
      </p:sp>
      <p:sp>
        <p:nvSpPr>
          <p:cNvPr id="29" name="Text 27"/>
          <p:cNvSpPr txBox="1"/>
          <p:nvPr/>
        </p:nvSpPr>
        <p:spPr>
          <a:xfrm>
            <a:off x="548640" y="4389120"/>
            <a:ext cx="681228" cy="411480"/>
          </a:xfrm>
          <a:prstGeom prst="rect">
            <a:avLst/>
          </a:prstGeom>
          <a:noFill/>
          <a:ln/>
        </p:spPr>
        <p:txBody>
          <a:bodyPr wrap="square" lIns="0" tIns="0" rIns="0" bIns="0" rtlCol="0" anchor="ctr"/>
          <a:lstStyle/>
          <a:p>
            <a:pPr marL="0" indent="0" algn="ctr">
              <a:buNone/>
            </a:pPr>
            <a:r>
              <a:rPr lang="en-US" sz="1400" dirty="0">
                <a:solidFill>
                  <a:schemeClr val="bg1"/>
                </a:solidFill>
              </a:rPr>
              <a:t>skill</a:t>
            </a:r>
            <a:endParaRPr lang="en-US" sz="1400" dirty="0"/>
          </a:p>
        </p:txBody>
      </p:sp>
      <p:sp>
        <p:nvSpPr>
          <p:cNvPr id="30" name="token chip"/>
          <p:cNvSpPr/>
          <p:nvPr/>
        </p:nvSpPr>
        <p:spPr>
          <a:xfrm>
            <a:off x="1303020" y="4389120"/>
            <a:ext cx="2121408" cy="411480"/>
          </a:xfrm>
          <a:prstGeom prst="roundRect">
            <a:avLst>
              <a:gd name="adj" fmla="val 13333"/>
            </a:avLst>
          </a:prstGeom>
          <a:solidFill>
            <a:schemeClr val="accent2"/>
          </a:solidFill>
          <a:ln w="12700">
            <a:solidFill>
              <a:schemeClr val="accent2"/>
            </a:solidFill>
            <a:prstDash val="solid"/>
          </a:ln>
        </p:spPr>
        <p:txBody>
          <a:bodyPr/>
          <a:lstStyle/>
          <a:p>
            <a:endParaRPr lang="en-US"/>
          </a:p>
        </p:txBody>
      </p:sp>
      <p:sp>
        <p:nvSpPr>
          <p:cNvPr id="31" name="Text 29"/>
          <p:cNvSpPr txBox="1"/>
          <p:nvPr/>
        </p:nvSpPr>
        <p:spPr>
          <a:xfrm>
            <a:off x="1303020" y="4389120"/>
            <a:ext cx="2121408" cy="411480"/>
          </a:xfrm>
          <a:prstGeom prst="rect">
            <a:avLst/>
          </a:prstGeom>
          <a:noFill/>
          <a:ln/>
        </p:spPr>
        <p:txBody>
          <a:bodyPr wrap="square" lIns="0" tIns="0" rIns="0" bIns="0" rtlCol="0" anchor="ctr"/>
          <a:lstStyle/>
          <a:p>
            <a:pPr marL="0" indent="0" algn="ctr">
              <a:buNone/>
            </a:pPr>
            <a:r>
              <a:rPr lang="en-US" sz="1400" dirty="0">
                <a:solidFill>
                  <a:schemeClr val="bg1"/>
                </a:solidFill>
              </a:rPr>
              <a:t>orchestrator–workers</a:t>
            </a:r>
            <a:endParaRPr lang="en-US" sz="1400" dirty="0"/>
          </a:p>
        </p:txBody>
      </p:sp>
      <p:sp>
        <p:nvSpPr>
          <p:cNvPr id="32" name="token chip"/>
          <p:cNvSpPr/>
          <p:nvPr/>
        </p:nvSpPr>
        <p:spPr>
          <a:xfrm>
            <a:off x="3497580" y="4389120"/>
            <a:ext cx="1641348" cy="411480"/>
          </a:xfrm>
          <a:prstGeom prst="roundRect">
            <a:avLst>
              <a:gd name="adj" fmla="val 13333"/>
            </a:avLst>
          </a:prstGeom>
          <a:solidFill>
            <a:schemeClr val="accent3"/>
          </a:solidFill>
          <a:ln w="12700">
            <a:solidFill>
              <a:schemeClr val="accent3"/>
            </a:solidFill>
            <a:prstDash val="solid"/>
          </a:ln>
        </p:spPr>
        <p:txBody>
          <a:bodyPr/>
          <a:lstStyle/>
          <a:p>
            <a:endParaRPr lang="en-US"/>
          </a:p>
        </p:txBody>
      </p:sp>
      <p:sp>
        <p:nvSpPr>
          <p:cNvPr id="33" name="Text 31"/>
          <p:cNvSpPr txBox="1"/>
          <p:nvPr/>
        </p:nvSpPr>
        <p:spPr>
          <a:xfrm>
            <a:off x="3497580" y="4389120"/>
            <a:ext cx="1641348" cy="411480"/>
          </a:xfrm>
          <a:prstGeom prst="rect">
            <a:avLst/>
          </a:prstGeom>
          <a:noFill/>
          <a:ln/>
        </p:spPr>
        <p:txBody>
          <a:bodyPr wrap="square" lIns="0" tIns="0" rIns="0" bIns="0" rtlCol="0" anchor="ctr"/>
          <a:lstStyle/>
          <a:p>
            <a:pPr marL="0" indent="0" algn="ctr">
              <a:buNone/>
            </a:pPr>
            <a:r>
              <a:rPr lang="en-US" sz="1400" dirty="0">
                <a:solidFill>
                  <a:schemeClr val="bg1"/>
                </a:solidFill>
              </a:rPr>
              <a:t>parallelization</a:t>
            </a:r>
            <a:endParaRPr lang="en-US" sz="1400" dirty="0"/>
          </a:p>
        </p:txBody>
      </p:sp>
      <p:sp>
        <p:nvSpPr>
          <p:cNvPr id="34" name="token chip"/>
          <p:cNvSpPr/>
          <p:nvPr/>
        </p:nvSpPr>
        <p:spPr>
          <a:xfrm>
            <a:off x="5212080" y="4389120"/>
            <a:ext cx="2025396" cy="411480"/>
          </a:xfrm>
          <a:prstGeom prst="roundRect">
            <a:avLst>
              <a:gd name="adj" fmla="val 13333"/>
            </a:avLst>
          </a:prstGeom>
          <a:solidFill>
            <a:schemeClr val="accent4"/>
          </a:solidFill>
          <a:ln w="12700">
            <a:solidFill>
              <a:schemeClr val="accent4"/>
            </a:solidFill>
            <a:prstDash val="solid"/>
          </a:ln>
        </p:spPr>
        <p:txBody>
          <a:bodyPr/>
          <a:lstStyle/>
          <a:p>
            <a:endParaRPr lang="en-US"/>
          </a:p>
        </p:txBody>
      </p:sp>
      <p:sp>
        <p:nvSpPr>
          <p:cNvPr id="35" name="Text 33"/>
          <p:cNvSpPr txBox="1"/>
          <p:nvPr/>
        </p:nvSpPr>
        <p:spPr>
          <a:xfrm>
            <a:off x="5212080" y="4389120"/>
            <a:ext cx="2025396" cy="411480"/>
          </a:xfrm>
          <a:prstGeom prst="rect">
            <a:avLst/>
          </a:prstGeom>
          <a:noFill/>
          <a:ln/>
        </p:spPr>
        <p:txBody>
          <a:bodyPr wrap="square" lIns="0" tIns="0" rIns="0" bIns="0" rtlCol="0" anchor="ctr"/>
          <a:lstStyle/>
          <a:p>
            <a:pPr marL="0" indent="0" algn="ctr">
              <a:buNone/>
            </a:pPr>
            <a:r>
              <a:rPr lang="en-US" sz="1400" dirty="0">
                <a:solidFill>
                  <a:schemeClr val="tx1"/>
                </a:solidFill>
              </a:rPr>
              <a:t>evaluator–optimizer</a:t>
            </a:r>
            <a:endParaRPr lang="en-US" sz="1400" dirty="0"/>
          </a:p>
        </p:txBody>
      </p:sp>
      <p:sp>
        <p:nvSpPr>
          <p:cNvPr id="36" name="token chip"/>
          <p:cNvSpPr/>
          <p:nvPr/>
        </p:nvSpPr>
        <p:spPr>
          <a:xfrm>
            <a:off x="7310628" y="4389120"/>
            <a:ext cx="489204" cy="411480"/>
          </a:xfrm>
          <a:prstGeom prst="roundRect">
            <a:avLst>
              <a:gd name="adj" fmla="val 13333"/>
            </a:avLst>
          </a:prstGeom>
          <a:solidFill>
            <a:schemeClr val="accent1"/>
          </a:solidFill>
          <a:ln w="12700">
            <a:solidFill>
              <a:schemeClr val="accent1"/>
            </a:solidFill>
            <a:prstDash val="solid"/>
          </a:ln>
        </p:spPr>
        <p:txBody>
          <a:bodyPr/>
          <a:lstStyle/>
          <a:p>
            <a:endParaRPr lang="en-US"/>
          </a:p>
        </p:txBody>
      </p:sp>
      <p:sp>
        <p:nvSpPr>
          <p:cNvPr id="37" name="Text 35"/>
          <p:cNvSpPr txBox="1"/>
          <p:nvPr/>
        </p:nvSpPr>
        <p:spPr>
          <a:xfrm>
            <a:off x="7310628" y="4389120"/>
            <a:ext cx="489204" cy="411480"/>
          </a:xfrm>
          <a:prstGeom prst="rect">
            <a:avLst/>
          </a:prstGeom>
          <a:noFill/>
          <a:ln/>
        </p:spPr>
        <p:txBody>
          <a:bodyPr wrap="square" lIns="0" tIns="0" rIns="0" bIns="0" rtlCol="0" anchor="ctr"/>
          <a:lstStyle/>
          <a:p>
            <a:pPr marL="0" indent="0" algn="ctr">
              <a:buNone/>
            </a:pPr>
            <a:r>
              <a:rPr lang="en-US" sz="1400" dirty="0">
                <a:solidFill>
                  <a:schemeClr val="bg1"/>
                </a:solidFill>
              </a:rPr>
              <a:t>MCP</a:t>
            </a:r>
            <a:endParaRPr lang="en-US" sz="1400" dirty="0"/>
          </a:p>
        </p:txBody>
      </p:sp>
      <p:sp>
        <p:nvSpPr>
          <p:cNvPr id="38" name="token chip"/>
          <p:cNvSpPr/>
          <p:nvPr/>
        </p:nvSpPr>
        <p:spPr>
          <a:xfrm>
            <a:off x="7872984" y="4389120"/>
            <a:ext cx="1545336" cy="411480"/>
          </a:xfrm>
          <a:prstGeom prst="roundRect">
            <a:avLst>
              <a:gd name="adj" fmla="val 13333"/>
            </a:avLst>
          </a:prstGeom>
          <a:solidFill>
            <a:schemeClr val="accent2"/>
          </a:solidFill>
          <a:ln w="12700">
            <a:solidFill>
              <a:schemeClr val="accent2"/>
            </a:solidFill>
            <a:prstDash val="solid"/>
          </a:ln>
        </p:spPr>
        <p:txBody>
          <a:bodyPr/>
          <a:lstStyle/>
          <a:p>
            <a:endParaRPr lang="en-US"/>
          </a:p>
        </p:txBody>
      </p:sp>
      <p:sp>
        <p:nvSpPr>
          <p:cNvPr id="39" name="Text 37"/>
          <p:cNvSpPr txBox="1"/>
          <p:nvPr/>
        </p:nvSpPr>
        <p:spPr>
          <a:xfrm>
            <a:off x="7872984" y="4389120"/>
            <a:ext cx="1545336" cy="411480"/>
          </a:xfrm>
          <a:prstGeom prst="rect">
            <a:avLst/>
          </a:prstGeom>
          <a:noFill/>
          <a:ln/>
        </p:spPr>
        <p:txBody>
          <a:bodyPr wrap="square" lIns="0" tIns="0" rIns="0" bIns="0" rtlCol="0" anchor="ctr"/>
          <a:lstStyle/>
          <a:p>
            <a:pPr marL="0" indent="0" algn="ctr">
              <a:buNone/>
            </a:pPr>
            <a:r>
              <a:rPr lang="en-US" sz="1400" dirty="0">
                <a:solidFill>
                  <a:schemeClr val="bg1"/>
                </a:solidFill>
              </a:rPr>
              <a:t>scheduled task</a:t>
            </a:r>
            <a:endParaRPr lang="en-US" sz="1400" dirty="0"/>
          </a:p>
        </p:txBody>
      </p:sp>
      <p:sp>
        <p:nvSpPr>
          <p:cNvPr id="40" name="card"/>
          <p:cNvSpPr/>
          <p:nvPr/>
        </p:nvSpPr>
        <p:spPr>
          <a:xfrm>
            <a:off x="548640" y="5029200"/>
            <a:ext cx="11064240" cy="1005840"/>
          </a:xfrm>
          <a:prstGeom prst="roundRect">
            <a:avLst>
              <a:gd name="adj" fmla="val 7273"/>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1" name="Text 39"/>
          <p:cNvSpPr txBox="1"/>
          <p:nvPr/>
        </p:nvSpPr>
        <p:spPr>
          <a:xfrm>
            <a:off x="822960" y="5120640"/>
            <a:ext cx="10515600" cy="822960"/>
          </a:xfrm>
          <a:prstGeom prst="rect">
            <a:avLst/>
          </a:prstGeom>
          <a:noFill/>
          <a:ln/>
        </p:spPr>
        <p:txBody>
          <a:bodyPr wrap="square" lIns="0" tIns="0" rIns="0" bIns="0" rtlCol="0" anchor="ctr"/>
          <a:lstStyle/>
          <a:p>
            <a:pPr marL="0" indent="0">
              <a:buNone/>
            </a:pPr>
            <a:r>
              <a:rPr lang="en-US" sz="1400" dirty="0">
                <a:solidFill>
                  <a:schemeClr val="tx2"/>
                </a:solidFill>
              </a:rPr>
              <a:t>Start manual: run it once in chat, fix the prompt, then save it as a skill, then add subagents, then schedule it for Monday 8:00. Each step only after the previous one works.</a:t>
            </a:r>
            <a:endParaRPr lang="en-US" sz="1400" dirty="0"/>
          </a:p>
        </p:txBody>
      </p:sp>
      <p:sp>
        <p:nvSpPr>
          <p:cNvPr id="4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Cheat sheet</a:t>
            </a:r>
            <a:endParaRPr lang="en-US" sz="3200" dirty="0"/>
          </a:p>
        </p:txBody>
      </p:sp>
      <p:sp>
        <p:nvSpPr>
          <p:cNvPr id="3" name="card"/>
          <p:cNvSpPr/>
          <p:nvPr/>
        </p:nvSpPr>
        <p:spPr>
          <a:xfrm>
            <a:off x="548640" y="1371600"/>
            <a:ext cx="5440680" cy="2240280"/>
          </a:xfrm>
          <a:prstGeom prst="roundRect">
            <a:avLst>
              <a:gd name="adj" fmla="val 3265"/>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4" name="label chip"/>
          <p:cNvSpPr/>
          <p:nvPr/>
        </p:nvSpPr>
        <p:spPr>
          <a:xfrm>
            <a:off x="822960" y="1645920"/>
            <a:ext cx="1371600" cy="457200"/>
          </a:xfrm>
          <a:prstGeom prst="roundRect">
            <a:avLst>
              <a:gd name="adj" fmla="val 12000"/>
            </a:avLst>
          </a:prstGeom>
          <a:solidFill>
            <a:schemeClr val="accent1"/>
          </a:solidFill>
          <a:ln w="12700">
            <a:solidFill>
              <a:schemeClr val="accent1"/>
            </a:solidFill>
            <a:prstDash val="solid"/>
          </a:ln>
        </p:spPr>
        <p:txBody>
          <a:bodyPr/>
          <a:lstStyle/>
          <a:p>
            <a:endParaRPr lang="en-US"/>
          </a:p>
        </p:txBody>
      </p:sp>
      <p:sp>
        <p:nvSpPr>
          <p:cNvPr id="5" name="Text 3"/>
          <p:cNvSpPr txBox="1"/>
          <p:nvPr/>
        </p:nvSpPr>
        <p:spPr>
          <a:xfrm>
            <a:off x="822960" y="1645920"/>
            <a:ext cx="1371600" cy="457200"/>
          </a:xfrm>
          <a:prstGeom prst="rect">
            <a:avLst/>
          </a:prstGeom>
          <a:noFill/>
          <a:ln/>
        </p:spPr>
        <p:txBody>
          <a:bodyPr wrap="square" lIns="0" tIns="0" rIns="0" bIns="0" rtlCol="0" anchor="ctr"/>
          <a:lstStyle/>
          <a:p>
            <a:pPr marL="0" indent="0" algn="ctr">
              <a:buNone/>
            </a:pPr>
            <a:r>
              <a:rPr lang="en-US" sz="1500" b="1" dirty="0">
                <a:solidFill>
                  <a:schemeClr val="bg1"/>
                </a:solidFill>
              </a:rPr>
              <a:t>Prompt</a:t>
            </a:r>
            <a:endParaRPr lang="en-US" sz="1500" dirty="0"/>
          </a:p>
        </p:txBody>
      </p:sp>
      <p:sp>
        <p:nvSpPr>
          <p:cNvPr id="6" name="Text 4"/>
          <p:cNvSpPr txBox="1"/>
          <p:nvPr/>
        </p:nvSpPr>
        <p:spPr>
          <a:xfrm>
            <a:off x="822960" y="2286000"/>
            <a:ext cx="4937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Brief it like a new colleague</a:t>
            </a:r>
            <a:endParaRPr lang="en-US" sz="1400" dirty="0"/>
          </a:p>
          <a:p>
            <a:pPr marL="342900" indent="-342900">
              <a:spcAft>
                <a:spcPts val="600"/>
              </a:spcAft>
              <a:buSzPct val="100000"/>
              <a:buChar char="•"/>
            </a:pPr>
            <a:r>
              <a:rPr lang="en-US" sz="1400" dirty="0">
                <a:solidFill>
                  <a:schemeClr val="tx1"/>
                </a:solidFill>
              </a:rPr>
              <a:t>Say why, show examples, use XML tags</a:t>
            </a:r>
            <a:endParaRPr lang="en-US" sz="1400" dirty="0"/>
          </a:p>
          <a:p>
            <a:pPr marL="342900" indent="-342900">
              <a:spcAft>
                <a:spcPts val="600"/>
              </a:spcAft>
              <a:buSzPct val="100000"/>
              <a:buChar char="•"/>
            </a:pPr>
            <a:r>
              <a:rPr lang="en-US" sz="1400" dirty="0">
                <a:solidFill>
                  <a:schemeClr val="tx1"/>
                </a:solidFill>
              </a:rPr>
              <a:t>Long docs first, question last</a:t>
            </a:r>
            <a:endParaRPr lang="en-US" sz="1400" dirty="0"/>
          </a:p>
        </p:txBody>
      </p:sp>
      <p:sp>
        <p:nvSpPr>
          <p:cNvPr id="7" name="card"/>
          <p:cNvSpPr/>
          <p:nvPr/>
        </p:nvSpPr>
        <p:spPr>
          <a:xfrm>
            <a:off x="6172200" y="1371600"/>
            <a:ext cx="5440680" cy="2240280"/>
          </a:xfrm>
          <a:prstGeom prst="roundRect">
            <a:avLst>
              <a:gd name="adj" fmla="val 3265"/>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8" name="label chip"/>
          <p:cNvSpPr/>
          <p:nvPr/>
        </p:nvSpPr>
        <p:spPr>
          <a:xfrm>
            <a:off x="6446520" y="1645920"/>
            <a:ext cx="1371600" cy="4572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6446520" y="1645920"/>
            <a:ext cx="1371600" cy="457200"/>
          </a:xfrm>
          <a:prstGeom prst="rect">
            <a:avLst/>
          </a:prstGeom>
          <a:noFill/>
          <a:ln/>
        </p:spPr>
        <p:txBody>
          <a:bodyPr wrap="square" lIns="0" tIns="0" rIns="0" bIns="0" rtlCol="0" anchor="ctr"/>
          <a:lstStyle/>
          <a:p>
            <a:pPr marL="0" indent="0" algn="ctr">
              <a:buNone/>
            </a:pPr>
            <a:r>
              <a:rPr lang="en-US" sz="1500" b="1" dirty="0">
                <a:solidFill>
                  <a:schemeClr val="bg1"/>
                </a:solidFill>
              </a:rPr>
              <a:t>Settings</a:t>
            </a:r>
            <a:endParaRPr lang="en-US" sz="1500" dirty="0"/>
          </a:p>
        </p:txBody>
      </p:sp>
      <p:sp>
        <p:nvSpPr>
          <p:cNvPr id="10" name="Text 8"/>
          <p:cNvSpPr txBox="1"/>
          <p:nvPr/>
        </p:nvSpPr>
        <p:spPr>
          <a:xfrm>
            <a:off x="6446520" y="2286000"/>
            <a:ext cx="4937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temperature / top-k / top-p on newest models</a:t>
            </a:r>
            <a:endParaRPr lang="en-US" sz="1400" dirty="0"/>
          </a:p>
          <a:p>
            <a:pPr marL="342900" indent="-342900">
              <a:spcAft>
                <a:spcPts val="600"/>
              </a:spcAft>
              <a:buSzPct val="100000"/>
              <a:buChar char="•"/>
            </a:pPr>
            <a:r>
              <a:rPr lang="en-US" sz="1400" dirty="0">
                <a:solidFill>
                  <a:schemeClr val="tx1"/>
                </a:solidFill>
              </a:rPr>
              <a:t>Effort is the dial; max_tokens covers thinking</a:t>
            </a:r>
            <a:endParaRPr lang="en-US" sz="1400" dirty="0"/>
          </a:p>
          <a:p>
            <a:pPr marL="342900" indent="-342900">
              <a:spcAft>
                <a:spcPts val="600"/>
              </a:spcAft>
              <a:buSzPct val="100000"/>
              <a:buChar char="•"/>
            </a:pPr>
            <a:r>
              <a:rPr lang="en-US" sz="1400" dirty="0">
                <a:solidFill>
                  <a:schemeClr val="tx1"/>
                </a:solidFill>
              </a:rPr>
              <a:t>Cache stable prefixes, put changes last</a:t>
            </a:r>
            <a:endParaRPr lang="en-US" sz="1400" dirty="0"/>
          </a:p>
        </p:txBody>
      </p:sp>
      <p:sp>
        <p:nvSpPr>
          <p:cNvPr id="11" name="card"/>
          <p:cNvSpPr/>
          <p:nvPr/>
        </p:nvSpPr>
        <p:spPr>
          <a:xfrm>
            <a:off x="548640" y="3794760"/>
            <a:ext cx="5440680" cy="2240280"/>
          </a:xfrm>
          <a:prstGeom prst="roundRect">
            <a:avLst>
              <a:gd name="adj" fmla="val 3265"/>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2" name="label chip"/>
          <p:cNvSpPr/>
          <p:nvPr/>
        </p:nvSpPr>
        <p:spPr>
          <a:xfrm>
            <a:off x="822960" y="4069080"/>
            <a:ext cx="1371600" cy="457200"/>
          </a:xfrm>
          <a:prstGeom prst="roundRect">
            <a:avLst>
              <a:gd name="adj" fmla="val 12000"/>
            </a:avLst>
          </a:prstGeom>
          <a:solidFill>
            <a:schemeClr val="accent3"/>
          </a:solidFill>
          <a:ln w="12700">
            <a:solidFill>
              <a:schemeClr val="accent3"/>
            </a:solidFill>
            <a:prstDash val="solid"/>
          </a:ln>
        </p:spPr>
        <p:txBody>
          <a:bodyPr/>
          <a:lstStyle/>
          <a:p>
            <a:endParaRPr lang="en-US"/>
          </a:p>
        </p:txBody>
      </p:sp>
      <p:sp>
        <p:nvSpPr>
          <p:cNvPr id="13" name="Text 11"/>
          <p:cNvSpPr txBox="1"/>
          <p:nvPr/>
        </p:nvSpPr>
        <p:spPr>
          <a:xfrm>
            <a:off x="822960" y="4069080"/>
            <a:ext cx="1371600" cy="457200"/>
          </a:xfrm>
          <a:prstGeom prst="rect">
            <a:avLst/>
          </a:prstGeom>
          <a:noFill/>
          <a:ln/>
        </p:spPr>
        <p:txBody>
          <a:bodyPr wrap="square" lIns="0" tIns="0" rIns="0" bIns="0" rtlCol="0" anchor="ctr"/>
          <a:lstStyle/>
          <a:p>
            <a:pPr marL="0" indent="0" algn="ctr">
              <a:buNone/>
            </a:pPr>
            <a:r>
              <a:rPr lang="en-US" sz="1500" b="1" dirty="0">
                <a:solidFill>
                  <a:schemeClr val="bg1"/>
                </a:solidFill>
              </a:rPr>
              <a:t>Agents</a:t>
            </a:r>
            <a:endParaRPr lang="en-US" sz="1500" dirty="0"/>
          </a:p>
        </p:txBody>
      </p:sp>
      <p:sp>
        <p:nvSpPr>
          <p:cNvPr id="14" name="Text 12"/>
          <p:cNvSpPr txBox="1"/>
          <p:nvPr/>
        </p:nvSpPr>
        <p:spPr>
          <a:xfrm>
            <a:off x="822960" y="4709160"/>
            <a:ext cx="4937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Simplest workflow that works</a:t>
            </a:r>
            <a:endParaRPr lang="en-US" sz="1400" dirty="0"/>
          </a:p>
          <a:p>
            <a:pPr marL="342900" indent="-342900">
              <a:spcAft>
                <a:spcPts val="600"/>
              </a:spcAft>
              <a:buSzPct val="100000"/>
              <a:buChar char="•"/>
            </a:pPr>
            <a:r>
              <a:rPr lang="en-US" sz="1400" dirty="0">
                <a:solidFill>
                  <a:schemeClr val="tx1"/>
                </a:solidFill>
              </a:rPr>
              <a:t>Multi-agent only for wide, parallel, valuable work</a:t>
            </a:r>
            <a:endParaRPr lang="en-US" sz="1400" dirty="0"/>
          </a:p>
          <a:p>
            <a:pPr marL="342900" indent="-342900">
              <a:spcAft>
                <a:spcPts val="600"/>
              </a:spcAft>
              <a:buSzPct val="100000"/>
              <a:buChar char="•"/>
            </a:pPr>
            <a:r>
              <a:rPr lang="en-US" sz="1400" dirty="0">
                <a:solidFill>
                  <a:schemeClr val="tx1"/>
                </a:solidFill>
              </a:rPr>
              <a:t>Brief subagents fully</a:t>
            </a:r>
            <a:endParaRPr lang="en-US" sz="1400" dirty="0"/>
          </a:p>
        </p:txBody>
      </p:sp>
      <p:sp>
        <p:nvSpPr>
          <p:cNvPr id="15" name="card"/>
          <p:cNvSpPr/>
          <p:nvPr/>
        </p:nvSpPr>
        <p:spPr>
          <a:xfrm>
            <a:off x="6172200" y="3794760"/>
            <a:ext cx="5440680" cy="2240280"/>
          </a:xfrm>
          <a:prstGeom prst="roundRect">
            <a:avLst>
              <a:gd name="adj" fmla="val 3265"/>
            </a:avLst>
          </a:prstGeom>
          <a:solidFill>
            <a:schemeClr val="bg2"/>
          </a:solidFill>
          <a:ln w="9525">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6" name="label chip"/>
          <p:cNvSpPr/>
          <p:nvPr/>
        </p:nvSpPr>
        <p:spPr>
          <a:xfrm>
            <a:off x="6446520" y="4069080"/>
            <a:ext cx="1371600" cy="457200"/>
          </a:xfrm>
          <a:prstGeom prst="roundRect">
            <a:avLst>
              <a:gd name="adj" fmla="val 12000"/>
            </a:avLst>
          </a:prstGeom>
          <a:solidFill>
            <a:schemeClr val="tx1"/>
          </a:solidFill>
          <a:ln w="12700">
            <a:solidFill>
              <a:schemeClr val="tx1"/>
            </a:solidFill>
            <a:prstDash val="solid"/>
          </a:ln>
        </p:spPr>
        <p:txBody>
          <a:bodyPr/>
          <a:lstStyle/>
          <a:p>
            <a:endParaRPr lang="en-US"/>
          </a:p>
        </p:txBody>
      </p:sp>
      <p:sp>
        <p:nvSpPr>
          <p:cNvPr id="17" name="Text 15"/>
          <p:cNvSpPr txBox="1"/>
          <p:nvPr/>
        </p:nvSpPr>
        <p:spPr>
          <a:xfrm>
            <a:off x="6446520" y="4069080"/>
            <a:ext cx="1371600" cy="457200"/>
          </a:xfrm>
          <a:prstGeom prst="rect">
            <a:avLst/>
          </a:prstGeom>
          <a:noFill/>
          <a:ln/>
        </p:spPr>
        <p:txBody>
          <a:bodyPr wrap="square" lIns="0" tIns="0" rIns="0" bIns="0" rtlCol="0" anchor="ctr"/>
          <a:lstStyle/>
          <a:p>
            <a:pPr marL="0" indent="0" algn="ctr">
              <a:buNone/>
            </a:pPr>
            <a:r>
              <a:rPr lang="en-US" sz="1500" b="1" dirty="0">
                <a:solidFill>
                  <a:schemeClr val="bg1"/>
                </a:solidFill>
              </a:rPr>
              <a:t>Workflow</a:t>
            </a:r>
            <a:endParaRPr lang="en-US" sz="1500" dirty="0"/>
          </a:p>
        </p:txBody>
      </p:sp>
      <p:sp>
        <p:nvSpPr>
          <p:cNvPr id="18" name="Text 16"/>
          <p:cNvSpPr txBox="1"/>
          <p:nvPr/>
        </p:nvSpPr>
        <p:spPr>
          <a:xfrm>
            <a:off x="6446520" y="4709160"/>
            <a:ext cx="4937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Explore → plan → build → check</a:t>
            </a:r>
            <a:endParaRPr lang="en-US" sz="1400" dirty="0"/>
          </a:p>
          <a:p>
            <a:pPr marL="342900" indent="-342900">
              <a:spcAft>
                <a:spcPts val="600"/>
              </a:spcAft>
              <a:buSzPct val="100000"/>
              <a:buChar char="•"/>
            </a:pPr>
            <a:r>
              <a:rPr lang="en-US" sz="1400" dirty="0">
                <a:solidFill>
                  <a:schemeClr val="tx1"/>
                </a:solidFill>
              </a:rPr>
              <a:t>State in files, checkpoints in git</a:t>
            </a:r>
            <a:endParaRPr lang="en-US" sz="1400" dirty="0"/>
          </a:p>
          <a:p>
            <a:pPr marL="342900" indent="-342900">
              <a:spcAft>
                <a:spcPts val="600"/>
              </a:spcAft>
              <a:buSzPct val="100000"/>
              <a:buChar char="•"/>
            </a:pPr>
            <a:r>
              <a:rPr lang="en-US" sz="1400" dirty="0">
                <a:solidFill>
                  <a:schemeClr val="tx1"/>
                </a:solidFill>
              </a:rPr>
              <a:t>Repeat 3× → make it a skill, hook or subagent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Watch it in action: planning, skills and subagents</a:t>
            </a:r>
            <a:endParaRPr lang="en-US" sz="3200" dirty="0"/>
          </a:p>
        </p:txBody>
      </p:sp>
      <p:graphicFrame>
        <p:nvGraphicFramePr>
          <p:cNvPr id="11" name="Table 0"/>
          <p:cNvGraphicFramePr>
            <a:graphicFrameLocks noGrp="1"/>
          </p:cNvGraphicFramePr>
          <p:nvPr/>
        </p:nvGraphicFramePr>
        <p:xfrm>
          <a:off x="548640" y="1371600"/>
          <a:ext cx="11064240" cy="4224528"/>
        </p:xfrm>
        <a:graphic>
          <a:graphicData uri="http://schemas.openxmlformats.org/drawingml/2006/table">
            <a:tbl>
              <a:tblPr/>
              <a:tblGrid>
                <a:gridCol w="26517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603504">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Watch</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From</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What you'll see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Whole workflow</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Anthropic webinar</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Live demo: explore, debug, test, commit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Planning</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Community, YouTube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Ways to enter plan mode and refine a plan</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Skills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YouTube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What a skill is and when Claude loads it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Skills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DeepLearning.AI with Anthropic</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Build, test and share your own skills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Subagents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Anthropic webinar</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Subagents and MCP on real codebases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Subagents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Net Ninja, YouTube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Create a subagent file and call it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806440"/>
            <a:ext cx="11064240" cy="365760"/>
          </a:xfrm>
          <a:prstGeom prst="rect">
            <a:avLst/>
          </a:prstGeom>
          <a:noFill/>
          <a:ln/>
        </p:spPr>
        <p:txBody>
          <a:bodyPr wrap="square" lIns="0" tIns="0" rIns="0" bIns="0" rtlCol="0" anchor="t"/>
          <a:lstStyle/>
          <a:p>
            <a:pPr marL="0" indent="0">
              <a:buNone/>
            </a:pPr>
            <a:r>
              <a:rPr lang="en-US" sz="1200" i="1" dirty="0">
                <a:solidFill>
                  <a:schemeClr val="accent5"/>
                </a:solidFill>
              </a:rPr>
              <a:t>Click a title to open the video in your browser. Community videos are third-party and may lag behind the newest features.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40</a:t>
            </a:fld>
            <a:endParaRPr lang="en-US"/>
          </a:p>
        </p:txBody>
      </p:sp>
      <p:sp>
        <p:nvSpPr>
          <p:cNvPr id="3" name="Video link 1">
            <a:extLst>
              <a:ext uri="{FF2B5EF4-FFF2-40B4-BE49-F238E27FC236}">
                <a16:creationId xmlns:a16="http://schemas.microsoft.com/office/drawing/2014/main" id="{29370D50-3236-40C6-A6E1-F0BC8DBDA81D}"/>
              </a:ext>
            </a:extLst>
          </p:cNvPr>
          <p:cNvSpPr txBox="1"/>
          <p:nvPr/>
        </p:nvSpPr>
        <p:spPr>
          <a:xfrm>
            <a:off x="3310128" y="1975104"/>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3" tooltip="Open video"/>
              </a:rPr>
              <a:t>Claude Code in an Hour: A Developer's Intro</a:t>
            </a:r>
            <a:endParaRPr lang="en-US" sz="1400" u="sng">
              <a:solidFill>
                <a:srgbClr val="1B1F3B"/>
              </a:solidFill>
              <a:latin typeface="Calibri"/>
              <a:ea typeface="Calibri"/>
              <a:cs typeface="Calibri"/>
            </a:endParaRPr>
          </a:p>
        </p:txBody>
      </p:sp>
      <p:sp>
        <p:nvSpPr>
          <p:cNvPr id="5" name="Video link 2">
            <a:extLst>
              <a:ext uri="{FF2B5EF4-FFF2-40B4-BE49-F238E27FC236}">
                <a16:creationId xmlns:a16="http://schemas.microsoft.com/office/drawing/2014/main" id="{F21E416A-3808-4BB2-822F-C70224EF52F5}"/>
              </a:ext>
            </a:extLst>
          </p:cNvPr>
          <p:cNvSpPr txBox="1"/>
          <p:nvPr/>
        </p:nvSpPr>
        <p:spPr>
          <a:xfrm>
            <a:off x="3310128" y="2578608"/>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4" tooltip="Open video"/>
              </a:rPr>
              <a:t>Why You Need Plan Mode in Claude Code</a:t>
            </a:r>
            <a:endParaRPr lang="en-US" sz="1400" u="sng">
              <a:solidFill>
                <a:srgbClr val="1B1F3B"/>
              </a:solidFill>
              <a:latin typeface="Calibri"/>
              <a:ea typeface="Calibri"/>
              <a:cs typeface="Calibri"/>
            </a:endParaRPr>
          </a:p>
        </p:txBody>
      </p:sp>
      <p:sp>
        <p:nvSpPr>
          <p:cNvPr id="6" name="Video link 3">
            <a:extLst>
              <a:ext uri="{FF2B5EF4-FFF2-40B4-BE49-F238E27FC236}">
                <a16:creationId xmlns:a16="http://schemas.microsoft.com/office/drawing/2014/main" id="{37753591-C5F4-4203-B3FA-8876E01940C3}"/>
              </a:ext>
            </a:extLst>
          </p:cNvPr>
          <p:cNvSpPr txBox="1"/>
          <p:nvPr/>
        </p:nvSpPr>
        <p:spPr>
          <a:xfrm>
            <a:off x="3310128" y="3182112"/>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5" tooltip="Open video"/>
              </a:rPr>
              <a:t>Claude Agent Skills Explained</a:t>
            </a:r>
            <a:endParaRPr lang="en-US" sz="1400" u="sng">
              <a:solidFill>
                <a:srgbClr val="1B1F3B"/>
              </a:solidFill>
              <a:latin typeface="Calibri"/>
              <a:ea typeface="Calibri"/>
              <a:cs typeface="Calibri"/>
            </a:endParaRPr>
          </a:p>
        </p:txBody>
      </p:sp>
      <p:sp>
        <p:nvSpPr>
          <p:cNvPr id="7" name="Video link 4">
            <a:extLst>
              <a:ext uri="{FF2B5EF4-FFF2-40B4-BE49-F238E27FC236}">
                <a16:creationId xmlns:a16="http://schemas.microsoft.com/office/drawing/2014/main" id="{CAFE6869-C2CA-41F7-AB83-821B68D2F49B}"/>
              </a:ext>
            </a:extLst>
          </p:cNvPr>
          <p:cNvSpPr txBox="1"/>
          <p:nvPr/>
        </p:nvSpPr>
        <p:spPr>
          <a:xfrm>
            <a:off x="3310128" y="3785616"/>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6" tooltip="Open video"/>
              </a:rPr>
              <a:t>Agent Skills with Anthropic (course)</a:t>
            </a:r>
            <a:endParaRPr lang="en-US" sz="1400" u="sng">
              <a:solidFill>
                <a:srgbClr val="1B1F3B"/>
              </a:solidFill>
              <a:latin typeface="Calibri"/>
              <a:ea typeface="Calibri"/>
              <a:cs typeface="Calibri"/>
            </a:endParaRPr>
          </a:p>
        </p:txBody>
      </p:sp>
      <p:sp>
        <p:nvSpPr>
          <p:cNvPr id="8" name="Video link 5">
            <a:extLst>
              <a:ext uri="{FF2B5EF4-FFF2-40B4-BE49-F238E27FC236}">
                <a16:creationId xmlns:a16="http://schemas.microsoft.com/office/drawing/2014/main" id="{79253F2D-6D0C-4C0E-A72F-393610BEF638}"/>
              </a:ext>
            </a:extLst>
          </p:cNvPr>
          <p:cNvSpPr txBox="1"/>
          <p:nvPr/>
        </p:nvSpPr>
        <p:spPr>
          <a:xfrm>
            <a:off x="3310128" y="4389120"/>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7" tooltip="Open video"/>
              </a:rPr>
              <a:t>Advanced Patterns: Subagents, MCP and Scaling</a:t>
            </a:r>
            <a:endParaRPr lang="en-US" sz="1400" u="sng">
              <a:solidFill>
                <a:srgbClr val="1B1F3B"/>
              </a:solidFill>
              <a:latin typeface="Calibri"/>
              <a:ea typeface="Calibri"/>
              <a:cs typeface="Calibri"/>
            </a:endParaRPr>
          </a:p>
        </p:txBody>
      </p:sp>
      <p:sp>
        <p:nvSpPr>
          <p:cNvPr id="9" name="Video link 6">
            <a:extLst>
              <a:ext uri="{FF2B5EF4-FFF2-40B4-BE49-F238E27FC236}">
                <a16:creationId xmlns:a16="http://schemas.microsoft.com/office/drawing/2014/main" id="{4D992292-BFE2-43FC-AFE8-C1ADC6067447}"/>
              </a:ext>
            </a:extLst>
          </p:cNvPr>
          <p:cNvSpPr txBox="1"/>
          <p:nvPr/>
        </p:nvSpPr>
        <p:spPr>
          <a:xfrm>
            <a:off x="3310128" y="4992624"/>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8" tooltip="Open video"/>
              </a:rPr>
              <a:t>Claude Code Tutorial #8: Subagents</a:t>
            </a:r>
            <a:endParaRPr lang="en-US" sz="1400" u="sng">
              <a:solidFill>
                <a:srgbClr val="1B1F3B"/>
              </a:solidFill>
              <a:latin typeface="Calibri"/>
              <a:ea typeface="Calibri"/>
              <a:cs typeface="Calibri"/>
            </a:endParaRPr>
          </a:p>
        </p:txBody>
      </p:sp>
    </p:spTree>
    <p:extLst>
      <p:ext uri="{BB962C8B-B14F-4D97-AF65-F5344CB8AC3E}">
        <p14:creationId xmlns:p14="http://schemas.microsoft.com/office/powerpoint/2010/main" val="33008162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Example repos on GitHub: skills, subagents and MCP</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2983196500"/>
              </p:ext>
            </p:extLst>
          </p:nvPr>
        </p:nvGraphicFramePr>
        <p:xfrm>
          <a:off x="548640" y="1371600"/>
          <a:ext cx="11064240" cy="4224528"/>
        </p:xfrm>
        <a:graphic>
          <a:graphicData uri="http://schemas.openxmlformats.org/drawingml/2006/table">
            <a:tbl>
              <a:tblPr/>
              <a:tblGrid>
                <a:gridCol w="26517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603504">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Repo</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From</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What you'll find</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Skills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Anthropic</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Official example skills, spec and template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Claude Code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Anthropic</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Docs, example plugins and the issue tracker</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Recipes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Anthropic</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Notebooks: tools, agents, prompt caching</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MCP</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MCP project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Reference MCP servers to copy (slide 23)</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Subagents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Community</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100+ subagent files for .claude/agents/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03504">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Everything</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Community</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marL="0" indent="0">
                        <a:buNone/>
                      </a:pPr>
                      <a:r>
                        <a:rPr lang="en-US" sz="1400" dirty="0">
                          <a:solidFill>
                            <a:srgbClr val="5A6075"/>
                          </a:solidFill>
                          <a:latin typeface="Calibri" pitchFamily="34" charset="0"/>
                          <a:ea typeface="Calibri" pitchFamily="34" charset="-122"/>
                          <a:cs typeface="Calibri" pitchFamily="34" charset="-120"/>
                        </a:rPr>
                        <a:t>Curated skills, hooks, commands and plugins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806440"/>
            <a:ext cx="11064240" cy="365760"/>
          </a:xfrm>
          <a:prstGeom prst="rect">
            <a:avLst/>
          </a:prstGeom>
          <a:noFill/>
          <a:ln/>
        </p:spPr>
        <p:txBody>
          <a:bodyPr wrap="square" lIns="0" tIns="0" rIns="0" bIns="0" rtlCol="0" anchor="t"/>
          <a:lstStyle/>
          <a:p>
            <a:pPr marL="0" indent="0">
              <a:buNone/>
            </a:pPr>
            <a:r>
              <a:rPr lang="en-US" sz="1200" i="1" dirty="0">
                <a:solidFill>
                  <a:schemeClr val="accent5"/>
                </a:solidFill>
              </a:rPr>
              <a:t>Click a repo to open it on GitHub. Community repos are third-party; read a file before you install it.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lang="en-US" b="0"/>
              <a:t>41</a:t>
            </a:fld>
            <a:endParaRPr lang="en-US"/>
          </a:p>
        </p:txBody>
      </p:sp>
      <p:sp>
        <p:nvSpPr>
          <p:cNvPr id="10" name="Repo link 1">
            <a:extLst>
              <a:ext uri="{FF2B5EF4-FFF2-40B4-BE49-F238E27FC236}">
                <a16:creationId xmlns:a16="http://schemas.microsoft.com/office/drawing/2014/main" id="{5BF1C958-FEC8-4545-9251-FF56997D7383}"/>
              </a:ext>
            </a:extLst>
          </p:cNvPr>
          <p:cNvSpPr txBox="1"/>
          <p:nvPr/>
        </p:nvSpPr>
        <p:spPr>
          <a:xfrm>
            <a:off x="3310128" y="1975104"/>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3" tooltip="Open on GitHub"/>
              </a:rPr>
              <a:t>anthropics/skills</a:t>
            </a:r>
            <a:endParaRPr lang="en-US" sz="1400" u="sng">
              <a:solidFill>
                <a:srgbClr val="1B1F3B"/>
              </a:solidFill>
              <a:latin typeface="Calibri"/>
              <a:ea typeface="Calibri"/>
              <a:cs typeface="Calibri"/>
            </a:endParaRPr>
          </a:p>
        </p:txBody>
      </p:sp>
      <p:sp>
        <p:nvSpPr>
          <p:cNvPr id="12" name="Repo link 2">
            <a:extLst>
              <a:ext uri="{FF2B5EF4-FFF2-40B4-BE49-F238E27FC236}">
                <a16:creationId xmlns:a16="http://schemas.microsoft.com/office/drawing/2014/main" id="{8F25AC22-C9AB-4C82-9668-BC020EC7A621}"/>
              </a:ext>
            </a:extLst>
          </p:cNvPr>
          <p:cNvSpPr txBox="1"/>
          <p:nvPr/>
        </p:nvSpPr>
        <p:spPr>
          <a:xfrm>
            <a:off x="3310128" y="2578608"/>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4" tooltip="Open on GitHub"/>
              </a:rPr>
              <a:t>anthropics/claude-code</a:t>
            </a:r>
            <a:endParaRPr lang="en-US" sz="1400" u="sng">
              <a:solidFill>
                <a:srgbClr val="1B1F3B"/>
              </a:solidFill>
              <a:latin typeface="Calibri"/>
              <a:ea typeface="Calibri"/>
              <a:cs typeface="Calibri"/>
            </a:endParaRPr>
          </a:p>
        </p:txBody>
      </p:sp>
      <p:sp>
        <p:nvSpPr>
          <p:cNvPr id="13" name="Repo link 3">
            <a:extLst>
              <a:ext uri="{FF2B5EF4-FFF2-40B4-BE49-F238E27FC236}">
                <a16:creationId xmlns:a16="http://schemas.microsoft.com/office/drawing/2014/main" id="{72F42108-D1A1-4124-9E9A-467F9E95B15A}"/>
              </a:ext>
            </a:extLst>
          </p:cNvPr>
          <p:cNvSpPr txBox="1"/>
          <p:nvPr/>
        </p:nvSpPr>
        <p:spPr>
          <a:xfrm>
            <a:off x="3310128" y="3182112"/>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5" tooltip="Open on GitHub"/>
              </a:rPr>
              <a:t>anthropics/claude-cookbooks</a:t>
            </a:r>
            <a:endParaRPr lang="en-US" sz="1400" u="sng">
              <a:solidFill>
                <a:srgbClr val="1B1F3B"/>
              </a:solidFill>
              <a:latin typeface="Calibri"/>
              <a:ea typeface="Calibri"/>
              <a:cs typeface="Calibri"/>
            </a:endParaRPr>
          </a:p>
        </p:txBody>
      </p:sp>
      <p:sp>
        <p:nvSpPr>
          <p:cNvPr id="14" name="Repo link 4">
            <a:extLst>
              <a:ext uri="{FF2B5EF4-FFF2-40B4-BE49-F238E27FC236}">
                <a16:creationId xmlns:a16="http://schemas.microsoft.com/office/drawing/2014/main" id="{D3E954B9-B5FB-49E3-87AD-2615BC138BB3}"/>
              </a:ext>
            </a:extLst>
          </p:cNvPr>
          <p:cNvSpPr txBox="1"/>
          <p:nvPr/>
        </p:nvSpPr>
        <p:spPr>
          <a:xfrm>
            <a:off x="3310128" y="3785616"/>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6" tooltip="Open on GitHub"/>
              </a:rPr>
              <a:t>modelcontextprotocol/servers</a:t>
            </a:r>
            <a:endParaRPr lang="en-US" sz="1400" u="sng">
              <a:solidFill>
                <a:srgbClr val="1B1F3B"/>
              </a:solidFill>
              <a:latin typeface="Calibri"/>
              <a:ea typeface="Calibri"/>
              <a:cs typeface="Calibri"/>
            </a:endParaRPr>
          </a:p>
        </p:txBody>
      </p:sp>
      <p:sp>
        <p:nvSpPr>
          <p:cNvPr id="15" name="Repo link 5">
            <a:extLst>
              <a:ext uri="{FF2B5EF4-FFF2-40B4-BE49-F238E27FC236}">
                <a16:creationId xmlns:a16="http://schemas.microsoft.com/office/drawing/2014/main" id="{75B0E48A-9894-4AE9-B497-91EEE0F6E0FF}"/>
              </a:ext>
            </a:extLst>
          </p:cNvPr>
          <p:cNvSpPr txBox="1"/>
          <p:nvPr/>
        </p:nvSpPr>
        <p:spPr>
          <a:xfrm>
            <a:off x="3310128" y="4389120"/>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7" tooltip="Open on GitHub"/>
              </a:rPr>
              <a:t>VoltAgent/awesome-claude-code-subagents</a:t>
            </a:r>
            <a:endParaRPr lang="en-US" sz="1400" u="sng">
              <a:solidFill>
                <a:srgbClr val="1B1F3B"/>
              </a:solidFill>
              <a:latin typeface="Calibri"/>
              <a:ea typeface="Calibri"/>
              <a:cs typeface="Calibri"/>
            </a:endParaRPr>
          </a:p>
        </p:txBody>
      </p:sp>
      <p:sp>
        <p:nvSpPr>
          <p:cNvPr id="16" name="Repo link 6">
            <a:extLst>
              <a:ext uri="{FF2B5EF4-FFF2-40B4-BE49-F238E27FC236}">
                <a16:creationId xmlns:a16="http://schemas.microsoft.com/office/drawing/2014/main" id="{7D1357B2-E76B-4271-865E-035BCDFB5AFC}"/>
              </a:ext>
            </a:extLst>
          </p:cNvPr>
          <p:cNvSpPr txBox="1"/>
          <p:nvPr/>
        </p:nvSpPr>
        <p:spPr>
          <a:xfrm>
            <a:off x="3310128" y="4992624"/>
            <a:ext cx="2706370" cy="603504"/>
          </a:xfrm>
          <a:prstGeom prst="rect">
            <a:avLst/>
          </a:prstGeom>
          <a:noFill/>
        </p:spPr>
        <p:txBody>
          <a:bodyPr vertOverflow="overflow" vert="horz" wrap="square" lIns="0" tIns="0" rIns="0" bIns="0" rtlCol="0" anchor="ctr" anchorCtr="0">
            <a:noAutofit/>
          </a:bodyPr>
          <a:lstStyle/>
          <a:p>
            <a:pPr algn="l"/>
            <a:r>
              <a:rPr lang="en-US" sz="1400" u="sng">
                <a:solidFill>
                  <a:srgbClr val="1B1F3B"/>
                </a:solidFill>
                <a:latin typeface="Calibri"/>
                <a:ea typeface="Calibri"/>
                <a:cs typeface="Calibri"/>
                <a:hlinkClick r:id="rId8" tooltip="Open on GitHub"/>
              </a:rPr>
              <a:t>hesreallyhim/awesome-claude-code</a:t>
            </a:r>
            <a:endParaRPr lang="en-US" sz="1400" u="sng">
              <a:solidFill>
                <a:srgbClr val="1B1F3B"/>
              </a:solidFill>
              <a:latin typeface="Calibri"/>
              <a:ea typeface="Calibri"/>
              <a:cs typeface="Calibri"/>
            </a:endParaRPr>
          </a:p>
        </p:txBody>
      </p:sp>
    </p:spTree>
    <p:extLst>
      <p:ext uri="{BB962C8B-B14F-4D97-AF65-F5344CB8AC3E}">
        <p14:creationId xmlns:p14="http://schemas.microsoft.com/office/powerpoint/2010/main" val="3694036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8686800" cy="118872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Keep learning</a:t>
            </a:r>
            <a:endParaRPr lang="en-US" sz="4400" dirty="0"/>
          </a:p>
        </p:txBody>
      </p:sp>
      <p:sp>
        <p:nvSpPr>
          <p:cNvPr id="3" name="Text 0"/>
          <p:cNvSpPr>
            <a:spLocks noGrp="1"/>
          </p:cNvSpPr>
          <p:nvPr>
            <p:ph type="body" idx="101" hasCustomPrompt="1"/>
          </p:nvPr>
        </p:nvSpPr>
        <p:spPr>
          <a:xfrm>
            <a:off x="548640" y="3383280"/>
            <a:ext cx="8686800" cy="731520"/>
          </a:xfrm>
          <a:prstGeom prst="rect">
            <a:avLst/>
          </a:prstGeom>
          <a:noFill/>
          <a:ln/>
        </p:spPr>
        <p:txBody>
          <a:bodyPr wrap="square" lIns="0" tIns="0" rIns="0" bIns="0" rtlCol="0" anchor="t"/>
          <a:lstStyle/>
          <a:p>
            <a:pPr marL="0" indent="0">
              <a:buNone/>
            </a:pPr>
            <a:r>
              <a:rPr lang="en-US" sz="2000" dirty="0">
                <a:solidFill>
                  <a:schemeClr val="accent6"/>
                </a:solidFill>
              </a:rPr>
              <a:t>Settings change fast. These pages are the source of truth (as of Oct 2026).</a:t>
            </a:r>
            <a:endParaRPr lang="en-US" sz="2000" dirty="0"/>
          </a:p>
        </p:txBody>
      </p:sp>
      <p:sp>
        <p:nvSpPr>
          <p:cNvPr id="4" name="Text 2"/>
          <p:cNvSpPr txBox="1"/>
          <p:nvPr/>
        </p:nvSpPr>
        <p:spPr>
          <a:xfrm>
            <a:off x="548640" y="4206240"/>
            <a:ext cx="11064240" cy="21945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accent6"/>
                </a:solidFill>
              </a:rPr>
              <a:t>Prompting best practices: platform.claude.com/docs/en/build-with-claude/prompt-engineering/claude-prompting-best-practices</a:t>
            </a:r>
            <a:endParaRPr lang="en-US" sz="1200" dirty="0"/>
          </a:p>
          <a:p>
            <a:pPr marL="342900" indent="-342900">
              <a:spcAft>
                <a:spcPts val="400"/>
              </a:spcAft>
              <a:buSzPct val="100000"/>
              <a:buChar char="•"/>
            </a:pPr>
            <a:r>
              <a:rPr lang="en-US" sz="1200" dirty="0">
                <a:solidFill>
                  <a:schemeClr val="accent6"/>
                </a:solidFill>
              </a:rPr>
              <a:t>Opus 5.5 migration guide (sampling, effort, thinking): platform.claude.com/docs/en/models/opus-5-5/migration-guide</a:t>
            </a:r>
            <a:endParaRPr lang="en-US" sz="1200" dirty="0"/>
          </a:p>
          <a:p>
            <a:pPr marL="342900" indent="-342900">
              <a:spcAft>
                <a:spcPts val="400"/>
              </a:spcAft>
              <a:buSzPct val="100000"/>
              <a:buChar char="•"/>
            </a:pPr>
            <a:r>
              <a:rPr lang="en-US" sz="1200" dirty="0">
                <a:solidFill>
                  <a:schemeClr val="accent6"/>
                </a:solidFill>
              </a:rPr>
              <a:t>Context windows: platform.claude.com/docs/en/build-with-claude/context-windows</a:t>
            </a:r>
            <a:endParaRPr lang="en-US" sz="1200" dirty="0"/>
          </a:p>
          <a:p>
            <a:pPr marL="342900" indent="-342900">
              <a:spcAft>
                <a:spcPts val="400"/>
              </a:spcAft>
              <a:buSzPct val="100000"/>
              <a:buChar char="•"/>
            </a:pPr>
            <a:r>
              <a:rPr lang="en-US" sz="1200" dirty="0">
                <a:solidFill>
                  <a:schemeClr val="accent6"/>
                </a:solidFill>
              </a:rPr>
              <a:t>Prompt caching: platform.claude.com/docs/en/build-with-claude/prompt-caching</a:t>
            </a:r>
            <a:endParaRPr lang="en-US" sz="1200" dirty="0"/>
          </a:p>
          <a:p>
            <a:pPr marL="342900" indent="-342900">
              <a:spcAft>
                <a:spcPts val="400"/>
              </a:spcAft>
              <a:buSzPct val="100000"/>
              <a:buChar char="•"/>
            </a:pPr>
            <a:r>
              <a:rPr lang="en-US" sz="1200" dirty="0">
                <a:solidFill>
                  <a:schemeClr val="accent6"/>
                </a:solidFill>
              </a:rPr>
              <a:t>Claude Code subagents: code.claude.com/docs/en/sub-agents</a:t>
            </a:r>
            <a:endParaRPr lang="en-US" sz="1200" dirty="0"/>
          </a:p>
          <a:p>
            <a:pPr marL="342900" indent="-342900">
              <a:spcAft>
                <a:spcPts val="400"/>
              </a:spcAft>
              <a:buSzPct val="100000"/>
              <a:buChar char="•"/>
            </a:pPr>
            <a:r>
              <a:rPr lang="en-US" sz="1200" dirty="0">
                <a:solidFill>
                  <a:schemeClr val="accent6"/>
                </a:solidFill>
              </a:rPr>
              <a:t>Multi-agent research system: anthropic.com/engineering/multi-agent-research-system</a:t>
            </a:r>
            <a:endParaRPr lang="en-US" sz="1200" dirty="0"/>
          </a:p>
          <a:p>
            <a:pPr marL="342900" indent="-342900">
              <a:spcAft>
                <a:spcPts val="400"/>
              </a:spcAft>
              <a:buSzPct val="100000"/>
              <a:buChar char="•"/>
            </a:pPr>
            <a:r>
              <a:rPr lang="en-US" sz="1200" dirty="0">
                <a:solidFill>
                  <a:schemeClr val="accent6"/>
                </a:solidFill>
              </a:rPr>
              <a:t>Building effective agents: anthropic.com/engineering/building-effective-agents</a:t>
            </a:r>
            <a:endParaRPr lang="en-US" sz="1200" dirty="0"/>
          </a:p>
        </p:txBody>
      </p:sp>
    </p:spTree>
  </p:cSld>
  <p:clrMapOvr>
    <a:masterClrMapping/>
  </p:clrMapOvr>
</p:sld>
</file>

<file path=ppt/theme/theme1.xml><?xml version="1.0" encoding="utf-8"?>
<a:theme xmlns:a="http://schemas.openxmlformats.org/drawingml/2006/main" name="Using Claude Well">
  <a:themeElements>
    <a:clrScheme name="Using Claude Well">
      <a:dk1>
        <a:srgbClr val="1B1F3B"/>
      </a:dk1>
      <a:lt1>
        <a:srgbClr val="FFFFFF"/>
      </a:lt1>
      <a:dk2>
        <a:srgbClr val="5A6075"/>
      </a:dk2>
      <a:lt2>
        <a:srgbClr val="F4F5F8"/>
      </a:lt2>
      <a:accent1>
        <a:srgbClr val="D97757"/>
      </a:accent1>
      <a:accent2>
        <a:srgbClr val="2A9D8F"/>
      </a:accent2>
      <a:accent3>
        <a:srgbClr val="6C63FF"/>
      </a:accent3>
      <a:accent4>
        <a:srgbClr val="E9B949"/>
      </a:accent4>
      <a:accent5>
        <a:srgbClr val="8A90A6"/>
      </a:accent5>
      <a:accent6>
        <a:srgbClr val="E3E5EC"/>
      </a:accent6>
      <a:hlink>
        <a:srgbClr val="6C63FF"/>
      </a:hlink>
      <a:folHlink>
        <a:srgbClr val="5A6075"/>
      </a:folHlink>
    </a:clrScheme>
    <a:fontScheme name="Using Claude Wel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E3674B0-5AC6-4E86-A7F7-6E79C7DFEDC1}">
  <we:reference id="wa200010725" version="1.0.0.1" store="en-US" storeType="OMEX"/>
  <we:alternateReferences>
    <we:reference id="wa200010725" version="1.0.0.1" store="wa200010725" storeType="OMEX"/>
  </we:alternateReferences>
  <we:properties>
    <we:property name="claude.fileId" value="&quot;863db396-76c9-4766-b502-c3eca5623ba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389</TotalTime>
  <Words>8714</Words>
  <Application>Microsoft Office PowerPoint</Application>
  <PresentationFormat>Widescreen</PresentationFormat>
  <Paragraphs>898</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Cambria</vt:lpstr>
      <vt:lpstr>Courier New</vt:lpstr>
      <vt:lpstr>Using Claude Well</vt:lpstr>
      <vt:lpstr>Using Claude Well</vt:lpstr>
      <vt:lpstr>Five parts, from one prompt to a team of agents</vt:lpstr>
      <vt:lpstr>Prompting</vt:lpstr>
      <vt:lpstr>The golden rule: brief Claude like a brilliant new colleague</vt:lpstr>
      <vt:lpstr>Anatomy of a strong prompt</vt:lpstr>
      <vt:lpstr>Six techniques that reliably improve results</vt:lpstr>
      <vt:lpstr>Long documents: put them first, ask your question last</vt:lpstr>
      <vt:lpstr>Treat a prompt like code: test it, change one thing, test again</vt:lpstr>
      <vt:lpstr>The knobs</vt:lpstr>
      <vt:lpstr>Which knobs exist on Claude today (Opus 5.5 / Sonnet 5)</vt:lpstr>
      <vt:lpstr>Refresher: what temperature, top-k and top-p do</vt:lpstr>
      <vt:lpstr>Sampling on Claude: from sliders to “just prompt it”</vt:lpstr>
      <vt:lpstr>Effort: the dial that replaced the sampling sliders</vt:lpstr>
      <vt:lpstr>Context window vs max_tokens: one is fixed, one is yours</vt:lpstr>
      <vt:lpstr>From KV cache to prompt caching</vt:lpstr>
      <vt:lpstr>10 questions on one 50k-token document: up to 83% cheaper</vt:lpstr>
      <vt:lpstr>Where to set them</vt:lpstr>
      <vt:lpstr>Four places you use Claude, and the controls in each</vt:lpstr>
      <vt:lpstr>Anatomy of an API request: every setting in one place</vt:lpstr>
      <vt:lpstr>Running models yourself? Here the classic knobs are real</vt:lpstr>
      <vt:lpstr>Agents &amp; multi-agent</vt:lpstr>
      <vt:lpstr>An agent is Claude in a loop with tools</vt:lpstr>
      <vt:lpstr>MCP gives Claude one standard plug for every app</vt:lpstr>
      <vt:lpstr>Five workflow patterns: start with the simplest</vt:lpstr>
      <vt:lpstr>Multi-agent: a lead agent and parallel subagents</vt:lpstr>
      <vt:lpstr>Subagents in Claude Code: a markdown file is all it takes</vt:lpstr>
      <vt:lpstr>How to brief a subagent (or any delegated agent)</vt:lpstr>
      <vt:lpstr>Workflows &amp; plans</vt:lpstr>
      <vt:lpstr>Explore → Plan → Build → Check: the core loop for real work</vt:lpstr>
      <vt:lpstr>Explore: Claude reads first and changes nothing yet</vt:lpstr>
      <vt:lpstr>Plan: agree the steps in writing before any change</vt:lpstr>
      <vt:lpstr>Build: one step at a time, with a checkpoint after each</vt:lpstr>
      <vt:lpstr>Check: prove the work is done before you accept it</vt:lpstr>
      <vt:lpstr>One prompt for all four steps, two stops when it's risky</vt:lpstr>
      <vt:lpstr>Turn what works into building blocks you can reuse</vt:lpstr>
      <vt:lpstr>Make a skill: one folder with a SKILL.md file</vt:lpstr>
      <vt:lpstr>Long-running work: keep state in files</vt:lpstr>
      <vt:lpstr>Worked example: a weekly competitor brief that runs itself</vt:lpstr>
      <vt:lpstr>Cheat sheet</vt:lpstr>
      <vt:lpstr>Watch it in action: planning, skills and subagents</vt:lpstr>
      <vt:lpstr>Example repos on GitHub: skills, subagents and MCP</vt:lpstr>
      <vt:lpstr>Keep learning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Claude Well</dc:title>
  <dc:subject>PptxGenJS Presentation</dc:subject>
  <dc:creator>Claude</dc:creator>
  <cp:lastModifiedBy>LINH NGUYEN PHAN</cp:lastModifiedBy>
  <cp:revision>3</cp:revision>
  <dcterms:created xsi:type="dcterms:W3CDTF">2026-10-25T07:39:32Z</dcterms:created>
  <dcterms:modified xsi:type="dcterms:W3CDTF">2026-10-25T18:23:07Z</dcterms:modified>
</cp:coreProperties>
</file>